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82" r:id="rId4"/>
    <p:sldId id="289" r:id="rId5"/>
    <p:sldId id="290" r:id="rId6"/>
    <p:sldId id="291" r:id="rId7"/>
    <p:sldId id="292" r:id="rId8"/>
    <p:sldId id="293" r:id="rId9"/>
    <p:sldId id="287" r:id="rId10"/>
    <p:sldId id="311" r:id="rId11"/>
    <p:sldId id="288" r:id="rId12"/>
    <p:sldId id="299" r:id="rId13"/>
    <p:sldId id="300" r:id="rId14"/>
    <p:sldId id="301" r:id="rId15"/>
    <p:sldId id="302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25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82"/>
            <p14:sldId id="289"/>
            <p14:sldId id="290"/>
            <p14:sldId id="291"/>
            <p14:sldId id="292"/>
            <p14:sldId id="293"/>
            <p14:sldId id="287"/>
            <p14:sldId id="311"/>
            <p14:sldId id="288"/>
            <p14:sldId id="299"/>
            <p14:sldId id="300"/>
            <p14:sldId id="301"/>
            <p14:sldId id="302"/>
            <p14:sldId id="304"/>
            <p14:sldId id="305"/>
            <p14:sldId id="306"/>
            <p14:sldId id="307"/>
            <p14:sldId id="308"/>
            <p14:sldId id="309"/>
            <p14:sldId id="310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22-01-2021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dirty="0"/>
              <a:t>Understand what are Planar Graphs</a:t>
            </a:r>
          </a:p>
          <a:p>
            <a:r>
              <a:rPr lang="en-US" dirty="0"/>
              <a:t>Understand how K</a:t>
            </a:r>
            <a:r>
              <a:rPr lang="en-US" baseline="-25000" dirty="0"/>
              <a:t>3,3</a:t>
            </a:r>
            <a:r>
              <a:rPr lang="en-US" dirty="0"/>
              <a:t> is </a:t>
            </a:r>
            <a:r>
              <a:rPr lang="en-US"/>
              <a:t>a non-planar Graph.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 </a:t>
            </a:r>
            <a:br>
              <a:rPr lang="en-US" altLang="en-US" dirty="0"/>
            </a:br>
            <a:r>
              <a:rPr lang="en-US" altLang="en-US" sz="2800" dirty="0"/>
              <a:t>The House-and-Utilities Problem</a:t>
            </a:r>
            <a:endParaRPr lang="en-IN" dirty="0"/>
          </a:p>
        </p:txBody>
      </p:sp>
      <p:pic>
        <p:nvPicPr>
          <p:cNvPr id="53" name="Picture 5" descr="09_7_01">
            <a:extLst>
              <a:ext uri="{FF2B5EF4-FFF2-40B4-BE49-F238E27FC236}">
                <a16:creationId xmlns:a16="http://schemas.microsoft.com/office/drawing/2014/main" id="{020E8BB6-D580-4DA3-AA39-D77B5621F6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16"/>
          <a:stretch/>
        </p:blipFill>
        <p:spPr>
          <a:xfrm>
            <a:off x="1878161" y="3085516"/>
            <a:ext cx="5716958" cy="3439984"/>
          </a:xfrm>
          <a:noFill/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1438F54-4826-4C83-98AE-02481C826AE9}"/>
              </a:ext>
            </a:extLst>
          </p:cNvPr>
          <p:cNvSpPr txBox="1"/>
          <p:nvPr/>
        </p:nvSpPr>
        <p:spPr>
          <a:xfrm>
            <a:off x="494321" y="1268963"/>
            <a:ext cx="8302841" cy="19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800" dirty="0"/>
              <a:t>Is it possible to join the three houses to the three utilities in such a way that none of the connections cross?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47951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371A-922E-4162-96D1-E2C83A878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8D12E-3A0A-49B3-9D7F-8969FA3A78F4}"/>
              </a:ext>
            </a:extLst>
          </p:cNvPr>
          <p:cNvSpPr txBox="1">
            <a:spLocks noChangeArrowheads="1"/>
          </p:cNvSpPr>
          <p:nvPr/>
        </p:nvSpPr>
        <p:spPr>
          <a:xfrm>
            <a:off x="269912" y="1225800"/>
            <a:ext cx="8382000" cy="1981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Phrased another way, this question is equivalent to: Given the complete bipartite graph K</a:t>
            </a:r>
            <a:r>
              <a:rPr lang="en-US" altLang="en-US" baseline="-25000" dirty="0"/>
              <a:t>3,3</a:t>
            </a:r>
            <a:r>
              <a:rPr lang="en-US" altLang="en-US" dirty="0"/>
              <a:t>, can K</a:t>
            </a:r>
            <a:r>
              <a:rPr lang="en-US" altLang="en-US" baseline="-25000" dirty="0"/>
              <a:t>3,3</a:t>
            </a:r>
            <a:r>
              <a:rPr lang="en-US" altLang="en-US" dirty="0"/>
              <a:t> be drawn in the plane so that no two of its edges cross?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13528751-E21B-4C78-B456-7D00F4FAC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667" y="4495800"/>
            <a:ext cx="99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800" dirty="0">
                <a:latin typeface="+mn-lt"/>
              </a:rPr>
              <a:t>K</a:t>
            </a:r>
            <a:r>
              <a:rPr lang="en-US" altLang="en-US" sz="2800" baseline="-25000" dirty="0">
                <a:latin typeface="+mn-lt"/>
              </a:rPr>
              <a:t>3,3</a:t>
            </a: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id="{A011C1CF-4D62-4247-A933-BD41A366DB45}"/>
              </a:ext>
            </a:extLst>
          </p:cNvPr>
          <p:cNvGrpSpPr>
            <a:grpSpLocks/>
          </p:cNvGrpSpPr>
          <p:nvPr/>
        </p:nvGrpSpPr>
        <p:grpSpPr bwMode="auto">
          <a:xfrm>
            <a:off x="2090057" y="3700491"/>
            <a:ext cx="4378491" cy="2716763"/>
            <a:chOff x="2198" y="3014"/>
            <a:chExt cx="1371" cy="863"/>
          </a:xfrm>
        </p:grpSpPr>
        <p:sp>
          <p:nvSpPr>
            <p:cNvPr id="7" name="Oval 9">
              <a:extLst>
                <a:ext uri="{FF2B5EF4-FFF2-40B4-BE49-F238E27FC236}">
                  <a16:creationId xmlns:a16="http://schemas.microsoft.com/office/drawing/2014/main" id="{50F38FCA-3219-4659-94FD-71673B7B4A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800">
                <a:latin typeface="+mn-lt"/>
              </a:endParaRPr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6AD24A90-E236-4CE5-839C-C8D42525F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4BD8D4B1-0665-4183-926E-7A8B7F5F8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1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83CCE234-340C-4718-91AA-4D3102320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6320D513-0357-4F47-B564-2C8D1FEEEA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511DBE9B-D620-4045-87EC-37AE3FAB7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2B0C7FA1-723B-463F-82F0-851AE42FEB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60F8163A-28FB-45E3-8DAD-D54731B3B7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A1768503-F659-4248-B61C-ED03D29E10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99C71B2C-3E34-437F-86D6-1417459236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7" name="Oval 19">
              <a:extLst>
                <a:ext uri="{FF2B5EF4-FFF2-40B4-BE49-F238E27FC236}">
                  <a16:creationId xmlns:a16="http://schemas.microsoft.com/office/drawing/2014/main" id="{173277E4-42FA-496B-9766-3BAA2A3E696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800">
                <a:latin typeface="+mn-lt"/>
              </a:endParaRPr>
            </a:p>
          </p:txBody>
        </p:sp>
        <p:sp>
          <p:nvSpPr>
            <p:cNvPr id="18" name="Oval 20">
              <a:extLst>
                <a:ext uri="{FF2B5EF4-FFF2-40B4-BE49-F238E27FC236}">
                  <a16:creationId xmlns:a16="http://schemas.microsoft.com/office/drawing/2014/main" id="{8C584D97-EFC7-418D-94CD-BDA1C0CD13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800">
                <a:latin typeface="+mn-lt"/>
              </a:endParaRPr>
            </a:p>
          </p:txBody>
        </p:sp>
        <p:sp>
          <p:nvSpPr>
            <p:cNvPr id="19" name="Oval 21">
              <a:extLst>
                <a:ext uri="{FF2B5EF4-FFF2-40B4-BE49-F238E27FC236}">
                  <a16:creationId xmlns:a16="http://schemas.microsoft.com/office/drawing/2014/main" id="{CE6B3E9E-F447-4EEA-BCA5-8C38DB4EF2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800">
                <a:latin typeface="+mn-lt"/>
              </a:endParaRPr>
            </a:p>
          </p:txBody>
        </p:sp>
        <p:sp>
          <p:nvSpPr>
            <p:cNvPr id="20" name="Oval 22">
              <a:extLst>
                <a:ext uri="{FF2B5EF4-FFF2-40B4-BE49-F238E27FC236}">
                  <a16:creationId xmlns:a16="http://schemas.microsoft.com/office/drawing/2014/main" id="{0D08EFD9-A9A9-4C3A-918F-0CD21D367D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79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800">
                <a:latin typeface="+mn-lt"/>
              </a:endParaRPr>
            </a:p>
          </p:txBody>
        </p: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63831323-B5D5-4E16-91AC-776C47B387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969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371A-922E-4162-96D1-E2C83A878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EF058-7B9C-4C7B-BB52-42B5CBEA9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graph is called planar if it can be drawn in the plane without any edges crossing.</a:t>
            </a:r>
          </a:p>
          <a:p>
            <a:pPr marL="0" indent="0">
              <a:buNone/>
            </a:pPr>
            <a:r>
              <a:rPr lang="en-US" dirty="0"/>
              <a:t>A crossing of edges is the intersection of the lines or arcs representing them at a point other than their common endpoint.</a:t>
            </a:r>
          </a:p>
          <a:p>
            <a:pPr marL="0" indent="0">
              <a:buNone/>
            </a:pPr>
            <a:r>
              <a:rPr lang="en-US" dirty="0"/>
              <a:t>Such a drawing is called a planar representation of the graph.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24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371A-922E-4162-96D1-E2C83A878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2D645B-273F-41F2-AE4B-8C5A53ABC7D5}"/>
              </a:ext>
            </a:extLst>
          </p:cNvPr>
          <p:cNvGrpSpPr>
            <a:grpSpLocks/>
          </p:cNvGrpSpPr>
          <p:nvPr/>
        </p:nvGrpSpPr>
        <p:grpSpPr bwMode="auto">
          <a:xfrm>
            <a:off x="1739349" y="4419600"/>
            <a:ext cx="1447800" cy="1371600"/>
            <a:chOff x="1008" y="3264"/>
            <a:chExt cx="912" cy="8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EEA9BF8-4D0C-4912-A22D-4A64B879B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312"/>
              <a:ext cx="816" cy="7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F7FFFFE0-C6C8-461A-AD38-CEC2C561E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312"/>
              <a:ext cx="816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79FC4957-3AC6-4C9E-9C85-73C41E4C8C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3312"/>
              <a:ext cx="816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3401CB-534F-4F9F-9504-5C2212AB7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26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92AE1A-5974-483B-8B46-AF48E4963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403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AAA9359-CDCB-4511-A002-7BF3F4641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403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F967C4-C835-40B9-90AA-B9BE828FB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6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C38FA6-D199-4490-AD12-C3C7AAF08DD7}"/>
              </a:ext>
            </a:extLst>
          </p:cNvPr>
          <p:cNvGrpSpPr>
            <a:grpSpLocks/>
          </p:cNvGrpSpPr>
          <p:nvPr/>
        </p:nvGrpSpPr>
        <p:grpSpPr bwMode="auto">
          <a:xfrm>
            <a:off x="5333449" y="4064000"/>
            <a:ext cx="2197100" cy="1727200"/>
            <a:chOff x="3272" y="3040"/>
            <a:chExt cx="1384" cy="108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365EAF-4EF3-4027-92AD-9271E539A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312"/>
              <a:ext cx="816" cy="7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C5DDD7E7-0739-47ED-A321-70C34EECD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312"/>
              <a:ext cx="816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D271A6-4EE3-4089-85A1-641947101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26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F07DF8A-2F95-4BED-BF5D-28657454E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403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93089B4-0D9E-4C79-8D30-A4F7321CA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403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2F97D80-1678-43B5-BE79-6FCECDBD0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26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A1FECCA-E8D1-4978-8B28-269EA0B4E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3040"/>
              <a:ext cx="1336" cy="1040"/>
            </a:xfrm>
            <a:custGeom>
              <a:avLst/>
              <a:gdLst>
                <a:gd name="T0" fmla="*/ 1336 w 1336"/>
                <a:gd name="T1" fmla="*/ 224 h 1040"/>
                <a:gd name="T2" fmla="*/ 904 w 1336"/>
                <a:gd name="T3" fmla="*/ 80 h 1040"/>
                <a:gd name="T4" fmla="*/ 280 w 1336"/>
                <a:gd name="T5" fmla="*/ 80 h 1040"/>
                <a:gd name="T6" fmla="*/ 40 w 1336"/>
                <a:gd name="T7" fmla="*/ 560 h 1040"/>
                <a:gd name="T8" fmla="*/ 520 w 1336"/>
                <a:gd name="T9" fmla="*/ 1040 h 10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6"/>
                <a:gd name="T16" fmla="*/ 0 h 1040"/>
                <a:gd name="T17" fmla="*/ 1336 w 1336"/>
                <a:gd name="T18" fmla="*/ 1040 h 10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6" h="1040">
                  <a:moveTo>
                    <a:pt x="1336" y="224"/>
                  </a:moveTo>
                  <a:cubicBezTo>
                    <a:pt x="1208" y="164"/>
                    <a:pt x="1080" y="104"/>
                    <a:pt x="904" y="80"/>
                  </a:cubicBezTo>
                  <a:cubicBezTo>
                    <a:pt x="728" y="56"/>
                    <a:pt x="424" y="0"/>
                    <a:pt x="280" y="80"/>
                  </a:cubicBezTo>
                  <a:cubicBezTo>
                    <a:pt x="136" y="160"/>
                    <a:pt x="0" y="400"/>
                    <a:pt x="40" y="560"/>
                  </a:cubicBezTo>
                  <a:cubicBezTo>
                    <a:pt x="80" y="720"/>
                    <a:pt x="300" y="880"/>
                    <a:pt x="520" y="104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0" name="AutoShape 19">
            <a:extLst>
              <a:ext uri="{FF2B5EF4-FFF2-40B4-BE49-F238E27FC236}">
                <a16:creationId xmlns:a16="http://schemas.microsoft.com/office/drawing/2014/main" id="{59FB5E97-D68B-4B42-B5A3-63DB689EB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948" y="4800600"/>
            <a:ext cx="1072275" cy="685800"/>
          </a:xfrm>
          <a:prstGeom prst="rightArrow">
            <a:avLst>
              <a:gd name="adj1" fmla="val 50000"/>
              <a:gd name="adj2" fmla="val 61848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FC72AE4F-BF0E-46A5-BF59-CC73032FE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349" y="1371601"/>
            <a:ext cx="8458200" cy="194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A graph may be planar even if it is usually drawn with crossings, since it may be possible to draw it in another way without crossings.</a:t>
            </a:r>
          </a:p>
        </p:txBody>
      </p:sp>
    </p:spTree>
    <p:extLst>
      <p:ext uri="{BB962C8B-B14F-4D97-AF65-F5344CB8AC3E}">
        <p14:creationId xmlns:p14="http://schemas.microsoft.com/office/powerpoint/2010/main" val="247171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371A-922E-4162-96D1-E2C83A878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pic>
        <p:nvPicPr>
          <p:cNvPr id="4" name="Picture 21" descr="09_7_04">
            <a:extLst>
              <a:ext uri="{FF2B5EF4-FFF2-40B4-BE49-F238E27FC236}">
                <a16:creationId xmlns:a16="http://schemas.microsoft.com/office/drawing/2014/main" id="{8A56348E-82E5-47F5-B4E6-31501B32A2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9"/>
          <a:stretch/>
        </p:blipFill>
        <p:spPr>
          <a:xfrm>
            <a:off x="13253" y="3429000"/>
            <a:ext cx="3810000" cy="2062164"/>
          </a:xfrm>
          <a:prstGeom prst="rect">
            <a:avLst/>
          </a:prstGeom>
          <a:noFill/>
        </p:spPr>
      </p:pic>
      <p:sp>
        <p:nvSpPr>
          <p:cNvPr id="5" name="AutoShape 19">
            <a:extLst>
              <a:ext uri="{FF2B5EF4-FFF2-40B4-BE49-F238E27FC236}">
                <a16:creationId xmlns:a16="http://schemas.microsoft.com/office/drawing/2014/main" id="{544D96C3-8F53-48E3-A7A0-87D21A168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421" y="3962400"/>
            <a:ext cx="1345096" cy="685800"/>
          </a:xfrm>
          <a:prstGeom prst="rightArrow">
            <a:avLst>
              <a:gd name="adj1" fmla="val 50000"/>
              <a:gd name="adj2" fmla="val 5912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10CAB46F-C9E5-490B-8AE4-10553ADC1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253" y="1371601"/>
            <a:ext cx="8458200" cy="1297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2800" dirty="0">
                <a:latin typeface="+mn-lt"/>
              </a:rPr>
              <a:t>A graph may be planar even if it represents a  3-dimensional object.</a:t>
            </a:r>
          </a:p>
        </p:txBody>
      </p:sp>
      <p:pic>
        <p:nvPicPr>
          <p:cNvPr id="7" name="Picture 23" descr="09_7_05">
            <a:extLst>
              <a:ext uri="{FF2B5EF4-FFF2-40B4-BE49-F238E27FC236}">
                <a16:creationId xmlns:a16="http://schemas.microsoft.com/office/drawing/2014/main" id="{F39CAB72-FDF0-49CB-8C5A-7CD730CDA7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92"/>
          <a:stretch/>
        </p:blipFill>
        <p:spPr>
          <a:xfrm>
            <a:off x="5194853" y="3405186"/>
            <a:ext cx="3962400" cy="20621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408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371A-922E-4162-96D1-E2C83A878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sp>
        <p:nvSpPr>
          <p:cNvPr id="4" name="Text Box 103">
            <a:extLst>
              <a:ext uri="{FF2B5EF4-FFF2-40B4-BE49-F238E27FC236}">
                <a16:creationId xmlns:a16="http://schemas.microsoft.com/office/drawing/2014/main" id="{02B2A0DD-68A1-4CAF-89C0-FF7045818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54" y="5729695"/>
            <a:ext cx="2185511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sz="2000" b="0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(a) planar, </a:t>
            </a:r>
            <a:br>
              <a:rPr lang="en-US" altLang="zh-TW" sz="2000" b="0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TW" sz="2000" b="0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not a plane graph</a:t>
            </a:r>
          </a:p>
        </p:txBody>
      </p:sp>
      <p:sp>
        <p:nvSpPr>
          <p:cNvPr id="5" name="Rectangle 104">
            <a:extLst>
              <a:ext uri="{FF2B5EF4-FFF2-40B4-BE49-F238E27FC236}">
                <a16:creationId xmlns:a16="http://schemas.microsoft.com/office/drawing/2014/main" id="{6A4253E7-C1F9-4BF9-A01B-25680295C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71" y="1154925"/>
            <a:ext cx="8657141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TW" dirty="0">
                <a:latin typeface="+mn-lt"/>
              </a:rPr>
              <a:t>Definition:</a:t>
            </a:r>
            <a:endParaRPr lang="en-US" altLang="zh-TW" b="0" dirty="0">
              <a:latin typeface="+mn-lt"/>
            </a:endParaRPr>
          </a:p>
          <a:p>
            <a:pPr marL="457200" lvl="1" indent="0"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</a:pPr>
            <a:r>
              <a:rPr lang="en-US" altLang="zh-TW" sz="2400" b="0" dirty="0">
                <a:latin typeface="+mn-lt"/>
              </a:rPr>
              <a:t>A planar graph </a:t>
            </a:r>
            <a:r>
              <a:rPr lang="en-US" altLang="zh-TW" sz="2400" i="1" dirty="0">
                <a:latin typeface="+mn-lt"/>
              </a:rPr>
              <a:t>G</a:t>
            </a:r>
            <a:r>
              <a:rPr lang="en-US" altLang="zh-TW" sz="2400" b="0" dirty="0">
                <a:latin typeface="+mn-lt"/>
              </a:rPr>
              <a:t> that is drawn in the plane so that no two edges intersect (that is, </a:t>
            </a:r>
            <a:r>
              <a:rPr lang="en-US" altLang="zh-TW" sz="2400" i="1" dirty="0">
                <a:latin typeface="+mn-lt"/>
              </a:rPr>
              <a:t>G</a:t>
            </a:r>
            <a:r>
              <a:rPr lang="en-US" altLang="zh-TW" sz="2400" b="0" dirty="0">
                <a:latin typeface="+mn-lt"/>
              </a:rPr>
              <a:t> is embedded in the plane)</a:t>
            </a:r>
            <a:r>
              <a:rPr lang="en-US" altLang="zh-TW" sz="2400" dirty="0">
                <a:latin typeface="+mn-lt"/>
              </a:rPr>
              <a:t> </a:t>
            </a:r>
            <a:r>
              <a:rPr lang="en-US" altLang="zh-TW" sz="2400" b="0" dirty="0">
                <a:latin typeface="+mn-lt"/>
              </a:rPr>
              <a:t>is called a plane graph.</a:t>
            </a:r>
            <a:endParaRPr lang="en-US" altLang="zh-TW" sz="2400" dirty="0">
              <a:latin typeface="+mn-lt"/>
            </a:endParaRPr>
          </a:p>
        </p:txBody>
      </p:sp>
      <p:sp>
        <p:nvSpPr>
          <p:cNvPr id="6" name="Text Box 129">
            <a:extLst>
              <a:ext uri="{FF2B5EF4-FFF2-40B4-BE49-F238E27FC236}">
                <a16:creationId xmlns:a16="http://schemas.microsoft.com/office/drawing/2014/main" id="{4CACFDFD-F9E6-4498-9F3B-E881BB653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059" y="5894926"/>
            <a:ext cx="1877271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sz="2000" b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(b) a plane graph</a:t>
            </a:r>
          </a:p>
        </p:txBody>
      </p:sp>
      <p:sp>
        <p:nvSpPr>
          <p:cNvPr id="7" name="Text Box 151">
            <a:extLst>
              <a:ext uri="{FF2B5EF4-FFF2-40B4-BE49-F238E27FC236}">
                <a16:creationId xmlns:a16="http://schemas.microsoft.com/office/drawing/2014/main" id="{9C796D8C-A535-4766-8CCD-35FE1F15B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2624" y="5836478"/>
            <a:ext cx="1943100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lang="en-US" altLang="zh-TW" sz="2000" b="0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(c) another</a:t>
            </a:r>
            <a:br>
              <a:rPr lang="en-US" altLang="zh-TW" sz="2000" b="0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TW" sz="2000" b="0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plane graph</a:t>
            </a:r>
          </a:p>
        </p:txBody>
      </p:sp>
      <p:grpSp>
        <p:nvGrpSpPr>
          <p:cNvPr id="8" name="Group 105">
            <a:extLst>
              <a:ext uri="{FF2B5EF4-FFF2-40B4-BE49-F238E27FC236}">
                <a16:creationId xmlns:a16="http://schemas.microsoft.com/office/drawing/2014/main" id="{17883CE4-E1F6-4170-B8AB-D946207EE346}"/>
              </a:ext>
            </a:extLst>
          </p:cNvPr>
          <p:cNvGrpSpPr>
            <a:grpSpLocks/>
          </p:cNvGrpSpPr>
          <p:nvPr/>
        </p:nvGrpSpPr>
        <p:grpSpPr bwMode="auto">
          <a:xfrm>
            <a:off x="561241" y="3811627"/>
            <a:ext cx="1900498" cy="1759358"/>
            <a:chOff x="419" y="2250"/>
            <a:chExt cx="1360" cy="1259"/>
          </a:xfrm>
        </p:grpSpPr>
        <p:sp>
          <p:nvSpPr>
            <p:cNvPr id="9" name="Line 77">
              <a:extLst>
                <a:ext uri="{FF2B5EF4-FFF2-40B4-BE49-F238E27FC236}">
                  <a16:creationId xmlns:a16="http://schemas.microsoft.com/office/drawing/2014/main" id="{E21C6779-E633-49B6-AD4A-6AD6A07D93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" y="2568"/>
              <a:ext cx="12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0" name="Oval 78">
              <a:extLst>
                <a:ext uri="{FF2B5EF4-FFF2-40B4-BE49-F238E27FC236}">
                  <a16:creationId xmlns:a16="http://schemas.microsoft.com/office/drawing/2014/main" id="{2FD2A63E-9935-4F13-8857-2438C98B0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" y="2523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" name="Line 80">
              <a:extLst>
                <a:ext uri="{FF2B5EF4-FFF2-40B4-BE49-F238E27FC236}">
                  <a16:creationId xmlns:a16="http://schemas.microsoft.com/office/drawing/2014/main" id="{01972E00-4F46-4EDC-BF9A-808A582847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1" y="2296"/>
              <a:ext cx="59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2" name="Oval 82">
              <a:extLst>
                <a:ext uri="{FF2B5EF4-FFF2-40B4-BE49-F238E27FC236}">
                  <a16:creationId xmlns:a16="http://schemas.microsoft.com/office/drawing/2014/main" id="{1567B12B-0349-4EA8-8FEF-A7ED3A9C8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" y="2885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3" name="Oval 83">
              <a:extLst>
                <a:ext uri="{FF2B5EF4-FFF2-40B4-BE49-F238E27FC236}">
                  <a16:creationId xmlns:a16="http://schemas.microsoft.com/office/drawing/2014/main" id="{ABA04CB0-4D6B-4905-8B6C-AC0F4D475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3430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4" name="Line 88">
              <a:extLst>
                <a:ext uri="{FF2B5EF4-FFF2-40B4-BE49-F238E27FC236}">
                  <a16:creationId xmlns:a16="http://schemas.microsoft.com/office/drawing/2014/main" id="{B1F0D59F-323B-45D1-B6E3-901F50EFE5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1" y="2931"/>
              <a:ext cx="12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5" name="Line 89">
              <a:extLst>
                <a:ext uri="{FF2B5EF4-FFF2-40B4-BE49-F238E27FC236}">
                  <a16:creationId xmlns:a16="http://schemas.microsoft.com/office/drawing/2014/main" id="{0F219050-D3D7-42F1-8BB6-E36CADC46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2296"/>
              <a:ext cx="635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6" name="Oval 91">
              <a:extLst>
                <a:ext uri="{FF2B5EF4-FFF2-40B4-BE49-F238E27FC236}">
                  <a16:creationId xmlns:a16="http://schemas.microsoft.com/office/drawing/2014/main" id="{A035199B-55D7-455B-AB10-B61D3BD1D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2523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7" name="Oval 92">
              <a:extLst>
                <a:ext uri="{FF2B5EF4-FFF2-40B4-BE49-F238E27FC236}">
                  <a16:creationId xmlns:a16="http://schemas.microsoft.com/office/drawing/2014/main" id="{E4568770-D8F3-43DB-9434-30F7E4211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250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8" name="Oval 94">
              <a:extLst>
                <a:ext uri="{FF2B5EF4-FFF2-40B4-BE49-F238E27FC236}">
                  <a16:creationId xmlns:a16="http://schemas.microsoft.com/office/drawing/2014/main" id="{2E7771B3-7173-448F-933B-D6316B502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2885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9" name="Oval 95">
              <a:extLst>
                <a:ext uri="{FF2B5EF4-FFF2-40B4-BE49-F238E27FC236}">
                  <a16:creationId xmlns:a16="http://schemas.microsoft.com/office/drawing/2014/main" id="{38AE33F5-0400-4032-86AA-2F4BC63DC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" y="3248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" name="Line 96">
              <a:extLst>
                <a:ext uri="{FF2B5EF4-FFF2-40B4-BE49-F238E27FC236}">
                  <a16:creationId xmlns:a16="http://schemas.microsoft.com/office/drawing/2014/main" id="{2CAF86C7-591C-43E5-99ED-AEC0C2F6B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568"/>
              <a:ext cx="0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21" name="Line 97">
              <a:extLst>
                <a:ext uri="{FF2B5EF4-FFF2-40B4-BE49-F238E27FC236}">
                  <a16:creationId xmlns:a16="http://schemas.microsoft.com/office/drawing/2014/main" id="{620F9972-B6B8-4076-9D6E-193FECC56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" y="3294"/>
              <a:ext cx="68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22" name="Line 98">
              <a:extLst>
                <a:ext uri="{FF2B5EF4-FFF2-40B4-BE49-F238E27FC236}">
                  <a16:creationId xmlns:a16="http://schemas.microsoft.com/office/drawing/2014/main" id="{62C52929-27B9-42B9-A850-328E03C219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" y="3294"/>
              <a:ext cx="68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23" name="Line 99">
              <a:extLst>
                <a:ext uri="{FF2B5EF4-FFF2-40B4-BE49-F238E27FC236}">
                  <a16:creationId xmlns:a16="http://schemas.microsoft.com/office/drawing/2014/main" id="{34B2ABB6-5E76-4118-A6AE-FD5A2B335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568"/>
              <a:ext cx="0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24" name="Oval 100">
              <a:extLst>
                <a:ext uri="{FF2B5EF4-FFF2-40B4-BE49-F238E27FC236}">
                  <a16:creationId xmlns:a16="http://schemas.microsoft.com/office/drawing/2014/main" id="{B0B27150-8298-4ECB-978C-8CCA17BAA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" y="3248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5" name="Line 101">
              <a:extLst>
                <a:ext uri="{FF2B5EF4-FFF2-40B4-BE49-F238E27FC236}">
                  <a16:creationId xmlns:a16="http://schemas.microsoft.com/office/drawing/2014/main" id="{607A2ED6-B813-4475-97EE-72D39A873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2568"/>
              <a:ext cx="635" cy="9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26" name="Line 102">
              <a:extLst>
                <a:ext uri="{FF2B5EF4-FFF2-40B4-BE49-F238E27FC236}">
                  <a16:creationId xmlns:a16="http://schemas.microsoft.com/office/drawing/2014/main" id="{18C76A7A-B1BA-4351-A08D-6374256D8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2296"/>
              <a:ext cx="635" cy="9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</p:grpSp>
      <p:grpSp>
        <p:nvGrpSpPr>
          <p:cNvPr id="27" name="Group 128">
            <a:extLst>
              <a:ext uri="{FF2B5EF4-FFF2-40B4-BE49-F238E27FC236}">
                <a16:creationId xmlns:a16="http://schemas.microsoft.com/office/drawing/2014/main" id="{B4612F3B-084A-426A-863A-C8241C024A32}"/>
              </a:ext>
            </a:extLst>
          </p:cNvPr>
          <p:cNvGrpSpPr>
            <a:grpSpLocks/>
          </p:cNvGrpSpPr>
          <p:nvPr/>
        </p:nvGrpSpPr>
        <p:grpSpPr bwMode="auto">
          <a:xfrm>
            <a:off x="3446517" y="3774628"/>
            <a:ext cx="2588033" cy="1928447"/>
            <a:chOff x="2003" y="1994"/>
            <a:chExt cx="1852" cy="1380"/>
          </a:xfrm>
        </p:grpSpPr>
        <p:sp>
          <p:nvSpPr>
            <p:cNvPr id="28" name="Line 107">
              <a:extLst>
                <a:ext uri="{FF2B5EF4-FFF2-40B4-BE49-F238E27FC236}">
                  <a16:creationId xmlns:a16="http://schemas.microsoft.com/office/drawing/2014/main" id="{ED8927CB-42DE-412B-9E67-2AB20F576E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93" y="2433"/>
              <a:ext cx="12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29" name="Oval 108">
              <a:extLst>
                <a:ext uri="{FF2B5EF4-FFF2-40B4-BE49-F238E27FC236}">
                  <a16:creationId xmlns:a16="http://schemas.microsoft.com/office/drawing/2014/main" id="{A8A87D4E-536C-41B6-AE1D-EB6EAC3EE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7" y="2388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0" name="Line 109">
              <a:extLst>
                <a:ext uri="{FF2B5EF4-FFF2-40B4-BE49-F238E27FC236}">
                  <a16:creationId xmlns:a16="http://schemas.microsoft.com/office/drawing/2014/main" id="{A3C89A99-96EC-4305-806C-130149D79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8" y="2161"/>
              <a:ext cx="59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31" name="Oval 110">
              <a:extLst>
                <a:ext uri="{FF2B5EF4-FFF2-40B4-BE49-F238E27FC236}">
                  <a16:creationId xmlns:a16="http://schemas.microsoft.com/office/drawing/2014/main" id="{CED09571-CEF9-464D-8F9B-7218A7C1E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7" y="2750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2" name="Oval 111">
              <a:extLst>
                <a:ext uri="{FF2B5EF4-FFF2-40B4-BE49-F238E27FC236}">
                  <a16:creationId xmlns:a16="http://schemas.microsoft.com/office/drawing/2014/main" id="{EAB33118-E9B9-4F8C-977D-F47E82A15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3295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3" name="Line 112">
              <a:extLst>
                <a:ext uri="{FF2B5EF4-FFF2-40B4-BE49-F238E27FC236}">
                  <a16:creationId xmlns:a16="http://schemas.microsoft.com/office/drawing/2014/main" id="{C02CFEAA-64CB-47A8-B90A-9149566DDF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38" y="2796"/>
              <a:ext cx="12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34" name="Line 113">
              <a:extLst>
                <a:ext uri="{FF2B5EF4-FFF2-40B4-BE49-F238E27FC236}">
                  <a16:creationId xmlns:a16="http://schemas.microsoft.com/office/drawing/2014/main" id="{40DBB597-F65A-4E16-A473-01B916260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8" y="2161"/>
              <a:ext cx="635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35" name="Oval 114">
              <a:extLst>
                <a:ext uri="{FF2B5EF4-FFF2-40B4-BE49-F238E27FC236}">
                  <a16:creationId xmlns:a16="http://schemas.microsoft.com/office/drawing/2014/main" id="{B78536A9-DD25-449B-B2A9-941CB3858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388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6" name="Oval 115">
              <a:extLst>
                <a:ext uri="{FF2B5EF4-FFF2-40B4-BE49-F238E27FC236}">
                  <a16:creationId xmlns:a16="http://schemas.microsoft.com/office/drawing/2014/main" id="{D2CE71A0-7389-45D8-9E11-074337106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115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7" name="Oval 116">
              <a:extLst>
                <a:ext uri="{FF2B5EF4-FFF2-40B4-BE49-F238E27FC236}">
                  <a16:creationId xmlns:a16="http://schemas.microsoft.com/office/drawing/2014/main" id="{12A8466C-CAEE-4317-A757-6FE3BA63F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2750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8" name="Oval 117">
              <a:extLst>
                <a:ext uri="{FF2B5EF4-FFF2-40B4-BE49-F238E27FC236}">
                  <a16:creationId xmlns:a16="http://schemas.microsoft.com/office/drawing/2014/main" id="{1115A36E-15AE-4166-8FE8-F98E0D96B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3113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9" name="Line 118">
              <a:extLst>
                <a:ext uri="{FF2B5EF4-FFF2-40B4-BE49-F238E27FC236}">
                  <a16:creationId xmlns:a16="http://schemas.microsoft.com/office/drawing/2014/main" id="{78D646BB-75A7-4A90-93FB-CF1C0D184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" y="2433"/>
              <a:ext cx="0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40" name="Line 119">
              <a:extLst>
                <a:ext uri="{FF2B5EF4-FFF2-40B4-BE49-F238E27FC236}">
                  <a16:creationId xmlns:a16="http://schemas.microsoft.com/office/drawing/2014/main" id="{A91A1D93-F2F0-4C70-B4CD-9162870013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3159"/>
              <a:ext cx="68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41" name="Line 120">
              <a:extLst>
                <a:ext uri="{FF2B5EF4-FFF2-40B4-BE49-F238E27FC236}">
                  <a16:creationId xmlns:a16="http://schemas.microsoft.com/office/drawing/2014/main" id="{078C6222-AC3F-4104-83D8-7A0B125799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2" y="3159"/>
              <a:ext cx="68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42" name="Line 121">
              <a:extLst>
                <a:ext uri="{FF2B5EF4-FFF2-40B4-BE49-F238E27FC236}">
                  <a16:creationId xmlns:a16="http://schemas.microsoft.com/office/drawing/2014/main" id="{8ACEBAC6-C723-4299-9F1F-EB439DB7F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" y="2433"/>
              <a:ext cx="0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43" name="Oval 122">
              <a:extLst>
                <a:ext uri="{FF2B5EF4-FFF2-40B4-BE49-F238E27FC236}">
                  <a16:creationId xmlns:a16="http://schemas.microsoft.com/office/drawing/2014/main" id="{897B6E94-6364-4A04-A39B-FFCA9F526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7" y="3113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44" name="Freeform 126">
              <a:extLst>
                <a:ext uri="{FF2B5EF4-FFF2-40B4-BE49-F238E27FC236}">
                  <a16:creationId xmlns:a16="http://schemas.microsoft.com/office/drawing/2014/main" id="{BCBF573E-5C7B-4B23-8F09-E61D869C0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" y="1994"/>
              <a:ext cx="839" cy="1164"/>
            </a:xfrm>
            <a:custGeom>
              <a:avLst/>
              <a:gdLst>
                <a:gd name="T0" fmla="*/ 0 w 839"/>
                <a:gd name="T1" fmla="*/ 166 h 1164"/>
                <a:gd name="T2" fmla="*/ 726 w 839"/>
                <a:gd name="T3" fmla="*/ 166 h 1164"/>
                <a:gd name="T4" fmla="*/ 680 w 839"/>
                <a:gd name="T5" fmla="*/ 1164 h 11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9" h="1164">
                  <a:moveTo>
                    <a:pt x="0" y="166"/>
                  </a:moveTo>
                  <a:cubicBezTo>
                    <a:pt x="306" y="83"/>
                    <a:pt x="613" y="0"/>
                    <a:pt x="726" y="166"/>
                  </a:cubicBezTo>
                  <a:cubicBezTo>
                    <a:pt x="839" y="332"/>
                    <a:pt x="759" y="748"/>
                    <a:pt x="680" y="1164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45" name="Freeform 127">
              <a:extLst>
                <a:ext uri="{FF2B5EF4-FFF2-40B4-BE49-F238E27FC236}">
                  <a16:creationId xmlns:a16="http://schemas.microsoft.com/office/drawing/2014/main" id="{5B7963C1-8507-4E83-A411-F544966D7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2432"/>
              <a:ext cx="1013" cy="922"/>
            </a:xfrm>
            <a:custGeom>
              <a:avLst/>
              <a:gdLst>
                <a:gd name="T0" fmla="*/ 378 w 1013"/>
                <a:gd name="T1" fmla="*/ 0 h 922"/>
                <a:gd name="T2" fmla="*/ 106 w 1013"/>
                <a:gd name="T3" fmla="*/ 771 h 922"/>
                <a:gd name="T4" fmla="*/ 1013 w 1013"/>
                <a:gd name="T5" fmla="*/ 907 h 9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3" h="922">
                  <a:moveTo>
                    <a:pt x="378" y="0"/>
                  </a:moveTo>
                  <a:cubicBezTo>
                    <a:pt x="189" y="310"/>
                    <a:pt x="0" y="620"/>
                    <a:pt x="106" y="771"/>
                  </a:cubicBezTo>
                  <a:cubicBezTo>
                    <a:pt x="212" y="922"/>
                    <a:pt x="612" y="914"/>
                    <a:pt x="1013" y="907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</p:grpSp>
      <p:grpSp>
        <p:nvGrpSpPr>
          <p:cNvPr id="46" name="Group 154">
            <a:extLst>
              <a:ext uri="{FF2B5EF4-FFF2-40B4-BE49-F238E27FC236}">
                <a16:creationId xmlns:a16="http://schemas.microsoft.com/office/drawing/2014/main" id="{0BC4C03A-70DC-4873-9B59-56D65118C137}"/>
              </a:ext>
            </a:extLst>
          </p:cNvPr>
          <p:cNvGrpSpPr>
            <a:grpSpLocks/>
          </p:cNvGrpSpPr>
          <p:nvPr/>
        </p:nvGrpSpPr>
        <p:grpSpPr bwMode="auto">
          <a:xfrm>
            <a:off x="6540998" y="3843749"/>
            <a:ext cx="2525148" cy="1995523"/>
            <a:chOff x="3908" y="2100"/>
            <a:chExt cx="1807" cy="1428"/>
          </a:xfrm>
        </p:grpSpPr>
        <p:sp>
          <p:nvSpPr>
            <p:cNvPr id="47" name="Line 131">
              <a:extLst>
                <a:ext uri="{FF2B5EF4-FFF2-40B4-BE49-F238E27FC236}">
                  <a16:creationId xmlns:a16="http://schemas.microsoft.com/office/drawing/2014/main" id="{1D0FA5EA-0DA0-4F6A-918C-D35A4ACA75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7" y="2418"/>
              <a:ext cx="12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48" name="Oval 132">
              <a:extLst>
                <a:ext uri="{FF2B5EF4-FFF2-40B4-BE49-F238E27FC236}">
                  <a16:creationId xmlns:a16="http://schemas.microsoft.com/office/drawing/2014/main" id="{435AAD08-A7AF-4625-9EE8-1F5B3CFEB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1" y="2373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49" name="Line 133">
              <a:extLst>
                <a:ext uri="{FF2B5EF4-FFF2-40B4-BE49-F238E27FC236}">
                  <a16:creationId xmlns:a16="http://schemas.microsoft.com/office/drawing/2014/main" id="{03738510-6D01-4EE7-A8F5-7154594FB0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2" y="2146"/>
              <a:ext cx="590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50" name="Oval 134">
              <a:extLst>
                <a:ext uri="{FF2B5EF4-FFF2-40B4-BE49-F238E27FC236}">
                  <a16:creationId xmlns:a16="http://schemas.microsoft.com/office/drawing/2014/main" id="{D02BEBB6-B688-4731-BE8F-437D3FFFF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1" y="2735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51" name="Oval 135">
              <a:extLst>
                <a:ext uri="{FF2B5EF4-FFF2-40B4-BE49-F238E27FC236}">
                  <a16:creationId xmlns:a16="http://schemas.microsoft.com/office/drawing/2014/main" id="{FBEC2674-0BC9-42B1-8DFE-F93FB9456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6" y="3280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52" name="Line 137">
              <a:extLst>
                <a:ext uri="{FF2B5EF4-FFF2-40B4-BE49-F238E27FC236}">
                  <a16:creationId xmlns:a16="http://schemas.microsoft.com/office/drawing/2014/main" id="{93633289-8347-4F1B-9777-8F30A12305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2" y="2146"/>
              <a:ext cx="635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53" name="Oval 138">
              <a:extLst>
                <a:ext uri="{FF2B5EF4-FFF2-40B4-BE49-F238E27FC236}">
                  <a16:creationId xmlns:a16="http://schemas.microsoft.com/office/drawing/2014/main" id="{7472DD2E-2623-4FBF-BF3E-98FE4DB18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2373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54" name="Oval 139">
              <a:extLst>
                <a:ext uri="{FF2B5EF4-FFF2-40B4-BE49-F238E27FC236}">
                  <a16:creationId xmlns:a16="http://schemas.microsoft.com/office/drawing/2014/main" id="{1D2C0FA2-E26B-4487-AFFB-FBBAFAAA0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6" y="2100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55" name="Oval 140">
              <a:extLst>
                <a:ext uri="{FF2B5EF4-FFF2-40B4-BE49-F238E27FC236}">
                  <a16:creationId xmlns:a16="http://schemas.microsoft.com/office/drawing/2014/main" id="{76AD1078-F81B-489E-B570-CD4967F2B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2735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56" name="Oval 141">
              <a:extLst>
                <a:ext uri="{FF2B5EF4-FFF2-40B4-BE49-F238E27FC236}">
                  <a16:creationId xmlns:a16="http://schemas.microsoft.com/office/drawing/2014/main" id="{90EF8533-858E-4D55-86ED-752CC29D2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0" y="3098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57" name="Line 142">
              <a:extLst>
                <a:ext uri="{FF2B5EF4-FFF2-40B4-BE49-F238E27FC236}">
                  <a16:creationId xmlns:a16="http://schemas.microsoft.com/office/drawing/2014/main" id="{2967B60C-BD49-47C4-A2E4-AD63A552E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7" y="2418"/>
              <a:ext cx="0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58" name="Line 143">
              <a:extLst>
                <a:ext uri="{FF2B5EF4-FFF2-40B4-BE49-F238E27FC236}">
                  <a16:creationId xmlns:a16="http://schemas.microsoft.com/office/drawing/2014/main" id="{4603D83E-ABEE-45BC-A8A2-344F39DF0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1" y="3144"/>
              <a:ext cx="68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59" name="Line 144">
              <a:extLst>
                <a:ext uri="{FF2B5EF4-FFF2-40B4-BE49-F238E27FC236}">
                  <a16:creationId xmlns:a16="http://schemas.microsoft.com/office/drawing/2014/main" id="{4576D1A8-4231-4864-85B0-589018D42F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6" y="3144"/>
              <a:ext cx="68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60" name="Line 145">
              <a:extLst>
                <a:ext uri="{FF2B5EF4-FFF2-40B4-BE49-F238E27FC236}">
                  <a16:creationId xmlns:a16="http://schemas.microsoft.com/office/drawing/2014/main" id="{F5B8F9AA-7D49-4500-BEBA-D4E7C0AB8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7" y="2418"/>
              <a:ext cx="0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61" name="Oval 146">
              <a:extLst>
                <a:ext uri="{FF2B5EF4-FFF2-40B4-BE49-F238E27FC236}">
                  <a16:creationId xmlns:a16="http://schemas.microsoft.com/office/drawing/2014/main" id="{CB6131D3-16A7-44DB-896D-7D24BE44A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1" y="3098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62" name="Freeform 149">
              <a:extLst>
                <a:ext uri="{FF2B5EF4-FFF2-40B4-BE49-F238E27FC236}">
                  <a16:creationId xmlns:a16="http://schemas.microsoft.com/office/drawing/2014/main" id="{F543FD84-5264-43A1-978E-6A5F6C8E8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2795"/>
              <a:ext cx="1807" cy="733"/>
            </a:xfrm>
            <a:custGeom>
              <a:avLst/>
              <a:gdLst>
                <a:gd name="T0" fmla="*/ 242 w 1807"/>
                <a:gd name="T1" fmla="*/ 0 h 733"/>
                <a:gd name="T2" fmla="*/ 106 w 1807"/>
                <a:gd name="T3" fmla="*/ 454 h 733"/>
                <a:gd name="T4" fmla="*/ 877 w 1807"/>
                <a:gd name="T5" fmla="*/ 726 h 733"/>
                <a:gd name="T6" fmla="*/ 1694 w 1807"/>
                <a:gd name="T7" fmla="*/ 499 h 733"/>
                <a:gd name="T8" fmla="*/ 1557 w 1807"/>
                <a:gd name="T9" fmla="*/ 0 h 7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07" h="733">
                  <a:moveTo>
                    <a:pt x="242" y="0"/>
                  </a:moveTo>
                  <a:cubicBezTo>
                    <a:pt x="121" y="166"/>
                    <a:pt x="0" y="333"/>
                    <a:pt x="106" y="454"/>
                  </a:cubicBezTo>
                  <a:cubicBezTo>
                    <a:pt x="212" y="575"/>
                    <a:pt x="612" y="719"/>
                    <a:pt x="877" y="726"/>
                  </a:cubicBezTo>
                  <a:cubicBezTo>
                    <a:pt x="1142" y="733"/>
                    <a:pt x="1581" y="620"/>
                    <a:pt x="1694" y="499"/>
                  </a:cubicBezTo>
                  <a:cubicBezTo>
                    <a:pt x="1807" y="378"/>
                    <a:pt x="1682" y="189"/>
                    <a:pt x="1557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63" name="Line 152">
              <a:extLst>
                <a:ext uri="{FF2B5EF4-FFF2-40B4-BE49-F238E27FC236}">
                  <a16:creationId xmlns:a16="http://schemas.microsoft.com/office/drawing/2014/main" id="{C04BB2DF-A4BA-457F-8E00-2B3238822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5" y="2432"/>
              <a:ext cx="59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64" name="Line 153">
              <a:extLst>
                <a:ext uri="{FF2B5EF4-FFF2-40B4-BE49-F238E27FC236}">
                  <a16:creationId xmlns:a16="http://schemas.microsoft.com/office/drawing/2014/main" id="{C10C875F-6721-4DCD-A4F3-17A5179E0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2160"/>
              <a:ext cx="635" cy="9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78586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sp>
        <p:nvSpPr>
          <p:cNvPr id="4" name="Text Box 59">
            <a:extLst>
              <a:ext uri="{FF2B5EF4-FFF2-40B4-BE49-F238E27FC236}">
                <a16:creationId xmlns:a16="http://schemas.microsoft.com/office/drawing/2014/main" id="{3FA70D9C-E7D7-41E5-B2A7-62ADA48BD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03" y="1255670"/>
            <a:ext cx="8532991" cy="129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zh-TW" dirty="0">
                <a:latin typeface="+mn-lt"/>
              </a:rPr>
              <a:t>Note. </a:t>
            </a:r>
            <a:r>
              <a:rPr lang="en-US" altLang="zh-TW" b="0" dirty="0">
                <a:latin typeface="+mn-lt"/>
              </a:rPr>
              <a:t>A given planar graph can give rise to several different plane graph.</a:t>
            </a:r>
            <a:r>
              <a:rPr lang="en-US" altLang="zh-TW" dirty="0">
                <a:latin typeface="+mn-lt"/>
              </a:rPr>
              <a:t> </a:t>
            </a:r>
          </a:p>
        </p:txBody>
      </p:sp>
      <p:sp>
        <p:nvSpPr>
          <p:cNvPr id="5" name="Text Box 62">
            <a:extLst>
              <a:ext uri="{FF2B5EF4-FFF2-40B4-BE49-F238E27FC236}">
                <a16:creationId xmlns:a16="http://schemas.microsoft.com/office/drawing/2014/main" id="{E37905D5-8222-4BAB-AF70-36655E898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0109" y="4195393"/>
            <a:ext cx="170942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 i="1">
                <a:latin typeface="Times New Roman" panose="02020603050405020304" pitchFamily="18" charset="0"/>
              </a:rPr>
              <a:t>R</a:t>
            </a:r>
            <a:r>
              <a:rPr lang="en-US" altLang="zh-TW" sz="2400" baseline="-25000">
                <a:latin typeface="Times New Roman" panose="02020603050405020304" pitchFamily="18" charset="0"/>
              </a:rPr>
              <a:t>3</a:t>
            </a:r>
            <a:r>
              <a:rPr lang="en-US" altLang="zh-TW" sz="2400">
                <a:latin typeface="Times New Roman" panose="02020603050405020304" pitchFamily="18" charset="0"/>
              </a:rPr>
              <a:t>: exterior</a:t>
            </a:r>
          </a:p>
        </p:txBody>
      </p:sp>
      <p:sp>
        <p:nvSpPr>
          <p:cNvPr id="6" name="Text Box 76">
            <a:extLst>
              <a:ext uri="{FF2B5EF4-FFF2-40B4-BE49-F238E27FC236}">
                <a16:creationId xmlns:a16="http://schemas.microsoft.com/office/drawing/2014/main" id="{47906AA7-DD94-412A-8023-623CCCA0A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2409" y="4700218"/>
            <a:ext cx="489534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 i="1" dirty="0">
                <a:latin typeface="Times New Roman" panose="02020603050405020304" pitchFamily="18" charset="0"/>
              </a:rPr>
              <a:t>R</a:t>
            </a:r>
            <a:r>
              <a:rPr lang="en-US" altLang="zh-TW" sz="2400" baseline="-25000" dirty="0">
                <a:latin typeface="Times New Roman" panose="02020603050405020304" pitchFamily="18" charset="0"/>
              </a:rPr>
              <a:t>1</a:t>
            </a:r>
            <a:endParaRPr lang="en-US" altLang="zh-TW" sz="2400" dirty="0">
              <a:latin typeface="Times New Roman" panose="02020603050405020304" pitchFamily="18" charset="0"/>
            </a:endParaRPr>
          </a:p>
        </p:txBody>
      </p:sp>
      <p:sp>
        <p:nvSpPr>
          <p:cNvPr id="7" name="Text Box 77">
            <a:extLst>
              <a:ext uri="{FF2B5EF4-FFF2-40B4-BE49-F238E27FC236}">
                <a16:creationId xmlns:a16="http://schemas.microsoft.com/office/drawing/2014/main" id="{F17F70B5-B1F2-4EC0-98DB-930E50694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2409" y="5276481"/>
            <a:ext cx="489534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 i="1">
                <a:latin typeface="Times New Roman" panose="02020603050405020304" pitchFamily="18" charset="0"/>
              </a:rPr>
              <a:t>R</a:t>
            </a:r>
            <a:r>
              <a:rPr lang="en-US" altLang="zh-TW" sz="2400" baseline="-25000">
                <a:latin typeface="Times New Roman" panose="02020603050405020304" pitchFamily="18" charset="0"/>
              </a:rPr>
              <a:t>2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8" name="Text Box 78">
            <a:extLst>
              <a:ext uri="{FF2B5EF4-FFF2-40B4-BE49-F238E27FC236}">
                <a16:creationId xmlns:a16="http://schemas.microsoft.com/office/drawing/2014/main" id="{DA3D8F7A-6DE0-4611-8E74-C3154A85B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5159" y="5205043"/>
            <a:ext cx="2496622" cy="463846"/>
          </a:xfrm>
          <a:prstGeom prst="rect">
            <a:avLst/>
          </a:prstGeom>
          <a:noFill/>
          <a:ln w="28575">
            <a:solidFill>
              <a:srgbClr val="FF6600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 i="1">
                <a:latin typeface="Times New Roman" panose="02020603050405020304" pitchFamily="18" charset="0"/>
              </a:rPr>
              <a:t>G</a:t>
            </a:r>
            <a:r>
              <a:rPr lang="en-US" altLang="zh-TW" sz="2400" baseline="-25000">
                <a:latin typeface="Times New Roman" panose="02020603050405020304" pitchFamily="18" charset="0"/>
              </a:rPr>
              <a:t>1</a:t>
            </a:r>
            <a:r>
              <a:rPr lang="en-US" altLang="zh-TW" sz="2400">
                <a:latin typeface="Times New Roman" panose="02020603050405020304" pitchFamily="18" charset="0"/>
              </a:rPr>
              <a:t> </a:t>
            </a:r>
            <a:r>
              <a:rPr lang="en-US" altLang="zh-TW" sz="2400" b="0"/>
              <a:t>has 3 regions.</a:t>
            </a:r>
          </a:p>
        </p:txBody>
      </p:sp>
      <p:grpSp>
        <p:nvGrpSpPr>
          <p:cNvPr id="9" name="Group 63">
            <a:extLst>
              <a:ext uri="{FF2B5EF4-FFF2-40B4-BE49-F238E27FC236}">
                <a16:creationId xmlns:a16="http://schemas.microsoft.com/office/drawing/2014/main" id="{57CFAF19-988C-4FA8-8AE4-F337F18D16BD}"/>
              </a:ext>
            </a:extLst>
          </p:cNvPr>
          <p:cNvGrpSpPr>
            <a:grpSpLocks/>
          </p:cNvGrpSpPr>
          <p:nvPr/>
        </p:nvGrpSpPr>
        <p:grpSpPr bwMode="auto">
          <a:xfrm>
            <a:off x="1775459" y="3927105"/>
            <a:ext cx="2212975" cy="1925638"/>
            <a:chOff x="567" y="754"/>
            <a:chExt cx="1394" cy="1213"/>
          </a:xfrm>
        </p:grpSpPr>
        <p:sp>
          <p:nvSpPr>
            <p:cNvPr id="10" name="Oval 64">
              <a:extLst>
                <a:ext uri="{FF2B5EF4-FFF2-40B4-BE49-F238E27FC236}">
                  <a16:creationId xmlns:a16="http://schemas.microsoft.com/office/drawing/2014/main" id="{D749A0D3-58DB-41F8-B711-79DA8B44A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1480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" name="Oval 65">
              <a:extLst>
                <a:ext uri="{FF2B5EF4-FFF2-40B4-BE49-F238E27FC236}">
                  <a16:creationId xmlns:a16="http://schemas.microsoft.com/office/drawing/2014/main" id="{572A2EB6-16D7-4E57-B28A-6558A920D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1888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AEE3E0C6-01FD-406B-BE95-9725A81DC0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1525"/>
              <a:ext cx="226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2D17794F-30B3-482D-8D7B-719607383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117"/>
              <a:ext cx="544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8E1AE670-4999-4635-8108-DD3735167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4" y="1525"/>
              <a:ext cx="272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5" name="Oval 69">
              <a:extLst>
                <a:ext uri="{FF2B5EF4-FFF2-40B4-BE49-F238E27FC236}">
                  <a16:creationId xmlns:a16="http://schemas.microsoft.com/office/drawing/2014/main" id="{4315823D-A977-47F4-92C5-CAC75635B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888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6" name="Line 70">
              <a:extLst>
                <a:ext uri="{FF2B5EF4-FFF2-40B4-BE49-F238E27FC236}">
                  <a16:creationId xmlns:a16="http://schemas.microsoft.com/office/drawing/2014/main" id="{DABF6943-2A9D-4D52-AB0F-83DD1E2FA3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4" y="1117"/>
              <a:ext cx="499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7" name="Line 71">
              <a:extLst>
                <a:ext uri="{FF2B5EF4-FFF2-40B4-BE49-F238E27FC236}">
                  <a16:creationId xmlns:a16="http://schemas.microsoft.com/office/drawing/2014/main" id="{96A30E62-7C11-4498-8531-C733465381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0" y="1525"/>
              <a:ext cx="9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8" name="Line 72">
              <a:extLst>
                <a:ext uri="{FF2B5EF4-FFF2-40B4-BE49-F238E27FC236}">
                  <a16:creationId xmlns:a16="http://schemas.microsoft.com/office/drawing/2014/main" id="{DA413E78-292A-4EC6-92FE-448FFAF431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1" y="1933"/>
              <a:ext cx="5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9" name="Oval 73">
              <a:extLst>
                <a:ext uri="{FF2B5EF4-FFF2-40B4-BE49-F238E27FC236}">
                  <a16:creationId xmlns:a16="http://schemas.microsoft.com/office/drawing/2014/main" id="{7A2C66B4-A276-4DEA-A6E8-ECFA3D948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0" y="1071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" name="Oval 74">
              <a:extLst>
                <a:ext uri="{FF2B5EF4-FFF2-40B4-BE49-F238E27FC236}">
                  <a16:creationId xmlns:a16="http://schemas.microsoft.com/office/drawing/2014/main" id="{7F2EFDB9-04C3-4B26-9804-9DAD9C206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1480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1" name="Text Box 75">
              <a:extLst>
                <a:ext uri="{FF2B5EF4-FFF2-40B4-BE49-F238E27FC236}">
                  <a16:creationId xmlns:a16="http://schemas.microsoft.com/office/drawing/2014/main" id="{E2B1E26E-6434-4BAB-93F1-3A7B92A2C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754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2400" i="1" dirty="0">
                  <a:latin typeface="Times New Roman" panose="02020603050405020304" pitchFamily="18" charset="0"/>
                </a:rPr>
                <a:t>G</a:t>
              </a:r>
              <a:r>
                <a:rPr lang="en-US" altLang="zh-TW" sz="2400" baseline="-25000" dirty="0">
                  <a:latin typeface="Times New Roman" panose="02020603050405020304" pitchFamily="18" charset="0"/>
                </a:rPr>
                <a:t>1</a:t>
              </a:r>
              <a:endParaRPr lang="en-US" altLang="zh-TW" sz="2400" dirty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8332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sp>
        <p:nvSpPr>
          <p:cNvPr id="3" name="Rectangle 58">
            <a:extLst>
              <a:ext uri="{FF2B5EF4-FFF2-40B4-BE49-F238E27FC236}">
                <a16:creationId xmlns:a16="http://schemas.microsoft.com/office/drawing/2014/main" id="{6622014C-2580-4E0B-AD69-9B88562DE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04" y="1276851"/>
            <a:ext cx="8509720" cy="1686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altLang="zh-TW" sz="2800" dirty="0">
                <a:solidFill>
                  <a:srgbClr val="FF0000"/>
                </a:solidFill>
              </a:rPr>
              <a:t>Definition: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altLang="zh-TW" sz="2400" dirty="0"/>
              <a:t>    Let </a:t>
            </a:r>
            <a:r>
              <a:rPr lang="en-US" altLang="zh-TW" sz="2400" i="1" dirty="0"/>
              <a:t>G</a:t>
            </a:r>
            <a:r>
              <a:rPr lang="en-US" altLang="zh-TW" sz="2400" dirty="0"/>
              <a:t> be a plane graph. The connected pieces of the plane that remain when the vertices and edges of </a:t>
            </a:r>
            <a:r>
              <a:rPr lang="en-US" altLang="zh-TW" sz="2400" i="1" dirty="0"/>
              <a:t>G</a:t>
            </a:r>
            <a:r>
              <a:rPr lang="en-US" altLang="zh-TW" sz="2400" dirty="0"/>
              <a:t> are removed are called the regions of </a:t>
            </a:r>
            <a:r>
              <a:rPr lang="en-US" altLang="zh-TW" sz="2400" i="1" dirty="0"/>
              <a:t>G</a:t>
            </a:r>
            <a:r>
              <a:rPr lang="en-US" altLang="zh-TW" sz="2400" dirty="0"/>
              <a:t>.</a:t>
            </a:r>
          </a:p>
        </p:txBody>
      </p:sp>
      <p:sp>
        <p:nvSpPr>
          <p:cNvPr id="5" name="Text Box 62">
            <a:extLst>
              <a:ext uri="{FF2B5EF4-FFF2-40B4-BE49-F238E27FC236}">
                <a16:creationId xmlns:a16="http://schemas.microsoft.com/office/drawing/2014/main" id="{E37905D5-8222-4BAB-AF70-36655E898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3457" y="4419328"/>
            <a:ext cx="170942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 i="1">
                <a:latin typeface="Times New Roman" panose="02020603050405020304" pitchFamily="18" charset="0"/>
              </a:rPr>
              <a:t>R</a:t>
            </a:r>
            <a:r>
              <a:rPr lang="en-US" altLang="zh-TW" sz="2400" baseline="-25000">
                <a:latin typeface="Times New Roman" panose="02020603050405020304" pitchFamily="18" charset="0"/>
              </a:rPr>
              <a:t>3</a:t>
            </a:r>
            <a:r>
              <a:rPr lang="en-US" altLang="zh-TW" sz="2400">
                <a:latin typeface="Times New Roman" panose="02020603050405020304" pitchFamily="18" charset="0"/>
              </a:rPr>
              <a:t>: exterior</a:t>
            </a:r>
          </a:p>
        </p:txBody>
      </p:sp>
      <p:sp>
        <p:nvSpPr>
          <p:cNvPr id="6" name="Text Box 76">
            <a:extLst>
              <a:ext uri="{FF2B5EF4-FFF2-40B4-BE49-F238E27FC236}">
                <a16:creationId xmlns:a16="http://schemas.microsoft.com/office/drawing/2014/main" id="{47906AA7-DD94-412A-8023-623CCCA0A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757" y="4924153"/>
            <a:ext cx="489534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 i="1" dirty="0">
                <a:latin typeface="Times New Roman" panose="02020603050405020304" pitchFamily="18" charset="0"/>
              </a:rPr>
              <a:t>R</a:t>
            </a:r>
            <a:r>
              <a:rPr lang="en-US" altLang="zh-TW" sz="2400" baseline="-25000" dirty="0">
                <a:latin typeface="Times New Roman" panose="02020603050405020304" pitchFamily="18" charset="0"/>
              </a:rPr>
              <a:t>1</a:t>
            </a:r>
            <a:endParaRPr lang="en-US" altLang="zh-TW" sz="2400" dirty="0">
              <a:latin typeface="Times New Roman" panose="02020603050405020304" pitchFamily="18" charset="0"/>
            </a:endParaRPr>
          </a:p>
        </p:txBody>
      </p:sp>
      <p:sp>
        <p:nvSpPr>
          <p:cNvPr id="7" name="Text Box 77">
            <a:extLst>
              <a:ext uri="{FF2B5EF4-FFF2-40B4-BE49-F238E27FC236}">
                <a16:creationId xmlns:a16="http://schemas.microsoft.com/office/drawing/2014/main" id="{F17F70B5-B1F2-4EC0-98DB-930E50694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757" y="5500416"/>
            <a:ext cx="489534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 i="1">
                <a:latin typeface="Times New Roman" panose="02020603050405020304" pitchFamily="18" charset="0"/>
              </a:rPr>
              <a:t>R</a:t>
            </a:r>
            <a:r>
              <a:rPr lang="en-US" altLang="zh-TW" sz="2400" baseline="-25000">
                <a:latin typeface="Times New Roman" panose="02020603050405020304" pitchFamily="18" charset="0"/>
              </a:rPr>
              <a:t>2</a:t>
            </a:r>
            <a:endParaRPr lang="en-US" altLang="zh-TW" sz="2400">
              <a:latin typeface="Times New Roman" panose="02020603050405020304" pitchFamily="18" charset="0"/>
            </a:endParaRPr>
          </a:p>
        </p:txBody>
      </p:sp>
      <p:sp>
        <p:nvSpPr>
          <p:cNvPr id="8" name="Text Box 78">
            <a:extLst>
              <a:ext uri="{FF2B5EF4-FFF2-40B4-BE49-F238E27FC236}">
                <a16:creationId xmlns:a16="http://schemas.microsoft.com/office/drawing/2014/main" id="{DA3D8F7A-6DE0-4611-8E74-C3154A85B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8507" y="5428978"/>
            <a:ext cx="2496622" cy="463846"/>
          </a:xfrm>
          <a:prstGeom prst="rect">
            <a:avLst/>
          </a:prstGeom>
          <a:noFill/>
          <a:ln w="28575">
            <a:solidFill>
              <a:srgbClr val="FF6600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400" i="1">
                <a:latin typeface="Times New Roman" panose="02020603050405020304" pitchFamily="18" charset="0"/>
              </a:rPr>
              <a:t>G</a:t>
            </a:r>
            <a:r>
              <a:rPr lang="en-US" altLang="zh-TW" sz="2400" baseline="-25000">
                <a:latin typeface="Times New Roman" panose="02020603050405020304" pitchFamily="18" charset="0"/>
              </a:rPr>
              <a:t>1</a:t>
            </a:r>
            <a:r>
              <a:rPr lang="en-US" altLang="zh-TW" sz="2400">
                <a:latin typeface="Times New Roman" panose="02020603050405020304" pitchFamily="18" charset="0"/>
              </a:rPr>
              <a:t> </a:t>
            </a:r>
            <a:r>
              <a:rPr lang="en-US" altLang="zh-TW" sz="2400" b="0"/>
              <a:t>has 3 regions.</a:t>
            </a:r>
          </a:p>
        </p:txBody>
      </p:sp>
      <p:grpSp>
        <p:nvGrpSpPr>
          <p:cNvPr id="9" name="Group 63">
            <a:extLst>
              <a:ext uri="{FF2B5EF4-FFF2-40B4-BE49-F238E27FC236}">
                <a16:creationId xmlns:a16="http://schemas.microsoft.com/office/drawing/2014/main" id="{57CFAF19-988C-4FA8-8AE4-F337F18D16BD}"/>
              </a:ext>
            </a:extLst>
          </p:cNvPr>
          <p:cNvGrpSpPr>
            <a:grpSpLocks/>
          </p:cNvGrpSpPr>
          <p:nvPr/>
        </p:nvGrpSpPr>
        <p:grpSpPr bwMode="auto">
          <a:xfrm>
            <a:off x="1728807" y="4151040"/>
            <a:ext cx="2212975" cy="1925638"/>
            <a:chOff x="567" y="754"/>
            <a:chExt cx="1394" cy="1213"/>
          </a:xfrm>
        </p:grpSpPr>
        <p:sp>
          <p:nvSpPr>
            <p:cNvPr id="10" name="Oval 64">
              <a:extLst>
                <a:ext uri="{FF2B5EF4-FFF2-40B4-BE49-F238E27FC236}">
                  <a16:creationId xmlns:a16="http://schemas.microsoft.com/office/drawing/2014/main" id="{D749A0D3-58DB-41F8-B711-79DA8B44A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1480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" name="Oval 65">
              <a:extLst>
                <a:ext uri="{FF2B5EF4-FFF2-40B4-BE49-F238E27FC236}">
                  <a16:creationId xmlns:a16="http://schemas.microsoft.com/office/drawing/2014/main" id="{572A2EB6-16D7-4E57-B28A-6558A920D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1888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AEE3E0C6-01FD-406B-BE95-9725A81DC0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1525"/>
              <a:ext cx="226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2D17794F-30B3-482D-8D7B-719607383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117"/>
              <a:ext cx="544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8E1AE670-4999-4635-8108-DD3735167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4" y="1525"/>
              <a:ext cx="272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5" name="Oval 69">
              <a:extLst>
                <a:ext uri="{FF2B5EF4-FFF2-40B4-BE49-F238E27FC236}">
                  <a16:creationId xmlns:a16="http://schemas.microsoft.com/office/drawing/2014/main" id="{4315823D-A977-47F4-92C5-CAC75635B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888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6" name="Line 70">
              <a:extLst>
                <a:ext uri="{FF2B5EF4-FFF2-40B4-BE49-F238E27FC236}">
                  <a16:creationId xmlns:a16="http://schemas.microsoft.com/office/drawing/2014/main" id="{DABF6943-2A9D-4D52-AB0F-83DD1E2FA3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4" y="1117"/>
              <a:ext cx="499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7" name="Line 71">
              <a:extLst>
                <a:ext uri="{FF2B5EF4-FFF2-40B4-BE49-F238E27FC236}">
                  <a16:creationId xmlns:a16="http://schemas.microsoft.com/office/drawing/2014/main" id="{96A30E62-7C11-4498-8531-C733465381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0" y="1525"/>
              <a:ext cx="9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8" name="Line 72">
              <a:extLst>
                <a:ext uri="{FF2B5EF4-FFF2-40B4-BE49-F238E27FC236}">
                  <a16:creationId xmlns:a16="http://schemas.microsoft.com/office/drawing/2014/main" id="{DA413E78-292A-4EC6-92FE-448FFAF431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1" y="1933"/>
              <a:ext cx="5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en-IN"/>
            </a:p>
          </p:txBody>
        </p:sp>
        <p:sp>
          <p:nvSpPr>
            <p:cNvPr id="19" name="Oval 73">
              <a:extLst>
                <a:ext uri="{FF2B5EF4-FFF2-40B4-BE49-F238E27FC236}">
                  <a16:creationId xmlns:a16="http://schemas.microsoft.com/office/drawing/2014/main" id="{7A2C66B4-A276-4DEA-A6E8-ECFA3D948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0" y="1071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0" name="Oval 74">
              <a:extLst>
                <a:ext uri="{FF2B5EF4-FFF2-40B4-BE49-F238E27FC236}">
                  <a16:creationId xmlns:a16="http://schemas.microsoft.com/office/drawing/2014/main" id="{7F2EFDB9-04C3-4B26-9804-9DAD9C206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1480"/>
              <a:ext cx="79" cy="79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21" name="Text Box 75">
              <a:extLst>
                <a:ext uri="{FF2B5EF4-FFF2-40B4-BE49-F238E27FC236}">
                  <a16:creationId xmlns:a16="http://schemas.microsoft.com/office/drawing/2014/main" id="{E2B1E26E-6434-4BAB-93F1-3A7B92A2C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754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2400" i="1">
                  <a:latin typeface="Times New Roman" panose="02020603050405020304" pitchFamily="18" charset="0"/>
                </a:rPr>
                <a:t>G</a:t>
              </a:r>
              <a:r>
                <a:rPr lang="en-US" altLang="zh-TW" sz="2400" baseline="-25000">
                  <a:latin typeface="Times New Roman" panose="02020603050405020304" pitchFamily="18" charset="0"/>
                </a:rPr>
                <a:t>1</a:t>
              </a:r>
              <a:endParaRPr lang="en-US" altLang="zh-TW" sz="240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627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6F9A612-1DBF-4CE6-99D4-BDBC63AB0C50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371600"/>
            <a:ext cx="8593394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We can prove that a particular graph is planar by showing how it can be drawn without any crossings.</a:t>
            </a:r>
          </a:p>
          <a:p>
            <a:pPr marL="0" indent="0">
              <a:buNone/>
            </a:pPr>
            <a:r>
              <a:rPr lang="en-US" altLang="en-US" dirty="0"/>
              <a:t>However, not all graphs are planar.</a:t>
            </a:r>
          </a:p>
          <a:p>
            <a:pPr marL="0" indent="0">
              <a:buNone/>
            </a:pPr>
            <a:r>
              <a:rPr lang="en-US" altLang="en-US" dirty="0"/>
              <a:t>It may be difficult to show that a graph is nonplanar.  We would have to show that there is </a:t>
            </a:r>
            <a:r>
              <a:rPr lang="en-US" altLang="en-US" i="1" dirty="0"/>
              <a:t>no way</a:t>
            </a:r>
            <a:r>
              <a:rPr lang="en-US" altLang="en-US" dirty="0"/>
              <a:t> to draw the graph without any edges crossing.</a:t>
            </a:r>
          </a:p>
        </p:txBody>
      </p:sp>
    </p:spTree>
    <p:extLst>
      <p:ext uri="{BB962C8B-B14F-4D97-AF65-F5344CB8AC3E}">
        <p14:creationId xmlns:p14="http://schemas.microsoft.com/office/powerpoint/2010/main" val="272578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780FBA3-B3EE-46F9-AB34-E11BDA9D36F3}"/>
              </a:ext>
            </a:extLst>
          </p:cNvPr>
          <p:cNvSpPr txBox="1">
            <a:spLocks noChangeArrowheads="1"/>
          </p:cNvSpPr>
          <p:nvPr/>
        </p:nvSpPr>
        <p:spPr>
          <a:xfrm>
            <a:off x="301488" y="1437860"/>
            <a:ext cx="8504904" cy="2096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Euler showed that all planar representations of a graph split the plane into the same number of </a:t>
            </a:r>
            <a:r>
              <a:rPr lang="en-US" altLang="en-US" i="1" dirty="0"/>
              <a:t>regions</a:t>
            </a:r>
            <a:r>
              <a:rPr lang="en-US" altLang="en-US" dirty="0"/>
              <a:t>, including an unbounded region.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7DCEFB8-4E0D-499A-AFD0-E88086539474}"/>
              </a:ext>
            </a:extLst>
          </p:cNvPr>
          <p:cNvGrpSpPr>
            <a:grpSpLocks/>
          </p:cNvGrpSpPr>
          <p:nvPr/>
        </p:nvGrpSpPr>
        <p:grpSpPr bwMode="auto">
          <a:xfrm>
            <a:off x="2206489" y="3647660"/>
            <a:ext cx="3521075" cy="2565400"/>
            <a:chOff x="1046" y="2704"/>
            <a:chExt cx="1690" cy="1088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C8A5BD91-7E45-458C-9F22-4753CD29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976"/>
              <a:ext cx="816" cy="7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4869DA44-486F-4BC4-952E-0FDE9B878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976"/>
              <a:ext cx="816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A3820098-2E21-48C1-A23C-B7D9A73E4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92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238A1C28-238A-4B25-94CF-C547698DB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90834396-C413-4BFD-A792-8687BF223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A317C292-7D0E-4E9E-A842-897B3CE97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92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9C584BD-4B96-499D-9D93-E6C5B5DF3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704"/>
              <a:ext cx="1336" cy="1040"/>
            </a:xfrm>
            <a:custGeom>
              <a:avLst/>
              <a:gdLst>
                <a:gd name="T0" fmla="*/ 1336 w 1336"/>
                <a:gd name="T1" fmla="*/ 224 h 1040"/>
                <a:gd name="T2" fmla="*/ 904 w 1336"/>
                <a:gd name="T3" fmla="*/ 80 h 1040"/>
                <a:gd name="T4" fmla="*/ 280 w 1336"/>
                <a:gd name="T5" fmla="*/ 80 h 1040"/>
                <a:gd name="T6" fmla="*/ 40 w 1336"/>
                <a:gd name="T7" fmla="*/ 560 h 1040"/>
                <a:gd name="T8" fmla="*/ 520 w 1336"/>
                <a:gd name="T9" fmla="*/ 1040 h 10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6"/>
                <a:gd name="T16" fmla="*/ 0 h 1040"/>
                <a:gd name="T17" fmla="*/ 1336 w 1336"/>
                <a:gd name="T18" fmla="*/ 1040 h 10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6" h="1040">
                  <a:moveTo>
                    <a:pt x="1336" y="224"/>
                  </a:moveTo>
                  <a:cubicBezTo>
                    <a:pt x="1208" y="164"/>
                    <a:pt x="1080" y="104"/>
                    <a:pt x="904" y="80"/>
                  </a:cubicBezTo>
                  <a:cubicBezTo>
                    <a:pt x="728" y="56"/>
                    <a:pt x="424" y="0"/>
                    <a:pt x="280" y="80"/>
                  </a:cubicBezTo>
                  <a:cubicBezTo>
                    <a:pt x="136" y="160"/>
                    <a:pt x="0" y="400"/>
                    <a:pt x="40" y="560"/>
                  </a:cubicBezTo>
                  <a:cubicBezTo>
                    <a:pt x="80" y="720"/>
                    <a:pt x="300" y="880"/>
                    <a:pt x="520" y="104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8B173DC6-BDF4-43CC-9DAC-0644B5618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" y="3005"/>
              <a:ext cx="1284" cy="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2400" i="1">
                  <a:solidFill>
                    <a:schemeClr val="tx2"/>
                  </a:solidFill>
                  <a:latin typeface="Bookman Old Style" panose="02050604050505020204" pitchFamily="18" charset="0"/>
                </a:rPr>
                <a:t>R</a:t>
              </a:r>
              <a:r>
                <a:rPr lang="en-US" altLang="en-US" sz="2400" baseline="-25000">
                  <a:solidFill>
                    <a:schemeClr val="tx2"/>
                  </a:solidFill>
                  <a:latin typeface="Bookman Old Style" panose="02050604050505020204" pitchFamily="18" charset="0"/>
                </a:rPr>
                <a:t>4</a:t>
              </a:r>
              <a:r>
                <a:rPr lang="en-US" altLang="en-US" sz="2400">
                  <a:solidFill>
                    <a:schemeClr val="tx2"/>
                  </a:solidFill>
                  <a:latin typeface="Bookman Old Style" panose="02050604050505020204" pitchFamily="18" charset="0"/>
                </a:rPr>
                <a:t>     </a:t>
              </a:r>
              <a:r>
                <a:rPr lang="en-US" altLang="en-US" sz="2400" i="1">
                  <a:solidFill>
                    <a:schemeClr val="tx2"/>
                  </a:solidFill>
                  <a:latin typeface="Bookman Old Style" panose="02050604050505020204" pitchFamily="18" charset="0"/>
                </a:rPr>
                <a:t>R</a:t>
              </a:r>
              <a:r>
                <a:rPr lang="en-US" altLang="en-US" sz="2400" baseline="-25000">
                  <a:solidFill>
                    <a:schemeClr val="tx2"/>
                  </a:solidFill>
                  <a:latin typeface="Bookman Old Style" panose="02050604050505020204" pitchFamily="18" charset="0"/>
                </a:rPr>
                <a:t>3</a:t>
              </a:r>
              <a:r>
                <a:rPr lang="en-US" altLang="en-US" sz="2400">
                  <a:solidFill>
                    <a:schemeClr val="tx2"/>
                  </a:solidFill>
                  <a:latin typeface="Bookman Old Style" panose="02050604050505020204" pitchFamily="18" charset="0"/>
                </a:rPr>
                <a:t>          </a:t>
              </a:r>
              <a:r>
                <a:rPr lang="en-US" altLang="en-US" sz="2400" i="1">
                  <a:solidFill>
                    <a:schemeClr val="tx2"/>
                  </a:solidFill>
                  <a:latin typeface="Bookman Old Style" panose="02050604050505020204" pitchFamily="18" charset="0"/>
                </a:rPr>
                <a:t>R</a:t>
              </a:r>
              <a:r>
                <a:rPr lang="en-US" altLang="en-US" sz="2400" baseline="-25000">
                  <a:solidFill>
                    <a:schemeClr val="tx2"/>
                  </a:solidFill>
                  <a:latin typeface="Bookman Old Style" panose="02050604050505020204" pitchFamily="18" charset="0"/>
                </a:rPr>
                <a:t>2</a:t>
              </a:r>
              <a:endParaRPr lang="en-US" altLang="en-US" sz="2400">
                <a:solidFill>
                  <a:schemeClr val="tx2"/>
                </a:solidFill>
                <a:latin typeface="Bookman Old Style" panose="02050604050505020204" pitchFamily="18" charset="0"/>
              </a:endParaRPr>
            </a:p>
            <a:p>
              <a:pPr algn="l"/>
              <a:endParaRPr lang="en-US" altLang="en-US" sz="2400">
                <a:solidFill>
                  <a:schemeClr val="tx2"/>
                </a:solidFill>
                <a:latin typeface="Bookman Old Style" panose="02050604050505020204" pitchFamily="18" charset="0"/>
              </a:endParaRPr>
            </a:p>
            <a:p>
              <a:pPr algn="l"/>
              <a:r>
                <a:rPr lang="en-US" altLang="en-US" sz="2400">
                  <a:solidFill>
                    <a:schemeClr val="tx2"/>
                  </a:solidFill>
                  <a:latin typeface="Bookman Old Style" panose="02050604050505020204" pitchFamily="18" charset="0"/>
                </a:rPr>
                <a:t>                 </a:t>
              </a:r>
              <a:r>
                <a:rPr lang="en-US" altLang="en-US" sz="2400" i="1">
                  <a:solidFill>
                    <a:schemeClr val="tx2"/>
                  </a:solidFill>
                  <a:latin typeface="Bookman Old Style" panose="02050604050505020204" pitchFamily="18" charset="0"/>
                </a:rPr>
                <a:t>R</a:t>
              </a:r>
              <a:r>
                <a:rPr lang="en-US" altLang="en-US" sz="2400" baseline="-25000">
                  <a:solidFill>
                    <a:schemeClr val="tx2"/>
                  </a:solidFill>
                  <a:latin typeface="Bookman Old Style" panose="02050604050505020204" pitchFamily="18" charset="0"/>
                </a:rPr>
                <a:t>1</a:t>
              </a:r>
              <a:endParaRPr lang="en-US" altLang="en-US" sz="2400">
                <a:solidFill>
                  <a:schemeClr val="tx2"/>
                </a:solidFill>
                <a:latin typeface="Bookman Old Style" panose="02050604050505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1206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B6AEBA3-FA72-4C34-A55D-33C30C852706}"/>
              </a:ext>
            </a:extLst>
          </p:cNvPr>
          <p:cNvSpPr txBox="1">
            <a:spLocks noChangeArrowheads="1"/>
          </p:cNvSpPr>
          <p:nvPr/>
        </p:nvSpPr>
        <p:spPr>
          <a:xfrm>
            <a:off x="271669" y="1143000"/>
            <a:ext cx="8610600" cy="228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In any planar representation of K</a:t>
            </a:r>
            <a:r>
              <a:rPr lang="en-US" altLang="en-US" baseline="-25000" dirty="0"/>
              <a:t>3,3</a:t>
            </a:r>
            <a:r>
              <a:rPr lang="en-US" altLang="en-US" dirty="0"/>
              <a:t>, vertex v</a:t>
            </a:r>
            <a:r>
              <a:rPr lang="en-US" altLang="en-US" baseline="-25000" dirty="0"/>
              <a:t>1</a:t>
            </a:r>
            <a:r>
              <a:rPr lang="en-US" altLang="en-US" dirty="0"/>
              <a:t> must be connected to both v</a:t>
            </a:r>
            <a:r>
              <a:rPr lang="en-US" altLang="en-US" baseline="-25000" dirty="0"/>
              <a:t>4</a:t>
            </a:r>
            <a:r>
              <a:rPr lang="en-US" altLang="en-US" dirty="0"/>
              <a:t> and v</a:t>
            </a:r>
            <a:r>
              <a:rPr lang="en-US" altLang="en-US" baseline="-25000" dirty="0"/>
              <a:t>5</a:t>
            </a:r>
            <a:r>
              <a:rPr lang="en-US" altLang="en-US" dirty="0"/>
              <a:t>, and v</a:t>
            </a:r>
            <a:r>
              <a:rPr lang="en-US" altLang="en-US" baseline="-25000" dirty="0"/>
              <a:t>2</a:t>
            </a:r>
            <a:r>
              <a:rPr lang="en-US" altLang="en-US" dirty="0"/>
              <a:t> also must be connected to both v</a:t>
            </a:r>
            <a:r>
              <a:rPr lang="en-US" altLang="en-US" baseline="-25000" dirty="0"/>
              <a:t>4</a:t>
            </a:r>
            <a:r>
              <a:rPr lang="en-US" altLang="en-US" dirty="0"/>
              <a:t> and v</a:t>
            </a:r>
            <a:r>
              <a:rPr lang="en-US" altLang="en-US" baseline="-25000" dirty="0"/>
              <a:t>5</a:t>
            </a:r>
            <a:r>
              <a:rPr lang="en-US" altLang="en-US" dirty="0"/>
              <a:t>. </a:t>
            </a:r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id="{5C153A08-EED2-4756-98B8-A42EE948EBF8}"/>
              </a:ext>
            </a:extLst>
          </p:cNvPr>
          <p:cNvGrpSpPr>
            <a:grpSpLocks/>
          </p:cNvGrpSpPr>
          <p:nvPr/>
        </p:nvGrpSpPr>
        <p:grpSpPr bwMode="auto">
          <a:xfrm>
            <a:off x="2925415" y="3796747"/>
            <a:ext cx="3090863" cy="2514600"/>
            <a:chOff x="2198" y="3014"/>
            <a:chExt cx="1371" cy="863"/>
          </a:xfrm>
        </p:grpSpPr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22A3351A-A8EE-48DA-BBD6-DEF12F9387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6" name="Line 15">
              <a:extLst>
                <a:ext uri="{FF2B5EF4-FFF2-40B4-BE49-F238E27FC236}">
                  <a16:creationId xmlns:a16="http://schemas.microsoft.com/office/drawing/2014/main" id="{03E4DB01-5B37-4CE2-A3D5-7D2231324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Line 16">
              <a:extLst>
                <a:ext uri="{FF2B5EF4-FFF2-40B4-BE49-F238E27FC236}">
                  <a16:creationId xmlns:a16="http://schemas.microsoft.com/office/drawing/2014/main" id="{57545136-57F5-40E3-99A6-E438DDF2B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1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" name="Line 17">
              <a:extLst>
                <a:ext uri="{FF2B5EF4-FFF2-40B4-BE49-F238E27FC236}">
                  <a16:creationId xmlns:a16="http://schemas.microsoft.com/office/drawing/2014/main" id="{7329D105-9585-4C23-A437-08A4FEA39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" name="Line 18">
              <a:extLst>
                <a:ext uri="{FF2B5EF4-FFF2-40B4-BE49-F238E27FC236}">
                  <a16:creationId xmlns:a16="http://schemas.microsoft.com/office/drawing/2014/main" id="{AFD723BF-CDDD-4837-8E53-11A642054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Line 19">
              <a:extLst>
                <a:ext uri="{FF2B5EF4-FFF2-40B4-BE49-F238E27FC236}">
                  <a16:creationId xmlns:a16="http://schemas.microsoft.com/office/drawing/2014/main" id="{73E273E4-A632-4929-8848-73CBD8509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Line 20">
              <a:extLst>
                <a:ext uri="{FF2B5EF4-FFF2-40B4-BE49-F238E27FC236}">
                  <a16:creationId xmlns:a16="http://schemas.microsoft.com/office/drawing/2014/main" id="{2FD51C80-CAB3-47CA-82A6-64246FB0A9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BD22048F-6977-4D42-9BFB-B404E2396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F1652E0E-FB6A-41A8-B79E-2951B82007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E2046BD2-1608-43E9-9683-6B76A166CF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Oval 24">
              <a:extLst>
                <a:ext uri="{FF2B5EF4-FFF2-40B4-BE49-F238E27FC236}">
                  <a16:creationId xmlns:a16="http://schemas.microsoft.com/office/drawing/2014/main" id="{09BC644A-75E5-4234-8529-AE09FB1310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16" name="Oval 25">
              <a:extLst>
                <a:ext uri="{FF2B5EF4-FFF2-40B4-BE49-F238E27FC236}">
                  <a16:creationId xmlns:a16="http://schemas.microsoft.com/office/drawing/2014/main" id="{B27E5F7D-9566-417D-A4FD-22AF2DB190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17" name="Oval 26">
              <a:extLst>
                <a:ext uri="{FF2B5EF4-FFF2-40B4-BE49-F238E27FC236}">
                  <a16:creationId xmlns:a16="http://schemas.microsoft.com/office/drawing/2014/main" id="{FE28ECF7-E031-4A00-A8D8-8BD0FDDD68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18" name="Oval 27">
              <a:extLst>
                <a:ext uri="{FF2B5EF4-FFF2-40B4-BE49-F238E27FC236}">
                  <a16:creationId xmlns:a16="http://schemas.microsoft.com/office/drawing/2014/main" id="{CB19ED49-7EC1-42A8-A187-63B24C884B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79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1572BEC4-1AF7-4A53-BABF-83DEFF2C99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</p:grpSp>
      <p:sp>
        <p:nvSpPr>
          <p:cNvPr id="20" name="Text Box 29">
            <a:extLst>
              <a:ext uri="{FF2B5EF4-FFF2-40B4-BE49-F238E27FC236}">
                <a16:creationId xmlns:a16="http://schemas.microsoft.com/office/drawing/2014/main" id="{88F9D6F6-CA8C-45E9-8FEB-B1B28FD94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014" y="3263347"/>
            <a:ext cx="5290934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3600" dirty="0">
                <a:latin typeface="+mn-lt"/>
              </a:rPr>
              <a:t> v</a:t>
            </a:r>
            <a:r>
              <a:rPr lang="en-US" altLang="en-US" sz="3600" baseline="-25000" dirty="0">
                <a:latin typeface="+mn-lt"/>
              </a:rPr>
              <a:t>1</a:t>
            </a:r>
            <a:r>
              <a:rPr lang="en-US" altLang="en-US" sz="3600" dirty="0">
                <a:latin typeface="+mn-lt"/>
              </a:rPr>
              <a:t>			 v</a:t>
            </a:r>
            <a:r>
              <a:rPr lang="en-US" altLang="en-US" sz="3600" baseline="-25000" dirty="0">
                <a:latin typeface="+mn-lt"/>
              </a:rPr>
              <a:t>2</a:t>
            </a:r>
            <a:r>
              <a:rPr lang="en-US" altLang="en-US" sz="3600" dirty="0">
                <a:latin typeface="+mn-lt"/>
              </a:rPr>
              <a:t>	     v</a:t>
            </a:r>
            <a:r>
              <a:rPr lang="en-US" altLang="en-US" sz="3600" baseline="-25000" dirty="0">
                <a:latin typeface="+mn-lt"/>
              </a:rPr>
              <a:t>3</a:t>
            </a:r>
            <a:endParaRPr lang="en-US" altLang="en-US" sz="36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endParaRPr lang="en-US" altLang="en-US" sz="36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endParaRPr lang="en-US" altLang="en-US" sz="36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en-US" sz="3600" dirty="0">
                <a:latin typeface="+mn-lt"/>
              </a:rPr>
              <a:t>v</a:t>
            </a:r>
            <a:r>
              <a:rPr lang="en-US" altLang="en-US" sz="3600" baseline="-25000" dirty="0">
                <a:latin typeface="+mn-lt"/>
              </a:rPr>
              <a:t>4</a:t>
            </a:r>
            <a:r>
              <a:rPr lang="en-US" altLang="en-US" sz="3600" dirty="0">
                <a:latin typeface="+mn-lt"/>
              </a:rPr>
              <a:t>		 	v</a:t>
            </a:r>
            <a:r>
              <a:rPr lang="en-US" altLang="en-US" sz="3600" baseline="-25000" dirty="0">
                <a:latin typeface="+mn-lt"/>
              </a:rPr>
              <a:t>5</a:t>
            </a:r>
            <a:r>
              <a:rPr lang="en-US" altLang="en-US" sz="3600" dirty="0">
                <a:latin typeface="+mn-lt"/>
              </a:rPr>
              <a:t>	        v</a:t>
            </a:r>
            <a:r>
              <a:rPr lang="en-US" altLang="en-US" sz="3600" baseline="-25000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0094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EFF99A2-1E39-4F63-9A27-9127D87EA20C}"/>
              </a:ext>
            </a:extLst>
          </p:cNvPr>
          <p:cNvSpPr txBox="1">
            <a:spLocks noChangeArrowheads="1"/>
          </p:cNvSpPr>
          <p:nvPr/>
        </p:nvSpPr>
        <p:spPr>
          <a:xfrm>
            <a:off x="271671" y="1229139"/>
            <a:ext cx="8610600" cy="259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Euler showed that all planar representations of a graph split the plane into the same number of </a:t>
            </a:r>
            <a:r>
              <a:rPr lang="en-US" altLang="en-US" i="1" dirty="0"/>
              <a:t>regions</a:t>
            </a:r>
            <a:r>
              <a:rPr lang="en-US" altLang="en-US" dirty="0"/>
              <a:t>, including an unbounded region.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B521F8E-21FF-411C-8211-3F00D7E9BD55}"/>
              </a:ext>
            </a:extLst>
          </p:cNvPr>
          <p:cNvGrpSpPr>
            <a:grpSpLocks/>
          </p:cNvGrpSpPr>
          <p:nvPr/>
        </p:nvGrpSpPr>
        <p:grpSpPr bwMode="auto">
          <a:xfrm>
            <a:off x="2176672" y="3438939"/>
            <a:ext cx="3521075" cy="2565400"/>
            <a:chOff x="1046" y="2704"/>
            <a:chExt cx="1690" cy="1088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BF4FFA4E-D37D-4B46-8EAB-17E1F4DC6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976"/>
              <a:ext cx="816" cy="7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800">
                <a:latin typeface="+mn-lt"/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59AF35C3-5F5E-458B-9432-54692C454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976"/>
              <a:ext cx="816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95EA6858-5A22-41F4-8F7E-C499A2B75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92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800">
                <a:latin typeface="+mn-lt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844D074D-0293-4579-92C8-98CFA39F1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800">
                <a:latin typeface="+mn-lt"/>
              </a:endParaRP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1A612D90-2393-4775-9DFD-EE9389EDC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800">
                <a:latin typeface="+mn-lt"/>
              </a:endParaRPr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4BE2C21B-B46F-42BA-B788-4AD79E9A1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92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800">
                <a:latin typeface="+mn-lt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5D06716-1ECF-4084-A464-9EEE6FDC6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704"/>
              <a:ext cx="1336" cy="1040"/>
            </a:xfrm>
            <a:custGeom>
              <a:avLst/>
              <a:gdLst>
                <a:gd name="T0" fmla="*/ 1336 w 1336"/>
                <a:gd name="T1" fmla="*/ 224 h 1040"/>
                <a:gd name="T2" fmla="*/ 904 w 1336"/>
                <a:gd name="T3" fmla="*/ 80 h 1040"/>
                <a:gd name="T4" fmla="*/ 280 w 1336"/>
                <a:gd name="T5" fmla="*/ 80 h 1040"/>
                <a:gd name="T6" fmla="*/ 40 w 1336"/>
                <a:gd name="T7" fmla="*/ 560 h 1040"/>
                <a:gd name="T8" fmla="*/ 520 w 1336"/>
                <a:gd name="T9" fmla="*/ 1040 h 10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6"/>
                <a:gd name="T16" fmla="*/ 0 h 1040"/>
                <a:gd name="T17" fmla="*/ 1336 w 1336"/>
                <a:gd name="T18" fmla="*/ 1040 h 10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6" h="1040">
                  <a:moveTo>
                    <a:pt x="1336" y="224"/>
                  </a:moveTo>
                  <a:cubicBezTo>
                    <a:pt x="1208" y="164"/>
                    <a:pt x="1080" y="104"/>
                    <a:pt x="904" y="80"/>
                  </a:cubicBezTo>
                  <a:cubicBezTo>
                    <a:pt x="728" y="56"/>
                    <a:pt x="424" y="0"/>
                    <a:pt x="280" y="80"/>
                  </a:cubicBezTo>
                  <a:cubicBezTo>
                    <a:pt x="136" y="160"/>
                    <a:pt x="0" y="400"/>
                    <a:pt x="40" y="560"/>
                  </a:cubicBezTo>
                  <a:cubicBezTo>
                    <a:pt x="80" y="720"/>
                    <a:pt x="300" y="880"/>
                    <a:pt x="520" y="104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4A6559CF-3E2E-4782-98E6-237EAEA71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" y="3005"/>
              <a:ext cx="1303" cy="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2800" i="1">
                  <a:solidFill>
                    <a:schemeClr val="tx2"/>
                  </a:solidFill>
                  <a:latin typeface="+mn-lt"/>
                </a:rPr>
                <a:t>R</a:t>
              </a:r>
              <a:r>
                <a:rPr lang="en-US" altLang="en-US" sz="2800" baseline="-25000">
                  <a:solidFill>
                    <a:schemeClr val="tx2"/>
                  </a:solidFill>
                  <a:latin typeface="+mn-lt"/>
                </a:rPr>
                <a:t>4</a:t>
              </a:r>
              <a:r>
                <a:rPr lang="en-US" altLang="en-US" sz="2800">
                  <a:solidFill>
                    <a:schemeClr val="tx2"/>
                  </a:solidFill>
                  <a:latin typeface="+mn-lt"/>
                </a:rPr>
                <a:t>     </a:t>
              </a:r>
              <a:r>
                <a:rPr lang="en-US" altLang="en-US" sz="2800" i="1">
                  <a:solidFill>
                    <a:schemeClr val="tx2"/>
                  </a:solidFill>
                  <a:latin typeface="+mn-lt"/>
                </a:rPr>
                <a:t>R</a:t>
              </a:r>
              <a:r>
                <a:rPr lang="en-US" altLang="en-US" sz="2800" baseline="-25000">
                  <a:solidFill>
                    <a:schemeClr val="tx2"/>
                  </a:solidFill>
                  <a:latin typeface="+mn-lt"/>
                </a:rPr>
                <a:t>3</a:t>
              </a:r>
              <a:r>
                <a:rPr lang="en-US" altLang="en-US" sz="2800">
                  <a:solidFill>
                    <a:schemeClr val="tx2"/>
                  </a:solidFill>
                  <a:latin typeface="+mn-lt"/>
                </a:rPr>
                <a:t>          </a:t>
              </a:r>
              <a:r>
                <a:rPr lang="en-US" altLang="en-US" sz="2800" i="1">
                  <a:solidFill>
                    <a:schemeClr val="tx2"/>
                  </a:solidFill>
                  <a:latin typeface="+mn-lt"/>
                </a:rPr>
                <a:t>R</a:t>
              </a:r>
              <a:r>
                <a:rPr lang="en-US" altLang="en-US" sz="2800" baseline="-25000">
                  <a:solidFill>
                    <a:schemeClr val="tx2"/>
                  </a:solidFill>
                  <a:latin typeface="+mn-lt"/>
                </a:rPr>
                <a:t>2</a:t>
              </a:r>
              <a:endParaRPr lang="en-US" altLang="en-US" sz="2800">
                <a:solidFill>
                  <a:schemeClr val="tx2"/>
                </a:solidFill>
                <a:latin typeface="+mn-lt"/>
              </a:endParaRPr>
            </a:p>
            <a:p>
              <a:pPr algn="l"/>
              <a:endParaRPr lang="en-US" altLang="en-US" sz="2800">
                <a:solidFill>
                  <a:schemeClr val="tx2"/>
                </a:solidFill>
                <a:latin typeface="+mn-lt"/>
              </a:endParaRPr>
            </a:p>
            <a:p>
              <a:pPr algn="l"/>
              <a:r>
                <a:rPr lang="en-US" altLang="en-US" sz="2800">
                  <a:solidFill>
                    <a:schemeClr val="tx2"/>
                  </a:solidFill>
                  <a:latin typeface="+mn-lt"/>
                </a:rPr>
                <a:t>                 </a:t>
              </a:r>
              <a:r>
                <a:rPr lang="en-US" altLang="en-US" sz="2800" i="1">
                  <a:solidFill>
                    <a:schemeClr val="tx2"/>
                  </a:solidFill>
                  <a:latin typeface="+mn-lt"/>
                </a:rPr>
                <a:t>R</a:t>
              </a:r>
              <a:r>
                <a:rPr lang="en-US" altLang="en-US" sz="2800" baseline="-25000">
                  <a:solidFill>
                    <a:schemeClr val="tx2"/>
                  </a:solidFill>
                  <a:latin typeface="+mn-lt"/>
                </a:rPr>
                <a:t>1</a:t>
              </a:r>
              <a:endParaRPr lang="en-US" altLang="en-US" sz="2800">
                <a:solidFill>
                  <a:schemeClr val="tx2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0556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6BBC00D-78D2-4941-BDBF-F50F66FF4F72}"/>
              </a:ext>
            </a:extLst>
          </p:cNvPr>
          <p:cNvSpPr txBox="1">
            <a:spLocks noChangeArrowheads="1"/>
          </p:cNvSpPr>
          <p:nvPr/>
        </p:nvSpPr>
        <p:spPr>
          <a:xfrm>
            <a:off x="261731" y="1143000"/>
            <a:ext cx="8610600" cy="228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In any planar representation of K</a:t>
            </a:r>
            <a:r>
              <a:rPr lang="en-US" altLang="en-US" baseline="-25000" dirty="0"/>
              <a:t>3,3</a:t>
            </a:r>
            <a:r>
              <a:rPr lang="en-US" altLang="en-US" dirty="0"/>
              <a:t>, vertex v</a:t>
            </a:r>
            <a:r>
              <a:rPr lang="en-US" altLang="en-US" baseline="-25000" dirty="0"/>
              <a:t>1</a:t>
            </a:r>
            <a:r>
              <a:rPr lang="en-US" altLang="en-US" dirty="0"/>
              <a:t> must be connected to both v</a:t>
            </a:r>
            <a:r>
              <a:rPr lang="en-US" altLang="en-US" baseline="-25000" dirty="0"/>
              <a:t>4</a:t>
            </a:r>
            <a:r>
              <a:rPr lang="en-US" altLang="en-US" dirty="0"/>
              <a:t> and v</a:t>
            </a:r>
            <a:r>
              <a:rPr lang="en-US" altLang="en-US" baseline="-25000" dirty="0"/>
              <a:t>5</a:t>
            </a:r>
            <a:r>
              <a:rPr lang="en-US" altLang="en-US" dirty="0"/>
              <a:t>, and v</a:t>
            </a:r>
            <a:r>
              <a:rPr lang="en-US" altLang="en-US" baseline="-25000" dirty="0"/>
              <a:t>2</a:t>
            </a:r>
            <a:r>
              <a:rPr lang="en-US" altLang="en-US" dirty="0"/>
              <a:t> also must be connected to both v</a:t>
            </a:r>
            <a:r>
              <a:rPr lang="en-US" altLang="en-US" baseline="-25000" dirty="0"/>
              <a:t>4</a:t>
            </a:r>
            <a:r>
              <a:rPr lang="en-US" altLang="en-US" dirty="0"/>
              <a:t> and v</a:t>
            </a:r>
            <a:r>
              <a:rPr lang="en-US" altLang="en-US" baseline="-25000" dirty="0"/>
              <a:t>5</a:t>
            </a:r>
            <a:r>
              <a:rPr lang="en-US" altLang="en-US" dirty="0"/>
              <a:t>. </a:t>
            </a:r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id="{728ED135-3AB4-4593-8DF8-72498A234927}"/>
              </a:ext>
            </a:extLst>
          </p:cNvPr>
          <p:cNvGrpSpPr>
            <a:grpSpLocks/>
          </p:cNvGrpSpPr>
          <p:nvPr/>
        </p:nvGrpSpPr>
        <p:grpSpPr bwMode="auto">
          <a:xfrm>
            <a:off x="718932" y="3657600"/>
            <a:ext cx="3090863" cy="2514600"/>
            <a:chOff x="2198" y="3014"/>
            <a:chExt cx="1371" cy="863"/>
          </a:xfrm>
        </p:grpSpPr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230CDB4D-F06F-4C79-B9CD-E068D784244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6" name="Line 15">
              <a:extLst>
                <a:ext uri="{FF2B5EF4-FFF2-40B4-BE49-F238E27FC236}">
                  <a16:creationId xmlns:a16="http://schemas.microsoft.com/office/drawing/2014/main" id="{1D5A696A-0A9C-408D-940E-2C51868E9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Line 16">
              <a:extLst>
                <a:ext uri="{FF2B5EF4-FFF2-40B4-BE49-F238E27FC236}">
                  <a16:creationId xmlns:a16="http://schemas.microsoft.com/office/drawing/2014/main" id="{8136EF1E-1ED7-40E1-BAA4-6885C51A6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1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" name="Line 17">
              <a:extLst>
                <a:ext uri="{FF2B5EF4-FFF2-40B4-BE49-F238E27FC236}">
                  <a16:creationId xmlns:a16="http://schemas.microsoft.com/office/drawing/2014/main" id="{8CB69218-316C-4B39-864F-9B6659879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" name="Line 18">
              <a:extLst>
                <a:ext uri="{FF2B5EF4-FFF2-40B4-BE49-F238E27FC236}">
                  <a16:creationId xmlns:a16="http://schemas.microsoft.com/office/drawing/2014/main" id="{941AE170-48BA-4B13-B45B-00D5E40C7A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Line 19">
              <a:extLst>
                <a:ext uri="{FF2B5EF4-FFF2-40B4-BE49-F238E27FC236}">
                  <a16:creationId xmlns:a16="http://schemas.microsoft.com/office/drawing/2014/main" id="{F4AE034B-1330-419C-A1FC-E99AEF396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Line 20">
              <a:extLst>
                <a:ext uri="{FF2B5EF4-FFF2-40B4-BE49-F238E27FC236}">
                  <a16:creationId xmlns:a16="http://schemas.microsoft.com/office/drawing/2014/main" id="{F8049026-5287-4F7D-8FB0-EBFA84793A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DCF1F259-5FA0-4DF4-976B-44B453629C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98B82445-4012-46D5-B7E1-5D6EF83F36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4391C85E-5990-49F9-AA94-AB9934816B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Oval 24">
              <a:extLst>
                <a:ext uri="{FF2B5EF4-FFF2-40B4-BE49-F238E27FC236}">
                  <a16:creationId xmlns:a16="http://schemas.microsoft.com/office/drawing/2014/main" id="{D13CD0A0-312A-4C62-92D5-A17FFA659F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16" name="Oval 25">
              <a:extLst>
                <a:ext uri="{FF2B5EF4-FFF2-40B4-BE49-F238E27FC236}">
                  <a16:creationId xmlns:a16="http://schemas.microsoft.com/office/drawing/2014/main" id="{2D96CC99-4B04-4E41-A0AD-02229C681A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17" name="Oval 26">
              <a:extLst>
                <a:ext uri="{FF2B5EF4-FFF2-40B4-BE49-F238E27FC236}">
                  <a16:creationId xmlns:a16="http://schemas.microsoft.com/office/drawing/2014/main" id="{BAF684F3-372A-46BA-B518-42AD4E0CA4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18" name="Oval 27">
              <a:extLst>
                <a:ext uri="{FF2B5EF4-FFF2-40B4-BE49-F238E27FC236}">
                  <a16:creationId xmlns:a16="http://schemas.microsoft.com/office/drawing/2014/main" id="{5F80ADCE-81BA-4004-8AE7-26C0731292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79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19" name="Oval 28">
              <a:extLst>
                <a:ext uri="{FF2B5EF4-FFF2-40B4-BE49-F238E27FC236}">
                  <a16:creationId xmlns:a16="http://schemas.microsoft.com/office/drawing/2014/main" id="{7707DC87-249F-4412-94E2-1CB8D4E2E0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</p:grpSp>
      <p:sp>
        <p:nvSpPr>
          <p:cNvPr id="20" name="Text Box 29">
            <a:extLst>
              <a:ext uri="{FF2B5EF4-FFF2-40B4-BE49-F238E27FC236}">
                <a16:creationId xmlns:a16="http://schemas.microsoft.com/office/drawing/2014/main" id="{BBACD8AB-783B-4C54-BC9A-D44A65264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31" y="3124200"/>
            <a:ext cx="4876800" cy="343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    v</a:t>
            </a:r>
            <a:r>
              <a:rPr lang="en-US" altLang="en-US" sz="2400" baseline="-25000" dirty="0">
                <a:latin typeface="+mn-lt"/>
              </a:rPr>
              <a:t>1</a:t>
            </a:r>
            <a:r>
              <a:rPr lang="en-US" altLang="en-US" sz="2400" dirty="0">
                <a:latin typeface="+mn-lt"/>
              </a:rPr>
              <a:t>		 v</a:t>
            </a:r>
            <a:r>
              <a:rPr lang="en-US" altLang="en-US" sz="2400" baseline="-25000" dirty="0">
                <a:latin typeface="+mn-lt"/>
              </a:rPr>
              <a:t>2</a:t>
            </a:r>
            <a:r>
              <a:rPr lang="en-US" altLang="en-US" sz="2400" dirty="0">
                <a:latin typeface="+mn-lt"/>
              </a:rPr>
              <a:t>	        v</a:t>
            </a:r>
            <a:r>
              <a:rPr lang="en-US" altLang="en-US" sz="2400" baseline="-25000" dirty="0">
                <a:latin typeface="+mn-lt"/>
              </a:rPr>
              <a:t>3</a:t>
            </a:r>
          </a:p>
          <a:p>
            <a:pPr algn="l" eaLnBrk="1" hangingPunct="1">
              <a:spcBef>
                <a:spcPct val="50000"/>
              </a:spcBef>
            </a:pPr>
            <a:endParaRPr lang="en-US" altLang="en-US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endParaRPr lang="en-US" altLang="en-US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endParaRPr lang="en-US" altLang="en-US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endParaRPr lang="en-US" altLang="en-US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endParaRPr lang="en-US" altLang="en-US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endParaRPr lang="en-US" altLang="en-US" sz="8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endParaRPr lang="en-US" altLang="en-US" sz="8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     v</a:t>
            </a:r>
            <a:r>
              <a:rPr lang="en-US" altLang="en-US" sz="2400" baseline="-25000" dirty="0">
                <a:latin typeface="+mn-lt"/>
              </a:rPr>
              <a:t>4</a:t>
            </a:r>
            <a:r>
              <a:rPr lang="en-US" altLang="en-US" sz="2400" dirty="0">
                <a:latin typeface="+mn-lt"/>
              </a:rPr>
              <a:t>		 v</a:t>
            </a:r>
            <a:r>
              <a:rPr lang="en-US" altLang="en-US" sz="2400" baseline="-25000" dirty="0">
                <a:latin typeface="+mn-lt"/>
              </a:rPr>
              <a:t>5</a:t>
            </a:r>
            <a:r>
              <a:rPr lang="en-US" altLang="en-US" sz="2400" dirty="0">
                <a:latin typeface="+mn-lt"/>
              </a:rPr>
              <a:t>	        v</a:t>
            </a:r>
            <a:r>
              <a:rPr lang="en-US" altLang="en-US" sz="2400" baseline="-25000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7208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0256E36-A730-4DDF-9184-CD024A51CEDF}"/>
              </a:ext>
            </a:extLst>
          </p:cNvPr>
          <p:cNvSpPr txBox="1">
            <a:spLocks noChangeArrowheads="1"/>
          </p:cNvSpPr>
          <p:nvPr/>
        </p:nvSpPr>
        <p:spPr>
          <a:xfrm>
            <a:off x="125896" y="1219200"/>
            <a:ext cx="8839200" cy="228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The four edges {v</a:t>
            </a:r>
            <a:r>
              <a:rPr lang="en-US" altLang="en-US" baseline="-25000" dirty="0"/>
              <a:t>1</a:t>
            </a:r>
            <a:r>
              <a:rPr lang="en-US" altLang="en-US" dirty="0"/>
              <a:t>, v</a:t>
            </a:r>
            <a:r>
              <a:rPr lang="en-US" altLang="en-US" baseline="-25000" dirty="0"/>
              <a:t>4</a:t>
            </a:r>
            <a:r>
              <a:rPr lang="en-US" altLang="en-US" dirty="0"/>
              <a:t>}, {v</a:t>
            </a:r>
            <a:r>
              <a:rPr lang="en-US" altLang="en-US" baseline="-25000" dirty="0"/>
              <a:t>4</a:t>
            </a:r>
            <a:r>
              <a:rPr lang="en-US" altLang="en-US" dirty="0"/>
              <a:t>, v</a:t>
            </a:r>
            <a:r>
              <a:rPr lang="en-US" altLang="en-US" baseline="-25000" dirty="0"/>
              <a:t>2</a:t>
            </a:r>
            <a:r>
              <a:rPr lang="en-US" altLang="en-US" dirty="0"/>
              <a:t>}, {v</a:t>
            </a:r>
            <a:r>
              <a:rPr lang="en-US" altLang="en-US" baseline="-25000" dirty="0"/>
              <a:t>2</a:t>
            </a:r>
            <a:r>
              <a:rPr lang="en-US" altLang="en-US" dirty="0"/>
              <a:t>, v</a:t>
            </a:r>
            <a:r>
              <a:rPr lang="en-US" altLang="en-US" baseline="-25000" dirty="0"/>
              <a:t>5</a:t>
            </a:r>
            <a:r>
              <a:rPr lang="en-US" altLang="en-US" dirty="0"/>
              <a:t>},       {v</a:t>
            </a:r>
            <a:r>
              <a:rPr lang="en-US" altLang="en-US" baseline="-25000" dirty="0"/>
              <a:t>5</a:t>
            </a:r>
            <a:r>
              <a:rPr lang="en-US" altLang="en-US" dirty="0"/>
              <a:t>, v</a:t>
            </a:r>
            <a:r>
              <a:rPr lang="en-US" altLang="en-US" baseline="-25000" dirty="0"/>
              <a:t>1</a:t>
            </a:r>
            <a:r>
              <a:rPr lang="en-US" altLang="en-US" dirty="0"/>
              <a:t>} form a closed curve that splits the plane into two regions, R</a:t>
            </a:r>
            <a:r>
              <a:rPr lang="en-US" altLang="en-US" baseline="-25000" dirty="0"/>
              <a:t>1</a:t>
            </a:r>
            <a:r>
              <a:rPr lang="en-US" altLang="en-US" dirty="0"/>
              <a:t> and R</a:t>
            </a:r>
            <a:r>
              <a:rPr lang="en-US" altLang="en-US" baseline="-25000" dirty="0"/>
              <a:t>2</a:t>
            </a:r>
            <a:r>
              <a:rPr lang="en-US" altLang="en-US" dirty="0"/>
              <a:t>.</a:t>
            </a:r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15519D40-B872-423E-A20F-AB8BD84475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40296" y="4267200"/>
            <a:ext cx="147638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69CD2BE5-89C7-4B23-800F-B51E13A07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21259" y="4327525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AAF984AA-4E4C-4816-BE29-557B6108D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2896" y="4343400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" name="Line 11">
            <a:extLst>
              <a:ext uri="{FF2B5EF4-FFF2-40B4-BE49-F238E27FC236}">
                <a16:creationId xmlns:a16="http://schemas.microsoft.com/office/drawing/2014/main" id="{EB19D0A7-4CF9-4F72-A0E9-73DC3063F2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16496" y="6096000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E5F704EE-E467-4499-A75E-556F7AE340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21260" y="4327526"/>
            <a:ext cx="1671637" cy="15875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B8FB9501-98EA-4CA8-9CFB-B75626A647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16697" y="4267200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10" name="Oval 17">
            <a:extLst>
              <a:ext uri="{FF2B5EF4-FFF2-40B4-BE49-F238E27FC236}">
                <a16:creationId xmlns:a16="http://schemas.microsoft.com/office/drawing/2014/main" id="{133E6B5C-A3EE-4B41-88D8-767DCADEE7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40296" y="6007100"/>
            <a:ext cx="147638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11" name="Oval 18">
            <a:extLst>
              <a:ext uri="{FF2B5EF4-FFF2-40B4-BE49-F238E27FC236}">
                <a16:creationId xmlns:a16="http://schemas.microsoft.com/office/drawing/2014/main" id="{16116B41-CE58-4B72-B2B6-8D2B43A50E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16697" y="6019800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12" name="Text Box 20">
            <a:extLst>
              <a:ext uri="{FF2B5EF4-FFF2-40B4-BE49-F238E27FC236}">
                <a16:creationId xmlns:a16="http://schemas.microsoft.com/office/drawing/2014/main" id="{78B706EF-C25A-4D51-BDA0-B85E9136A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96" y="3886201"/>
            <a:ext cx="8305800" cy="274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dirty="0">
                <a:latin typeface="+mn-lt"/>
              </a:rPr>
              <a:t>         v</a:t>
            </a:r>
            <a:r>
              <a:rPr lang="en-US" altLang="en-US" baseline="-25000" dirty="0">
                <a:latin typeface="+mn-lt"/>
              </a:rPr>
              <a:t>1</a:t>
            </a:r>
            <a:r>
              <a:rPr lang="en-US" altLang="en-US" dirty="0">
                <a:latin typeface="+mn-lt"/>
              </a:rPr>
              <a:t>			      v</a:t>
            </a:r>
            <a:r>
              <a:rPr lang="en-US" altLang="en-US" baseline="-25000" dirty="0">
                <a:latin typeface="+mn-lt"/>
              </a:rPr>
              <a:t>5			</a:t>
            </a:r>
          </a:p>
          <a:p>
            <a:pPr algn="l" eaLnBrk="1" hangingPunct="1">
              <a:spcBef>
                <a:spcPct val="50000"/>
              </a:spcBef>
            </a:pPr>
            <a:endParaRPr lang="en-US" altLang="en-US" baseline="-250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endParaRPr lang="en-US" altLang="en-US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				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2</a:t>
            </a:r>
            <a:r>
              <a:rPr lang="en-US" altLang="en-US" sz="2400" dirty="0">
                <a:latin typeface="+mn-lt"/>
              </a:rPr>
              <a:t>		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1</a:t>
            </a:r>
          </a:p>
          <a:p>
            <a:pPr algn="l" eaLnBrk="1" hangingPunct="1">
              <a:spcBef>
                <a:spcPct val="50000"/>
              </a:spcBef>
            </a:pPr>
            <a:endParaRPr lang="en-US" altLang="en-US" sz="24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endParaRPr lang="en-US" altLang="en-US" sz="8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en-US" dirty="0">
                <a:latin typeface="+mn-lt"/>
              </a:rPr>
              <a:t>        v</a:t>
            </a:r>
            <a:r>
              <a:rPr lang="en-US" altLang="en-US" baseline="-25000" dirty="0">
                <a:latin typeface="+mn-lt"/>
              </a:rPr>
              <a:t>4</a:t>
            </a:r>
            <a:r>
              <a:rPr lang="en-US" altLang="en-US" dirty="0">
                <a:latin typeface="+mn-lt"/>
              </a:rPr>
              <a:t>			      v</a:t>
            </a:r>
            <a:r>
              <a:rPr lang="en-US" altLang="en-US" baseline="-25000" dirty="0">
                <a:latin typeface="+mn-lt"/>
              </a:rPr>
              <a:t>2</a:t>
            </a:r>
            <a:r>
              <a:rPr lang="en-US" altLang="en-US" dirty="0">
                <a:latin typeface="+mn-lt"/>
              </a:rPr>
              <a:t>		</a:t>
            </a:r>
            <a:endParaRPr lang="en-US" altLang="en-US" baseline="-25000" dirty="0"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76D60A-9FE7-49E0-A424-5A037B3AF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592" y="3514725"/>
            <a:ext cx="2502029" cy="23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7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A9CE6FB-CA07-4964-829A-C2589D926171}"/>
              </a:ext>
            </a:extLst>
          </p:cNvPr>
          <p:cNvSpPr txBox="1">
            <a:spLocks noChangeArrowheads="1"/>
          </p:cNvSpPr>
          <p:nvPr/>
        </p:nvSpPr>
        <p:spPr>
          <a:xfrm>
            <a:off x="132523" y="1219200"/>
            <a:ext cx="8610600" cy="2514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Next, we note that v</a:t>
            </a:r>
            <a:r>
              <a:rPr lang="en-US" altLang="en-US" baseline="-25000" dirty="0"/>
              <a:t>3</a:t>
            </a:r>
            <a:r>
              <a:rPr lang="en-US" altLang="en-US" dirty="0"/>
              <a:t> must be in either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or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. </a:t>
            </a:r>
          </a:p>
          <a:p>
            <a:r>
              <a:rPr lang="en-US" altLang="en-US" dirty="0"/>
              <a:t>Assume v</a:t>
            </a:r>
            <a:r>
              <a:rPr lang="en-US" altLang="en-US" baseline="-25000" dirty="0"/>
              <a:t>3</a:t>
            </a:r>
            <a:r>
              <a:rPr lang="en-US" altLang="en-US" dirty="0"/>
              <a:t> is in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.  Then the edges</a:t>
            </a:r>
            <a:r>
              <a:rPr lang="en-US" altLang="en-US" i="1" dirty="0"/>
              <a:t> </a:t>
            </a:r>
            <a:r>
              <a:rPr lang="en-US" altLang="en-US" dirty="0"/>
              <a:t>{v</a:t>
            </a:r>
            <a:r>
              <a:rPr lang="en-US" altLang="en-US" baseline="-25000" dirty="0"/>
              <a:t>3</a:t>
            </a:r>
            <a:r>
              <a:rPr lang="en-US" altLang="en-US" dirty="0"/>
              <a:t>, v</a:t>
            </a:r>
            <a:r>
              <a:rPr lang="en-US" altLang="en-US" baseline="-25000" dirty="0"/>
              <a:t>4</a:t>
            </a:r>
            <a:r>
              <a:rPr lang="en-US" altLang="en-US" dirty="0"/>
              <a:t>} and {v</a:t>
            </a:r>
            <a:r>
              <a:rPr lang="en-US" altLang="en-US" baseline="-25000" dirty="0"/>
              <a:t>4</a:t>
            </a:r>
            <a:r>
              <a:rPr lang="en-US" altLang="en-US" dirty="0"/>
              <a:t>, v</a:t>
            </a:r>
            <a:r>
              <a:rPr lang="en-US" altLang="en-US" baseline="-25000" dirty="0"/>
              <a:t>5</a:t>
            </a:r>
            <a:r>
              <a:rPr lang="en-US" altLang="en-US" dirty="0"/>
              <a:t>} separate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into two subregions, </a:t>
            </a:r>
            <a:r>
              <a:rPr lang="en-US" altLang="en-US" i="1" dirty="0"/>
              <a:t>R</a:t>
            </a:r>
            <a:r>
              <a:rPr lang="en-US" altLang="en-US" baseline="-25000" dirty="0"/>
              <a:t>21</a:t>
            </a:r>
            <a:r>
              <a:rPr lang="en-US" altLang="en-US" dirty="0"/>
              <a:t> and </a:t>
            </a:r>
            <a:r>
              <a:rPr lang="en-US" altLang="en-US" i="1" dirty="0"/>
              <a:t>R</a:t>
            </a:r>
            <a:r>
              <a:rPr lang="en-US" altLang="en-US" baseline="-25000" dirty="0"/>
              <a:t>22</a:t>
            </a:r>
            <a:r>
              <a:rPr lang="en-US" altLang="en-US" dirty="0"/>
              <a:t>.</a:t>
            </a:r>
            <a:endParaRPr lang="en-US" altLang="en-US" baseline="-25000" dirty="0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8AEE5F1A-018E-47F2-87B0-C5B587D081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3769" y="4167810"/>
            <a:ext cx="147638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D422189A-B77D-4F8A-86D1-977360829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732" y="4228135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34506DC9-F118-4FF3-8529-619013B1D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6369" y="4244010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ABB6EA68-86FF-457D-A725-D47FD59E75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9969" y="5996610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56A4E41D-4582-4862-82EE-C628ADC6354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4733" y="4228136"/>
            <a:ext cx="1671637" cy="15875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11780C15-B1D2-46A0-A0E0-DC701D1248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0170" y="4167810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9AD6C4C6-8DDC-4995-8048-6392B95058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3769" y="5907710"/>
            <a:ext cx="147638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833A1367-6807-43E7-A12A-1E77D65F7E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0170" y="5920410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AA17508-1AD2-43E6-B5DF-311D283B7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112" y="3785937"/>
            <a:ext cx="830580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dirty="0">
                <a:latin typeface="+mn-lt"/>
              </a:rPr>
              <a:t>      v</a:t>
            </a:r>
            <a:r>
              <a:rPr lang="en-US" altLang="en-US" baseline="-25000" dirty="0">
                <a:latin typeface="+mn-lt"/>
              </a:rPr>
              <a:t>1</a:t>
            </a:r>
            <a:r>
              <a:rPr lang="en-US" altLang="en-US" dirty="0">
                <a:latin typeface="+mn-lt"/>
              </a:rPr>
              <a:t>		     	   v</a:t>
            </a:r>
            <a:r>
              <a:rPr lang="en-US" altLang="en-US" baseline="-25000" dirty="0">
                <a:latin typeface="+mn-lt"/>
              </a:rPr>
              <a:t>5			  			  </a:t>
            </a:r>
            <a:r>
              <a:rPr lang="en-US" altLang="en-US" dirty="0">
                <a:latin typeface="+mn-lt"/>
              </a:rPr>
              <a:t> v</a:t>
            </a:r>
            <a:r>
              <a:rPr lang="en-US" altLang="en-US" baseline="-25000" dirty="0">
                <a:latin typeface="+mn-lt"/>
              </a:rPr>
              <a:t>1</a:t>
            </a:r>
            <a:r>
              <a:rPr lang="en-US" altLang="en-US" dirty="0">
                <a:latin typeface="+mn-lt"/>
              </a:rPr>
              <a:t>			   v</a:t>
            </a:r>
            <a:r>
              <a:rPr lang="en-US" altLang="en-US" baseline="-25000" dirty="0">
                <a:latin typeface="+mn-lt"/>
              </a:rPr>
              <a:t>5</a:t>
            </a:r>
          </a:p>
          <a:p>
            <a:pPr algn="l" eaLnBrk="1" hangingPunct="1">
              <a:spcBef>
                <a:spcPct val="50000"/>
              </a:spcBef>
            </a:pPr>
            <a:endParaRPr lang="en-US" altLang="en-US" baseline="-250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en-US" dirty="0">
                <a:latin typeface="+mn-lt"/>
              </a:rPr>
              <a:t>						</a:t>
            </a:r>
            <a:r>
              <a:rPr lang="en-US" altLang="en-US" i="1" dirty="0">
                <a:latin typeface="+mn-lt"/>
              </a:rPr>
              <a:t>R</a:t>
            </a:r>
            <a:r>
              <a:rPr lang="en-US" altLang="en-US" baseline="-25000" dirty="0">
                <a:latin typeface="+mn-lt"/>
              </a:rPr>
              <a:t>21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			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2</a:t>
            </a:r>
            <a:r>
              <a:rPr lang="en-US" altLang="en-US" sz="2400" dirty="0">
                <a:latin typeface="+mn-lt"/>
              </a:rPr>
              <a:t>		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1</a:t>
            </a:r>
            <a:r>
              <a:rPr lang="en-US" altLang="en-US" sz="2400" dirty="0">
                <a:latin typeface="+mn-lt"/>
              </a:rPr>
              <a:t>	 			  </a:t>
            </a:r>
            <a:r>
              <a:rPr lang="en-US" altLang="en-US" sz="2400" dirty="0">
                <a:latin typeface="+mn-lt"/>
                <a:cs typeface="Arial" panose="020B0604020202020204" pitchFamily="34" charset="0"/>
              </a:rPr>
              <a:t>→</a:t>
            </a:r>
            <a:r>
              <a:rPr lang="en-US" altLang="en-US" sz="2400" dirty="0">
                <a:latin typeface="+mn-lt"/>
              </a:rPr>
              <a:t>	        </a:t>
            </a:r>
            <a:r>
              <a:rPr lang="en-US" altLang="en-US" dirty="0">
                <a:latin typeface="+mn-lt"/>
              </a:rPr>
              <a:t>v</a:t>
            </a:r>
            <a:r>
              <a:rPr lang="en-US" altLang="en-US" baseline="-25000" dirty="0">
                <a:latin typeface="+mn-lt"/>
              </a:rPr>
              <a:t>3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						       </a:t>
            </a:r>
            <a:r>
              <a:rPr lang="en-US" altLang="en-US" i="1" dirty="0">
                <a:latin typeface="+mn-lt"/>
              </a:rPr>
              <a:t>R</a:t>
            </a:r>
            <a:r>
              <a:rPr lang="en-US" altLang="en-US" baseline="-25000" dirty="0">
                <a:latin typeface="+mn-lt"/>
              </a:rPr>
              <a:t>22</a:t>
            </a:r>
          </a:p>
          <a:p>
            <a:pPr algn="l" eaLnBrk="1" hangingPunct="1">
              <a:spcBef>
                <a:spcPct val="50000"/>
              </a:spcBef>
            </a:pPr>
            <a:endParaRPr lang="en-US" altLang="en-US" sz="800" baseline="-250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en-US" dirty="0">
                <a:latin typeface="+mn-lt"/>
              </a:rPr>
              <a:t>        v</a:t>
            </a:r>
            <a:r>
              <a:rPr lang="en-US" altLang="en-US" baseline="-25000" dirty="0">
                <a:latin typeface="+mn-lt"/>
              </a:rPr>
              <a:t>4</a:t>
            </a:r>
            <a:r>
              <a:rPr lang="en-US" altLang="en-US" dirty="0">
                <a:latin typeface="+mn-lt"/>
              </a:rPr>
              <a:t>		          v</a:t>
            </a:r>
            <a:r>
              <a:rPr lang="en-US" altLang="en-US" baseline="-25000" dirty="0">
                <a:latin typeface="+mn-lt"/>
              </a:rPr>
              <a:t>2</a:t>
            </a:r>
            <a:r>
              <a:rPr lang="en-US" altLang="en-US" dirty="0">
                <a:latin typeface="+mn-lt"/>
              </a:rPr>
              <a:t>					  	  v</a:t>
            </a:r>
            <a:r>
              <a:rPr lang="en-US" altLang="en-US" baseline="-25000" dirty="0">
                <a:latin typeface="+mn-lt"/>
              </a:rPr>
              <a:t>4</a:t>
            </a:r>
            <a:r>
              <a:rPr lang="en-US" altLang="en-US" dirty="0">
                <a:latin typeface="+mn-lt"/>
              </a:rPr>
              <a:t> 			   v</a:t>
            </a:r>
            <a:r>
              <a:rPr lang="en-US" altLang="en-US" baseline="-25000" dirty="0">
                <a:latin typeface="+mn-lt"/>
              </a:rPr>
              <a:t>2</a:t>
            </a: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D9070B8F-79AF-4A78-BDC6-14A8F0EE6C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36208" y="4183685"/>
            <a:ext cx="147637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07809677-594B-4227-8E6E-19919C3E9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7169" y="4244010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A0EC04F8-F30C-4D1B-A477-71C9175FCD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8807" y="4259885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9563FA27-E24C-4282-97CA-0995430E8B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12407" y="6012485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BF8CADEE-56B0-46D0-95B0-ACC0DEC72E9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17169" y="4244011"/>
            <a:ext cx="1671638" cy="15875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368A72CD-0B67-4FC0-A1DD-69C150EC9B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12608" y="4183685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A0C9C1F6-5604-45FF-91AD-09061E3702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36208" y="5923585"/>
            <a:ext cx="147637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F23862B4-ADBB-40FD-9F6F-5B014DF7B5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12608" y="5936285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21" name="Oval 21">
            <a:extLst>
              <a:ext uri="{FF2B5EF4-FFF2-40B4-BE49-F238E27FC236}">
                <a16:creationId xmlns:a16="http://schemas.microsoft.com/office/drawing/2014/main" id="{8E1D978C-B95E-4752-98CA-003CBE49B0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79169" y="5006010"/>
            <a:ext cx="147638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+mn-lt"/>
            </a:endParaRPr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3F0F84FD-72B4-476F-A9BB-D6CBE74389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7169" y="4244010"/>
            <a:ext cx="1676400" cy="17526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234CB94-3E27-4F7A-8593-44F195114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93" y="3308230"/>
            <a:ext cx="2502029" cy="23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41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4910E5D-CDBA-4B3B-9EEA-CFB3D375E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750" y="3558893"/>
            <a:ext cx="3199631" cy="29803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FE51803-BC12-4909-BEBC-19EEE81F2403}"/>
              </a:ext>
            </a:extLst>
          </p:cNvPr>
          <p:cNvSpPr txBox="1">
            <a:spLocks noChangeArrowheads="1"/>
          </p:cNvSpPr>
          <p:nvPr/>
        </p:nvSpPr>
        <p:spPr>
          <a:xfrm>
            <a:off x="122582" y="1076739"/>
            <a:ext cx="8610600" cy="2895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Now there is no way to place vertex v</a:t>
            </a:r>
            <a:r>
              <a:rPr lang="en-US" altLang="en-US" baseline="-25000" dirty="0"/>
              <a:t>6</a:t>
            </a:r>
            <a:r>
              <a:rPr lang="en-US" altLang="en-US" dirty="0"/>
              <a:t> without forcing a crossing:</a:t>
            </a:r>
          </a:p>
          <a:p>
            <a:pPr marL="457200" lvl="1" indent="0">
              <a:buNone/>
            </a:pPr>
            <a:r>
              <a:rPr lang="en-US" altLang="en-US" dirty="0"/>
              <a:t>If v</a:t>
            </a:r>
            <a:r>
              <a:rPr lang="en-US" altLang="en-US" baseline="-25000" dirty="0"/>
              <a:t>6</a:t>
            </a:r>
            <a:r>
              <a:rPr lang="en-US" altLang="en-US" dirty="0"/>
              <a:t> is in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then {v</a:t>
            </a:r>
            <a:r>
              <a:rPr lang="en-US" altLang="en-US" baseline="-25000" dirty="0"/>
              <a:t>6</a:t>
            </a:r>
            <a:r>
              <a:rPr lang="en-US" altLang="en-US" dirty="0"/>
              <a:t>, v</a:t>
            </a:r>
            <a:r>
              <a:rPr lang="en-US" altLang="en-US" baseline="-25000" dirty="0"/>
              <a:t>3</a:t>
            </a:r>
            <a:r>
              <a:rPr lang="en-US" altLang="en-US" dirty="0"/>
              <a:t>} must cross an edge</a:t>
            </a:r>
          </a:p>
          <a:p>
            <a:pPr marL="457200" lvl="1" indent="0">
              <a:buNone/>
            </a:pPr>
            <a:r>
              <a:rPr lang="en-US" altLang="en-US" dirty="0"/>
              <a:t>If v</a:t>
            </a:r>
            <a:r>
              <a:rPr lang="en-US" altLang="en-US" baseline="-25000" dirty="0"/>
              <a:t>6</a:t>
            </a:r>
            <a:r>
              <a:rPr lang="en-US" altLang="en-US" dirty="0"/>
              <a:t> is in </a:t>
            </a:r>
            <a:r>
              <a:rPr lang="en-US" altLang="en-US" i="1" dirty="0"/>
              <a:t>R</a:t>
            </a:r>
            <a:r>
              <a:rPr lang="en-US" altLang="en-US" baseline="-25000" dirty="0"/>
              <a:t>21</a:t>
            </a:r>
            <a:r>
              <a:rPr lang="en-US" altLang="en-US" dirty="0"/>
              <a:t> then {v</a:t>
            </a:r>
            <a:r>
              <a:rPr lang="en-US" altLang="en-US" baseline="-25000" dirty="0"/>
              <a:t>6</a:t>
            </a:r>
            <a:r>
              <a:rPr lang="en-US" altLang="en-US" dirty="0"/>
              <a:t>, v</a:t>
            </a:r>
            <a:r>
              <a:rPr lang="en-US" altLang="en-US" baseline="-25000" dirty="0"/>
              <a:t>2</a:t>
            </a:r>
            <a:r>
              <a:rPr lang="en-US" altLang="en-US" dirty="0"/>
              <a:t>} must cross an edge</a:t>
            </a:r>
          </a:p>
          <a:p>
            <a:pPr marL="457200" lvl="1" indent="0">
              <a:buNone/>
            </a:pPr>
            <a:r>
              <a:rPr lang="en-US" altLang="en-US" dirty="0"/>
              <a:t>If v</a:t>
            </a:r>
            <a:r>
              <a:rPr lang="en-US" altLang="en-US" baseline="-25000" dirty="0"/>
              <a:t>6</a:t>
            </a:r>
            <a:r>
              <a:rPr lang="en-US" altLang="en-US" dirty="0"/>
              <a:t> is in </a:t>
            </a:r>
            <a:r>
              <a:rPr lang="en-US" altLang="en-US" i="1" dirty="0"/>
              <a:t>R</a:t>
            </a:r>
            <a:r>
              <a:rPr lang="en-US" altLang="en-US" baseline="-25000" dirty="0"/>
              <a:t>22</a:t>
            </a:r>
            <a:r>
              <a:rPr lang="en-US" altLang="en-US" dirty="0"/>
              <a:t> then {v</a:t>
            </a:r>
            <a:r>
              <a:rPr lang="en-US" altLang="en-US" baseline="-25000" dirty="0"/>
              <a:t>6</a:t>
            </a:r>
            <a:r>
              <a:rPr lang="en-US" altLang="en-US" dirty="0"/>
              <a:t>, v</a:t>
            </a:r>
            <a:r>
              <a:rPr lang="en-US" altLang="en-US" baseline="-25000" dirty="0"/>
              <a:t>1</a:t>
            </a:r>
            <a:r>
              <a:rPr lang="en-US" altLang="en-US" dirty="0"/>
              <a:t>} must cross an edge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3600" dirty="0"/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1C28D6E6-826C-48BF-9748-51F802881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82" y="3972339"/>
            <a:ext cx="3810000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       v</a:t>
            </a:r>
            <a:r>
              <a:rPr lang="en-US" altLang="en-US" sz="2400" baseline="-25000" dirty="0">
                <a:latin typeface="+mn-lt"/>
              </a:rPr>
              <a:t>1</a:t>
            </a:r>
            <a:r>
              <a:rPr lang="en-US" altLang="en-US" sz="2400" dirty="0">
                <a:latin typeface="+mn-lt"/>
              </a:rPr>
              <a:t>		      v</a:t>
            </a:r>
            <a:r>
              <a:rPr lang="en-US" altLang="en-US" sz="2400" baseline="-25000" dirty="0">
                <a:latin typeface="+mn-lt"/>
              </a:rPr>
              <a:t>5</a:t>
            </a:r>
          </a:p>
          <a:p>
            <a:pPr algn="l" eaLnBrk="1" hangingPunct="1">
              <a:spcBef>
                <a:spcPct val="50000"/>
              </a:spcBef>
            </a:pPr>
            <a:endParaRPr lang="en-US" altLang="en-US" sz="2400" baseline="-250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		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21</a:t>
            </a:r>
            <a:r>
              <a:rPr lang="en-US" altLang="en-US" sz="2400" dirty="0">
                <a:latin typeface="+mn-lt"/>
              </a:rPr>
              <a:t>     v</a:t>
            </a:r>
            <a:r>
              <a:rPr lang="en-US" altLang="en-US" sz="2400" baseline="-25000" dirty="0">
                <a:latin typeface="+mn-lt"/>
              </a:rPr>
              <a:t>3</a:t>
            </a:r>
            <a:r>
              <a:rPr lang="en-US" altLang="en-US" sz="2400" dirty="0">
                <a:latin typeface="+mn-lt"/>
              </a:rPr>
              <a:t>       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1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			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22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  v</a:t>
            </a:r>
            <a:r>
              <a:rPr lang="en-US" altLang="en-US" sz="2400" baseline="-25000" dirty="0">
                <a:latin typeface="+mn-lt"/>
              </a:rPr>
              <a:t>4</a:t>
            </a:r>
            <a:r>
              <a:rPr lang="en-US" altLang="en-US" sz="2400" dirty="0">
                <a:latin typeface="+mn-lt"/>
              </a:rPr>
              <a:t>		 			  v</a:t>
            </a:r>
            <a:r>
              <a:rPr lang="en-US" altLang="en-US" sz="2400" baseline="-25000" dirty="0">
                <a:latin typeface="+mn-lt"/>
              </a:rPr>
              <a:t>2</a:t>
            </a:r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2FD58AA5-7BDE-470C-85D0-7C1B5EE0AB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2221" y="4369214"/>
            <a:ext cx="147637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6" name="Line 14">
            <a:extLst>
              <a:ext uri="{FF2B5EF4-FFF2-40B4-BE49-F238E27FC236}">
                <a16:creationId xmlns:a16="http://schemas.microsoft.com/office/drawing/2014/main" id="{A6E1F2B0-8903-47D2-96F4-266351F9E0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3182" y="4429539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7" name="Line 15">
            <a:extLst>
              <a:ext uri="{FF2B5EF4-FFF2-40B4-BE49-F238E27FC236}">
                <a16:creationId xmlns:a16="http://schemas.microsoft.com/office/drawing/2014/main" id="{9D1C5032-FACE-4C2E-8A5C-8E37D0A99C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4820" y="4445414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8" name="Line 16">
            <a:extLst>
              <a:ext uri="{FF2B5EF4-FFF2-40B4-BE49-F238E27FC236}">
                <a16:creationId xmlns:a16="http://schemas.microsoft.com/office/drawing/2014/main" id="{0F40392C-D838-43E3-ADD6-37CDBE9D51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08420" y="6198014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9" name="Line 17">
            <a:extLst>
              <a:ext uri="{FF2B5EF4-FFF2-40B4-BE49-F238E27FC236}">
                <a16:creationId xmlns:a16="http://schemas.microsoft.com/office/drawing/2014/main" id="{D363C1B8-2AB6-49A6-832C-D3170356615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13182" y="4429540"/>
            <a:ext cx="1671638" cy="15875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161A9157-0D49-4549-BD90-56BD41F034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08621" y="4369214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A4CFB1CD-2722-4B6A-94A4-5CB0D11C95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2221" y="6109114"/>
            <a:ext cx="147637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2" name="Oval 20">
            <a:extLst>
              <a:ext uri="{FF2B5EF4-FFF2-40B4-BE49-F238E27FC236}">
                <a16:creationId xmlns:a16="http://schemas.microsoft.com/office/drawing/2014/main" id="{0E1D40A7-5FEF-48FA-B3F2-E1313CF57B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08621" y="6121814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3" name="Oval 21">
            <a:extLst>
              <a:ext uri="{FF2B5EF4-FFF2-40B4-BE49-F238E27FC236}">
                <a16:creationId xmlns:a16="http://schemas.microsoft.com/office/drawing/2014/main" id="{B9C34CED-AE2D-40F9-A732-03D72352BB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75182" y="5191539"/>
            <a:ext cx="147638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4" name="Line 22">
            <a:extLst>
              <a:ext uri="{FF2B5EF4-FFF2-40B4-BE49-F238E27FC236}">
                <a16:creationId xmlns:a16="http://schemas.microsoft.com/office/drawing/2014/main" id="{127564B9-52E2-406E-AB1D-163E1C3E75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3182" y="4429539"/>
            <a:ext cx="1676400" cy="17526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426937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06DE442-E0AF-4DE5-B8D3-F1FB765A17F0}"/>
              </a:ext>
            </a:extLst>
          </p:cNvPr>
          <p:cNvSpPr txBox="1">
            <a:spLocks noChangeArrowheads="1"/>
          </p:cNvSpPr>
          <p:nvPr/>
        </p:nvSpPr>
        <p:spPr>
          <a:xfrm>
            <a:off x="102705" y="1066800"/>
            <a:ext cx="86106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Alternatively,  assume v</a:t>
            </a:r>
            <a:r>
              <a:rPr lang="en-US" altLang="en-US" baseline="-25000" dirty="0"/>
              <a:t>3</a:t>
            </a:r>
            <a:r>
              <a:rPr lang="en-US" altLang="en-US" dirty="0"/>
              <a:t> is in R</a:t>
            </a:r>
            <a:r>
              <a:rPr lang="en-US" altLang="en-US" baseline="-25000" dirty="0"/>
              <a:t>1</a:t>
            </a:r>
            <a:r>
              <a:rPr lang="en-US" altLang="en-US" dirty="0"/>
              <a:t>. Then the edges</a:t>
            </a:r>
            <a:r>
              <a:rPr lang="en-US" altLang="en-US" i="1" dirty="0"/>
              <a:t> </a:t>
            </a:r>
            <a:r>
              <a:rPr lang="en-US" altLang="en-US" dirty="0"/>
              <a:t>{v</a:t>
            </a:r>
            <a:r>
              <a:rPr lang="en-US" altLang="en-US" baseline="-25000" dirty="0"/>
              <a:t>3</a:t>
            </a:r>
            <a:r>
              <a:rPr lang="en-US" altLang="en-US" dirty="0"/>
              <a:t>, v</a:t>
            </a:r>
            <a:r>
              <a:rPr lang="en-US" altLang="en-US" baseline="-25000" dirty="0"/>
              <a:t>4</a:t>
            </a:r>
            <a:r>
              <a:rPr lang="en-US" altLang="en-US" dirty="0"/>
              <a:t>} and {v</a:t>
            </a:r>
            <a:r>
              <a:rPr lang="en-US" altLang="en-US" baseline="-25000" dirty="0"/>
              <a:t>4</a:t>
            </a:r>
            <a:r>
              <a:rPr lang="en-US" altLang="en-US" dirty="0"/>
              <a:t>, v</a:t>
            </a:r>
            <a:r>
              <a:rPr lang="en-US" altLang="en-US" baseline="-25000" dirty="0"/>
              <a:t>5</a:t>
            </a:r>
            <a:r>
              <a:rPr lang="en-US" altLang="en-US" dirty="0"/>
              <a:t>} separate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into two subregions, </a:t>
            </a:r>
            <a:r>
              <a:rPr lang="en-US" altLang="en-US" i="1" dirty="0"/>
              <a:t>R</a:t>
            </a:r>
            <a:r>
              <a:rPr lang="en-US" altLang="en-US" baseline="-25000" dirty="0"/>
              <a:t>11</a:t>
            </a:r>
            <a:r>
              <a:rPr lang="en-US" altLang="en-US" dirty="0"/>
              <a:t> and </a:t>
            </a:r>
            <a:r>
              <a:rPr lang="en-US" altLang="en-US" i="1" dirty="0"/>
              <a:t>R</a:t>
            </a:r>
            <a:r>
              <a:rPr lang="en-US" altLang="en-US" baseline="-25000" dirty="0"/>
              <a:t>12</a:t>
            </a:r>
            <a:r>
              <a:rPr lang="en-US" altLang="en-US" dirty="0"/>
              <a:t>.</a:t>
            </a:r>
            <a:endParaRPr lang="en-US" altLang="en-US" baseline="-25000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C878D81-8C73-4AF7-8540-464C3B74C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05" y="3657600"/>
            <a:ext cx="4648200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      v</a:t>
            </a:r>
            <a:r>
              <a:rPr lang="en-US" altLang="en-US" sz="2400" baseline="-25000" dirty="0">
                <a:latin typeface="+mn-lt"/>
              </a:rPr>
              <a:t>1</a:t>
            </a:r>
            <a:r>
              <a:rPr lang="en-US" altLang="en-US" sz="2400" dirty="0">
                <a:latin typeface="+mn-lt"/>
              </a:rPr>
              <a:t>	    	           v</a:t>
            </a:r>
            <a:r>
              <a:rPr lang="en-US" altLang="en-US" sz="2400" baseline="-25000" dirty="0">
                <a:latin typeface="+mn-lt"/>
              </a:rPr>
              <a:t>5</a:t>
            </a:r>
          </a:p>
          <a:p>
            <a:pPr algn="l" eaLnBrk="1" hangingPunct="1">
              <a:spcBef>
                <a:spcPct val="50000"/>
              </a:spcBef>
            </a:pPr>
            <a:endParaRPr lang="en-US" altLang="en-US" sz="2400" baseline="-250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	</a:t>
            </a:r>
            <a:r>
              <a:rPr lang="en-US" altLang="en-US" sz="2400" baseline="-25000" dirty="0">
                <a:latin typeface="+mn-lt"/>
              </a:rPr>
              <a:t>							 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11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	    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2</a:t>
            </a:r>
            <a:r>
              <a:rPr lang="en-US" altLang="en-US" sz="2400" dirty="0">
                <a:latin typeface="+mn-lt"/>
              </a:rPr>
              <a:t> 	       	   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12</a:t>
            </a:r>
            <a:r>
              <a:rPr lang="en-US" altLang="en-US" sz="2400" dirty="0">
                <a:latin typeface="+mn-lt"/>
              </a:rPr>
              <a:t> 		 v</a:t>
            </a:r>
            <a:r>
              <a:rPr lang="en-US" altLang="en-US" sz="2400" baseline="-25000" dirty="0">
                <a:latin typeface="+mn-lt"/>
              </a:rPr>
              <a:t>3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   v</a:t>
            </a:r>
            <a:r>
              <a:rPr lang="en-US" altLang="en-US" sz="2400" baseline="-25000" dirty="0">
                <a:latin typeface="+mn-lt"/>
              </a:rPr>
              <a:t>4</a:t>
            </a:r>
            <a:r>
              <a:rPr lang="en-US" altLang="en-US" sz="2400" dirty="0">
                <a:latin typeface="+mn-lt"/>
              </a:rPr>
              <a:t>		            v</a:t>
            </a:r>
            <a:r>
              <a:rPr lang="en-US" altLang="en-US" sz="2400" baseline="-25000" dirty="0">
                <a:latin typeface="+mn-lt"/>
              </a:rPr>
              <a:t>2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E8938528-FA71-4AD9-9620-9C022E69D9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2344" y="4054475"/>
            <a:ext cx="147637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791A0440-2DA2-4687-B404-D73F43A6B3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3305" y="4114800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7F547DDC-6D82-4787-AD11-413C26174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4943" y="4130675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8D7A0FF7-9652-470A-90DE-8336583B2A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88543" y="5883275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5BB1A025-4B87-42B5-B1E9-1F9CEE3797A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93305" y="4114801"/>
            <a:ext cx="1671638" cy="15875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52315C46-EFE8-4FAB-A8C9-C63EE0623E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88744" y="4054475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FDEFCE08-F9AF-4F72-8FED-76A0378A8F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2344" y="5794375"/>
            <a:ext cx="147637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9798ABCD-FF93-4944-84EC-E9CEB8BBF4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88744" y="5807075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32B2E717-C7D1-427D-A4D3-4C2D0FD6C9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2705" y="4953000"/>
            <a:ext cx="147638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6C5997FF-14E3-4852-AC2C-2AC9D76CC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9705" y="4114800"/>
            <a:ext cx="1219200" cy="9144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cxnSp>
        <p:nvCxnSpPr>
          <p:cNvPr id="15" name="AutoShape 18">
            <a:extLst>
              <a:ext uri="{FF2B5EF4-FFF2-40B4-BE49-F238E27FC236}">
                <a16:creationId xmlns:a16="http://schemas.microsoft.com/office/drawing/2014/main" id="{64D10CF2-9AD5-446B-A85F-F8D96568581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122800" y="4075907"/>
            <a:ext cx="841375" cy="2900363"/>
          </a:xfrm>
          <a:prstGeom prst="curvedConnector3">
            <a:avLst>
              <a:gd name="adj1" fmla="val 139838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26D2ED1-BC43-4ECF-A240-964892CD5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505" y="3733801"/>
            <a:ext cx="2502029" cy="23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0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082FD4E-A105-4BB7-9328-C6033354653F}"/>
              </a:ext>
            </a:extLst>
          </p:cNvPr>
          <p:cNvSpPr txBox="1">
            <a:spLocks noChangeArrowheads="1"/>
          </p:cNvSpPr>
          <p:nvPr/>
        </p:nvSpPr>
        <p:spPr>
          <a:xfrm>
            <a:off x="281611" y="1066800"/>
            <a:ext cx="8610600" cy="2895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/>
              <a:t>Now there is no way to place vertex v</a:t>
            </a:r>
            <a:r>
              <a:rPr lang="en-US" altLang="en-US" sz="2400" baseline="-25000" dirty="0"/>
              <a:t>6</a:t>
            </a:r>
            <a:r>
              <a:rPr lang="en-US" altLang="en-US" sz="2400" dirty="0"/>
              <a:t> without forcing a crossing:</a:t>
            </a:r>
          </a:p>
          <a:p>
            <a:pPr marL="457200" lvl="1" indent="0">
              <a:buNone/>
            </a:pPr>
            <a:r>
              <a:rPr lang="en-US" altLang="en-US" dirty="0"/>
              <a:t>If v</a:t>
            </a:r>
            <a:r>
              <a:rPr lang="en-US" altLang="en-US" baseline="-25000" dirty="0"/>
              <a:t>6</a:t>
            </a:r>
            <a:r>
              <a:rPr lang="en-US" altLang="en-US" dirty="0"/>
              <a:t> is in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then {v</a:t>
            </a:r>
            <a:r>
              <a:rPr lang="en-US" altLang="en-US" baseline="-25000" dirty="0"/>
              <a:t>6</a:t>
            </a:r>
            <a:r>
              <a:rPr lang="en-US" altLang="en-US" dirty="0"/>
              <a:t>, v</a:t>
            </a:r>
            <a:r>
              <a:rPr lang="en-US" altLang="en-US" baseline="-25000" dirty="0"/>
              <a:t>3</a:t>
            </a:r>
            <a:r>
              <a:rPr lang="en-US" altLang="en-US" dirty="0"/>
              <a:t>} must cross an edge</a:t>
            </a:r>
          </a:p>
          <a:p>
            <a:pPr marL="457200" lvl="1" indent="0">
              <a:buNone/>
            </a:pPr>
            <a:r>
              <a:rPr lang="en-US" altLang="en-US" dirty="0"/>
              <a:t>If v</a:t>
            </a:r>
            <a:r>
              <a:rPr lang="en-US" altLang="en-US" baseline="-25000" dirty="0"/>
              <a:t>6</a:t>
            </a:r>
            <a:r>
              <a:rPr lang="en-US" altLang="en-US" dirty="0"/>
              <a:t> is in </a:t>
            </a:r>
            <a:r>
              <a:rPr lang="en-US" altLang="en-US" i="1" dirty="0"/>
              <a:t>R</a:t>
            </a:r>
            <a:r>
              <a:rPr lang="en-US" altLang="en-US" baseline="-25000" dirty="0"/>
              <a:t>11</a:t>
            </a:r>
            <a:r>
              <a:rPr lang="en-US" altLang="en-US" dirty="0"/>
              <a:t> then {v</a:t>
            </a:r>
            <a:r>
              <a:rPr lang="en-US" altLang="en-US" baseline="-25000" dirty="0"/>
              <a:t>6</a:t>
            </a:r>
            <a:r>
              <a:rPr lang="en-US" altLang="en-US" dirty="0"/>
              <a:t>, v</a:t>
            </a:r>
            <a:r>
              <a:rPr lang="en-US" altLang="en-US" baseline="-25000" dirty="0"/>
              <a:t>2</a:t>
            </a:r>
            <a:r>
              <a:rPr lang="en-US" altLang="en-US" dirty="0"/>
              <a:t>} must cross an edge</a:t>
            </a:r>
          </a:p>
          <a:p>
            <a:pPr marL="457200" lvl="1" indent="0">
              <a:buNone/>
            </a:pPr>
            <a:r>
              <a:rPr lang="en-US" altLang="en-US" dirty="0"/>
              <a:t>If v</a:t>
            </a:r>
            <a:r>
              <a:rPr lang="en-US" altLang="en-US" baseline="-25000" dirty="0"/>
              <a:t>6</a:t>
            </a:r>
            <a:r>
              <a:rPr lang="en-US" altLang="en-US" dirty="0"/>
              <a:t> is in </a:t>
            </a:r>
            <a:r>
              <a:rPr lang="en-US" altLang="en-US" i="1" dirty="0"/>
              <a:t>R</a:t>
            </a:r>
            <a:r>
              <a:rPr lang="en-US" altLang="en-US" baseline="-25000" dirty="0"/>
              <a:t>12</a:t>
            </a:r>
            <a:r>
              <a:rPr lang="en-US" altLang="en-US" dirty="0"/>
              <a:t> then {v</a:t>
            </a:r>
            <a:r>
              <a:rPr lang="en-US" altLang="en-US" baseline="-25000" dirty="0"/>
              <a:t>6</a:t>
            </a:r>
            <a:r>
              <a:rPr lang="en-US" altLang="en-US" dirty="0"/>
              <a:t>, v</a:t>
            </a:r>
            <a:r>
              <a:rPr lang="en-US" altLang="en-US" baseline="-25000" dirty="0"/>
              <a:t>1</a:t>
            </a:r>
            <a:r>
              <a:rPr lang="en-US" altLang="en-US" dirty="0"/>
              <a:t>} must cross an edge</a:t>
            </a:r>
          </a:p>
          <a:p>
            <a:pPr marL="0" indent="0">
              <a:buNone/>
            </a:pPr>
            <a:endParaRPr lang="en-US" altLang="en-US" sz="2400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F769F720-28C4-4DEB-8039-A1DE69A50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41" y="3782704"/>
            <a:ext cx="4648200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        v</a:t>
            </a:r>
            <a:r>
              <a:rPr lang="en-US" altLang="en-US" sz="2400" baseline="-25000" dirty="0">
                <a:latin typeface="+mn-lt"/>
              </a:rPr>
              <a:t>1</a:t>
            </a:r>
            <a:r>
              <a:rPr lang="en-US" altLang="en-US" sz="2400" dirty="0">
                <a:latin typeface="+mn-lt"/>
              </a:rPr>
              <a:t>		      v</a:t>
            </a:r>
            <a:r>
              <a:rPr lang="en-US" altLang="en-US" sz="2400" baseline="-25000" dirty="0">
                <a:latin typeface="+mn-lt"/>
              </a:rPr>
              <a:t>5</a:t>
            </a:r>
          </a:p>
          <a:p>
            <a:pPr algn="l" eaLnBrk="1" hangingPunct="1">
              <a:spcBef>
                <a:spcPct val="50000"/>
              </a:spcBef>
            </a:pPr>
            <a:endParaRPr lang="en-US" altLang="en-US" sz="2400" baseline="-25000" dirty="0">
              <a:latin typeface="+mn-lt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	</a:t>
            </a:r>
            <a:r>
              <a:rPr lang="en-US" altLang="en-US" sz="2400" baseline="-25000" dirty="0">
                <a:latin typeface="+mn-lt"/>
              </a:rPr>
              <a:t>							 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11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			 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2</a:t>
            </a:r>
            <a:r>
              <a:rPr lang="en-US" altLang="en-US" sz="2400" dirty="0">
                <a:latin typeface="+mn-lt"/>
              </a:rPr>
              <a:t>           </a:t>
            </a:r>
            <a:r>
              <a:rPr lang="en-US" altLang="en-US" sz="2400" i="1" dirty="0">
                <a:latin typeface="+mn-lt"/>
              </a:rPr>
              <a:t>R</a:t>
            </a:r>
            <a:r>
              <a:rPr lang="en-US" altLang="en-US" sz="2400" baseline="-25000" dirty="0">
                <a:latin typeface="+mn-lt"/>
              </a:rPr>
              <a:t>12</a:t>
            </a:r>
            <a:r>
              <a:rPr lang="en-US" altLang="en-US" sz="2400" dirty="0">
                <a:latin typeface="+mn-lt"/>
              </a:rPr>
              <a:t> 		 v</a:t>
            </a:r>
            <a:r>
              <a:rPr lang="en-US" altLang="en-US" sz="2400" baseline="-25000" dirty="0">
                <a:latin typeface="+mn-lt"/>
              </a:rPr>
              <a:t>3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  v</a:t>
            </a:r>
            <a:r>
              <a:rPr lang="en-US" altLang="en-US" sz="2400" baseline="-25000" dirty="0">
                <a:latin typeface="+mn-lt"/>
              </a:rPr>
              <a:t>4</a:t>
            </a:r>
            <a:r>
              <a:rPr lang="en-US" altLang="en-US" sz="2400" dirty="0">
                <a:latin typeface="+mn-lt"/>
              </a:rPr>
              <a:t>				       v</a:t>
            </a:r>
            <a:r>
              <a:rPr lang="en-US" altLang="en-US" sz="2400" baseline="-25000" dirty="0">
                <a:latin typeface="+mn-lt"/>
              </a:rPr>
              <a:t>2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CA564F23-D5BD-4EA5-9847-4F9CE5596A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0580" y="4179579"/>
            <a:ext cx="147637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B08E3A96-5F3A-4DF3-B85F-901AB167C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1541" y="4239904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7D0C131C-C63A-47ED-8F8A-D35398952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3179" y="4255779"/>
            <a:ext cx="0" cy="176053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4DDE195A-6017-4FFA-84F5-855D48FB11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76779" y="6008379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E2FF4A3C-E68B-46B3-96B8-A48C80C360C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81541" y="4239905"/>
            <a:ext cx="1671638" cy="15875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14145A9D-F0E0-4033-80E0-4B01E48E0C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76980" y="4179579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21235077-6D6C-4F1F-B86F-2EBD54F6DF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0580" y="5919479"/>
            <a:ext cx="147637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20F3035B-7994-4DE9-8026-7DCFAB5930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76980" y="5932179"/>
            <a:ext cx="149225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060FBAB9-AFF1-40D5-9510-D122B1B6C9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0941" y="5078104"/>
            <a:ext cx="147638" cy="1651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latin typeface="+mn-lt"/>
            </a:endParaRP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A8DE9FB8-F015-4290-8EF5-39A29F9C8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7941" y="4239904"/>
            <a:ext cx="1219200" cy="9144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 sz="2400"/>
          </a:p>
        </p:txBody>
      </p:sp>
      <p:cxnSp>
        <p:nvCxnSpPr>
          <p:cNvPr id="15" name="AutoShape 15">
            <a:extLst>
              <a:ext uri="{FF2B5EF4-FFF2-40B4-BE49-F238E27FC236}">
                <a16:creationId xmlns:a16="http://schemas.microsoft.com/office/drawing/2014/main" id="{D4BC82E9-E10E-42E0-BA63-5B43BEE915E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311036" y="4201011"/>
            <a:ext cx="841375" cy="2900363"/>
          </a:xfrm>
          <a:prstGeom prst="curvedConnector3">
            <a:avLst>
              <a:gd name="adj1" fmla="val 156376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82046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E8DEA39-6FE8-4BE2-8629-7507CA2CD22A}"/>
              </a:ext>
            </a:extLst>
          </p:cNvPr>
          <p:cNvSpPr txBox="1">
            <a:spLocks noChangeArrowheads="1"/>
          </p:cNvSpPr>
          <p:nvPr/>
        </p:nvSpPr>
        <p:spPr>
          <a:xfrm>
            <a:off x="334618" y="1371600"/>
            <a:ext cx="83820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Consequently, the graph K</a:t>
            </a:r>
            <a:r>
              <a:rPr lang="en-US" altLang="en-US" baseline="-25000" dirty="0">
                <a:latin typeface="Times New Roman" panose="02020603050405020304" pitchFamily="18" charset="0"/>
              </a:rPr>
              <a:t>3,3</a:t>
            </a:r>
            <a:r>
              <a:rPr lang="en-US" altLang="en-US" dirty="0">
                <a:latin typeface="Times New Roman" panose="02020603050405020304" pitchFamily="18" charset="0"/>
              </a:rPr>
              <a:t> must be nonplanar.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60C0E5B-B476-4AFC-A517-296A3C364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9618" y="4495800"/>
            <a:ext cx="99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3200">
                <a:latin typeface="Times New Roman" panose="02020603050405020304" pitchFamily="18" charset="0"/>
              </a:rPr>
              <a:t>K</a:t>
            </a:r>
            <a:r>
              <a:rPr lang="en-US" altLang="en-US" sz="3200" baseline="-25000">
                <a:latin typeface="Times New Roman" panose="02020603050405020304" pitchFamily="18" charset="0"/>
              </a:rPr>
              <a:t>3,3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BF022F0-19EE-4DFF-AF21-B08772AE7225}"/>
              </a:ext>
            </a:extLst>
          </p:cNvPr>
          <p:cNvGrpSpPr>
            <a:grpSpLocks/>
          </p:cNvGrpSpPr>
          <p:nvPr/>
        </p:nvGrpSpPr>
        <p:grpSpPr bwMode="auto">
          <a:xfrm>
            <a:off x="791818" y="3352800"/>
            <a:ext cx="4724400" cy="3124200"/>
            <a:chOff x="2198" y="3014"/>
            <a:chExt cx="1371" cy="863"/>
          </a:xfrm>
        </p:grpSpPr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78AA2437-06EB-4D42-8366-A56F458769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302799E3-67D9-481E-A4C3-DE64059F2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0400067B-A772-4C4A-8E6C-B5D55CFA2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1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29887311-090A-43F7-BC40-F180C8E8F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6C0AB744-1AEC-4312-BC68-F68DDB58BF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2E481392-3597-4450-9E86-A5AC4E975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89969F12-EE6D-40E0-ACED-0DE09E8DB8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17B4348B-5644-4FFA-8094-96634F4B8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315EA3F6-0482-4995-9E36-AD1C67D962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E0450B6C-6CB8-4C9F-89A0-EEE2A142AC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92BDA9A6-200E-4A0C-AC76-3309CB8669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" name="Oval 17">
              <a:extLst>
                <a:ext uri="{FF2B5EF4-FFF2-40B4-BE49-F238E27FC236}">
                  <a16:creationId xmlns:a16="http://schemas.microsoft.com/office/drawing/2014/main" id="{9F580A53-C1F1-43F7-A7CC-C12E3789F0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" name="Oval 18">
              <a:extLst>
                <a:ext uri="{FF2B5EF4-FFF2-40B4-BE49-F238E27FC236}">
                  <a16:creationId xmlns:a16="http://schemas.microsoft.com/office/drawing/2014/main" id="{B85582B4-6DBF-4427-8B8A-096561A334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" name="Oval 19">
              <a:extLst>
                <a:ext uri="{FF2B5EF4-FFF2-40B4-BE49-F238E27FC236}">
                  <a16:creationId xmlns:a16="http://schemas.microsoft.com/office/drawing/2014/main" id="{775B20A8-0DFD-4267-81F2-D9F7BB3E4D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79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" name="Oval 20">
              <a:extLst>
                <a:ext uri="{FF2B5EF4-FFF2-40B4-BE49-F238E27FC236}">
                  <a16:creationId xmlns:a16="http://schemas.microsoft.com/office/drawing/2014/main" id="{C39AF0D6-D545-482B-92D4-A616C457C4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365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Theorem 1 (</a:t>
            </a:r>
            <a:r>
              <a:rPr lang="en-IN" dirty="0" err="1"/>
              <a:t>Kuratowski</a:t>
            </a:r>
            <a:r>
              <a:rPr lang="en-IN" dirty="0"/>
              <a:t>, 1930)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E8DEA39-6FE8-4BE2-8629-7507CA2CD22A}"/>
              </a:ext>
            </a:extLst>
          </p:cNvPr>
          <p:cNvSpPr txBox="1">
            <a:spLocks noChangeArrowheads="1"/>
          </p:cNvSpPr>
          <p:nvPr/>
        </p:nvSpPr>
        <p:spPr>
          <a:xfrm>
            <a:off x="334618" y="1371600"/>
            <a:ext cx="83820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A graph is planar if and only if it does not contain a subgraph that is a K</a:t>
            </a:r>
            <a:r>
              <a:rPr lang="en-US" altLang="en-US" baseline="-25000" dirty="0">
                <a:latin typeface="Times New Roman" panose="02020603050405020304" pitchFamily="18" charset="0"/>
              </a:rPr>
              <a:t>5</a:t>
            </a:r>
            <a:r>
              <a:rPr lang="en-US" altLang="en-US" dirty="0">
                <a:latin typeface="Times New Roman" panose="02020603050405020304" pitchFamily="18" charset="0"/>
              </a:rPr>
              <a:t> or K</a:t>
            </a:r>
            <a:r>
              <a:rPr lang="en-US" altLang="en-US" baseline="-25000" dirty="0">
                <a:latin typeface="Times New Roman" panose="02020603050405020304" pitchFamily="18" charset="0"/>
              </a:rPr>
              <a:t>3,3</a:t>
            </a:r>
            <a:r>
              <a:rPr lang="en-US" altLang="en-US" dirty="0">
                <a:latin typeface="Times New Roman" panose="02020603050405020304" pitchFamily="18" charset="0"/>
              </a:rPr>
              <a:t>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31919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9957</TotalTime>
  <Words>1016</Words>
  <Application>Microsoft Office PowerPoint</Application>
  <PresentationFormat>On-screen Show (4:3)</PresentationFormat>
  <Paragraphs>121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Arial</vt:lpstr>
      <vt:lpstr>Bahnschrift</vt:lpstr>
      <vt:lpstr>Bahnschrift SemiBold</vt:lpstr>
      <vt:lpstr>Bookman Old Style</vt:lpstr>
      <vt:lpstr>Calibri</vt:lpstr>
      <vt:lpstr>Tahoma</vt:lpstr>
      <vt:lpstr>Times New Roman</vt:lpstr>
      <vt:lpstr>Wingdings</vt:lpstr>
      <vt:lpstr>Office Theme</vt:lpstr>
      <vt:lpstr>EMTH403</vt:lpstr>
      <vt:lpstr>Lecture Outcomes</vt:lpstr>
      <vt:lpstr>Planar Graphs  The House-and-Utilities Problem</vt:lpstr>
      <vt:lpstr>Planar Graphs</vt:lpstr>
      <vt:lpstr>Planar Graphs</vt:lpstr>
      <vt:lpstr>Planar Graphs</vt:lpstr>
      <vt:lpstr>Planar Graphs</vt:lpstr>
      <vt:lpstr>Planar Graphs</vt:lpstr>
      <vt:lpstr>Planar Graphs</vt:lpstr>
      <vt:lpstr>Planar Graphs</vt:lpstr>
      <vt:lpstr>Planar Graphs</vt:lpstr>
      <vt:lpstr>Regions</vt:lpstr>
      <vt:lpstr>Planar Graphs</vt:lpstr>
      <vt:lpstr>Regions</vt:lpstr>
      <vt:lpstr>Regions</vt:lpstr>
      <vt:lpstr>Regions</vt:lpstr>
      <vt:lpstr>Regions</vt:lpstr>
      <vt:lpstr>Regions</vt:lpstr>
      <vt:lpstr>Regions</vt:lpstr>
      <vt:lpstr>Regions</vt:lpstr>
      <vt:lpstr>Planar Graphs</vt:lpstr>
      <vt:lpstr>Theorem 1 (Kuratowski, 1930)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1551</cp:revision>
  <dcterms:created xsi:type="dcterms:W3CDTF">2020-12-04T05:20:56Z</dcterms:created>
  <dcterms:modified xsi:type="dcterms:W3CDTF">2021-01-22T05:19:26Z</dcterms:modified>
</cp:coreProperties>
</file>