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88" r:id="rId4"/>
    <p:sldId id="289" r:id="rId5"/>
    <p:sldId id="290" r:id="rId6"/>
    <p:sldId id="292" r:id="rId7"/>
    <p:sldId id="291" r:id="rId8"/>
    <p:sldId id="297" r:id="rId9"/>
    <p:sldId id="293" r:id="rId10"/>
    <p:sldId id="294" r:id="rId11"/>
    <p:sldId id="295" r:id="rId12"/>
    <p:sldId id="296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25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8"/>
            <p14:sldId id="289"/>
            <p14:sldId id="290"/>
            <p14:sldId id="292"/>
            <p14:sldId id="291"/>
            <p14:sldId id="297"/>
            <p14:sldId id="293"/>
            <p14:sldId id="294"/>
            <p14:sldId id="295"/>
            <p14:sldId id="296"/>
            <p14:sldId id="298"/>
            <p14:sldId id="299"/>
            <p14:sldId id="300"/>
            <p14:sldId id="301"/>
            <p14:sldId id="302"/>
            <p14:sldId id="303"/>
            <p14:sldId id="304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02B"/>
    <a:srgbClr val="00B6CC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531" y="2864527"/>
            <a:ext cx="6472938" cy="3500283"/>
          </a:xfrm>
        </p:spPr>
        <p:txBody>
          <a:bodyPr>
            <a:normAutofit/>
          </a:bodyPr>
          <a:lstStyle/>
          <a:p>
            <a:r>
              <a:rPr lang="en-US" sz="2400" dirty="0"/>
              <a:t>understand the </a:t>
            </a:r>
            <a:r>
              <a:rPr lang="en-IN" sz="2400" dirty="0"/>
              <a:t>Division</a:t>
            </a:r>
            <a:r>
              <a:rPr lang="en-US" sz="2400" dirty="0"/>
              <a:t> rule in the basics of counting. </a:t>
            </a:r>
          </a:p>
          <a:p>
            <a:r>
              <a:rPr lang="en-US" sz="2400" dirty="0"/>
              <a:t>understand how to find total number of functions in the basics of counting.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n/d ways to do a task if it can be done using a procedure that can be carried out in n ways, and for every way w, exactly d of the n ways correspond to way 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91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6D64F9-700A-43E3-8423-2CF178EA203F}"/>
                  </a:ext>
                </a:extLst>
              </p:cNvPr>
              <p:cNvSpPr txBox="1"/>
              <p:nvPr/>
            </p:nvSpPr>
            <p:spPr>
              <a:xfrm>
                <a:off x="-187961" y="1272849"/>
                <a:ext cx="5600006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IN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0" i="1" smtClean="0">
                              <a:latin typeface="Cambria Math" panose="02040503050406030204" pitchFamily="18" charset="0"/>
                            </a:rPr>
                            <m:t>3=3∗2∗1=6</m:t>
                          </m:r>
                        </m:e>
                      </m:d>
                    </m:oMath>
                  </m:oMathPara>
                </a14:m>
                <a:endParaRPr lang="en-IN" sz="2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IN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0" i="1" smtClean="0">
                              <a:latin typeface="Cambria Math" panose="02040503050406030204" pitchFamily="18" charset="0"/>
                            </a:rPr>
                            <m:t>4=4∗3∗2∗1=</m:t>
                          </m:r>
                        </m:e>
                      </m:d>
                      <m:r>
                        <a:rPr lang="en-IN" sz="2600" b="0" i="1" smtClean="0">
                          <a:latin typeface="Cambria Math" panose="02040503050406030204" pitchFamily="18" charset="0"/>
                        </a:rPr>
                        <m:t> 24</m:t>
                      </m:r>
                    </m:oMath>
                  </m:oMathPara>
                </a14:m>
                <a:endParaRPr lang="en-IN" sz="2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IN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0" i="1" smtClean="0">
                              <a:latin typeface="Cambria Math" panose="02040503050406030204" pitchFamily="18" charset="0"/>
                            </a:rPr>
                            <m:t>5=5∗4∗3∗2∗1=120</m:t>
                          </m:r>
                        </m:e>
                      </m:d>
                    </m:oMath>
                  </m:oMathPara>
                </a14:m>
                <a:endParaRPr lang="en-IN" sz="2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6D64F9-700A-43E3-8423-2CF178EA2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7961" y="1272849"/>
                <a:ext cx="5600006" cy="1292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24AB4AC-5B31-4D6B-9FAB-BC5EB8525FF0}"/>
              </a:ext>
            </a:extLst>
          </p:cNvPr>
          <p:cNvGrpSpPr/>
          <p:nvPr/>
        </p:nvGrpSpPr>
        <p:grpSpPr>
          <a:xfrm>
            <a:off x="606287" y="3230216"/>
            <a:ext cx="3942522" cy="1908314"/>
            <a:chOff x="606287" y="3230216"/>
            <a:chExt cx="3942522" cy="190831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0AFFEE6-9946-4487-A5F2-222532C1AB31}"/>
                </a:ext>
              </a:extLst>
            </p:cNvPr>
            <p:cNvSpPr/>
            <p:nvPr/>
          </p:nvSpPr>
          <p:spPr>
            <a:xfrm>
              <a:off x="606287" y="3230217"/>
              <a:ext cx="954156" cy="190831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04107B-E18C-4481-BB5E-BD6CA34C687F}"/>
                </a:ext>
              </a:extLst>
            </p:cNvPr>
            <p:cNvSpPr txBox="1"/>
            <p:nvPr/>
          </p:nvSpPr>
          <p:spPr>
            <a:xfrm>
              <a:off x="924339" y="3429000"/>
              <a:ext cx="318052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00" dirty="0"/>
                <a:t>1</a:t>
              </a:r>
            </a:p>
            <a:p>
              <a:r>
                <a:rPr lang="en-IN" sz="2600" dirty="0"/>
                <a:t>2</a:t>
              </a:r>
            </a:p>
            <a:p>
              <a:r>
                <a:rPr lang="en-IN" sz="2600" dirty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51AD592-48F2-4C68-B490-8EF8CD5688B7}"/>
                </a:ext>
              </a:extLst>
            </p:cNvPr>
            <p:cNvSpPr/>
            <p:nvPr/>
          </p:nvSpPr>
          <p:spPr>
            <a:xfrm>
              <a:off x="2100470" y="3230216"/>
              <a:ext cx="954156" cy="190831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C91E0F-1FD5-460D-B41A-3A493AB544F6}"/>
                </a:ext>
              </a:extLst>
            </p:cNvPr>
            <p:cNvSpPr txBox="1"/>
            <p:nvPr/>
          </p:nvSpPr>
          <p:spPr>
            <a:xfrm>
              <a:off x="2418522" y="3428999"/>
              <a:ext cx="318052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00" dirty="0"/>
                <a:t>1</a:t>
              </a:r>
            </a:p>
            <a:p>
              <a:r>
                <a:rPr lang="en-IN" sz="2600" dirty="0"/>
                <a:t>2</a:t>
              </a:r>
            </a:p>
            <a:p>
              <a:r>
                <a:rPr lang="en-IN" sz="2600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57593B9-D139-42D9-8851-38700518E498}"/>
                </a:ext>
              </a:extLst>
            </p:cNvPr>
            <p:cNvSpPr/>
            <p:nvPr/>
          </p:nvSpPr>
          <p:spPr>
            <a:xfrm>
              <a:off x="3594653" y="3230216"/>
              <a:ext cx="954156" cy="190831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8AE4CD-D2D9-4862-B08F-5830A44787DB}"/>
                </a:ext>
              </a:extLst>
            </p:cNvPr>
            <p:cNvSpPr txBox="1"/>
            <p:nvPr/>
          </p:nvSpPr>
          <p:spPr>
            <a:xfrm>
              <a:off x="3912705" y="3428999"/>
              <a:ext cx="318052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00" dirty="0"/>
                <a:t>1</a:t>
              </a:r>
            </a:p>
            <a:p>
              <a:r>
                <a:rPr lang="en-IN" sz="2600" dirty="0"/>
                <a:t>2</a:t>
              </a:r>
            </a:p>
            <a:p>
              <a:r>
                <a:rPr lang="en-IN" sz="2600" dirty="0"/>
                <a:t>3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14DEBF-C153-4E71-BF71-279275AFB6B1}"/>
              </a:ext>
            </a:extLst>
          </p:cNvPr>
          <p:cNvCxnSpPr/>
          <p:nvPr/>
        </p:nvCxnSpPr>
        <p:spPr>
          <a:xfrm>
            <a:off x="1242391" y="3667539"/>
            <a:ext cx="1176131" cy="40779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7303D7-21E1-497A-ABD2-BBBCE572AB58}"/>
              </a:ext>
            </a:extLst>
          </p:cNvPr>
          <p:cNvCxnSpPr/>
          <p:nvPr/>
        </p:nvCxnSpPr>
        <p:spPr>
          <a:xfrm>
            <a:off x="2736574" y="4075330"/>
            <a:ext cx="1176131" cy="40779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D084A9-BA34-40D2-AF05-480BD6073E06}"/>
              </a:ext>
            </a:extLst>
          </p:cNvPr>
          <p:cNvGrpSpPr/>
          <p:nvPr/>
        </p:nvGrpSpPr>
        <p:grpSpPr>
          <a:xfrm>
            <a:off x="5231547" y="1013791"/>
            <a:ext cx="2172979" cy="4833579"/>
            <a:chOff x="5231547" y="2428725"/>
            <a:chExt cx="2172979" cy="461551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5524D9-7343-49B1-A1A6-E02A7343F19F}"/>
                </a:ext>
              </a:extLst>
            </p:cNvPr>
            <p:cNvSpPr txBox="1"/>
            <p:nvPr/>
          </p:nvSpPr>
          <p:spPr>
            <a:xfrm>
              <a:off x="5231547" y="2428725"/>
              <a:ext cx="360996" cy="44935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IN" sz="2600" dirty="0"/>
            </a:p>
            <a:p>
              <a:endParaRPr lang="en-IN" sz="2600" dirty="0"/>
            </a:p>
            <a:p>
              <a:r>
                <a:rPr lang="en-IN" sz="2600" dirty="0"/>
                <a:t>1</a:t>
              </a:r>
            </a:p>
            <a:p>
              <a:endParaRPr lang="en-IN" sz="2600" dirty="0"/>
            </a:p>
            <a:p>
              <a:endParaRPr lang="en-IN" sz="2600" dirty="0"/>
            </a:p>
            <a:p>
              <a:r>
                <a:rPr lang="en-IN" sz="2600" dirty="0"/>
                <a:t>2</a:t>
              </a:r>
            </a:p>
            <a:p>
              <a:endParaRPr lang="en-IN" sz="2600" dirty="0"/>
            </a:p>
            <a:p>
              <a:endParaRPr lang="en-IN" sz="2600" dirty="0"/>
            </a:p>
            <a:p>
              <a:endParaRPr lang="en-IN" sz="2600" dirty="0"/>
            </a:p>
            <a:p>
              <a:r>
                <a:rPr lang="en-IN" sz="2600" dirty="0"/>
                <a:t>3</a:t>
              </a:r>
            </a:p>
            <a:p>
              <a:endParaRPr lang="en-IN" sz="2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21ED39-8FE6-4EBE-A2F7-67FF3C320AE2}"/>
                </a:ext>
              </a:extLst>
            </p:cNvPr>
            <p:cNvSpPr txBox="1"/>
            <p:nvPr/>
          </p:nvSpPr>
          <p:spPr>
            <a:xfrm>
              <a:off x="6096001" y="2953480"/>
              <a:ext cx="360996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600" dirty="0"/>
                <a:t>2</a:t>
              </a:r>
            </a:p>
            <a:p>
              <a:r>
                <a:rPr lang="en-IN" sz="2600" dirty="0"/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BF6140-A2CE-4352-AB02-01542C7C0B93}"/>
                </a:ext>
              </a:extLst>
            </p:cNvPr>
            <p:cNvSpPr txBox="1"/>
            <p:nvPr/>
          </p:nvSpPr>
          <p:spPr>
            <a:xfrm>
              <a:off x="6138261" y="4194598"/>
              <a:ext cx="360996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600" dirty="0"/>
                <a:t>1</a:t>
              </a:r>
            </a:p>
            <a:p>
              <a:r>
                <a:rPr lang="en-IN" sz="2600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AAB152-559C-4086-8275-C9C5C7E73CA8}"/>
                </a:ext>
              </a:extLst>
            </p:cNvPr>
            <p:cNvSpPr txBox="1"/>
            <p:nvPr/>
          </p:nvSpPr>
          <p:spPr>
            <a:xfrm>
              <a:off x="6110724" y="5719510"/>
              <a:ext cx="356188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600" dirty="0"/>
                <a:t>1</a:t>
              </a:r>
            </a:p>
            <a:p>
              <a:r>
                <a:rPr lang="en-IN" sz="2600" dirty="0"/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010638-5661-4F7E-84C2-E5BA3FD65F9E}"/>
                </a:ext>
              </a:extLst>
            </p:cNvPr>
            <p:cNvSpPr txBox="1"/>
            <p:nvPr/>
          </p:nvSpPr>
          <p:spPr>
            <a:xfrm>
              <a:off x="7043530" y="2753425"/>
              <a:ext cx="360996" cy="4290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600" dirty="0"/>
                <a:t>3</a:t>
              </a:r>
            </a:p>
            <a:p>
              <a:endParaRPr lang="en-IN" sz="2600" dirty="0"/>
            </a:p>
            <a:p>
              <a:r>
                <a:rPr lang="en-IN" sz="2600" dirty="0"/>
                <a:t>2</a:t>
              </a:r>
            </a:p>
            <a:p>
              <a:endParaRPr lang="en-IN" sz="2600" dirty="0"/>
            </a:p>
            <a:p>
              <a:r>
                <a:rPr lang="en-IN" sz="2600" dirty="0"/>
                <a:t>3</a:t>
              </a:r>
            </a:p>
            <a:p>
              <a:endParaRPr lang="en-IN" sz="2600" dirty="0"/>
            </a:p>
            <a:p>
              <a:r>
                <a:rPr lang="en-IN" sz="2600" dirty="0"/>
                <a:t>1</a:t>
              </a:r>
            </a:p>
            <a:p>
              <a:endParaRPr lang="en-IN" sz="2600" dirty="0"/>
            </a:p>
            <a:p>
              <a:r>
                <a:rPr lang="en-IN" sz="2600" dirty="0"/>
                <a:t>2</a:t>
              </a:r>
            </a:p>
            <a:p>
              <a:endParaRPr lang="en-IN" sz="2600" dirty="0"/>
            </a:p>
            <a:p>
              <a:r>
                <a:rPr lang="en-IN" sz="2600" dirty="0"/>
                <a:t>1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0F97EC-2E1E-4001-AEB7-9D2D22ECC59F}"/>
              </a:ext>
            </a:extLst>
          </p:cNvPr>
          <p:cNvCxnSpPr>
            <a:cxnSpLocks/>
          </p:cNvCxnSpPr>
          <p:nvPr/>
        </p:nvCxnSpPr>
        <p:spPr>
          <a:xfrm flipV="1">
            <a:off x="5466646" y="1896961"/>
            <a:ext cx="644078" cy="159244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1D4D74-70B4-4235-BA61-E26A17BD3DA6}"/>
              </a:ext>
            </a:extLst>
          </p:cNvPr>
          <p:cNvCxnSpPr>
            <a:cxnSpLocks/>
          </p:cNvCxnSpPr>
          <p:nvPr/>
        </p:nvCxnSpPr>
        <p:spPr>
          <a:xfrm flipV="1">
            <a:off x="6428225" y="1643232"/>
            <a:ext cx="644078" cy="159244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E21AD4-2464-4528-B092-B9EAFBE2BF7C}"/>
              </a:ext>
            </a:extLst>
          </p:cNvPr>
          <p:cNvCxnSpPr>
            <a:cxnSpLocks/>
          </p:cNvCxnSpPr>
          <p:nvPr/>
        </p:nvCxnSpPr>
        <p:spPr>
          <a:xfrm>
            <a:off x="1219138" y="3667539"/>
            <a:ext cx="1182913" cy="78782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EAE0BC-65EE-4A76-82C6-3CEC6519BBDA}"/>
              </a:ext>
            </a:extLst>
          </p:cNvPr>
          <p:cNvCxnSpPr>
            <a:cxnSpLocks/>
          </p:cNvCxnSpPr>
          <p:nvPr/>
        </p:nvCxnSpPr>
        <p:spPr>
          <a:xfrm flipV="1">
            <a:off x="2736574" y="4184372"/>
            <a:ext cx="1132935" cy="27099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8826B5-E969-4C64-BB4B-140F7AB7AECD}"/>
              </a:ext>
            </a:extLst>
          </p:cNvPr>
          <p:cNvCxnSpPr>
            <a:cxnSpLocks/>
          </p:cNvCxnSpPr>
          <p:nvPr/>
        </p:nvCxnSpPr>
        <p:spPr>
          <a:xfrm>
            <a:off x="5509468" y="2056205"/>
            <a:ext cx="586533" cy="16764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2821EF-C7DA-42AE-9D95-DE8D4898D5A4}"/>
              </a:ext>
            </a:extLst>
          </p:cNvPr>
          <p:cNvCxnSpPr>
            <a:cxnSpLocks/>
          </p:cNvCxnSpPr>
          <p:nvPr/>
        </p:nvCxnSpPr>
        <p:spPr>
          <a:xfrm>
            <a:off x="6434492" y="2288077"/>
            <a:ext cx="609038" cy="8737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FC41ED-F1DC-4498-A060-9EEFB7C8570A}"/>
              </a:ext>
            </a:extLst>
          </p:cNvPr>
          <p:cNvCxnSpPr/>
          <p:nvPr/>
        </p:nvCxnSpPr>
        <p:spPr>
          <a:xfrm flipV="1">
            <a:off x="1321904" y="3717860"/>
            <a:ext cx="1080147" cy="343593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3A16DC-D281-4FD9-9BAC-3E07DB9CB113}"/>
              </a:ext>
            </a:extLst>
          </p:cNvPr>
          <p:cNvCxnSpPr>
            <a:cxnSpLocks/>
          </p:cNvCxnSpPr>
          <p:nvPr/>
        </p:nvCxnSpPr>
        <p:spPr>
          <a:xfrm>
            <a:off x="2689893" y="3705615"/>
            <a:ext cx="1273650" cy="722038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BF3EF4-205E-4B29-A9F5-A18643A57332}"/>
              </a:ext>
            </a:extLst>
          </p:cNvPr>
          <p:cNvCxnSpPr>
            <a:cxnSpLocks/>
          </p:cNvCxnSpPr>
          <p:nvPr/>
        </p:nvCxnSpPr>
        <p:spPr>
          <a:xfrm flipV="1">
            <a:off x="5602504" y="3144680"/>
            <a:ext cx="576572" cy="106974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7660A8-7BE3-46CD-83A5-518AD63E0D6F}"/>
              </a:ext>
            </a:extLst>
          </p:cNvPr>
          <p:cNvCxnSpPr>
            <a:cxnSpLocks/>
          </p:cNvCxnSpPr>
          <p:nvPr/>
        </p:nvCxnSpPr>
        <p:spPr>
          <a:xfrm flipV="1">
            <a:off x="6408024" y="3144680"/>
            <a:ext cx="635506" cy="32839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13ED4F-7ABF-4BD8-AA3D-DC0C98DDD1DA}"/>
              </a:ext>
            </a:extLst>
          </p:cNvPr>
          <p:cNvCxnSpPr>
            <a:cxnSpLocks/>
          </p:cNvCxnSpPr>
          <p:nvPr/>
        </p:nvCxnSpPr>
        <p:spPr>
          <a:xfrm>
            <a:off x="1311943" y="4061453"/>
            <a:ext cx="1144746" cy="421668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F80405D-E89B-43DB-AF97-42E98B2F91F6}"/>
              </a:ext>
            </a:extLst>
          </p:cNvPr>
          <p:cNvCxnSpPr>
            <a:cxnSpLocks/>
          </p:cNvCxnSpPr>
          <p:nvPr/>
        </p:nvCxnSpPr>
        <p:spPr>
          <a:xfrm flipV="1">
            <a:off x="2749421" y="3717860"/>
            <a:ext cx="1250332" cy="775575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44DE719-AA67-4A99-9439-601ADFE9EBA4}"/>
              </a:ext>
            </a:extLst>
          </p:cNvPr>
          <p:cNvCxnSpPr>
            <a:cxnSpLocks/>
          </p:cNvCxnSpPr>
          <p:nvPr/>
        </p:nvCxnSpPr>
        <p:spPr>
          <a:xfrm>
            <a:off x="5592543" y="3246401"/>
            <a:ext cx="556829" cy="218703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987AA8-56F8-497C-8030-59DF5D45BC6B}"/>
              </a:ext>
            </a:extLst>
          </p:cNvPr>
          <p:cNvCxnSpPr>
            <a:cxnSpLocks/>
          </p:cNvCxnSpPr>
          <p:nvPr/>
        </p:nvCxnSpPr>
        <p:spPr>
          <a:xfrm>
            <a:off x="6448628" y="3638669"/>
            <a:ext cx="637162" cy="30808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51B749F-9960-4C2C-BB81-545705C6886F}"/>
              </a:ext>
            </a:extLst>
          </p:cNvPr>
          <p:cNvCxnSpPr>
            <a:cxnSpLocks/>
          </p:cNvCxnSpPr>
          <p:nvPr/>
        </p:nvCxnSpPr>
        <p:spPr>
          <a:xfrm flipV="1">
            <a:off x="1255238" y="3717860"/>
            <a:ext cx="1250332" cy="76521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95D11FF-7B95-47FE-8090-278FF08C67B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68848" y="3717860"/>
            <a:ext cx="1243857" cy="35747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FB6479A-1355-4190-A5E2-AA8350BC40A6}"/>
              </a:ext>
            </a:extLst>
          </p:cNvPr>
          <p:cNvCxnSpPr>
            <a:cxnSpLocks/>
          </p:cNvCxnSpPr>
          <p:nvPr/>
        </p:nvCxnSpPr>
        <p:spPr>
          <a:xfrm flipV="1">
            <a:off x="5543995" y="4728323"/>
            <a:ext cx="586060" cy="13774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22A6541-A6BC-4271-8940-CE2FAE7C7A14}"/>
              </a:ext>
            </a:extLst>
          </p:cNvPr>
          <p:cNvCxnSpPr>
            <a:cxnSpLocks/>
          </p:cNvCxnSpPr>
          <p:nvPr/>
        </p:nvCxnSpPr>
        <p:spPr>
          <a:xfrm>
            <a:off x="6431927" y="4748125"/>
            <a:ext cx="653863" cy="4463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B869547-59F7-4D1A-AB31-097F107C9B3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245277" y="4075330"/>
            <a:ext cx="1173245" cy="44431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855BB29-B5DE-46CC-8B45-3C33F4AD4E12}"/>
              </a:ext>
            </a:extLst>
          </p:cNvPr>
          <p:cNvCxnSpPr>
            <a:cxnSpLocks/>
          </p:cNvCxnSpPr>
          <p:nvPr/>
        </p:nvCxnSpPr>
        <p:spPr>
          <a:xfrm flipV="1">
            <a:off x="2746535" y="3684592"/>
            <a:ext cx="1173245" cy="44431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DF50FDC-9A43-444A-A916-FE73A0915188}"/>
              </a:ext>
            </a:extLst>
          </p:cNvPr>
          <p:cNvCxnSpPr>
            <a:cxnSpLocks/>
          </p:cNvCxnSpPr>
          <p:nvPr/>
        </p:nvCxnSpPr>
        <p:spPr>
          <a:xfrm>
            <a:off x="5543995" y="4927411"/>
            <a:ext cx="552006" cy="16142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44CA136-34D3-4F2A-8896-0FE421C47EFF}"/>
              </a:ext>
            </a:extLst>
          </p:cNvPr>
          <p:cNvCxnSpPr>
            <a:cxnSpLocks/>
          </p:cNvCxnSpPr>
          <p:nvPr/>
        </p:nvCxnSpPr>
        <p:spPr>
          <a:xfrm>
            <a:off x="6456997" y="5209968"/>
            <a:ext cx="596448" cy="25238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C35D423-BA02-4898-B499-4D5B60F8773B}"/>
              </a:ext>
            </a:extLst>
          </p:cNvPr>
          <p:cNvSpPr txBox="1"/>
          <p:nvPr/>
        </p:nvSpPr>
        <p:spPr>
          <a:xfrm>
            <a:off x="7792278" y="2208598"/>
            <a:ext cx="12767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123</a:t>
            </a:r>
          </a:p>
          <a:p>
            <a:r>
              <a:rPr lang="en-IN" sz="2600" dirty="0"/>
              <a:t>132</a:t>
            </a:r>
          </a:p>
          <a:p>
            <a:endParaRPr lang="en-IN" sz="2600" dirty="0"/>
          </a:p>
          <a:p>
            <a:r>
              <a:rPr lang="en-IN" sz="2600" dirty="0"/>
              <a:t>213</a:t>
            </a:r>
          </a:p>
          <a:p>
            <a:r>
              <a:rPr lang="en-IN" sz="2600" dirty="0"/>
              <a:t>231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/>
              <a:t>312</a:t>
            </a:r>
          </a:p>
          <a:p>
            <a:r>
              <a:rPr lang="en-IN" sz="2600" dirty="0"/>
              <a:t>321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FE3409-3098-4449-A100-F57E4C0472FE}"/>
              </a:ext>
            </a:extLst>
          </p:cNvPr>
          <p:cNvSpPr txBox="1"/>
          <p:nvPr/>
        </p:nvSpPr>
        <p:spPr>
          <a:xfrm>
            <a:off x="4277457" y="6103934"/>
            <a:ext cx="4220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3 choices, 2 Choices, 1 Choice</a:t>
            </a:r>
          </a:p>
        </p:txBody>
      </p:sp>
    </p:spTree>
    <p:extLst>
      <p:ext uri="{BB962C8B-B14F-4D97-AF65-F5344CB8AC3E}">
        <p14:creationId xmlns:p14="http://schemas.microsoft.com/office/powerpoint/2010/main" val="380722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5" grpId="0"/>
      <p:bldP spid="7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5FEE4D28-9F01-41E5-944A-DBB6FE91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4F77C4-3FF1-4C17-808D-9B32120BC9E3}"/>
              </a:ext>
            </a:extLst>
          </p:cNvPr>
          <p:cNvSpPr txBox="1"/>
          <p:nvPr/>
        </p:nvSpPr>
        <p:spPr>
          <a:xfrm>
            <a:off x="299412" y="2955218"/>
            <a:ext cx="226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88A6A4-A5F7-4957-AFBF-C1E4557AACF9}"/>
              </a:ext>
            </a:extLst>
          </p:cNvPr>
          <p:cNvSpPr txBox="1"/>
          <p:nvPr/>
        </p:nvSpPr>
        <p:spPr>
          <a:xfrm>
            <a:off x="985209" y="2082115"/>
            <a:ext cx="30811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2</a:t>
            </a:r>
          </a:p>
          <a:p>
            <a:endParaRPr lang="en-IN" sz="2600" dirty="0"/>
          </a:p>
          <a:p>
            <a:r>
              <a:rPr lang="en-IN" sz="2600" dirty="0"/>
              <a:t>3</a:t>
            </a:r>
          </a:p>
          <a:p>
            <a:endParaRPr lang="en-IN" sz="2600" dirty="0"/>
          </a:p>
          <a:p>
            <a:r>
              <a:rPr lang="en-IN" sz="26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CD57BD-BC3E-4DDB-A214-99EED2E47CAD}"/>
              </a:ext>
            </a:extLst>
          </p:cNvPr>
          <p:cNvSpPr txBox="1"/>
          <p:nvPr/>
        </p:nvSpPr>
        <p:spPr>
          <a:xfrm>
            <a:off x="1800216" y="1193735"/>
            <a:ext cx="3081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3</a:t>
            </a:r>
          </a:p>
          <a:p>
            <a:r>
              <a:rPr lang="en-IN" sz="2600" dirty="0"/>
              <a:t>4</a:t>
            </a:r>
          </a:p>
          <a:p>
            <a:endParaRPr lang="en-IN" sz="2600" dirty="0"/>
          </a:p>
          <a:p>
            <a:r>
              <a:rPr lang="en-IN" sz="2600" dirty="0"/>
              <a:t>2</a:t>
            </a:r>
          </a:p>
          <a:p>
            <a:r>
              <a:rPr lang="en-IN" sz="2600" dirty="0"/>
              <a:t>4</a:t>
            </a:r>
          </a:p>
          <a:p>
            <a:endParaRPr lang="en-IN" sz="2600" dirty="0"/>
          </a:p>
          <a:p>
            <a:r>
              <a:rPr lang="en-IN" sz="2600" dirty="0"/>
              <a:t>2</a:t>
            </a:r>
          </a:p>
          <a:p>
            <a:r>
              <a:rPr lang="en-IN" sz="26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A43AFF-7DB7-4672-880E-2E8807C8D3AB}"/>
              </a:ext>
            </a:extLst>
          </p:cNvPr>
          <p:cNvSpPr txBox="1"/>
          <p:nvPr/>
        </p:nvSpPr>
        <p:spPr>
          <a:xfrm>
            <a:off x="2701365" y="1194990"/>
            <a:ext cx="3081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4</a:t>
            </a:r>
          </a:p>
          <a:p>
            <a:r>
              <a:rPr lang="en-IN" sz="2600" dirty="0"/>
              <a:t>3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/>
              <a:t>4</a:t>
            </a:r>
          </a:p>
          <a:p>
            <a:r>
              <a:rPr lang="en-IN" sz="2600" dirty="0"/>
              <a:t>2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/>
              <a:t>3</a:t>
            </a:r>
          </a:p>
          <a:p>
            <a:r>
              <a:rPr lang="en-IN" sz="2600" dirty="0"/>
              <a:t>2</a:t>
            </a:r>
          </a:p>
          <a:p>
            <a:endParaRPr lang="en-IN" sz="2600" dirty="0"/>
          </a:p>
          <a:p>
            <a:endParaRPr lang="en-IN" sz="2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7C337E-7BC9-4C76-B5C7-ECED7BFBB21F}"/>
              </a:ext>
            </a:extLst>
          </p:cNvPr>
          <p:cNvSpPr txBox="1"/>
          <p:nvPr/>
        </p:nvSpPr>
        <p:spPr>
          <a:xfrm>
            <a:off x="3346175" y="1408242"/>
            <a:ext cx="103698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1234</a:t>
            </a:r>
          </a:p>
          <a:p>
            <a:pPr algn="ctr"/>
            <a:r>
              <a:rPr lang="en-IN" sz="2600" dirty="0"/>
              <a:t>1243</a:t>
            </a:r>
          </a:p>
          <a:p>
            <a:pPr algn="ctr"/>
            <a:r>
              <a:rPr lang="en-IN" sz="2600" dirty="0"/>
              <a:t>1324</a:t>
            </a:r>
          </a:p>
          <a:p>
            <a:pPr algn="ctr"/>
            <a:r>
              <a:rPr lang="en-IN" sz="2600" dirty="0"/>
              <a:t>1342</a:t>
            </a:r>
          </a:p>
          <a:p>
            <a:pPr algn="ctr"/>
            <a:r>
              <a:rPr lang="en-IN" sz="2600" dirty="0"/>
              <a:t>1423</a:t>
            </a:r>
          </a:p>
          <a:p>
            <a:pPr algn="ctr"/>
            <a:r>
              <a:rPr lang="en-IN" sz="2600" dirty="0"/>
              <a:t>1432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2D0A718-D008-4448-8F0A-B9145929AF72}"/>
              </a:ext>
            </a:extLst>
          </p:cNvPr>
          <p:cNvCxnSpPr>
            <a:stCxn id="68" idx="3"/>
          </p:cNvCxnSpPr>
          <p:nvPr/>
        </p:nvCxnSpPr>
        <p:spPr>
          <a:xfrm flipV="1">
            <a:off x="526353" y="2453748"/>
            <a:ext cx="458856" cy="74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393D1A5-89CF-4C79-B8C2-BC71A6D310EB}"/>
              </a:ext>
            </a:extLst>
          </p:cNvPr>
          <p:cNvCxnSpPr>
            <a:cxnSpLocks/>
          </p:cNvCxnSpPr>
          <p:nvPr/>
        </p:nvCxnSpPr>
        <p:spPr>
          <a:xfrm flipV="1">
            <a:off x="1316513" y="1618861"/>
            <a:ext cx="483703" cy="64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1F0118-DD27-4063-8D10-A6DB997D7D3C}"/>
              </a:ext>
            </a:extLst>
          </p:cNvPr>
          <p:cNvCxnSpPr>
            <a:cxnSpLocks/>
          </p:cNvCxnSpPr>
          <p:nvPr/>
        </p:nvCxnSpPr>
        <p:spPr>
          <a:xfrm flipV="1">
            <a:off x="2108330" y="1455368"/>
            <a:ext cx="593035" cy="88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EFFE365-BED4-4478-86AD-0C7156E17FA1}"/>
              </a:ext>
            </a:extLst>
          </p:cNvPr>
          <p:cNvCxnSpPr>
            <a:cxnSpLocks/>
          </p:cNvCxnSpPr>
          <p:nvPr/>
        </p:nvCxnSpPr>
        <p:spPr>
          <a:xfrm>
            <a:off x="2181217" y="1804242"/>
            <a:ext cx="520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86CC137-AA15-41F2-B422-717529C37FA5}"/>
              </a:ext>
            </a:extLst>
          </p:cNvPr>
          <p:cNvCxnSpPr>
            <a:cxnSpLocks/>
          </p:cNvCxnSpPr>
          <p:nvPr/>
        </p:nvCxnSpPr>
        <p:spPr>
          <a:xfrm flipV="1">
            <a:off x="1347989" y="1939698"/>
            <a:ext cx="494471" cy="320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47CA005-34E0-49A8-9BDF-F89E44A7D45D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507301" y="3128556"/>
            <a:ext cx="477908" cy="103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BDEE4C-230E-4C6B-98D4-30E6D93B27B1}"/>
              </a:ext>
            </a:extLst>
          </p:cNvPr>
          <p:cNvCxnSpPr>
            <a:cxnSpLocks/>
          </p:cNvCxnSpPr>
          <p:nvPr/>
        </p:nvCxnSpPr>
        <p:spPr>
          <a:xfrm flipV="1">
            <a:off x="1274271" y="2685661"/>
            <a:ext cx="525945" cy="37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263426F-D741-4E3C-B0E1-F8FBBE200624}"/>
              </a:ext>
            </a:extLst>
          </p:cNvPr>
          <p:cNvCxnSpPr>
            <a:cxnSpLocks/>
          </p:cNvCxnSpPr>
          <p:nvPr/>
        </p:nvCxnSpPr>
        <p:spPr>
          <a:xfrm>
            <a:off x="2044136" y="2685662"/>
            <a:ext cx="811286" cy="26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B29937E-1D49-4123-B0D6-E6E236610488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1293323" y="3006498"/>
            <a:ext cx="549137" cy="122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CC567D4-518E-4D88-8E7B-4B647059FF84}"/>
              </a:ext>
            </a:extLst>
          </p:cNvPr>
          <p:cNvCxnSpPr>
            <a:cxnSpLocks/>
          </p:cNvCxnSpPr>
          <p:nvPr/>
        </p:nvCxnSpPr>
        <p:spPr>
          <a:xfrm flipV="1">
            <a:off x="1326455" y="3844701"/>
            <a:ext cx="549137" cy="122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D01F2B9-BA42-4262-A583-4C68A6805FBD}"/>
              </a:ext>
            </a:extLst>
          </p:cNvPr>
          <p:cNvCxnSpPr>
            <a:cxnSpLocks/>
          </p:cNvCxnSpPr>
          <p:nvPr/>
        </p:nvCxnSpPr>
        <p:spPr>
          <a:xfrm>
            <a:off x="1347989" y="3966759"/>
            <a:ext cx="527603" cy="208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7F74310-D641-4D94-B9F0-C3B9FF7E9652}"/>
              </a:ext>
            </a:extLst>
          </p:cNvPr>
          <p:cNvCxnSpPr>
            <a:cxnSpLocks/>
          </p:cNvCxnSpPr>
          <p:nvPr/>
        </p:nvCxnSpPr>
        <p:spPr>
          <a:xfrm>
            <a:off x="2153883" y="4302015"/>
            <a:ext cx="527603" cy="208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2BAECE6-E58D-414A-B820-6BE893799173}"/>
              </a:ext>
            </a:extLst>
          </p:cNvPr>
          <p:cNvCxnSpPr>
            <a:cxnSpLocks/>
          </p:cNvCxnSpPr>
          <p:nvPr/>
        </p:nvCxnSpPr>
        <p:spPr>
          <a:xfrm>
            <a:off x="2128209" y="4302015"/>
            <a:ext cx="598830" cy="60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38CCFDE-53BC-42BC-AF62-813711335716}"/>
              </a:ext>
            </a:extLst>
          </p:cNvPr>
          <p:cNvCxnSpPr>
            <a:cxnSpLocks/>
          </p:cNvCxnSpPr>
          <p:nvPr/>
        </p:nvCxnSpPr>
        <p:spPr>
          <a:xfrm>
            <a:off x="2141876" y="3067527"/>
            <a:ext cx="585163" cy="380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ED38957-9752-4245-AB02-BE7A619B21EB}"/>
              </a:ext>
            </a:extLst>
          </p:cNvPr>
          <p:cNvCxnSpPr>
            <a:cxnSpLocks/>
          </p:cNvCxnSpPr>
          <p:nvPr/>
        </p:nvCxnSpPr>
        <p:spPr>
          <a:xfrm>
            <a:off x="526353" y="3365460"/>
            <a:ext cx="573988" cy="474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72FBE87-1423-47DE-B138-67AA9CB024B4}"/>
              </a:ext>
            </a:extLst>
          </p:cNvPr>
          <p:cNvSpPr txBox="1"/>
          <p:nvPr/>
        </p:nvSpPr>
        <p:spPr>
          <a:xfrm>
            <a:off x="4422914" y="1381740"/>
            <a:ext cx="156044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Similarly</a:t>
            </a:r>
          </a:p>
          <a:p>
            <a:pPr algn="ctr"/>
            <a:r>
              <a:rPr lang="en-IN" sz="2600" dirty="0"/>
              <a:t>2134</a:t>
            </a:r>
          </a:p>
          <a:p>
            <a:pPr algn="ctr"/>
            <a:r>
              <a:rPr lang="en-IN" sz="2600" dirty="0"/>
              <a:t>2143</a:t>
            </a:r>
          </a:p>
          <a:p>
            <a:pPr algn="ctr"/>
            <a:r>
              <a:rPr lang="en-IN" sz="2600" dirty="0"/>
              <a:t>2314</a:t>
            </a:r>
          </a:p>
          <a:p>
            <a:pPr algn="ctr"/>
            <a:r>
              <a:rPr lang="en-IN" sz="2600" dirty="0"/>
              <a:t>2341</a:t>
            </a:r>
          </a:p>
          <a:p>
            <a:pPr algn="ctr"/>
            <a:r>
              <a:rPr lang="en-IN" sz="2600" dirty="0"/>
              <a:t>2431</a:t>
            </a:r>
          </a:p>
          <a:p>
            <a:pPr algn="ctr"/>
            <a:r>
              <a:rPr lang="en-IN" sz="2600" dirty="0"/>
              <a:t>2413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B009894-4531-48CB-8A5D-3954DDDFF9D2}"/>
              </a:ext>
            </a:extLst>
          </p:cNvPr>
          <p:cNvSpPr txBox="1"/>
          <p:nvPr/>
        </p:nvSpPr>
        <p:spPr>
          <a:xfrm>
            <a:off x="5938631" y="1391878"/>
            <a:ext cx="156044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Similarly</a:t>
            </a:r>
          </a:p>
          <a:p>
            <a:pPr algn="ctr"/>
            <a:r>
              <a:rPr lang="en-IN" sz="2600" dirty="0"/>
              <a:t>3124</a:t>
            </a:r>
          </a:p>
          <a:p>
            <a:pPr algn="ctr"/>
            <a:r>
              <a:rPr lang="en-IN" sz="2600" dirty="0"/>
              <a:t>3142</a:t>
            </a:r>
          </a:p>
          <a:p>
            <a:pPr algn="ctr"/>
            <a:r>
              <a:rPr lang="en-IN" sz="2600" dirty="0"/>
              <a:t>3214</a:t>
            </a:r>
          </a:p>
          <a:p>
            <a:pPr algn="ctr"/>
            <a:r>
              <a:rPr lang="en-IN" sz="2600" dirty="0"/>
              <a:t>3241</a:t>
            </a:r>
          </a:p>
          <a:p>
            <a:pPr algn="ctr"/>
            <a:r>
              <a:rPr lang="en-IN" sz="2600" dirty="0"/>
              <a:t>3412</a:t>
            </a:r>
          </a:p>
          <a:p>
            <a:pPr algn="ctr"/>
            <a:r>
              <a:rPr lang="en-IN" sz="2600" dirty="0"/>
              <a:t>3421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9BB23AF-E89D-45E0-B1FF-3B237E04F722}"/>
              </a:ext>
            </a:extLst>
          </p:cNvPr>
          <p:cNvSpPr txBox="1"/>
          <p:nvPr/>
        </p:nvSpPr>
        <p:spPr>
          <a:xfrm>
            <a:off x="7341705" y="1361886"/>
            <a:ext cx="156044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Similarly</a:t>
            </a:r>
          </a:p>
          <a:p>
            <a:pPr algn="ctr"/>
            <a:r>
              <a:rPr lang="en-IN" sz="2600" dirty="0"/>
              <a:t>4123</a:t>
            </a:r>
          </a:p>
          <a:p>
            <a:pPr algn="ctr"/>
            <a:r>
              <a:rPr lang="en-IN" sz="2600" dirty="0"/>
              <a:t>4132</a:t>
            </a:r>
          </a:p>
          <a:p>
            <a:pPr algn="ctr"/>
            <a:r>
              <a:rPr lang="en-IN" sz="2600" dirty="0"/>
              <a:t>4213</a:t>
            </a:r>
          </a:p>
          <a:p>
            <a:pPr algn="ctr"/>
            <a:r>
              <a:rPr lang="en-IN" sz="2600" dirty="0"/>
              <a:t>4231</a:t>
            </a:r>
          </a:p>
          <a:p>
            <a:pPr algn="ctr"/>
            <a:r>
              <a:rPr lang="en-IN" sz="2600" dirty="0"/>
              <a:t>4321</a:t>
            </a:r>
          </a:p>
          <a:p>
            <a:pPr algn="ctr"/>
            <a:r>
              <a:rPr lang="en-IN" sz="2600" dirty="0"/>
              <a:t>4312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C89D9A9-E912-407E-9F53-FDD6E3EAD64E}"/>
              </a:ext>
            </a:extLst>
          </p:cNvPr>
          <p:cNvSpPr txBox="1"/>
          <p:nvPr/>
        </p:nvSpPr>
        <p:spPr>
          <a:xfrm>
            <a:off x="856423" y="5332954"/>
            <a:ext cx="6677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4choices,3 choices, 2 Choices, 1 Choice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9877C6A-6A61-48C2-9A39-CE8F778230A9}"/>
                  </a:ext>
                </a:extLst>
              </p:cNvPr>
              <p:cNvSpPr txBox="1"/>
              <p:nvPr/>
            </p:nvSpPr>
            <p:spPr>
              <a:xfrm>
                <a:off x="211613" y="5740501"/>
                <a:ext cx="667728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"/>
                          <m:ctrlPr>
                            <a:rPr lang="en-IN" sz="2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IN" sz="2600" b="1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9877C6A-6A61-48C2-9A39-CE8F77823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13" y="5740501"/>
                <a:ext cx="667728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00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3C597E-F949-4E3F-A677-08E1EF6A27D8}"/>
                  </a:ext>
                </a:extLst>
              </p:cNvPr>
              <p:cNvSpPr txBox="1"/>
              <p:nvPr/>
            </p:nvSpPr>
            <p:spPr>
              <a:xfrm>
                <a:off x="788639" y="1525305"/>
                <a:ext cx="7315200" cy="729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⌊"/>
                            <m:endChr m:val=""/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4∗3∗2∗1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3∗2∗1</m:t>
                    </m:r>
                  </m:oMath>
                </a14:m>
                <a:r>
                  <a:rPr lang="en-IN" sz="2800" b="0" dirty="0"/>
                  <a:t> = 6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3C597E-F949-4E3F-A677-08E1EF6A2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39" y="1525305"/>
                <a:ext cx="7315200" cy="729623"/>
              </a:xfrm>
              <a:prstGeom prst="rect">
                <a:avLst/>
              </a:prstGeom>
              <a:blipFill>
                <a:blip r:embed="rId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83EC8-A766-40E3-86F4-7E12AA049159}"/>
                  </a:ext>
                </a:extLst>
              </p:cNvPr>
              <p:cNvSpPr txBox="1"/>
              <p:nvPr/>
            </p:nvSpPr>
            <p:spPr>
              <a:xfrm>
                <a:off x="788639" y="2555965"/>
                <a:ext cx="7315200" cy="732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⌊"/>
                            <m:endChr m:val=""/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5∗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4∗3∗2∗1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=4∗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3∗2∗1</m:t>
                    </m:r>
                  </m:oMath>
                </a14:m>
                <a:r>
                  <a:rPr lang="en-IN" sz="2800" b="0" dirty="0"/>
                  <a:t> = 24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F83EC8-A766-40E3-86F4-7E12AA049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39" y="2555965"/>
                <a:ext cx="7315200" cy="732316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30FCD2-358A-41DE-83F4-0D18BB549CF9}"/>
                  </a:ext>
                </a:extLst>
              </p:cNvPr>
              <p:cNvSpPr txBox="1"/>
              <p:nvPr/>
            </p:nvSpPr>
            <p:spPr>
              <a:xfrm>
                <a:off x="914400" y="3803080"/>
                <a:ext cx="7315200" cy="923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⌊"/>
                              <m:endChr m:val=""/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7∗6∗5∗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4∗3∗2∗1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=720</m:t>
                      </m:r>
                    </m:oMath>
                  </m:oMathPara>
                </a14:m>
                <a:endParaRPr lang="en-IN" sz="2800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30FCD2-358A-41DE-83F4-0D18BB549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03080"/>
                <a:ext cx="7315200" cy="923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58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FDBF-203A-4401-9204-45190950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 Of the 3!= 6 permutations of three objects, the (3-1)!= 2 distinct circular permutations are {1,2,3} and {1,3,2}.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086BB5-BD4F-45FA-8ABE-4A25DE02E7BB}"/>
              </a:ext>
            </a:extLst>
          </p:cNvPr>
          <p:cNvGrpSpPr/>
          <p:nvPr/>
        </p:nvGrpSpPr>
        <p:grpSpPr>
          <a:xfrm>
            <a:off x="612910" y="3578221"/>
            <a:ext cx="1984517" cy="1729543"/>
            <a:chOff x="612910" y="3578221"/>
            <a:chExt cx="1984517" cy="17295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A78E968-2394-40BB-958A-0DB9B2BEF855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8F2FCF-B47D-45C8-8290-34A993E9B9AF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CEA032-E94C-49DC-A9BA-19DA6A9A8B5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8653AF-B8E7-4B0F-8C65-C94BED186F15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3056E-BE35-4840-B3F4-956A1469AA78}"/>
              </a:ext>
            </a:extLst>
          </p:cNvPr>
          <p:cNvGrpSpPr/>
          <p:nvPr/>
        </p:nvGrpSpPr>
        <p:grpSpPr>
          <a:xfrm>
            <a:off x="2727598" y="3578221"/>
            <a:ext cx="1984517" cy="1729543"/>
            <a:chOff x="612910" y="3578221"/>
            <a:chExt cx="1984517" cy="172954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51B50C-8F4D-4881-9CAE-27E7711F37E3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9B5610-8914-4BA8-8ABC-3A210D61BBF4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C5643D-4FD3-467C-8D9E-E3FE2F30B01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4EAA3E-512B-45E7-AEE5-70B7ADFFA644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634743-2CF0-4FAA-90D0-304182F1E83D}"/>
              </a:ext>
            </a:extLst>
          </p:cNvPr>
          <p:cNvGrpSpPr/>
          <p:nvPr/>
        </p:nvGrpSpPr>
        <p:grpSpPr>
          <a:xfrm>
            <a:off x="4812889" y="3578221"/>
            <a:ext cx="1984517" cy="1729543"/>
            <a:chOff x="612910" y="3578221"/>
            <a:chExt cx="1984517" cy="172954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82E5DF-2C57-487B-A0C1-FF35B6204A88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57258C-74F7-4E6D-ABF0-A2FD13B26C65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5AB9A5-3120-4F75-A03C-6F03EEC157E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B5E0C5-AF5B-4839-A441-375C35B63179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6E45A9F-819F-40E8-9303-3ABD69F2A562}"/>
              </a:ext>
            </a:extLst>
          </p:cNvPr>
          <p:cNvSpPr txBox="1"/>
          <p:nvPr/>
        </p:nvSpPr>
        <p:spPr>
          <a:xfrm>
            <a:off x="1727911" y="3661521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1ABE0C-AF3B-427C-947A-9FD1AAF8EAD3}"/>
              </a:ext>
            </a:extLst>
          </p:cNvPr>
          <p:cNvSpPr txBox="1"/>
          <p:nvPr/>
        </p:nvSpPr>
        <p:spPr>
          <a:xfrm>
            <a:off x="945712" y="366152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DBD08-C083-4094-94C1-01E27082EB66}"/>
              </a:ext>
            </a:extLst>
          </p:cNvPr>
          <p:cNvSpPr txBox="1"/>
          <p:nvPr/>
        </p:nvSpPr>
        <p:spPr>
          <a:xfrm>
            <a:off x="4021971" y="4989779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8983D-BD0D-4F2C-82F8-E580DC861A54}"/>
              </a:ext>
            </a:extLst>
          </p:cNvPr>
          <p:cNvSpPr txBox="1"/>
          <p:nvPr/>
        </p:nvSpPr>
        <p:spPr>
          <a:xfrm>
            <a:off x="4204261" y="409920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B29F07-15AB-40A0-81D4-4A11C553D169}"/>
              </a:ext>
            </a:extLst>
          </p:cNvPr>
          <p:cNvSpPr txBox="1"/>
          <p:nvPr/>
        </p:nvSpPr>
        <p:spPr>
          <a:xfrm>
            <a:off x="4832045" y="4070115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53F8B0-A6C9-4811-AE5B-C803913B28A6}"/>
              </a:ext>
            </a:extLst>
          </p:cNvPr>
          <p:cNvSpPr txBox="1"/>
          <p:nvPr/>
        </p:nvSpPr>
        <p:spPr>
          <a:xfrm>
            <a:off x="5006912" y="498978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62C5D-DF55-4C8A-8C25-6DA03FBBF509}"/>
              </a:ext>
            </a:extLst>
          </p:cNvPr>
          <p:cNvSpPr txBox="1"/>
          <p:nvPr/>
        </p:nvSpPr>
        <p:spPr>
          <a:xfrm>
            <a:off x="2485059" y="4153963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8A8458-4296-43E6-9C3F-C8CFB62C3305}"/>
              </a:ext>
            </a:extLst>
          </p:cNvPr>
          <p:cNvSpPr txBox="1"/>
          <p:nvPr/>
        </p:nvSpPr>
        <p:spPr>
          <a:xfrm>
            <a:off x="4594910" y="4338179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667ED-6335-48E9-8516-D29027CABB15}"/>
              </a:ext>
            </a:extLst>
          </p:cNvPr>
          <p:cNvSpPr txBox="1"/>
          <p:nvPr/>
        </p:nvSpPr>
        <p:spPr>
          <a:xfrm>
            <a:off x="7572170" y="2715898"/>
            <a:ext cx="6838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rgbClr val="00B6CC"/>
                </a:solidFill>
              </a:rPr>
              <a:t>123</a:t>
            </a:r>
          </a:p>
          <a:p>
            <a:r>
              <a:rPr lang="en-IN" sz="2600" dirty="0">
                <a:solidFill>
                  <a:srgbClr val="00B050"/>
                </a:solidFill>
              </a:rPr>
              <a:t>132</a:t>
            </a:r>
          </a:p>
          <a:p>
            <a:endParaRPr lang="en-IN" sz="2600" dirty="0"/>
          </a:p>
          <a:p>
            <a:r>
              <a:rPr lang="en-IN" sz="2600" dirty="0">
                <a:solidFill>
                  <a:srgbClr val="00B050"/>
                </a:solidFill>
              </a:rPr>
              <a:t>213</a:t>
            </a:r>
          </a:p>
          <a:p>
            <a:r>
              <a:rPr lang="en-IN" sz="2600" dirty="0">
                <a:solidFill>
                  <a:srgbClr val="00B6CC"/>
                </a:solidFill>
              </a:rPr>
              <a:t>231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>
                <a:solidFill>
                  <a:srgbClr val="00B6CC"/>
                </a:solidFill>
              </a:rPr>
              <a:t>312</a:t>
            </a:r>
          </a:p>
          <a:p>
            <a:r>
              <a:rPr lang="en-IN" sz="2600" dirty="0">
                <a:solidFill>
                  <a:srgbClr val="00B050"/>
                </a:solidFill>
              </a:rPr>
              <a:t>321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A4C85C-136D-4ED1-B9C7-A5241C6F3AF1}"/>
                  </a:ext>
                </a:extLst>
              </p:cNvPr>
              <p:cNvSpPr txBox="1"/>
              <p:nvPr/>
            </p:nvSpPr>
            <p:spPr>
              <a:xfrm>
                <a:off x="993912" y="5776355"/>
                <a:ext cx="73152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⌊"/>
                            <m:endChr m:val=""/>
                            <m:ctrlPr>
                              <a:rPr lang="en-IN" sz="2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num>
                      <m:den>
                        <m:r>
                          <a:rPr lang="en-IN" sz="2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sz="2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sz="2600" b="1" dirty="0"/>
                  <a:t>=2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A4C85C-136D-4ED1-B9C7-A5241C6F3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2" y="5776355"/>
                <a:ext cx="7315200" cy="693588"/>
              </a:xfrm>
              <a:prstGeom prst="rect">
                <a:avLst/>
              </a:prstGeom>
              <a:blipFill>
                <a:blip r:embed="rId2"/>
                <a:stretch>
                  <a:fillRect b="-6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91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086BB5-BD4F-45FA-8ABE-4A25DE02E7BB}"/>
              </a:ext>
            </a:extLst>
          </p:cNvPr>
          <p:cNvGrpSpPr/>
          <p:nvPr/>
        </p:nvGrpSpPr>
        <p:grpSpPr>
          <a:xfrm>
            <a:off x="612910" y="3578221"/>
            <a:ext cx="1984517" cy="1729543"/>
            <a:chOff x="612910" y="3578221"/>
            <a:chExt cx="1984517" cy="17295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A78E968-2394-40BB-958A-0DB9B2BEF855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B6CC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8F2FCF-B47D-45C8-8290-34A993E9B9AF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CEA032-E94C-49DC-A9BA-19DA6A9A8B5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8653AF-B8E7-4B0F-8C65-C94BED186F15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3056E-BE35-4840-B3F4-956A1469AA78}"/>
              </a:ext>
            </a:extLst>
          </p:cNvPr>
          <p:cNvGrpSpPr/>
          <p:nvPr/>
        </p:nvGrpSpPr>
        <p:grpSpPr>
          <a:xfrm>
            <a:off x="2727598" y="3578221"/>
            <a:ext cx="1984517" cy="1729543"/>
            <a:chOff x="612910" y="3578221"/>
            <a:chExt cx="1984517" cy="172954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51B50C-8F4D-4881-9CAE-27E7711F37E3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9B5610-8914-4BA8-8ABC-3A210D61BBF4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C5643D-4FD3-467C-8D9E-E3FE2F30B01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4EAA3E-512B-45E7-AEE5-70B7ADFFA644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634743-2CF0-4FAA-90D0-304182F1E83D}"/>
              </a:ext>
            </a:extLst>
          </p:cNvPr>
          <p:cNvGrpSpPr/>
          <p:nvPr/>
        </p:nvGrpSpPr>
        <p:grpSpPr>
          <a:xfrm>
            <a:off x="4812889" y="3578221"/>
            <a:ext cx="1984517" cy="1729543"/>
            <a:chOff x="612910" y="3578221"/>
            <a:chExt cx="1984517" cy="172954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82E5DF-2C57-487B-A0C1-FF35B6204A88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57258C-74F7-4E6D-ABF0-A2FD13B26C65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5AB9A5-3120-4F75-A03C-6F03EEC157EB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B5E0C5-AF5B-4839-A441-375C35B63179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6E45A9F-819F-40E8-9303-3ABD69F2A562}"/>
              </a:ext>
            </a:extLst>
          </p:cNvPr>
          <p:cNvSpPr txBox="1"/>
          <p:nvPr/>
        </p:nvSpPr>
        <p:spPr>
          <a:xfrm>
            <a:off x="1727911" y="3661521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1ABE0C-AF3B-427C-947A-9FD1AAF8EAD3}"/>
              </a:ext>
            </a:extLst>
          </p:cNvPr>
          <p:cNvSpPr txBox="1"/>
          <p:nvPr/>
        </p:nvSpPr>
        <p:spPr>
          <a:xfrm>
            <a:off x="945712" y="366152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DBD08-C083-4094-94C1-01E27082EB66}"/>
              </a:ext>
            </a:extLst>
          </p:cNvPr>
          <p:cNvSpPr txBox="1"/>
          <p:nvPr/>
        </p:nvSpPr>
        <p:spPr>
          <a:xfrm>
            <a:off x="4021971" y="4989779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8983D-BD0D-4F2C-82F8-E580DC861A54}"/>
              </a:ext>
            </a:extLst>
          </p:cNvPr>
          <p:cNvSpPr txBox="1"/>
          <p:nvPr/>
        </p:nvSpPr>
        <p:spPr>
          <a:xfrm>
            <a:off x="4204261" y="409920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B29F07-15AB-40A0-81D4-4A11C553D169}"/>
              </a:ext>
            </a:extLst>
          </p:cNvPr>
          <p:cNvSpPr txBox="1"/>
          <p:nvPr/>
        </p:nvSpPr>
        <p:spPr>
          <a:xfrm>
            <a:off x="4832045" y="4070115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53F8B0-A6C9-4811-AE5B-C803913B28A6}"/>
              </a:ext>
            </a:extLst>
          </p:cNvPr>
          <p:cNvSpPr txBox="1"/>
          <p:nvPr/>
        </p:nvSpPr>
        <p:spPr>
          <a:xfrm>
            <a:off x="5006912" y="498978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62C5D-DF55-4C8A-8C25-6DA03FBBF509}"/>
              </a:ext>
            </a:extLst>
          </p:cNvPr>
          <p:cNvSpPr txBox="1"/>
          <p:nvPr/>
        </p:nvSpPr>
        <p:spPr>
          <a:xfrm>
            <a:off x="2485059" y="4153963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8A8458-4296-43E6-9C3F-C8CFB62C3305}"/>
              </a:ext>
            </a:extLst>
          </p:cNvPr>
          <p:cNvSpPr txBox="1"/>
          <p:nvPr/>
        </p:nvSpPr>
        <p:spPr>
          <a:xfrm>
            <a:off x="4594910" y="4338179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667ED-6335-48E9-8516-D29027CABB15}"/>
              </a:ext>
            </a:extLst>
          </p:cNvPr>
          <p:cNvSpPr txBox="1"/>
          <p:nvPr/>
        </p:nvSpPr>
        <p:spPr>
          <a:xfrm>
            <a:off x="7514472" y="1673363"/>
            <a:ext cx="6838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rgbClr val="FF0000"/>
                </a:solidFill>
              </a:rPr>
              <a:t>123</a:t>
            </a:r>
          </a:p>
          <a:p>
            <a:r>
              <a:rPr lang="en-IN" sz="2600" dirty="0">
                <a:solidFill>
                  <a:srgbClr val="FF0000"/>
                </a:solidFill>
              </a:rPr>
              <a:t>231</a:t>
            </a:r>
            <a:endParaRPr lang="en-IN" sz="2600" dirty="0"/>
          </a:p>
          <a:p>
            <a:r>
              <a:rPr lang="en-IN" sz="2600" dirty="0">
                <a:solidFill>
                  <a:srgbClr val="FF0000"/>
                </a:solidFill>
              </a:rPr>
              <a:t>312</a:t>
            </a:r>
          </a:p>
          <a:p>
            <a:endParaRPr lang="en-IN" sz="2600" dirty="0">
              <a:solidFill>
                <a:srgbClr val="FF0000"/>
              </a:solidFill>
            </a:endParaRPr>
          </a:p>
          <a:p>
            <a:endParaRPr lang="en-IN" sz="2600" dirty="0">
              <a:solidFill>
                <a:srgbClr val="FF0000"/>
              </a:solidFill>
            </a:endParaRPr>
          </a:p>
          <a:p>
            <a:endParaRPr lang="en-IN" sz="2600" dirty="0">
              <a:solidFill>
                <a:srgbClr val="FF0000"/>
              </a:solidFill>
            </a:endParaRPr>
          </a:p>
          <a:p>
            <a:r>
              <a:rPr lang="en-IN" sz="2600" dirty="0">
                <a:solidFill>
                  <a:srgbClr val="00B050"/>
                </a:solidFill>
              </a:rPr>
              <a:t>132</a:t>
            </a:r>
            <a:endParaRPr lang="en-IN" sz="2600" dirty="0"/>
          </a:p>
          <a:p>
            <a:r>
              <a:rPr lang="en-IN" sz="2600" dirty="0">
                <a:solidFill>
                  <a:srgbClr val="00B050"/>
                </a:solidFill>
              </a:rPr>
              <a:t>213</a:t>
            </a:r>
            <a:endParaRPr lang="en-IN" sz="2600" dirty="0">
              <a:solidFill>
                <a:srgbClr val="FF0000"/>
              </a:solidFill>
            </a:endParaRPr>
          </a:p>
          <a:p>
            <a:r>
              <a:rPr lang="en-IN" sz="2600" dirty="0">
                <a:solidFill>
                  <a:srgbClr val="00B050"/>
                </a:solidFill>
              </a:rPr>
              <a:t>321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A4C85C-136D-4ED1-B9C7-A5241C6F3AF1}"/>
                  </a:ext>
                </a:extLst>
              </p:cNvPr>
              <p:cNvSpPr txBox="1"/>
              <p:nvPr/>
            </p:nvSpPr>
            <p:spPr>
              <a:xfrm>
                <a:off x="993912" y="5776355"/>
                <a:ext cx="7315200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⌊"/>
                            <m:endChr m:val=""/>
                            <m:ctrlPr>
                              <a:rPr lang="en-IN" sz="2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num>
                      <m:den>
                        <m:r>
                          <a:rPr lang="en-IN" sz="2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sz="2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IN" sz="2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sz="2600" b="1" dirty="0"/>
                  <a:t>=2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A4C85C-136D-4ED1-B9C7-A5241C6F3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2" y="5776355"/>
                <a:ext cx="7315200" cy="693588"/>
              </a:xfrm>
              <a:prstGeom prst="rect">
                <a:avLst/>
              </a:prstGeom>
              <a:blipFill>
                <a:blip r:embed="rId2"/>
                <a:stretch>
                  <a:fillRect b="-6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07131DD-BA90-4767-A566-31F03BDF5464}"/>
              </a:ext>
            </a:extLst>
          </p:cNvPr>
          <p:cNvGrpSpPr/>
          <p:nvPr/>
        </p:nvGrpSpPr>
        <p:grpSpPr>
          <a:xfrm>
            <a:off x="477077" y="1265724"/>
            <a:ext cx="1984517" cy="1729543"/>
            <a:chOff x="612910" y="3578221"/>
            <a:chExt cx="1984517" cy="172954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4062EB1-2517-457D-9B08-90F671711A6F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36F605-CB02-4B28-A366-667FEC0BDDD7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CF9406-F513-4EE1-9B40-E42F8DAC1609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8BD9C0E-9240-48F7-AE6B-60C1B2483A02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12A880-6CA2-4A59-A522-25146A6E48D4}"/>
              </a:ext>
            </a:extLst>
          </p:cNvPr>
          <p:cNvGrpSpPr/>
          <p:nvPr/>
        </p:nvGrpSpPr>
        <p:grpSpPr>
          <a:xfrm>
            <a:off x="2591765" y="1265724"/>
            <a:ext cx="1984517" cy="1729543"/>
            <a:chOff x="612910" y="3578221"/>
            <a:chExt cx="1984517" cy="172954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370AEC4-1F61-47D2-BAD3-53DC0711A4B9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8F9753-9B87-45D0-9D03-626715DF6EE0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122AB79-52BB-4B09-B8E4-59AECDA56C49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A1E3DD-84C3-47FF-9030-C1D5AABA6B6A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05CD39-2499-43C1-A897-9D862CD17BCA}"/>
              </a:ext>
            </a:extLst>
          </p:cNvPr>
          <p:cNvGrpSpPr/>
          <p:nvPr/>
        </p:nvGrpSpPr>
        <p:grpSpPr>
          <a:xfrm>
            <a:off x="4677056" y="1265724"/>
            <a:ext cx="1984517" cy="1729543"/>
            <a:chOff x="612910" y="3578221"/>
            <a:chExt cx="1984517" cy="172954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191AEF9-6942-4509-A63D-E50423084A3A}"/>
                </a:ext>
              </a:extLst>
            </p:cNvPr>
            <p:cNvSpPr/>
            <p:nvPr/>
          </p:nvSpPr>
          <p:spPr>
            <a:xfrm>
              <a:off x="993912" y="3985860"/>
              <a:ext cx="1222513" cy="132190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FCD84B-12B6-4BB3-95A9-31A5D0680253}"/>
                </a:ext>
              </a:extLst>
            </p:cNvPr>
            <p:cNvSpPr txBox="1"/>
            <p:nvPr/>
          </p:nvSpPr>
          <p:spPr>
            <a:xfrm>
              <a:off x="1292087" y="3578221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D13CD5A-C2DF-44AD-93AF-8CDB2C0FA9F2}"/>
                </a:ext>
              </a:extLst>
            </p:cNvPr>
            <p:cNvSpPr txBox="1"/>
            <p:nvPr/>
          </p:nvSpPr>
          <p:spPr>
            <a:xfrm>
              <a:off x="2060713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B60040B-EC40-4CDE-9302-FAF4BDC3E82D}"/>
                </a:ext>
              </a:extLst>
            </p:cNvPr>
            <p:cNvSpPr txBox="1"/>
            <p:nvPr/>
          </p:nvSpPr>
          <p:spPr>
            <a:xfrm>
              <a:off x="612910" y="4646812"/>
              <a:ext cx="5367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600" dirty="0"/>
                <a:t>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71E1DC5-B994-4283-BA68-CF6651DC4771}"/>
              </a:ext>
            </a:extLst>
          </p:cNvPr>
          <p:cNvSpPr txBox="1"/>
          <p:nvPr/>
        </p:nvSpPr>
        <p:spPr>
          <a:xfrm>
            <a:off x="1592078" y="1349024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B88338-0FB1-4935-B107-2CEC900300A9}"/>
              </a:ext>
            </a:extLst>
          </p:cNvPr>
          <p:cNvSpPr txBox="1"/>
          <p:nvPr/>
        </p:nvSpPr>
        <p:spPr>
          <a:xfrm>
            <a:off x="809879" y="134902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504DEC-F5DB-43DC-89D7-5DA8EDE1F7B8}"/>
              </a:ext>
            </a:extLst>
          </p:cNvPr>
          <p:cNvSpPr txBox="1"/>
          <p:nvPr/>
        </p:nvSpPr>
        <p:spPr>
          <a:xfrm>
            <a:off x="3886138" y="2677282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FF4FDF-E031-4831-A475-B1EFDB6AAD47}"/>
              </a:ext>
            </a:extLst>
          </p:cNvPr>
          <p:cNvSpPr txBox="1"/>
          <p:nvPr/>
        </p:nvSpPr>
        <p:spPr>
          <a:xfrm>
            <a:off x="4068428" y="1786709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D909A7-3FCD-42E3-92CB-A16EFE26F222}"/>
              </a:ext>
            </a:extLst>
          </p:cNvPr>
          <p:cNvSpPr txBox="1"/>
          <p:nvPr/>
        </p:nvSpPr>
        <p:spPr>
          <a:xfrm>
            <a:off x="4696212" y="1757618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771202-78CF-4C5C-ADA7-EC8752491FF8}"/>
              </a:ext>
            </a:extLst>
          </p:cNvPr>
          <p:cNvSpPr txBox="1"/>
          <p:nvPr/>
        </p:nvSpPr>
        <p:spPr>
          <a:xfrm>
            <a:off x="4871079" y="267728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00B6CC"/>
                </a:solidFill>
              </a:rPr>
              <a:t>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6D790B-D728-4F96-8D00-83C3651D7117}"/>
              </a:ext>
            </a:extLst>
          </p:cNvPr>
          <p:cNvSpPr txBox="1"/>
          <p:nvPr/>
        </p:nvSpPr>
        <p:spPr>
          <a:xfrm>
            <a:off x="2349226" y="1841466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8831BD-47E1-4D04-920F-6E33A479071B}"/>
              </a:ext>
            </a:extLst>
          </p:cNvPr>
          <p:cNvSpPr txBox="1"/>
          <p:nvPr/>
        </p:nvSpPr>
        <p:spPr>
          <a:xfrm>
            <a:off x="4459077" y="2025682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4101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FDBF-203A-4401-9204-45190950A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53" y="1080001"/>
            <a:ext cx="8668441" cy="571193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different ways are there to seat four people around a circular table, where two seating's are considered the same when each person has the same left neighbor and the same right neighbor?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There are 4! = 24 ways to order the given four people for these seats.</a:t>
            </a:r>
          </a:p>
          <a:p>
            <a:pPr marL="0" indent="0">
              <a:buNone/>
            </a:pPr>
            <a:r>
              <a:rPr lang="en-US" dirty="0"/>
              <a:t>Because there are four ways to choose the person for seat 1, by the division rule there are "24" /4  = 6 different seating arrangements of four people around the circular table.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6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05BD5F-7DA6-45DB-8F1F-EF41AF7F73A0}"/>
              </a:ext>
            </a:extLst>
          </p:cNvPr>
          <p:cNvSpPr/>
          <p:nvPr/>
        </p:nvSpPr>
        <p:spPr>
          <a:xfrm>
            <a:off x="308115" y="1490869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38546-8D34-40A8-A09B-39ADFA392141}"/>
              </a:ext>
            </a:extLst>
          </p:cNvPr>
          <p:cNvSpPr txBox="1"/>
          <p:nvPr/>
        </p:nvSpPr>
        <p:spPr>
          <a:xfrm>
            <a:off x="606290" y="10832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ADF6A-F3F1-44A9-A839-F9FB2F16BD26}"/>
              </a:ext>
            </a:extLst>
          </p:cNvPr>
          <p:cNvSpPr txBox="1"/>
          <p:nvPr/>
        </p:nvSpPr>
        <p:spPr>
          <a:xfrm>
            <a:off x="1374916" y="1905599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A3FB0-ADCB-4D88-9CD4-F56341BE8103}"/>
              </a:ext>
            </a:extLst>
          </p:cNvPr>
          <p:cNvSpPr txBox="1"/>
          <p:nvPr/>
        </p:nvSpPr>
        <p:spPr>
          <a:xfrm>
            <a:off x="-72887" y="191567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2E827-5953-49C8-912C-3E2457B5A067}"/>
              </a:ext>
            </a:extLst>
          </p:cNvPr>
          <p:cNvSpPr txBox="1"/>
          <p:nvPr/>
        </p:nvSpPr>
        <p:spPr>
          <a:xfrm>
            <a:off x="651014" y="281277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5F8979-AABF-455A-9C22-196639C946C2}"/>
              </a:ext>
            </a:extLst>
          </p:cNvPr>
          <p:cNvSpPr/>
          <p:nvPr/>
        </p:nvSpPr>
        <p:spPr>
          <a:xfrm>
            <a:off x="2098818" y="1490869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49F2A-A19D-48AC-B987-3E8202C165FD}"/>
              </a:ext>
            </a:extLst>
          </p:cNvPr>
          <p:cNvSpPr txBox="1"/>
          <p:nvPr/>
        </p:nvSpPr>
        <p:spPr>
          <a:xfrm>
            <a:off x="2396993" y="10832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876A1-6E95-4539-A054-72F69FC6A023}"/>
              </a:ext>
            </a:extLst>
          </p:cNvPr>
          <p:cNvSpPr txBox="1"/>
          <p:nvPr/>
        </p:nvSpPr>
        <p:spPr>
          <a:xfrm>
            <a:off x="3165619" y="1905599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45812-795B-4230-874B-F1B368684BC0}"/>
              </a:ext>
            </a:extLst>
          </p:cNvPr>
          <p:cNvSpPr txBox="1"/>
          <p:nvPr/>
        </p:nvSpPr>
        <p:spPr>
          <a:xfrm>
            <a:off x="1717816" y="191567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D8347-301E-4F69-B02C-A53E1F81CFC2}"/>
              </a:ext>
            </a:extLst>
          </p:cNvPr>
          <p:cNvSpPr txBox="1"/>
          <p:nvPr/>
        </p:nvSpPr>
        <p:spPr>
          <a:xfrm>
            <a:off x="2441717" y="281277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794CE0-A933-47EC-9D48-87D1768D106B}"/>
              </a:ext>
            </a:extLst>
          </p:cNvPr>
          <p:cNvSpPr/>
          <p:nvPr/>
        </p:nvSpPr>
        <p:spPr>
          <a:xfrm>
            <a:off x="3869635" y="1454426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35FC7-F200-449D-9F9B-F79C1939A2ED}"/>
              </a:ext>
            </a:extLst>
          </p:cNvPr>
          <p:cNvSpPr txBox="1"/>
          <p:nvPr/>
        </p:nvSpPr>
        <p:spPr>
          <a:xfrm>
            <a:off x="4167810" y="1046787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73488-4DFF-47FF-8AA0-79CCA65917C2}"/>
              </a:ext>
            </a:extLst>
          </p:cNvPr>
          <p:cNvSpPr txBox="1"/>
          <p:nvPr/>
        </p:nvSpPr>
        <p:spPr>
          <a:xfrm>
            <a:off x="4936436" y="186915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5C5103-A745-4CB9-94A2-D89416D53E83}"/>
              </a:ext>
            </a:extLst>
          </p:cNvPr>
          <p:cNvSpPr txBox="1"/>
          <p:nvPr/>
        </p:nvSpPr>
        <p:spPr>
          <a:xfrm>
            <a:off x="3488633" y="18792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55663D-E4C9-4B23-964B-32676BE8D44A}"/>
              </a:ext>
            </a:extLst>
          </p:cNvPr>
          <p:cNvSpPr txBox="1"/>
          <p:nvPr/>
        </p:nvSpPr>
        <p:spPr>
          <a:xfrm>
            <a:off x="4212534" y="27763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EAB70B-840F-4B8A-89C5-11BD4EBC262D}"/>
              </a:ext>
            </a:extLst>
          </p:cNvPr>
          <p:cNvSpPr/>
          <p:nvPr/>
        </p:nvSpPr>
        <p:spPr>
          <a:xfrm>
            <a:off x="5660338" y="1454426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8072A1-FC01-4883-BE3F-DE4FC6EA9AB0}"/>
              </a:ext>
            </a:extLst>
          </p:cNvPr>
          <p:cNvSpPr txBox="1"/>
          <p:nvPr/>
        </p:nvSpPr>
        <p:spPr>
          <a:xfrm>
            <a:off x="5958513" y="1046787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66430E-6737-4425-8709-CBBD53A19BCC}"/>
              </a:ext>
            </a:extLst>
          </p:cNvPr>
          <p:cNvSpPr txBox="1"/>
          <p:nvPr/>
        </p:nvSpPr>
        <p:spPr>
          <a:xfrm>
            <a:off x="6727139" y="186915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2E299-E54E-4A08-BD71-7D7F1ED0A306}"/>
              </a:ext>
            </a:extLst>
          </p:cNvPr>
          <p:cNvSpPr txBox="1"/>
          <p:nvPr/>
        </p:nvSpPr>
        <p:spPr>
          <a:xfrm>
            <a:off x="5279336" y="18792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3D87F2-C307-40AF-81B2-F9DDF88A9214}"/>
              </a:ext>
            </a:extLst>
          </p:cNvPr>
          <p:cNvSpPr txBox="1"/>
          <p:nvPr/>
        </p:nvSpPr>
        <p:spPr>
          <a:xfrm>
            <a:off x="6003237" y="2776330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028884-8884-4C79-9688-C23B533264B0}"/>
              </a:ext>
            </a:extLst>
          </p:cNvPr>
          <p:cNvSpPr/>
          <p:nvPr/>
        </p:nvSpPr>
        <p:spPr>
          <a:xfrm>
            <a:off x="231916" y="4088292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38699F-E85A-4338-B536-D73AF8FB9B57}"/>
              </a:ext>
            </a:extLst>
          </p:cNvPr>
          <p:cNvSpPr txBox="1"/>
          <p:nvPr/>
        </p:nvSpPr>
        <p:spPr>
          <a:xfrm>
            <a:off x="530091" y="368065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E9525-518B-4A94-B927-0A0666370F64}"/>
              </a:ext>
            </a:extLst>
          </p:cNvPr>
          <p:cNvSpPr txBox="1"/>
          <p:nvPr/>
        </p:nvSpPr>
        <p:spPr>
          <a:xfrm>
            <a:off x="1298717" y="4503022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6222D2-0D3E-4629-A500-A98094E6EC4E}"/>
              </a:ext>
            </a:extLst>
          </p:cNvPr>
          <p:cNvSpPr txBox="1"/>
          <p:nvPr/>
        </p:nvSpPr>
        <p:spPr>
          <a:xfrm>
            <a:off x="-149086" y="451309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9F10FF-0BC8-4958-87AF-4FEF3BB48217}"/>
              </a:ext>
            </a:extLst>
          </p:cNvPr>
          <p:cNvSpPr txBox="1"/>
          <p:nvPr/>
        </p:nvSpPr>
        <p:spPr>
          <a:xfrm>
            <a:off x="574815" y="541019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F9EEB6-F80A-40CE-BF57-C755345E66F8}"/>
              </a:ext>
            </a:extLst>
          </p:cNvPr>
          <p:cNvSpPr/>
          <p:nvPr/>
        </p:nvSpPr>
        <p:spPr>
          <a:xfrm>
            <a:off x="2022619" y="4088292"/>
            <a:ext cx="1222513" cy="132190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6CC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DACA8-85C0-4A4D-86CE-5205DDBE601A}"/>
              </a:ext>
            </a:extLst>
          </p:cNvPr>
          <p:cNvSpPr txBox="1"/>
          <p:nvPr/>
        </p:nvSpPr>
        <p:spPr>
          <a:xfrm>
            <a:off x="2320794" y="3680653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8642A8-CB9E-4BB0-951C-71F8012A1535}"/>
              </a:ext>
            </a:extLst>
          </p:cNvPr>
          <p:cNvSpPr txBox="1"/>
          <p:nvPr/>
        </p:nvSpPr>
        <p:spPr>
          <a:xfrm>
            <a:off x="3089420" y="4503022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2910E8-2F5E-426D-B40A-6A04D096044A}"/>
              </a:ext>
            </a:extLst>
          </p:cNvPr>
          <p:cNvSpPr txBox="1"/>
          <p:nvPr/>
        </p:nvSpPr>
        <p:spPr>
          <a:xfrm>
            <a:off x="1641617" y="451309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24370-0EBF-4930-84DE-5341A2403FB8}"/>
              </a:ext>
            </a:extLst>
          </p:cNvPr>
          <p:cNvSpPr txBox="1"/>
          <p:nvPr/>
        </p:nvSpPr>
        <p:spPr>
          <a:xfrm>
            <a:off x="2365518" y="5410196"/>
            <a:ext cx="5367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D447B0-B230-4B5C-9F6D-81B8D6B2DFC1}"/>
              </a:ext>
            </a:extLst>
          </p:cNvPr>
          <p:cNvSpPr txBox="1"/>
          <p:nvPr/>
        </p:nvSpPr>
        <p:spPr>
          <a:xfrm>
            <a:off x="3637730" y="3589228"/>
            <a:ext cx="103698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rgbClr val="FF0000"/>
                </a:solidFill>
              </a:rPr>
              <a:t>1234</a:t>
            </a:r>
          </a:p>
          <a:p>
            <a:pPr algn="ctr"/>
            <a:r>
              <a:rPr lang="en-IN" sz="2600" dirty="0">
                <a:solidFill>
                  <a:srgbClr val="FF0000"/>
                </a:solidFill>
              </a:rPr>
              <a:t>1243</a:t>
            </a:r>
          </a:p>
          <a:p>
            <a:pPr algn="ctr"/>
            <a:r>
              <a:rPr lang="en-IN" sz="2600" dirty="0">
                <a:solidFill>
                  <a:srgbClr val="FF0000"/>
                </a:solidFill>
              </a:rPr>
              <a:t>1324</a:t>
            </a:r>
          </a:p>
          <a:p>
            <a:pPr algn="ctr"/>
            <a:r>
              <a:rPr lang="en-IN" sz="2600" dirty="0">
                <a:solidFill>
                  <a:srgbClr val="FF0000"/>
                </a:solidFill>
              </a:rPr>
              <a:t>1342</a:t>
            </a:r>
          </a:p>
          <a:p>
            <a:pPr algn="ctr"/>
            <a:r>
              <a:rPr lang="en-IN" sz="2600" dirty="0">
                <a:solidFill>
                  <a:srgbClr val="FF0000"/>
                </a:solidFill>
              </a:rPr>
              <a:t>1423</a:t>
            </a:r>
          </a:p>
          <a:p>
            <a:pPr algn="ctr"/>
            <a:r>
              <a:rPr lang="en-IN" sz="2600" dirty="0">
                <a:solidFill>
                  <a:srgbClr val="FF0000"/>
                </a:solidFill>
              </a:rPr>
              <a:t>1432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65F54F-A35A-4DFF-875E-7FF8EC566DAB}"/>
              </a:ext>
            </a:extLst>
          </p:cNvPr>
          <p:cNvSpPr txBox="1"/>
          <p:nvPr/>
        </p:nvSpPr>
        <p:spPr>
          <a:xfrm>
            <a:off x="4422913" y="3201134"/>
            <a:ext cx="185861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Repeated</a:t>
            </a:r>
          </a:p>
          <a:p>
            <a:pPr algn="ctr"/>
            <a:r>
              <a:rPr lang="en-IN" sz="2600" dirty="0"/>
              <a:t>2134</a:t>
            </a:r>
          </a:p>
          <a:p>
            <a:pPr algn="ctr"/>
            <a:r>
              <a:rPr lang="en-IN" sz="2600" dirty="0"/>
              <a:t>2143</a:t>
            </a:r>
          </a:p>
          <a:p>
            <a:pPr algn="ctr"/>
            <a:r>
              <a:rPr lang="en-IN" sz="2600" dirty="0"/>
              <a:t>2314</a:t>
            </a:r>
          </a:p>
          <a:p>
            <a:pPr algn="ctr"/>
            <a:r>
              <a:rPr lang="en-IN" sz="2600" dirty="0"/>
              <a:t>2341</a:t>
            </a:r>
          </a:p>
          <a:p>
            <a:pPr algn="ctr"/>
            <a:r>
              <a:rPr lang="en-IN" sz="2600" dirty="0"/>
              <a:t>2431</a:t>
            </a:r>
          </a:p>
          <a:p>
            <a:pPr algn="ctr"/>
            <a:r>
              <a:rPr lang="en-IN" sz="2600" dirty="0"/>
              <a:t>2413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0C754C-E07E-4AB5-9D10-52B0641CA480}"/>
              </a:ext>
            </a:extLst>
          </p:cNvPr>
          <p:cNvSpPr txBox="1"/>
          <p:nvPr/>
        </p:nvSpPr>
        <p:spPr>
          <a:xfrm>
            <a:off x="6083580" y="3201134"/>
            <a:ext cx="15985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Repeated</a:t>
            </a:r>
          </a:p>
          <a:p>
            <a:pPr algn="ctr"/>
            <a:r>
              <a:rPr lang="en-IN" sz="2600" dirty="0"/>
              <a:t>3124</a:t>
            </a:r>
          </a:p>
          <a:p>
            <a:pPr algn="ctr"/>
            <a:r>
              <a:rPr lang="en-IN" sz="2600" dirty="0"/>
              <a:t>3142</a:t>
            </a:r>
          </a:p>
          <a:p>
            <a:pPr algn="ctr"/>
            <a:r>
              <a:rPr lang="en-IN" sz="2600" dirty="0"/>
              <a:t>3214</a:t>
            </a:r>
          </a:p>
          <a:p>
            <a:pPr algn="ctr"/>
            <a:r>
              <a:rPr lang="en-IN" sz="2600" dirty="0"/>
              <a:t>3241</a:t>
            </a:r>
          </a:p>
          <a:p>
            <a:pPr algn="ctr"/>
            <a:r>
              <a:rPr lang="en-IN" sz="2600" dirty="0"/>
              <a:t>3412</a:t>
            </a:r>
          </a:p>
          <a:p>
            <a:pPr algn="ctr"/>
            <a:r>
              <a:rPr lang="en-IN" sz="2600" dirty="0"/>
              <a:t>3421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52FB98-DD32-4733-B1A7-4EBB0EDDC763}"/>
              </a:ext>
            </a:extLst>
          </p:cNvPr>
          <p:cNvSpPr txBox="1"/>
          <p:nvPr/>
        </p:nvSpPr>
        <p:spPr>
          <a:xfrm>
            <a:off x="7535519" y="3201134"/>
            <a:ext cx="17625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/>
              <a:t>Repeated</a:t>
            </a:r>
          </a:p>
          <a:p>
            <a:pPr algn="ctr"/>
            <a:r>
              <a:rPr lang="en-IN" sz="2600" dirty="0"/>
              <a:t>4123</a:t>
            </a:r>
          </a:p>
          <a:p>
            <a:pPr algn="ctr"/>
            <a:r>
              <a:rPr lang="en-IN" sz="2600" dirty="0"/>
              <a:t>4132</a:t>
            </a:r>
          </a:p>
          <a:p>
            <a:pPr algn="ctr"/>
            <a:r>
              <a:rPr lang="en-IN" sz="2600" dirty="0"/>
              <a:t>4213</a:t>
            </a:r>
          </a:p>
          <a:p>
            <a:pPr algn="ctr"/>
            <a:r>
              <a:rPr lang="en-IN" sz="2600" dirty="0"/>
              <a:t>4231</a:t>
            </a:r>
          </a:p>
          <a:p>
            <a:pPr algn="ctr"/>
            <a:r>
              <a:rPr lang="en-IN" sz="2600" dirty="0"/>
              <a:t>4321</a:t>
            </a:r>
          </a:p>
          <a:p>
            <a:pPr algn="ctr"/>
            <a:r>
              <a:rPr lang="en-IN" sz="2600" dirty="0"/>
              <a:t>4312</a:t>
            </a:r>
          </a:p>
        </p:txBody>
      </p:sp>
    </p:spTree>
    <p:extLst>
      <p:ext uri="{BB962C8B-B14F-4D97-AF65-F5344CB8AC3E}">
        <p14:creationId xmlns:p14="http://schemas.microsoft.com/office/powerpoint/2010/main" val="4169194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Counting – </a:t>
            </a:r>
            <a:r>
              <a:rPr lang="en-US" sz="3600" dirty="0"/>
              <a:t>The Division </a:t>
            </a:r>
            <a:r>
              <a:rPr lang="en-US" dirty="0"/>
              <a:t>R</a:t>
            </a:r>
            <a:r>
              <a:rPr lang="en-US" sz="3600" dirty="0"/>
              <a:t>ule 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1A3084-157B-45AC-9E9F-CBF39AD20388}"/>
              </a:ext>
            </a:extLst>
          </p:cNvPr>
          <p:cNvSpPr/>
          <p:nvPr/>
        </p:nvSpPr>
        <p:spPr>
          <a:xfrm>
            <a:off x="1480930" y="1828800"/>
            <a:ext cx="2385392" cy="2454965"/>
          </a:xfrm>
          <a:prstGeom prst="ellipse">
            <a:avLst/>
          </a:prstGeom>
          <a:solidFill>
            <a:schemeClr val="bg1"/>
          </a:solidFill>
          <a:ln w="38100">
            <a:solidFill>
              <a:srgbClr val="BA2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C550BFE-C394-4E97-8FB6-1C1068B3B434}"/>
              </a:ext>
            </a:extLst>
          </p:cNvPr>
          <p:cNvSpPr/>
          <p:nvPr/>
        </p:nvSpPr>
        <p:spPr>
          <a:xfrm>
            <a:off x="4257260" y="1848740"/>
            <a:ext cx="2385392" cy="2454965"/>
          </a:xfrm>
          <a:prstGeom prst="ellipse">
            <a:avLst/>
          </a:prstGeom>
          <a:solidFill>
            <a:schemeClr val="bg1"/>
          </a:solidFill>
          <a:ln w="38100">
            <a:solidFill>
              <a:srgbClr val="BA2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34DFA-8728-4EC4-A393-8B0098049A3C}"/>
              </a:ext>
            </a:extLst>
          </p:cNvPr>
          <p:cNvSpPr txBox="1"/>
          <p:nvPr/>
        </p:nvSpPr>
        <p:spPr>
          <a:xfrm>
            <a:off x="2380421" y="2229836"/>
            <a:ext cx="58640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a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678B4-4BE3-4DF1-ADF9-3C56DBB47900}"/>
              </a:ext>
            </a:extLst>
          </p:cNvPr>
          <p:cNvSpPr txBox="1"/>
          <p:nvPr/>
        </p:nvSpPr>
        <p:spPr>
          <a:xfrm>
            <a:off x="4880113" y="2209896"/>
            <a:ext cx="140473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b=f(a)</a:t>
            </a:r>
          </a:p>
          <a:p>
            <a:endParaRPr lang="en-IN" sz="2600" dirty="0"/>
          </a:p>
          <a:p>
            <a:endParaRPr lang="en-IN" sz="2600" dirty="0"/>
          </a:p>
          <a:p>
            <a:r>
              <a:rPr lang="en-IN" sz="2600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9C9E87-2915-410A-9793-C8CCF1D90C20}"/>
              </a:ext>
            </a:extLst>
          </p:cNvPr>
          <p:cNvSpPr/>
          <p:nvPr/>
        </p:nvSpPr>
        <p:spPr>
          <a:xfrm>
            <a:off x="2504661" y="2077278"/>
            <a:ext cx="129209" cy="1525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070DDF-7E1E-45CE-A8DE-04F4CA0C2DFF}"/>
              </a:ext>
            </a:extLst>
          </p:cNvPr>
          <p:cNvSpPr/>
          <p:nvPr/>
        </p:nvSpPr>
        <p:spPr>
          <a:xfrm>
            <a:off x="5302524" y="2057338"/>
            <a:ext cx="129209" cy="1525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5B688C-43A3-4F07-B5E0-500FB9987B01}"/>
              </a:ext>
            </a:extLst>
          </p:cNvPr>
          <p:cNvCxnSpPr/>
          <p:nvPr/>
        </p:nvCxnSpPr>
        <p:spPr>
          <a:xfrm flipV="1">
            <a:off x="2743200" y="2153557"/>
            <a:ext cx="2425148" cy="56339"/>
          </a:xfrm>
          <a:prstGeom prst="straightConnector1">
            <a:avLst/>
          </a:prstGeom>
          <a:ln w="38100">
            <a:solidFill>
              <a:srgbClr val="00B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B071CCCA-FD20-47D1-A307-1BB80EC8EDCD}"/>
              </a:ext>
            </a:extLst>
          </p:cNvPr>
          <p:cNvSpPr/>
          <p:nvPr/>
        </p:nvSpPr>
        <p:spPr>
          <a:xfrm>
            <a:off x="3354457" y="4045199"/>
            <a:ext cx="1485900" cy="56990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AA54F-593A-4BAB-8BB4-DDC298722B02}"/>
              </a:ext>
            </a:extLst>
          </p:cNvPr>
          <p:cNvSpPr txBox="1"/>
          <p:nvPr/>
        </p:nvSpPr>
        <p:spPr>
          <a:xfrm>
            <a:off x="3866322" y="1689652"/>
            <a:ext cx="3909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Edwardian Script ITC" panose="030303020407070D0804" pitchFamily="66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8BBF5-069D-4941-8CE0-90F2D9B25843}"/>
              </a:ext>
            </a:extLst>
          </p:cNvPr>
          <p:cNvSpPr txBox="1"/>
          <p:nvPr/>
        </p:nvSpPr>
        <p:spPr>
          <a:xfrm>
            <a:off x="3955774" y="4006371"/>
            <a:ext cx="3909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Edwardian Script ITC" panose="030303020407070D0804" pitchFamily="66" charset="0"/>
              </a:rPr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077CD0-7B87-4C64-B0F4-98A36E0FFA8D}"/>
              </a:ext>
            </a:extLst>
          </p:cNvPr>
          <p:cNvSpPr txBox="1"/>
          <p:nvPr/>
        </p:nvSpPr>
        <p:spPr>
          <a:xfrm>
            <a:off x="2136912" y="5052504"/>
            <a:ext cx="47012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The function </a:t>
            </a:r>
            <a:r>
              <a:rPr lang="en-IN" sz="2600" b="1" dirty="0">
                <a:latin typeface="Edwardian Script ITC" panose="030303020407070D0804" pitchFamily="66" charset="0"/>
              </a:rPr>
              <a:t>f</a:t>
            </a:r>
            <a:r>
              <a:rPr lang="en-IN" sz="2600" b="1" dirty="0"/>
              <a:t>  Maps A to B</a:t>
            </a:r>
          </a:p>
        </p:txBody>
      </p:sp>
    </p:spTree>
    <p:extLst>
      <p:ext uri="{BB962C8B-B14F-4D97-AF65-F5344CB8AC3E}">
        <p14:creationId xmlns:p14="http://schemas.microsoft.com/office/powerpoint/2010/main" val="1761933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9455-A6AD-46C0-A649-94C2A8BD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E4697-B4C8-438F-A381-A62FDBCEF0CE}"/>
              </a:ext>
            </a:extLst>
          </p:cNvPr>
          <p:cNvSpPr txBox="1"/>
          <p:nvPr/>
        </p:nvSpPr>
        <p:spPr>
          <a:xfrm>
            <a:off x="2126975" y="1938130"/>
            <a:ext cx="3379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  <a:p>
            <a:endParaRPr lang="en-IN" dirty="0"/>
          </a:p>
          <a:p>
            <a:r>
              <a:rPr lang="en-IN" dirty="0"/>
              <a:t>B</a:t>
            </a:r>
          </a:p>
          <a:p>
            <a:endParaRPr lang="en-IN" dirty="0"/>
          </a:p>
          <a:p>
            <a:r>
              <a:rPr lang="en-IN" dirty="0"/>
              <a:t>C</a:t>
            </a:r>
          </a:p>
          <a:p>
            <a:endParaRPr lang="en-IN" dirty="0"/>
          </a:p>
          <a:p>
            <a:r>
              <a:rPr lang="en-IN" dirty="0"/>
              <a:t>D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59361-9213-4612-A910-C28C6193F79C}"/>
              </a:ext>
            </a:extLst>
          </p:cNvPr>
          <p:cNvSpPr txBox="1"/>
          <p:nvPr/>
        </p:nvSpPr>
        <p:spPr>
          <a:xfrm>
            <a:off x="4695438" y="1938130"/>
            <a:ext cx="3379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1</a:t>
            </a:r>
          </a:p>
          <a:p>
            <a:endParaRPr lang="en-IN" dirty="0"/>
          </a:p>
          <a:p>
            <a:r>
              <a:rPr lang="en-IN" dirty="0"/>
              <a:t>2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128853-E5F4-4396-B519-A01D25C8B92E}"/>
              </a:ext>
            </a:extLst>
          </p:cNvPr>
          <p:cNvCxnSpPr/>
          <p:nvPr/>
        </p:nvCxnSpPr>
        <p:spPr>
          <a:xfrm>
            <a:off x="2464905" y="2146852"/>
            <a:ext cx="2230533" cy="1620078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B074DC-3671-47CF-822C-EB425EEABCDD}"/>
              </a:ext>
            </a:extLst>
          </p:cNvPr>
          <p:cNvCxnSpPr>
            <a:cxnSpLocks/>
          </p:cNvCxnSpPr>
          <p:nvPr/>
        </p:nvCxnSpPr>
        <p:spPr>
          <a:xfrm>
            <a:off x="2464905" y="2626376"/>
            <a:ext cx="2230533" cy="570277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E20F18-3C33-4CC3-A01E-3D5C066C7BB5}"/>
              </a:ext>
            </a:extLst>
          </p:cNvPr>
          <p:cNvCxnSpPr>
            <a:cxnSpLocks/>
          </p:cNvCxnSpPr>
          <p:nvPr/>
        </p:nvCxnSpPr>
        <p:spPr>
          <a:xfrm flipV="1">
            <a:off x="2415209" y="2703590"/>
            <a:ext cx="2280229" cy="493063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3BB47E-8083-42B7-B651-810685FE58E4}"/>
              </a:ext>
            </a:extLst>
          </p:cNvPr>
          <p:cNvCxnSpPr>
            <a:cxnSpLocks/>
          </p:cNvCxnSpPr>
          <p:nvPr/>
        </p:nvCxnSpPr>
        <p:spPr>
          <a:xfrm flipV="1">
            <a:off x="2464905" y="3753391"/>
            <a:ext cx="2107095" cy="1354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9242FE-64E5-4FC2-9D03-291A764E70C4}"/>
              </a:ext>
            </a:extLst>
          </p:cNvPr>
          <p:cNvSpPr txBox="1"/>
          <p:nvPr/>
        </p:nvSpPr>
        <p:spPr>
          <a:xfrm>
            <a:off x="2126975" y="4614347"/>
            <a:ext cx="33910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An Onto function</a:t>
            </a:r>
          </a:p>
        </p:txBody>
      </p:sp>
    </p:spTree>
    <p:extLst>
      <p:ext uri="{BB962C8B-B14F-4D97-AF65-F5344CB8AC3E}">
        <p14:creationId xmlns:p14="http://schemas.microsoft.com/office/powerpoint/2010/main" val="2805376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5D25-530C-4FA8-B437-4AE2698F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5795E-249B-4C02-B360-994A59BB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17" y="1394380"/>
            <a:ext cx="4422483" cy="49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8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5D25-530C-4FA8-B437-4AE2698F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36DA0-7CC2-4C2E-A0AF-3C21F93D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175" y="1196836"/>
            <a:ext cx="4851649" cy="53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2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5D25-530C-4FA8-B437-4AE2698F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ECCC4-5BB4-42A4-8185-F2CB7E2F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277" y="1291442"/>
            <a:ext cx="4775445" cy="529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3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8DCF-B002-473F-85B4-F08FB98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8F407-F11D-4B4D-9BA9-BF05A07CF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175" y="1215238"/>
            <a:ext cx="4851649" cy="53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26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8DCF-B002-473F-85B4-F08FB98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Correspondences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4CBCF-6003-4A4A-95B1-DB770360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48" y="1221588"/>
            <a:ext cx="4921503" cy="536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8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8DCF-B002-473F-85B4-F08FB98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-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F6696-3418-472A-9B0F-E6B27BCA5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67" y="1330217"/>
            <a:ext cx="4076910" cy="4197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28764D-8669-4B81-9A56-2DC1EC7D2A7F}"/>
              </a:ext>
            </a:extLst>
          </p:cNvPr>
          <p:cNvSpPr txBox="1"/>
          <p:nvPr/>
        </p:nvSpPr>
        <p:spPr>
          <a:xfrm>
            <a:off x="1401417" y="5851837"/>
            <a:ext cx="59932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The Graph of f (n) = 2n + 1 from Z to Z.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0BF54-2A5D-436D-BEB0-3EA12B1BCDDC}"/>
              </a:ext>
            </a:extLst>
          </p:cNvPr>
          <p:cNvSpPr txBox="1"/>
          <p:nvPr/>
        </p:nvSpPr>
        <p:spPr>
          <a:xfrm>
            <a:off x="5486395" y="1938130"/>
            <a:ext cx="3379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</a:t>
            </a:r>
          </a:p>
          <a:p>
            <a:endParaRPr lang="en-IN" sz="2400" dirty="0"/>
          </a:p>
          <a:p>
            <a:r>
              <a:rPr lang="en-IN" sz="2400" dirty="0"/>
              <a:t>0</a:t>
            </a:r>
          </a:p>
          <a:p>
            <a:endParaRPr lang="en-IN" sz="2400" dirty="0"/>
          </a:p>
          <a:p>
            <a:r>
              <a:rPr lang="en-IN" sz="2400" dirty="0"/>
              <a:t>1</a:t>
            </a:r>
          </a:p>
          <a:p>
            <a:endParaRPr lang="en-IN" sz="2400" dirty="0"/>
          </a:p>
          <a:p>
            <a:r>
              <a:rPr lang="en-IN" sz="2400" dirty="0"/>
              <a:t>2</a:t>
            </a:r>
          </a:p>
          <a:p>
            <a:endParaRPr lang="en-IN" sz="2400" dirty="0"/>
          </a:p>
          <a:p>
            <a:r>
              <a:rPr lang="en-IN" sz="2400" dirty="0"/>
              <a:t>3</a:t>
            </a:r>
          </a:p>
          <a:p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2C9258-291D-4C40-B66F-9B7DB27D4099}"/>
              </a:ext>
            </a:extLst>
          </p:cNvPr>
          <p:cNvSpPr txBox="1"/>
          <p:nvPr/>
        </p:nvSpPr>
        <p:spPr>
          <a:xfrm>
            <a:off x="8054857" y="1938130"/>
            <a:ext cx="9301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2n+1</a:t>
            </a:r>
          </a:p>
          <a:p>
            <a:endParaRPr lang="en-IN" sz="2400" dirty="0"/>
          </a:p>
          <a:p>
            <a:r>
              <a:rPr lang="en-IN" sz="2400" dirty="0"/>
              <a:t>1</a:t>
            </a:r>
          </a:p>
          <a:p>
            <a:endParaRPr lang="en-IN" sz="2400" dirty="0"/>
          </a:p>
          <a:p>
            <a:r>
              <a:rPr lang="en-IN" sz="2400" dirty="0"/>
              <a:t>3</a:t>
            </a:r>
          </a:p>
          <a:p>
            <a:endParaRPr lang="en-IN" sz="2400" dirty="0"/>
          </a:p>
          <a:p>
            <a:r>
              <a:rPr lang="en-IN" sz="2400" dirty="0"/>
              <a:t>5</a:t>
            </a:r>
          </a:p>
          <a:p>
            <a:endParaRPr lang="en-IN" sz="2400" dirty="0"/>
          </a:p>
          <a:p>
            <a:r>
              <a:rPr lang="en-IN" sz="2400" dirty="0"/>
              <a:t>7</a:t>
            </a:r>
          </a:p>
          <a:p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CFC7EE-2311-4BAD-B705-5F86DC573FBD}"/>
              </a:ext>
            </a:extLst>
          </p:cNvPr>
          <p:cNvCxnSpPr>
            <a:cxnSpLocks/>
          </p:cNvCxnSpPr>
          <p:nvPr/>
        </p:nvCxnSpPr>
        <p:spPr>
          <a:xfrm>
            <a:off x="5849170" y="2216426"/>
            <a:ext cx="2230533" cy="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8E876A-76E8-4D8C-8CDD-8292B9610128}"/>
              </a:ext>
            </a:extLst>
          </p:cNvPr>
          <p:cNvCxnSpPr>
            <a:cxnSpLocks/>
          </p:cNvCxnSpPr>
          <p:nvPr/>
        </p:nvCxnSpPr>
        <p:spPr>
          <a:xfrm>
            <a:off x="5973411" y="2924550"/>
            <a:ext cx="2107095" cy="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63F0FB-B1F9-49B8-8FC8-DFBF87D3972A}"/>
              </a:ext>
            </a:extLst>
          </p:cNvPr>
          <p:cNvCxnSpPr>
            <a:cxnSpLocks/>
          </p:cNvCxnSpPr>
          <p:nvPr/>
        </p:nvCxnSpPr>
        <p:spPr>
          <a:xfrm flipV="1">
            <a:off x="5922912" y="3611746"/>
            <a:ext cx="2156791" cy="1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CADAEF-03A4-4AC2-9388-9617655488FB}"/>
              </a:ext>
            </a:extLst>
          </p:cNvPr>
          <p:cNvCxnSpPr>
            <a:cxnSpLocks/>
          </p:cNvCxnSpPr>
          <p:nvPr/>
        </p:nvCxnSpPr>
        <p:spPr>
          <a:xfrm flipV="1">
            <a:off x="5973411" y="4439908"/>
            <a:ext cx="2107095" cy="1354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034CD7-48BB-4BA1-93F7-D6165660C867}"/>
              </a:ext>
            </a:extLst>
          </p:cNvPr>
          <p:cNvCxnSpPr>
            <a:cxnSpLocks/>
          </p:cNvCxnSpPr>
          <p:nvPr/>
        </p:nvCxnSpPr>
        <p:spPr>
          <a:xfrm flipV="1">
            <a:off x="5947761" y="5158122"/>
            <a:ext cx="2107095" cy="13540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60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8DCF-B002-473F-85B4-F08FB98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-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0EC30-DEE5-4D7A-AC8D-659BCA5D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9" y="1190636"/>
            <a:ext cx="6109014" cy="50929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340BEE-BFED-4B5C-9BFE-BFA119A596B9}"/>
              </a:ext>
            </a:extLst>
          </p:cNvPr>
          <p:cNvSpPr txBox="1"/>
          <p:nvPr/>
        </p:nvSpPr>
        <p:spPr>
          <a:xfrm>
            <a:off x="175713" y="6301119"/>
            <a:ext cx="56287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The Graph of f (x) = x</a:t>
            </a:r>
            <a:r>
              <a:rPr lang="en-US" sz="2600" baseline="30000" dirty="0"/>
              <a:t>2</a:t>
            </a:r>
            <a:r>
              <a:rPr lang="en-US" sz="2600" dirty="0"/>
              <a:t> from Z to Z.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50CCA-E839-4855-90C8-1384801B6E6C}"/>
              </a:ext>
            </a:extLst>
          </p:cNvPr>
          <p:cNvSpPr txBox="1"/>
          <p:nvPr/>
        </p:nvSpPr>
        <p:spPr>
          <a:xfrm>
            <a:off x="6062868" y="1321904"/>
            <a:ext cx="4770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  <a:p>
            <a:r>
              <a:rPr lang="en-IN" dirty="0"/>
              <a:t>-2</a:t>
            </a:r>
          </a:p>
          <a:p>
            <a:endParaRPr lang="en-IN" dirty="0"/>
          </a:p>
          <a:p>
            <a:r>
              <a:rPr lang="en-IN" dirty="0"/>
              <a:t>-1</a:t>
            </a:r>
          </a:p>
          <a:p>
            <a:endParaRPr lang="en-IN" dirty="0"/>
          </a:p>
          <a:p>
            <a:r>
              <a:rPr lang="en-IN" dirty="0"/>
              <a:t>0</a:t>
            </a:r>
          </a:p>
          <a:p>
            <a:endParaRPr lang="en-IN" dirty="0"/>
          </a:p>
          <a:p>
            <a:r>
              <a:rPr lang="en-IN" dirty="0"/>
              <a:t>1</a:t>
            </a:r>
          </a:p>
          <a:p>
            <a:endParaRPr lang="en-IN" dirty="0"/>
          </a:p>
          <a:p>
            <a:r>
              <a:rPr lang="en-IN" dirty="0"/>
              <a:t>2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DB332-4752-4A2B-AE06-E34C6C68EFCB}"/>
              </a:ext>
            </a:extLst>
          </p:cNvPr>
          <p:cNvSpPr txBox="1"/>
          <p:nvPr/>
        </p:nvSpPr>
        <p:spPr>
          <a:xfrm>
            <a:off x="8770474" y="1451113"/>
            <a:ext cx="6120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  <a:r>
              <a:rPr lang="en-IN" baseline="30000" dirty="0"/>
              <a:t>2</a:t>
            </a:r>
          </a:p>
          <a:p>
            <a:endParaRPr lang="en-IN" dirty="0"/>
          </a:p>
          <a:p>
            <a:r>
              <a:rPr lang="en-IN" dirty="0"/>
              <a:t>0</a:t>
            </a:r>
          </a:p>
          <a:p>
            <a:endParaRPr lang="en-IN" dirty="0"/>
          </a:p>
          <a:p>
            <a:r>
              <a:rPr lang="en-IN" dirty="0"/>
              <a:t>1</a:t>
            </a:r>
          </a:p>
          <a:p>
            <a:endParaRPr lang="en-IN" dirty="0"/>
          </a:p>
          <a:p>
            <a:r>
              <a:rPr lang="en-IN" dirty="0"/>
              <a:t>4</a:t>
            </a:r>
          </a:p>
          <a:p>
            <a:endParaRPr lang="en-IN" dirty="0"/>
          </a:p>
          <a:p>
            <a:r>
              <a:rPr lang="en-IN" dirty="0"/>
              <a:t>9</a:t>
            </a:r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522B8-9DCE-4755-841B-085BBFDC1132}"/>
              </a:ext>
            </a:extLst>
          </p:cNvPr>
          <p:cNvCxnSpPr>
            <a:cxnSpLocks/>
          </p:cNvCxnSpPr>
          <p:nvPr/>
        </p:nvCxnSpPr>
        <p:spPr>
          <a:xfrm>
            <a:off x="6539942" y="2146852"/>
            <a:ext cx="2315822" cy="1620079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2D9F31-B2F4-46DA-B9C9-2E85238140FD}"/>
              </a:ext>
            </a:extLst>
          </p:cNvPr>
          <p:cNvCxnSpPr>
            <a:cxnSpLocks/>
          </p:cNvCxnSpPr>
          <p:nvPr/>
        </p:nvCxnSpPr>
        <p:spPr>
          <a:xfrm>
            <a:off x="6539942" y="2626376"/>
            <a:ext cx="2230533" cy="570277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35F945-DB88-459E-9C06-CBD9EA1F02E2}"/>
              </a:ext>
            </a:extLst>
          </p:cNvPr>
          <p:cNvCxnSpPr>
            <a:cxnSpLocks/>
          </p:cNvCxnSpPr>
          <p:nvPr/>
        </p:nvCxnSpPr>
        <p:spPr>
          <a:xfrm flipV="1">
            <a:off x="6357669" y="2733261"/>
            <a:ext cx="2498095" cy="1519683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7DE788-6D65-4369-A5D7-EE0318A451E4}"/>
              </a:ext>
            </a:extLst>
          </p:cNvPr>
          <p:cNvCxnSpPr>
            <a:cxnSpLocks/>
          </p:cNvCxnSpPr>
          <p:nvPr/>
        </p:nvCxnSpPr>
        <p:spPr>
          <a:xfrm flipV="1">
            <a:off x="6539942" y="2146852"/>
            <a:ext cx="2230533" cy="1620079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0CD4B7-B69E-455D-B393-7EB3BD48F142}"/>
              </a:ext>
            </a:extLst>
          </p:cNvPr>
          <p:cNvCxnSpPr>
            <a:cxnSpLocks/>
          </p:cNvCxnSpPr>
          <p:nvPr/>
        </p:nvCxnSpPr>
        <p:spPr>
          <a:xfrm flipV="1">
            <a:off x="6533317" y="2726637"/>
            <a:ext cx="2280229" cy="473333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AD502F-0E3F-4832-8345-8134F06AF631}"/>
              </a:ext>
            </a:extLst>
          </p:cNvPr>
          <p:cNvCxnSpPr>
            <a:cxnSpLocks/>
          </p:cNvCxnSpPr>
          <p:nvPr/>
        </p:nvCxnSpPr>
        <p:spPr>
          <a:xfrm flipV="1">
            <a:off x="6407366" y="3243468"/>
            <a:ext cx="2406180" cy="1595885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C7E30F-563C-4533-B1D5-EAB60398A06E}"/>
              </a:ext>
            </a:extLst>
          </p:cNvPr>
          <p:cNvCxnSpPr>
            <a:cxnSpLocks/>
          </p:cNvCxnSpPr>
          <p:nvPr/>
        </p:nvCxnSpPr>
        <p:spPr>
          <a:xfrm flipV="1">
            <a:off x="6364295" y="3783062"/>
            <a:ext cx="2406180" cy="1595885"/>
          </a:xfrm>
          <a:prstGeom prst="straightConnector1">
            <a:avLst/>
          </a:prstGeom>
          <a:ln w="38100">
            <a:solidFill>
              <a:srgbClr val="BA2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1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2D90-8F79-4B4D-B969-07473F53A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080001"/>
            <a:ext cx="8504904" cy="56473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functions are there from a set with m elements to a set with n elements?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B</a:t>
            </a:r>
            <a:r>
              <a:rPr lang="en-US" dirty="0"/>
              <a:t>y the product rule there are n · n · · · · · n = n</a:t>
            </a:r>
            <a:r>
              <a:rPr lang="en-US" baseline="30000" dirty="0"/>
              <a:t>m</a:t>
            </a:r>
            <a:r>
              <a:rPr lang="en-US" dirty="0"/>
              <a:t> functions from a set with m elements to one with n elements. </a:t>
            </a:r>
          </a:p>
          <a:p>
            <a:pPr marL="0" indent="0">
              <a:buNone/>
            </a:pPr>
            <a:r>
              <a:rPr lang="en-US" dirty="0"/>
              <a:t>For example, there are 5</a:t>
            </a:r>
            <a:r>
              <a:rPr lang="en-US" baseline="30000" dirty="0"/>
              <a:t>3</a:t>
            </a:r>
            <a:r>
              <a:rPr lang="en-US" dirty="0"/>
              <a:t> = 125 different functions from a set with three elements to a set with five elements.</a:t>
            </a:r>
          </a:p>
        </p:txBody>
      </p:sp>
    </p:spTree>
    <p:extLst>
      <p:ext uri="{BB962C8B-B14F-4D97-AF65-F5344CB8AC3E}">
        <p14:creationId xmlns:p14="http://schemas.microsoft.com/office/powerpoint/2010/main" val="3177545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590261"/>
            <a:ext cx="526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60718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319548" y="5465497"/>
            <a:ext cx="85049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There are 5</a:t>
            </a:r>
            <a:r>
              <a:rPr lang="en-US" sz="2600" baseline="30000" dirty="0"/>
              <a:t>3</a:t>
            </a:r>
            <a:r>
              <a:rPr lang="en-US" sz="2600" dirty="0"/>
              <a:t> = 125 different functions from a set with three elements to a set with five elements.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B3E2B3-DB3F-4AB0-BA04-B2B9F877ABB9}"/>
              </a:ext>
            </a:extLst>
          </p:cNvPr>
          <p:cNvCxnSpPr/>
          <p:nvPr/>
        </p:nvCxnSpPr>
        <p:spPr>
          <a:xfrm>
            <a:off x="3448878" y="1828800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4D900F-1F28-4E74-A014-966882C9A225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76200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B9EF0F-ADA4-421A-A4E2-229CF3B1BA9E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143786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938263-E8ED-4497-ADF5-069EFF89A895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216341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A24BD0-4685-43F2-9DEA-7DFCB3FA8248}"/>
              </a:ext>
            </a:extLst>
          </p:cNvPr>
          <p:cNvCxnSpPr>
            <a:cxnSpLocks/>
          </p:cNvCxnSpPr>
          <p:nvPr/>
        </p:nvCxnSpPr>
        <p:spPr>
          <a:xfrm flipV="1">
            <a:off x="3448878" y="1934818"/>
            <a:ext cx="1587802" cy="56984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37169E-6674-46D2-B661-DAEAF2D7D13E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90261" cy="5963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C4DF21-F132-495E-8162-AA9865BA8C57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87802" cy="78519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0C6135-4DA2-4574-97D8-46A994F864DE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87802" cy="144117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F75381-A690-4C7E-868E-74E1638DA25F}"/>
              </a:ext>
            </a:extLst>
          </p:cNvPr>
          <p:cNvCxnSpPr>
            <a:cxnSpLocks/>
          </p:cNvCxnSpPr>
          <p:nvPr/>
        </p:nvCxnSpPr>
        <p:spPr>
          <a:xfrm flipV="1">
            <a:off x="3448878" y="1972040"/>
            <a:ext cx="1562581" cy="131118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BE5162-9B5C-4DBA-8B94-687945B55D2D}"/>
              </a:ext>
            </a:extLst>
          </p:cNvPr>
          <p:cNvCxnSpPr>
            <a:cxnSpLocks/>
          </p:cNvCxnSpPr>
          <p:nvPr/>
        </p:nvCxnSpPr>
        <p:spPr>
          <a:xfrm flipV="1">
            <a:off x="3452667" y="2557672"/>
            <a:ext cx="1596412" cy="69408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6631C7-0998-4EAC-A5AC-A154C6CF525C}"/>
              </a:ext>
            </a:extLst>
          </p:cNvPr>
          <p:cNvCxnSpPr>
            <a:cxnSpLocks/>
          </p:cNvCxnSpPr>
          <p:nvPr/>
        </p:nvCxnSpPr>
        <p:spPr>
          <a:xfrm>
            <a:off x="3417774" y="3270804"/>
            <a:ext cx="1635339" cy="1242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B38798-46DA-4ABF-BC95-CBEEA627B757}"/>
              </a:ext>
            </a:extLst>
          </p:cNvPr>
          <p:cNvCxnSpPr>
            <a:cxnSpLocks/>
          </p:cNvCxnSpPr>
          <p:nvPr/>
        </p:nvCxnSpPr>
        <p:spPr>
          <a:xfrm>
            <a:off x="3446419" y="3289851"/>
            <a:ext cx="1590261" cy="69325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EC05736-7778-405A-A9C0-1B0A1FAF72F7}"/>
              </a:ext>
            </a:extLst>
          </p:cNvPr>
          <p:cNvCxnSpPr>
            <a:cxnSpLocks/>
          </p:cNvCxnSpPr>
          <p:nvPr/>
        </p:nvCxnSpPr>
        <p:spPr>
          <a:xfrm>
            <a:off x="3436479" y="1891458"/>
            <a:ext cx="1631305" cy="278738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E03E39-79C5-40DC-ABD9-E890BABEABE4}"/>
              </a:ext>
            </a:extLst>
          </p:cNvPr>
          <p:cNvCxnSpPr>
            <a:cxnSpLocks/>
          </p:cNvCxnSpPr>
          <p:nvPr/>
        </p:nvCxnSpPr>
        <p:spPr>
          <a:xfrm>
            <a:off x="3364332" y="2678113"/>
            <a:ext cx="1717023" cy="1950499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046A747-33AF-4C61-A85A-61FA2F317ED2}"/>
              </a:ext>
            </a:extLst>
          </p:cNvPr>
          <p:cNvCxnSpPr>
            <a:cxnSpLocks/>
          </p:cNvCxnSpPr>
          <p:nvPr/>
        </p:nvCxnSpPr>
        <p:spPr>
          <a:xfrm>
            <a:off x="3451279" y="3327074"/>
            <a:ext cx="1585401" cy="138899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</p:txBody>
      </p:sp>
    </p:spTree>
    <p:extLst>
      <p:ext uri="{BB962C8B-B14F-4D97-AF65-F5344CB8AC3E}">
        <p14:creationId xmlns:p14="http://schemas.microsoft.com/office/powerpoint/2010/main" val="6630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2D90-8F79-4B4D-B969-07473F53A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55391"/>
            <a:ext cx="8504904" cy="5432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functions are there from a set with 4 elements to a set with 5 elements?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T</a:t>
            </a:r>
            <a:r>
              <a:rPr lang="en-US" dirty="0"/>
              <a:t>here are 5</a:t>
            </a:r>
            <a:r>
              <a:rPr lang="en-US" baseline="30000" dirty="0"/>
              <a:t>4</a:t>
            </a:r>
            <a:r>
              <a:rPr lang="en-US" dirty="0"/>
              <a:t> = 625 different functions from a set with four elements to a set with five elements.</a:t>
            </a:r>
          </a:p>
        </p:txBody>
      </p:sp>
    </p:spTree>
    <p:extLst>
      <p:ext uri="{BB962C8B-B14F-4D97-AF65-F5344CB8AC3E}">
        <p14:creationId xmlns:p14="http://schemas.microsoft.com/office/powerpoint/2010/main" val="2175084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590261"/>
            <a:ext cx="5267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60718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319548" y="5465497"/>
            <a:ext cx="85049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There are 5</a:t>
            </a:r>
            <a:r>
              <a:rPr lang="en-US" sz="2600" baseline="30000" dirty="0"/>
              <a:t>4</a:t>
            </a:r>
            <a:r>
              <a:rPr lang="en-US" sz="2600" dirty="0"/>
              <a:t> = 125 different functions from a set with four elements to a set with five elements.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B3E2B3-DB3F-4AB0-BA04-B2B9F877ABB9}"/>
              </a:ext>
            </a:extLst>
          </p:cNvPr>
          <p:cNvCxnSpPr/>
          <p:nvPr/>
        </p:nvCxnSpPr>
        <p:spPr>
          <a:xfrm>
            <a:off x="3448878" y="1828800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4D900F-1F28-4E74-A014-966882C9A225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76200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B9EF0F-ADA4-421A-A4E2-229CF3B1BA9E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143786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938263-E8ED-4497-ADF5-069EFF89A895}"/>
              </a:ext>
            </a:extLst>
          </p:cNvPr>
          <p:cNvCxnSpPr>
            <a:cxnSpLocks/>
          </p:cNvCxnSpPr>
          <p:nvPr/>
        </p:nvCxnSpPr>
        <p:spPr>
          <a:xfrm>
            <a:off x="3448878" y="1851991"/>
            <a:ext cx="1587802" cy="216341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A24BD0-4685-43F2-9DEA-7DFCB3FA8248}"/>
              </a:ext>
            </a:extLst>
          </p:cNvPr>
          <p:cNvCxnSpPr>
            <a:cxnSpLocks/>
          </p:cNvCxnSpPr>
          <p:nvPr/>
        </p:nvCxnSpPr>
        <p:spPr>
          <a:xfrm flipV="1">
            <a:off x="3448878" y="1934818"/>
            <a:ext cx="1587802" cy="56984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37169E-6674-46D2-B661-DAEAF2D7D13E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90261" cy="5963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C4DF21-F132-495E-8162-AA9865BA8C57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87802" cy="78519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0C6135-4DA2-4574-97D8-46A994F864DE}"/>
              </a:ext>
            </a:extLst>
          </p:cNvPr>
          <p:cNvCxnSpPr>
            <a:cxnSpLocks/>
          </p:cNvCxnSpPr>
          <p:nvPr/>
        </p:nvCxnSpPr>
        <p:spPr>
          <a:xfrm>
            <a:off x="3448878" y="2504661"/>
            <a:ext cx="1587802" cy="144117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F75381-A690-4C7E-868E-74E1638DA25F}"/>
              </a:ext>
            </a:extLst>
          </p:cNvPr>
          <p:cNvCxnSpPr>
            <a:cxnSpLocks/>
          </p:cNvCxnSpPr>
          <p:nvPr/>
        </p:nvCxnSpPr>
        <p:spPr>
          <a:xfrm flipV="1">
            <a:off x="3448878" y="1972040"/>
            <a:ext cx="1562581" cy="131118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BE5162-9B5C-4DBA-8B94-687945B55D2D}"/>
              </a:ext>
            </a:extLst>
          </p:cNvPr>
          <p:cNvCxnSpPr>
            <a:cxnSpLocks/>
          </p:cNvCxnSpPr>
          <p:nvPr/>
        </p:nvCxnSpPr>
        <p:spPr>
          <a:xfrm flipV="1">
            <a:off x="3452667" y="2557672"/>
            <a:ext cx="1596412" cy="69408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6631C7-0998-4EAC-A5AC-A154C6CF525C}"/>
              </a:ext>
            </a:extLst>
          </p:cNvPr>
          <p:cNvCxnSpPr>
            <a:cxnSpLocks/>
          </p:cNvCxnSpPr>
          <p:nvPr/>
        </p:nvCxnSpPr>
        <p:spPr>
          <a:xfrm>
            <a:off x="3417774" y="3270804"/>
            <a:ext cx="1635339" cy="1242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B38798-46DA-4ABF-BC95-CBEEA627B757}"/>
              </a:ext>
            </a:extLst>
          </p:cNvPr>
          <p:cNvCxnSpPr>
            <a:cxnSpLocks/>
          </p:cNvCxnSpPr>
          <p:nvPr/>
        </p:nvCxnSpPr>
        <p:spPr>
          <a:xfrm>
            <a:off x="3446419" y="3289851"/>
            <a:ext cx="1590261" cy="69325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EC05736-7778-405A-A9C0-1B0A1FAF72F7}"/>
              </a:ext>
            </a:extLst>
          </p:cNvPr>
          <p:cNvCxnSpPr>
            <a:cxnSpLocks/>
          </p:cNvCxnSpPr>
          <p:nvPr/>
        </p:nvCxnSpPr>
        <p:spPr>
          <a:xfrm>
            <a:off x="3436479" y="1891458"/>
            <a:ext cx="1631305" cy="278738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E03E39-79C5-40DC-ABD9-E890BABEABE4}"/>
              </a:ext>
            </a:extLst>
          </p:cNvPr>
          <p:cNvCxnSpPr>
            <a:cxnSpLocks/>
          </p:cNvCxnSpPr>
          <p:nvPr/>
        </p:nvCxnSpPr>
        <p:spPr>
          <a:xfrm>
            <a:off x="3364332" y="2678113"/>
            <a:ext cx="1717023" cy="1950499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046A747-33AF-4C61-A85A-61FA2F317ED2}"/>
              </a:ext>
            </a:extLst>
          </p:cNvPr>
          <p:cNvCxnSpPr>
            <a:cxnSpLocks/>
          </p:cNvCxnSpPr>
          <p:nvPr/>
        </p:nvCxnSpPr>
        <p:spPr>
          <a:xfrm>
            <a:off x="3451279" y="3327074"/>
            <a:ext cx="1585401" cy="138899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1064344" y="1640317"/>
            <a:ext cx="19168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</p:txBody>
      </p:sp>
    </p:spTree>
    <p:extLst>
      <p:ext uri="{BB962C8B-B14F-4D97-AF65-F5344CB8AC3E}">
        <p14:creationId xmlns:p14="http://schemas.microsoft.com/office/powerpoint/2010/main" val="285756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137091"/>
            <a:ext cx="1445449" cy="383540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08336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D</a:t>
            </a:r>
          </a:p>
          <a:p>
            <a:r>
              <a:rPr lang="en-IN" sz="2400" dirty="0">
                <a:solidFill>
                  <a:srgbClr val="FFFF00"/>
                </a:solidFill>
              </a:rPr>
              <a:t>…..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100288"/>
            <a:ext cx="1445449" cy="4167451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100289"/>
            <a:ext cx="526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r>
              <a:rPr lang="en-IN" sz="2400" dirty="0">
                <a:solidFill>
                  <a:srgbClr val="FFFF00"/>
                </a:solidFill>
              </a:rPr>
              <a:t>….</a:t>
            </a:r>
          </a:p>
          <a:p>
            <a:r>
              <a:rPr lang="en-IN" sz="2400" dirty="0">
                <a:solidFill>
                  <a:srgbClr val="FFFF00"/>
                </a:solidFill>
              </a:rPr>
              <a:t>N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319548" y="5465497"/>
            <a:ext cx="85049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There are M</a:t>
            </a:r>
            <a:r>
              <a:rPr lang="en-US" sz="2600" baseline="30000" dirty="0"/>
              <a:t>N</a:t>
            </a:r>
            <a:r>
              <a:rPr lang="en-US" sz="2600" dirty="0"/>
              <a:t> different functions from a set with N elements to a set with M elements.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B3E2B3-DB3F-4AB0-BA04-B2B9F877ABB9}"/>
              </a:ext>
            </a:extLst>
          </p:cNvPr>
          <p:cNvCxnSpPr/>
          <p:nvPr/>
        </p:nvCxnSpPr>
        <p:spPr>
          <a:xfrm>
            <a:off x="3448878" y="1321904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4D900F-1F28-4E74-A014-966882C9A225}"/>
              </a:ext>
            </a:extLst>
          </p:cNvPr>
          <p:cNvCxnSpPr>
            <a:cxnSpLocks/>
          </p:cNvCxnSpPr>
          <p:nvPr/>
        </p:nvCxnSpPr>
        <p:spPr>
          <a:xfrm>
            <a:off x="3448878" y="1345095"/>
            <a:ext cx="1587802" cy="76200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B9EF0F-ADA4-421A-A4E2-229CF3B1BA9E}"/>
              </a:ext>
            </a:extLst>
          </p:cNvPr>
          <p:cNvCxnSpPr>
            <a:cxnSpLocks/>
          </p:cNvCxnSpPr>
          <p:nvPr/>
        </p:nvCxnSpPr>
        <p:spPr>
          <a:xfrm>
            <a:off x="3448878" y="1345095"/>
            <a:ext cx="1587802" cy="143786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938263-E8ED-4497-ADF5-069EFF89A895}"/>
              </a:ext>
            </a:extLst>
          </p:cNvPr>
          <p:cNvCxnSpPr>
            <a:cxnSpLocks/>
          </p:cNvCxnSpPr>
          <p:nvPr/>
        </p:nvCxnSpPr>
        <p:spPr>
          <a:xfrm>
            <a:off x="3448878" y="1345095"/>
            <a:ext cx="1587802" cy="216341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A24BD0-4685-43F2-9DEA-7DFCB3FA8248}"/>
              </a:ext>
            </a:extLst>
          </p:cNvPr>
          <p:cNvCxnSpPr>
            <a:cxnSpLocks/>
          </p:cNvCxnSpPr>
          <p:nvPr/>
        </p:nvCxnSpPr>
        <p:spPr>
          <a:xfrm flipV="1">
            <a:off x="3448878" y="1427922"/>
            <a:ext cx="1587802" cy="56984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37169E-6674-46D2-B661-DAEAF2D7D13E}"/>
              </a:ext>
            </a:extLst>
          </p:cNvPr>
          <p:cNvCxnSpPr>
            <a:cxnSpLocks/>
          </p:cNvCxnSpPr>
          <p:nvPr/>
        </p:nvCxnSpPr>
        <p:spPr>
          <a:xfrm>
            <a:off x="3448878" y="1997765"/>
            <a:ext cx="1590261" cy="5963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C4DF21-F132-495E-8162-AA9865BA8C57}"/>
              </a:ext>
            </a:extLst>
          </p:cNvPr>
          <p:cNvCxnSpPr>
            <a:cxnSpLocks/>
          </p:cNvCxnSpPr>
          <p:nvPr/>
        </p:nvCxnSpPr>
        <p:spPr>
          <a:xfrm>
            <a:off x="3448878" y="1997765"/>
            <a:ext cx="1587802" cy="78519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0C6135-4DA2-4574-97D8-46A994F864DE}"/>
              </a:ext>
            </a:extLst>
          </p:cNvPr>
          <p:cNvCxnSpPr>
            <a:cxnSpLocks/>
          </p:cNvCxnSpPr>
          <p:nvPr/>
        </p:nvCxnSpPr>
        <p:spPr>
          <a:xfrm>
            <a:off x="3448878" y="1997765"/>
            <a:ext cx="1587802" cy="144117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F75381-A690-4C7E-868E-74E1638DA25F}"/>
              </a:ext>
            </a:extLst>
          </p:cNvPr>
          <p:cNvCxnSpPr>
            <a:cxnSpLocks/>
          </p:cNvCxnSpPr>
          <p:nvPr/>
        </p:nvCxnSpPr>
        <p:spPr>
          <a:xfrm flipV="1">
            <a:off x="3448878" y="1465144"/>
            <a:ext cx="1562581" cy="131118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BE5162-9B5C-4DBA-8B94-687945B55D2D}"/>
              </a:ext>
            </a:extLst>
          </p:cNvPr>
          <p:cNvCxnSpPr>
            <a:cxnSpLocks/>
          </p:cNvCxnSpPr>
          <p:nvPr/>
        </p:nvCxnSpPr>
        <p:spPr>
          <a:xfrm flipV="1">
            <a:off x="3452667" y="2050776"/>
            <a:ext cx="1596412" cy="69408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6631C7-0998-4EAC-A5AC-A154C6CF525C}"/>
              </a:ext>
            </a:extLst>
          </p:cNvPr>
          <p:cNvCxnSpPr>
            <a:cxnSpLocks/>
          </p:cNvCxnSpPr>
          <p:nvPr/>
        </p:nvCxnSpPr>
        <p:spPr>
          <a:xfrm>
            <a:off x="3417774" y="2763908"/>
            <a:ext cx="1635339" cy="1242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B38798-46DA-4ABF-BC95-CBEEA627B757}"/>
              </a:ext>
            </a:extLst>
          </p:cNvPr>
          <p:cNvCxnSpPr>
            <a:cxnSpLocks/>
          </p:cNvCxnSpPr>
          <p:nvPr/>
        </p:nvCxnSpPr>
        <p:spPr>
          <a:xfrm>
            <a:off x="3446419" y="2782955"/>
            <a:ext cx="1590261" cy="69325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EC05736-7778-405A-A9C0-1B0A1FAF72F7}"/>
              </a:ext>
            </a:extLst>
          </p:cNvPr>
          <p:cNvCxnSpPr>
            <a:cxnSpLocks/>
          </p:cNvCxnSpPr>
          <p:nvPr/>
        </p:nvCxnSpPr>
        <p:spPr>
          <a:xfrm>
            <a:off x="3436479" y="1384562"/>
            <a:ext cx="1631305" cy="278738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E03E39-79C5-40DC-ABD9-E890BABEABE4}"/>
              </a:ext>
            </a:extLst>
          </p:cNvPr>
          <p:cNvCxnSpPr>
            <a:cxnSpLocks/>
          </p:cNvCxnSpPr>
          <p:nvPr/>
        </p:nvCxnSpPr>
        <p:spPr>
          <a:xfrm>
            <a:off x="3364332" y="2171217"/>
            <a:ext cx="1717023" cy="1950499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046A747-33AF-4C61-A85A-61FA2F317ED2}"/>
              </a:ext>
            </a:extLst>
          </p:cNvPr>
          <p:cNvCxnSpPr>
            <a:cxnSpLocks/>
          </p:cNvCxnSpPr>
          <p:nvPr/>
        </p:nvCxnSpPr>
        <p:spPr>
          <a:xfrm>
            <a:off x="3451279" y="2820178"/>
            <a:ext cx="1585401" cy="138899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1064344" y="1133421"/>
            <a:ext cx="19168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…….</a:t>
            </a: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</p:txBody>
      </p:sp>
    </p:spTree>
    <p:extLst>
      <p:ext uri="{BB962C8B-B14F-4D97-AF65-F5344CB8AC3E}">
        <p14:creationId xmlns:p14="http://schemas.microsoft.com/office/powerpoint/2010/main" val="281679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One-to-One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2D90-8F79-4B4D-B969-07473F53A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one-to-one functions are there from a set with m elements to one with n elements?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By the product rule, there are </a:t>
            </a:r>
            <a:br>
              <a:rPr lang="en-US" dirty="0"/>
            </a:br>
            <a:r>
              <a:rPr lang="en-US" dirty="0"/>
              <a:t>n(n − 1)(n − 2) · · · (n − m + 1) one-to-one functions from a set with m elements to one with n elements.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there are 5 · 4 · 3 = 60 one-to-one functions from a set with three elements to a set with five elements.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746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One-to-One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590261"/>
            <a:ext cx="526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60718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319548" y="5465497"/>
            <a:ext cx="850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There are </a:t>
            </a:r>
            <a:r>
              <a:rPr lang="en-US" sz="2800" dirty="0"/>
              <a:t>5 · 4 · 3 = 60 </a:t>
            </a:r>
            <a:r>
              <a:rPr lang="en-US" sz="2600" dirty="0"/>
              <a:t>different functions from a set with three elements to a set with five elements.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6BD12-71E8-43D8-80F7-6137E54FB2B5}"/>
              </a:ext>
            </a:extLst>
          </p:cNvPr>
          <p:cNvSpPr txBox="1"/>
          <p:nvPr/>
        </p:nvSpPr>
        <p:spPr>
          <a:xfrm>
            <a:off x="481279" y="1069896"/>
            <a:ext cx="85049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Cannot Repeat in 1-1 Mapping/Function</a:t>
            </a:r>
          </a:p>
        </p:txBody>
      </p:sp>
    </p:spTree>
    <p:extLst>
      <p:ext uri="{BB962C8B-B14F-4D97-AF65-F5344CB8AC3E}">
        <p14:creationId xmlns:p14="http://schemas.microsoft.com/office/powerpoint/2010/main" val="383038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One-to-One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137091"/>
            <a:ext cx="1445449" cy="383540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08336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D</a:t>
            </a:r>
          </a:p>
          <a:p>
            <a:r>
              <a:rPr lang="en-IN" sz="2400" dirty="0">
                <a:solidFill>
                  <a:srgbClr val="FFFF00"/>
                </a:solidFill>
              </a:rPr>
              <a:t>…..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100288"/>
            <a:ext cx="1445449" cy="4167451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100289"/>
            <a:ext cx="526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r>
              <a:rPr lang="en-IN" sz="2400" dirty="0">
                <a:solidFill>
                  <a:srgbClr val="FFFF00"/>
                </a:solidFill>
              </a:rPr>
              <a:t>….</a:t>
            </a:r>
          </a:p>
          <a:p>
            <a:r>
              <a:rPr lang="en-IN" sz="2400" dirty="0">
                <a:solidFill>
                  <a:srgbClr val="FFFF00"/>
                </a:solidFill>
              </a:rPr>
              <a:t>N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0" y="5666786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There are </a:t>
            </a:r>
            <a:r>
              <a:rPr lang="en-US" sz="2800" dirty="0"/>
              <a:t>N(N − 1)(N − 2) · · · (N − M + 1)</a:t>
            </a:r>
            <a:r>
              <a:rPr lang="en-US" sz="2600" dirty="0"/>
              <a:t> different functions from a set with N elements to a set with M elements.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385679" y="1122183"/>
            <a:ext cx="24531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N-1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N-2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N-3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…….</a:t>
            </a: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N-(M-1) Choices</a:t>
            </a:r>
          </a:p>
        </p:txBody>
      </p:sp>
    </p:spTree>
    <p:extLst>
      <p:ext uri="{BB962C8B-B14F-4D97-AF65-F5344CB8AC3E}">
        <p14:creationId xmlns:p14="http://schemas.microsoft.com/office/powerpoint/2010/main" val="27724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AA3-2954-41EA-815C-EF24E159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Counting One-to-One Functions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0CF4BE-C12F-414D-A45C-57DFBF061AE9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DFAA-3F8A-4150-B110-1A3EC39AA3F8}"/>
              </a:ext>
            </a:extLst>
          </p:cNvPr>
          <p:cNvSpPr txBox="1"/>
          <p:nvPr/>
        </p:nvSpPr>
        <p:spPr>
          <a:xfrm>
            <a:off x="3070656" y="1590261"/>
            <a:ext cx="526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A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B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E7409A-93DA-46F9-9523-939E54F4F4B1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07E76-9354-4537-AD84-0AC544B64E0B}"/>
              </a:ext>
            </a:extLst>
          </p:cNvPr>
          <p:cNvSpPr txBox="1"/>
          <p:nvPr/>
        </p:nvSpPr>
        <p:spPr>
          <a:xfrm>
            <a:off x="5066496" y="1607185"/>
            <a:ext cx="5267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6DE02-5825-402A-9253-12AE1F489872}"/>
              </a:ext>
            </a:extLst>
          </p:cNvPr>
          <p:cNvSpPr txBox="1"/>
          <p:nvPr/>
        </p:nvSpPr>
        <p:spPr>
          <a:xfrm>
            <a:off x="0" y="5754757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There are </a:t>
            </a:r>
            <a:r>
              <a:rPr lang="en-US" sz="2800" dirty="0"/>
              <a:t>5 · (5-1) · (5-2) = 5 · 4 · 3 = 60 </a:t>
            </a:r>
            <a:r>
              <a:rPr lang="en-US" sz="2600" dirty="0"/>
              <a:t>different functions from a set with three elements to a set with five elements.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7AB99F-42A4-4543-99B2-ECBD307ACACC}"/>
              </a:ext>
            </a:extLst>
          </p:cNvPr>
          <p:cNvSpPr txBox="1"/>
          <p:nvPr/>
        </p:nvSpPr>
        <p:spPr>
          <a:xfrm>
            <a:off x="878601" y="16480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5-1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5-2 Choices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6BD12-71E8-43D8-80F7-6137E54FB2B5}"/>
              </a:ext>
            </a:extLst>
          </p:cNvPr>
          <p:cNvSpPr txBox="1"/>
          <p:nvPr/>
        </p:nvSpPr>
        <p:spPr>
          <a:xfrm>
            <a:off x="471948" y="1115323"/>
            <a:ext cx="85049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Cannot Repeat in 1-1 Mapping/Function</a:t>
            </a:r>
          </a:p>
        </p:txBody>
      </p:sp>
    </p:spTree>
    <p:extLst>
      <p:ext uri="{BB962C8B-B14F-4D97-AF65-F5344CB8AC3E}">
        <p14:creationId xmlns:p14="http://schemas.microsoft.com/office/powerpoint/2010/main" val="157798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8243</TotalTime>
  <Words>1150</Words>
  <Application>Microsoft Office PowerPoint</Application>
  <PresentationFormat>On-screen Show (4:3)</PresentationFormat>
  <Paragraphs>500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</vt:lpstr>
      <vt:lpstr>Bahnschrift</vt:lpstr>
      <vt:lpstr>Bahnschrift SemiBold</vt:lpstr>
      <vt:lpstr>Calibri</vt:lpstr>
      <vt:lpstr>Cambria Math</vt:lpstr>
      <vt:lpstr>Edwardian Script ITC</vt:lpstr>
      <vt:lpstr>Office Theme</vt:lpstr>
      <vt:lpstr>EMTH403</vt:lpstr>
      <vt:lpstr>Lecture Outcomes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Basics of Counting – The Division Rule </vt:lpstr>
      <vt:lpstr>Different Types of Correspondences</vt:lpstr>
      <vt:lpstr>Different Types of Correspondences</vt:lpstr>
      <vt:lpstr>Different Types of Correspondences</vt:lpstr>
      <vt:lpstr>Different Types of Correspondences</vt:lpstr>
      <vt:lpstr>Different Types of Correspondences</vt:lpstr>
      <vt:lpstr>Different Types of Correspondences</vt:lpstr>
      <vt:lpstr>Function - Example</vt:lpstr>
      <vt:lpstr>Function - Example</vt:lpstr>
      <vt:lpstr>Counting Functions</vt:lpstr>
      <vt:lpstr>Counting Functions</vt:lpstr>
      <vt:lpstr>Counting Functions</vt:lpstr>
      <vt:lpstr>Counting Functions</vt:lpstr>
      <vt:lpstr>Counting Functions</vt:lpstr>
      <vt:lpstr>Counting One-to-One Functions</vt:lpstr>
      <vt:lpstr>Counting One-to-One Functions</vt:lpstr>
      <vt:lpstr>Counting One-to-One Functions</vt:lpstr>
      <vt:lpstr>Counting One-to-One Functions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1120</cp:revision>
  <dcterms:created xsi:type="dcterms:W3CDTF">2020-12-04T05:20:56Z</dcterms:created>
  <dcterms:modified xsi:type="dcterms:W3CDTF">2021-01-04T04:03:20Z</dcterms:modified>
</cp:coreProperties>
</file>