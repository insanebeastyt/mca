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3" r:id="rId17"/>
    <p:sldId id="276" r:id="rId18"/>
    <p:sldId id="274" r:id="rId19"/>
    <p:sldId id="277" r:id="rId20"/>
    <p:sldId id="410" r:id="rId21"/>
    <p:sldId id="424" r:id="rId22"/>
    <p:sldId id="409" r:id="rId23"/>
    <p:sldId id="425" r:id="rId24"/>
    <p:sldId id="426" r:id="rId25"/>
    <p:sldId id="25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0"/>
            <p14:sldId id="261"/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270"/>
            <p14:sldId id="271"/>
            <p14:sldId id="275"/>
            <p14:sldId id="273"/>
            <p14:sldId id="276"/>
            <p14:sldId id="274"/>
            <p14:sldId id="277"/>
            <p14:sldId id="410"/>
            <p14:sldId id="424"/>
            <p14:sldId id="409"/>
            <p14:sldId id="425"/>
            <p14:sldId id="426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17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16-01-2021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path, cycles and connectivity in a graph.</a:t>
            </a:r>
          </a:p>
          <a:p>
            <a:r>
              <a:rPr lang="en-US" dirty="0"/>
              <a:t>understand how to discard an isomorphism with the help of cycles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problems can be modeled with paths formed by traveling along the edges of graphs. </a:t>
            </a:r>
          </a:p>
          <a:p>
            <a:r>
              <a:rPr lang="en-US" dirty="0"/>
              <a:t>For instance, the problem of determining whether a </a:t>
            </a:r>
            <a:r>
              <a:rPr lang="en-US" dirty="0">
                <a:solidFill>
                  <a:srgbClr val="FF0000"/>
                </a:solidFill>
              </a:rPr>
              <a:t>message can be sent between two computers</a:t>
            </a:r>
            <a:r>
              <a:rPr lang="en-US" b="1" dirty="0"/>
              <a:t> </a:t>
            </a:r>
            <a:r>
              <a:rPr lang="en-US" dirty="0"/>
              <a:t>using intermediate links can be studied with a graph model. </a:t>
            </a:r>
          </a:p>
          <a:p>
            <a:r>
              <a:rPr lang="en-US" dirty="0"/>
              <a:t>Problems of efficiently planning routes for </a:t>
            </a:r>
            <a:r>
              <a:rPr lang="en-US" dirty="0">
                <a:solidFill>
                  <a:srgbClr val="FF0000"/>
                </a:solidFill>
              </a:rPr>
              <a:t>mail delivery, garbage pickup, diagnostics in computer networks, </a:t>
            </a:r>
            <a:r>
              <a:rPr lang="en-US" dirty="0"/>
              <a:t>and so on can be solved using models that involve paths in graphs.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14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Informally, a path is a </a:t>
            </a:r>
            <a:r>
              <a:rPr lang="en-US" dirty="0">
                <a:solidFill>
                  <a:srgbClr val="FF0000"/>
                </a:solidFill>
              </a:rPr>
              <a:t>sequence of edges </a:t>
            </a:r>
            <a:r>
              <a:rPr lang="en-US" dirty="0"/>
              <a:t>that begins at a vertex of a graph and travels from vertex to vertex along edges of the graph.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 the path travels along its edges, it visits the vertices along this path, that is, the endpoints of these edges.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61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formal definition of paths and related terminology is given below.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57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401098"/>
            <a:ext cx="8504904" cy="4504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n be a nonnegative integer and G an undirected graph. </a:t>
            </a:r>
          </a:p>
          <a:p>
            <a:pPr marL="0" indent="0">
              <a:buNone/>
            </a:pPr>
            <a:r>
              <a:rPr lang="en-US" dirty="0"/>
              <a:t>A path of </a:t>
            </a:r>
            <a:r>
              <a:rPr lang="en-US" dirty="0">
                <a:solidFill>
                  <a:srgbClr val="FF0000"/>
                </a:solidFill>
              </a:rPr>
              <a:t>length n</a:t>
            </a:r>
            <a:r>
              <a:rPr lang="en-US" b="1" dirty="0"/>
              <a:t> </a:t>
            </a:r>
            <a:r>
              <a:rPr lang="en-US" dirty="0"/>
              <a:t>from u to v in G is a sequence of n edges e</a:t>
            </a:r>
            <a:r>
              <a:rPr lang="en-US" baseline="-25000" dirty="0"/>
              <a:t>1</a:t>
            </a:r>
            <a:r>
              <a:rPr lang="en-US" dirty="0"/>
              <a:t>, . . . , e</a:t>
            </a:r>
            <a:r>
              <a:rPr lang="en-US" baseline="-25000" dirty="0"/>
              <a:t>n</a:t>
            </a:r>
            <a:r>
              <a:rPr lang="en-US" dirty="0"/>
              <a:t> of G for which there exists a sequence x</a:t>
            </a:r>
            <a:r>
              <a:rPr lang="en-US" baseline="-25000" dirty="0"/>
              <a:t>0</a:t>
            </a:r>
            <a:r>
              <a:rPr lang="en-US" dirty="0"/>
              <a:t> = u, x</a:t>
            </a:r>
            <a:r>
              <a:rPr lang="en-US" baseline="-25000" dirty="0"/>
              <a:t>1</a:t>
            </a:r>
            <a:r>
              <a:rPr lang="en-US" dirty="0"/>
              <a:t>, . . . , x</a:t>
            </a:r>
            <a:r>
              <a:rPr lang="en-US" baseline="-25000" dirty="0"/>
              <a:t>n−1</a:t>
            </a:r>
            <a:r>
              <a:rPr lang="en-US" dirty="0"/>
              <a:t>, x</a:t>
            </a:r>
            <a:r>
              <a:rPr lang="en-US" baseline="-25000" dirty="0"/>
              <a:t>n</a:t>
            </a:r>
            <a:r>
              <a:rPr lang="en-US" dirty="0"/>
              <a:t> = v of vertices such that e</a:t>
            </a:r>
            <a:r>
              <a:rPr lang="en-US" baseline="-25000" dirty="0"/>
              <a:t>i</a:t>
            </a:r>
            <a:r>
              <a:rPr lang="en-US" dirty="0"/>
              <a:t> has, for i = 1, . . . , n, the endpoints x</a:t>
            </a:r>
            <a:r>
              <a:rPr lang="en-US" baseline="-25000" dirty="0"/>
              <a:t>i−1 </a:t>
            </a:r>
            <a:r>
              <a:rPr lang="en-US" dirty="0"/>
              <a:t>and x</a:t>
            </a:r>
            <a:r>
              <a:rPr lang="en-US" baseline="-25000" dirty="0"/>
              <a:t>i</a:t>
            </a:r>
            <a:r>
              <a:rPr lang="en-US" dirty="0"/>
              <a:t>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61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>
            <a:normAutofit/>
          </a:bodyPr>
          <a:lstStyle/>
          <a:p>
            <a:r>
              <a:rPr lang="en-US" sz="2700" dirty="0"/>
              <a:t>The path is a </a:t>
            </a:r>
            <a:r>
              <a:rPr lang="en-US" sz="2700" dirty="0">
                <a:solidFill>
                  <a:srgbClr val="FF0000"/>
                </a:solidFill>
              </a:rPr>
              <a:t>circuit</a:t>
            </a:r>
            <a:r>
              <a:rPr lang="en-US" sz="2700" dirty="0"/>
              <a:t> if it begins and ends at the same vertex, that is, if u = v, and has length greater than zero.</a:t>
            </a:r>
          </a:p>
          <a:p>
            <a:r>
              <a:rPr lang="en-US" sz="2700" dirty="0"/>
              <a:t>The </a:t>
            </a:r>
            <a:r>
              <a:rPr lang="en-US" sz="2700" dirty="0">
                <a:solidFill>
                  <a:srgbClr val="FF0000"/>
                </a:solidFill>
              </a:rPr>
              <a:t>path or circuit </a:t>
            </a:r>
            <a:r>
              <a:rPr lang="en-US" sz="2700" dirty="0"/>
              <a:t>is said to pass through the vertices x</a:t>
            </a:r>
            <a:r>
              <a:rPr lang="en-US" sz="2700" baseline="-25000" dirty="0"/>
              <a:t>1</a:t>
            </a:r>
            <a:r>
              <a:rPr lang="en-US" sz="2700" dirty="0"/>
              <a:t>, x</a:t>
            </a:r>
            <a:r>
              <a:rPr lang="en-US" sz="2700" baseline="-25000" dirty="0"/>
              <a:t>2</a:t>
            </a:r>
            <a:r>
              <a:rPr lang="en-US" sz="2700" dirty="0"/>
              <a:t>, . . . , x</a:t>
            </a:r>
            <a:r>
              <a:rPr lang="en-US" sz="2700" baseline="-25000" dirty="0"/>
              <a:t>n−1</a:t>
            </a:r>
            <a:r>
              <a:rPr lang="en-US" sz="2700" dirty="0"/>
              <a:t> or traverse the edges e</a:t>
            </a:r>
            <a:r>
              <a:rPr lang="en-US" sz="2700" baseline="-25000" dirty="0"/>
              <a:t>1</a:t>
            </a:r>
            <a:r>
              <a:rPr lang="en-US" sz="2700" dirty="0"/>
              <a:t>, e</a:t>
            </a:r>
            <a:r>
              <a:rPr lang="en-US" sz="2700" baseline="-25000" dirty="0"/>
              <a:t>2</a:t>
            </a:r>
            <a:r>
              <a:rPr lang="en-US" sz="2700" dirty="0"/>
              <a:t>, . . . , </a:t>
            </a:r>
            <a:r>
              <a:rPr lang="en-US" sz="2700" dirty="0" err="1"/>
              <a:t>e</a:t>
            </a:r>
            <a:r>
              <a:rPr lang="en-US" sz="2700" baseline="-25000" dirty="0" err="1"/>
              <a:t>n</a:t>
            </a:r>
            <a:r>
              <a:rPr lang="en-US" sz="2700" dirty="0"/>
              <a:t>.</a:t>
            </a:r>
          </a:p>
          <a:p>
            <a:r>
              <a:rPr lang="en-US" sz="2700" dirty="0"/>
              <a:t>A path or circuit is </a:t>
            </a:r>
            <a:r>
              <a:rPr lang="en-US" sz="2700" dirty="0">
                <a:solidFill>
                  <a:srgbClr val="FF0000"/>
                </a:solidFill>
              </a:rPr>
              <a:t>simple</a:t>
            </a:r>
            <a:r>
              <a:rPr lang="en-US" sz="2700" dirty="0"/>
              <a:t> if it does not contain the same edge more than once.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1060389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055164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2553B-6FFB-4EE2-ACDA-F31C6CB8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609" y="1150685"/>
            <a:ext cx="4286266" cy="2904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355671" y="4349520"/>
            <a:ext cx="8432658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In the simple graph shown in above, a, d, c, f , e is a simple path of length 4, because {a, d}, {d, c}, {c, f }, and {f, e} are all edges.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935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-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055164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2553B-6FFB-4EE2-ACDA-F31C6CB8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609" y="1150685"/>
            <a:ext cx="4286266" cy="2904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393290" y="3930514"/>
            <a:ext cx="8432658" cy="278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However, d, e, c, a is not a path, because {e, c} is not an edge.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Note that b, c, f , e, b is a circuit of length 4 because {b, c}, {c, f }, {f, e}, and {e, b} are edges, and this path begins and ends at b.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4210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055164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355671" y="4486240"/>
            <a:ext cx="8432658" cy="205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In an acquaintanceship graph there is a path between two people if there is a chain of people linking these people, where two people adjacent in the chain knows one another. For example, there is a chain of six people linking Kamini and Ching</a:t>
            </a:r>
            <a:endParaRPr lang="en-I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F45138-7513-450E-A24C-8EB02E01F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7633" y="1240103"/>
            <a:ext cx="5516217" cy="32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055164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355671" y="4652910"/>
            <a:ext cx="8432658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Many social scientists have conjectured that almost every pair of people in the world are linked by a small chain of people, perhaps containing just five or fewer people.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F45138-7513-450E-A24C-8EB02E01F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322" y="1287952"/>
            <a:ext cx="5516217" cy="32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4055164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408069" y="5078124"/>
            <a:ext cx="84326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This path passes through vertices  f and d  in that order.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378C0E-DB59-42D1-BD51-896AF841EC45}"/>
              </a:ext>
            </a:extLst>
          </p:cNvPr>
          <p:cNvGrpSpPr/>
          <p:nvPr/>
        </p:nvGrpSpPr>
        <p:grpSpPr>
          <a:xfrm>
            <a:off x="3043563" y="1082930"/>
            <a:ext cx="2971150" cy="3439812"/>
            <a:chOff x="2205038" y="1162006"/>
            <a:chExt cx="2971150" cy="3439812"/>
          </a:xfrm>
        </p:grpSpPr>
        <p:sp>
          <p:nvSpPr>
            <p:cNvPr id="6" name="Line 25">
              <a:extLst>
                <a:ext uri="{FF2B5EF4-FFF2-40B4-BE49-F238E27FC236}">
                  <a16:creationId xmlns:a16="http://schemas.microsoft.com/office/drawing/2014/main" id="{5D7217A4-052D-4FD8-8707-FD6530A65D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89338" y="2512668"/>
              <a:ext cx="1027112" cy="27305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8DFC0CF1-D7B8-4632-B973-C6D3A0ED2E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48000" y="2849218"/>
              <a:ext cx="617538" cy="6858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E087687A-669C-4F93-8D29-8E058412318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19625" y="2374556"/>
              <a:ext cx="556563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/>
                <a:t> d</a:t>
              </a:r>
              <a:endParaRPr lang="en-US" altLang="en-US" sz="3600"/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8CA05A17-3F95-461C-8578-9129AE4F1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4144618"/>
              <a:ext cx="6683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 W</a:t>
              </a:r>
              <a:r>
                <a:rPr lang="en-US" altLang="en-US" sz="2400" baseline="-25000"/>
                <a:t>5</a:t>
              </a:r>
              <a:endParaRPr lang="en-US" altLang="en-US" sz="2400"/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9F4D6EC0-204B-4987-AB9B-94BA2886DB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>
              <a:off x="2922588" y="2468218"/>
              <a:ext cx="0" cy="10620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2B25E528-5D6E-422D-80B5-609FEA363A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81401" y="1750668"/>
              <a:ext cx="206375" cy="20478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3600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59CCD440-39C1-4152-9C2F-347DF38840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25800" y="3539781"/>
              <a:ext cx="960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13777A29-4733-438F-BE48-5E5A18731B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8114" y="2442819"/>
              <a:ext cx="204787" cy="20637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3600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F0ED910C-7353-488E-9460-9619158DF0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4359276" y="2515843"/>
              <a:ext cx="36513" cy="9652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C18A099E-1D8F-4E9F-B2EC-43B99B6F92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800" y="1915768"/>
              <a:ext cx="795338" cy="596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09A73FAA-AA0A-4EA6-95DE-F23A3AA545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19426" y="3403257"/>
              <a:ext cx="206375" cy="2047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3600">
                <a:solidFill>
                  <a:srgbClr val="FF3300"/>
                </a:solidFill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7CD1503F-B562-4BDB-8BAD-2227469E5C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2917032" y="1724475"/>
              <a:ext cx="685800" cy="890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E3D2F248-1ADA-4B13-8443-5CB560055C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7975" y="3403257"/>
              <a:ext cx="204788" cy="204787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3600"/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9C03D378-68D2-4706-8C82-A4D865D5DC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84463" y="3403256"/>
              <a:ext cx="553357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/>
                <a:t> a</a:t>
              </a:r>
              <a:endParaRPr lang="en-US" altLang="en-US" sz="3600"/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4A3B6ABC-E8B8-4689-BB81-01E76CD36C7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05038" y="2374556"/>
              <a:ext cx="559769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/>
                <a:t> b</a:t>
              </a:r>
              <a:endParaRPr lang="en-US" altLang="en-US" sz="3600"/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FD93E5E5-98D8-4098-A467-B0D032F061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6725" y="3403256"/>
              <a:ext cx="55496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/>
                <a:t> e</a:t>
              </a:r>
              <a:endParaRPr lang="en-US" altLang="en-US" sz="3600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8DC2FAE2-7203-4480-80AB-689F6ED630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65426" y="2512668"/>
              <a:ext cx="892175" cy="273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B7DA4351-B733-4F1A-8B99-5D501B38BD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9338" y="2785718"/>
              <a:ext cx="615950" cy="6175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D6AF6678-2EA4-4E14-9AAD-02394CE33F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57600" y="1903068"/>
              <a:ext cx="0" cy="882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3600"/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C2E355F5-1403-49D4-B549-A12F865893F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20674" y="1162006"/>
              <a:ext cx="537327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 dirty="0"/>
                <a:t> c</a:t>
              </a:r>
              <a:endParaRPr lang="en-US" altLang="en-US" sz="3600" dirty="0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80434DB6-AAB2-40DC-8AA4-C817D6F1AE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9176" y="2158160"/>
              <a:ext cx="45402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3600" i="1" dirty="0"/>
                <a:t> f</a:t>
              </a:r>
              <a:endParaRPr lang="en-US" altLang="en-US" sz="3600" dirty="0"/>
            </a:p>
          </p:txBody>
        </p:sp>
        <p:sp>
          <p:nvSpPr>
            <p:cNvPr id="31" name="Oval 21">
              <a:extLst>
                <a:ext uri="{FF2B5EF4-FFF2-40B4-BE49-F238E27FC236}">
                  <a16:creationId xmlns:a16="http://schemas.microsoft.com/office/drawing/2014/main" id="{36B66788-0078-4D43-B083-4E52ADC697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3519489" y="2649194"/>
              <a:ext cx="230187" cy="246063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3600"/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2716EA08-0C09-409D-8D83-62CE923B89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4456114" y="2406306"/>
              <a:ext cx="230187" cy="246062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3600"/>
            </a:p>
          </p:txBody>
        </p: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25558A6D-645B-4877-BA52-3D924AC855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5138" y="3403256"/>
              <a:ext cx="55496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i="1"/>
                <a:t> e</a:t>
              </a:r>
              <a:endParaRPr lang="en-US" altLang="en-US" sz="3600"/>
            </a:p>
          </p:txBody>
        </p:sp>
      </p:grpSp>
    </p:spTree>
    <p:extLst>
      <p:ext uri="{BB962C8B-B14F-4D97-AF65-F5344CB8AC3E}">
        <p14:creationId xmlns:p14="http://schemas.microsoft.com/office/powerpoint/2010/main" val="870625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63" y="1530625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4C85E-69CE-4BA8-9707-DBBE6A064C65}"/>
              </a:ext>
            </a:extLst>
          </p:cNvPr>
          <p:cNvSpPr txBox="1"/>
          <p:nvPr/>
        </p:nvSpPr>
        <p:spPr>
          <a:xfrm>
            <a:off x="312809" y="1385411"/>
            <a:ext cx="8432658" cy="388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rgbClr val="CC0000"/>
                </a:solidFill>
              </a:rPr>
              <a:t>path of length n</a:t>
            </a:r>
            <a:r>
              <a:rPr lang="en-US" altLang="en-US" sz="2800" dirty="0"/>
              <a:t> from </a:t>
            </a:r>
            <a:r>
              <a:rPr lang="en-US" altLang="en-US" sz="2800" i="1" dirty="0"/>
              <a:t>u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v</a:t>
            </a:r>
            <a:r>
              <a:rPr lang="en-US" altLang="en-US" sz="2800" dirty="0"/>
              <a:t> in an undirected graph is a sequence of edges 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e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. . ., e</a:t>
            </a:r>
            <a:r>
              <a:rPr lang="en-US" altLang="en-US" sz="2800" baseline="-25000" dirty="0"/>
              <a:t>n</a:t>
            </a:r>
            <a:r>
              <a:rPr lang="en-US" altLang="en-US" sz="2800" dirty="0"/>
              <a:t> of the graph such that edge e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 has endpoints x</a:t>
            </a:r>
            <a:r>
              <a:rPr lang="en-US" altLang="en-US" sz="2800" baseline="-25000" dirty="0"/>
              <a:t>o </a:t>
            </a:r>
            <a:r>
              <a:rPr lang="en-US" altLang="en-US" sz="2800" dirty="0"/>
              <a:t>and</a:t>
            </a:r>
            <a:r>
              <a:rPr lang="en-US" altLang="en-US" sz="2800" baseline="-25000" dirty="0"/>
              <a:t> </a:t>
            </a:r>
            <a:r>
              <a:rPr lang="en-US" altLang="en-US" sz="2800" dirty="0"/>
              <a:t> x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,</a:t>
            </a:r>
          </a:p>
          <a:p>
            <a:pPr algn="just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800" dirty="0"/>
              <a:t>edge e</a:t>
            </a:r>
            <a:r>
              <a:rPr lang="en-US" altLang="en-US" sz="2800" baseline="-25000" dirty="0"/>
              <a:t>2 </a:t>
            </a:r>
            <a:r>
              <a:rPr lang="en-US" altLang="en-US" sz="2800" dirty="0"/>
              <a:t> has endpoints x</a:t>
            </a:r>
            <a:r>
              <a:rPr lang="en-US" altLang="en-US" sz="2800" baseline="-25000" dirty="0"/>
              <a:t>1 </a:t>
            </a:r>
            <a:r>
              <a:rPr lang="en-US" altLang="en-US" sz="2800" dirty="0"/>
              <a:t>and</a:t>
            </a:r>
            <a:r>
              <a:rPr lang="en-US" altLang="en-US" sz="2800" baseline="-25000" dirty="0"/>
              <a:t> </a:t>
            </a:r>
            <a:r>
              <a:rPr lang="en-US" altLang="en-US" sz="2800" dirty="0"/>
              <a:t> x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,. . . and edge e</a:t>
            </a:r>
            <a:r>
              <a:rPr lang="en-US" altLang="en-US" sz="2800" baseline="-25000" dirty="0"/>
              <a:t>n </a:t>
            </a:r>
            <a:r>
              <a:rPr lang="en-US" altLang="en-US" sz="2800" dirty="0"/>
              <a:t> has endpoints x</a:t>
            </a:r>
            <a:r>
              <a:rPr lang="en-US" altLang="en-US" sz="2800" baseline="-25000" dirty="0"/>
              <a:t>n-1 </a:t>
            </a:r>
            <a:r>
              <a:rPr lang="en-US" altLang="en-US" sz="2800" dirty="0"/>
              <a:t>and</a:t>
            </a:r>
            <a:r>
              <a:rPr lang="en-US" altLang="en-US" sz="2800" baseline="-25000" dirty="0"/>
              <a:t> </a:t>
            </a:r>
            <a:r>
              <a:rPr lang="en-US" altLang="en-US" sz="2800" dirty="0"/>
              <a:t> x</a:t>
            </a:r>
            <a:r>
              <a:rPr lang="en-US" altLang="en-US" sz="2800" baseline="-25000" dirty="0"/>
              <a:t>n </a:t>
            </a:r>
            <a:r>
              <a:rPr lang="en-US" altLang="en-US" sz="2800" dirty="0"/>
              <a:t>, </a:t>
            </a:r>
          </a:p>
          <a:p>
            <a:pPr algn="ctr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800" dirty="0">
                <a:solidFill>
                  <a:srgbClr val="CC0000"/>
                </a:solidFill>
              </a:rPr>
              <a:t>where x</a:t>
            </a:r>
            <a:r>
              <a:rPr lang="en-US" altLang="en-US" sz="2800" baseline="-25000" dirty="0">
                <a:solidFill>
                  <a:srgbClr val="CC0000"/>
                </a:solidFill>
              </a:rPr>
              <a:t>0</a:t>
            </a:r>
            <a:r>
              <a:rPr lang="en-US" altLang="en-US" sz="2800" dirty="0">
                <a:solidFill>
                  <a:srgbClr val="CC0000"/>
                </a:solidFill>
              </a:rPr>
              <a:t> = </a:t>
            </a:r>
            <a:r>
              <a:rPr lang="en-US" altLang="en-US" sz="2800" i="1" dirty="0">
                <a:solidFill>
                  <a:srgbClr val="CC0000"/>
                </a:solidFill>
              </a:rPr>
              <a:t>u</a:t>
            </a:r>
            <a:r>
              <a:rPr lang="en-US" altLang="en-US" sz="2800" dirty="0">
                <a:solidFill>
                  <a:srgbClr val="CC0000"/>
                </a:solidFill>
              </a:rPr>
              <a:t> and x</a:t>
            </a:r>
            <a:r>
              <a:rPr lang="en-US" altLang="en-US" sz="2800" baseline="-25000" dirty="0">
                <a:solidFill>
                  <a:srgbClr val="CC0000"/>
                </a:solidFill>
              </a:rPr>
              <a:t>n</a:t>
            </a:r>
            <a:r>
              <a:rPr lang="en-US" altLang="en-US" sz="2800" dirty="0">
                <a:solidFill>
                  <a:srgbClr val="CC0000"/>
                </a:solidFill>
              </a:rPr>
              <a:t> = </a:t>
            </a:r>
            <a:r>
              <a:rPr lang="en-US" altLang="en-US" sz="2800" i="1" dirty="0">
                <a:solidFill>
                  <a:srgbClr val="CC0000"/>
                </a:solidFill>
              </a:rPr>
              <a:t>v</a:t>
            </a:r>
            <a:r>
              <a:rPr lang="en-US" altLang="en-US" sz="2800" dirty="0"/>
              <a:t>.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3070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63" y="1530625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7C522-195A-4975-9E2E-E51A2CA37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923" y="1388269"/>
            <a:ext cx="472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140000"/>
              </a:lnSpc>
            </a:pP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This path passes through vertices  f, d, e,  in that order.  It has </a:t>
            </a:r>
            <a:r>
              <a:rPr lang="en-US" altLang="en-US" sz="2400" b="0" dirty="0">
                <a:solidFill>
                  <a:srgbClr val="0000CC"/>
                </a:solidFill>
                <a:latin typeface="+mn-lt"/>
              </a:rPr>
              <a:t>length</a:t>
            </a: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 4. </a:t>
            </a:r>
            <a:br>
              <a:rPr lang="en-US" altLang="en-US" sz="1600" b="0" dirty="0">
                <a:solidFill>
                  <a:schemeClr val="tx1"/>
                </a:solidFill>
                <a:latin typeface="+mn-lt"/>
              </a:rPr>
            </a:br>
            <a:br>
              <a:rPr lang="en-US" altLang="en-US" sz="1200" b="0" dirty="0">
                <a:solidFill>
                  <a:schemeClr val="tx1"/>
                </a:solidFill>
                <a:latin typeface="+mn-lt"/>
              </a:rPr>
            </a:b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It is a </a:t>
            </a:r>
            <a:r>
              <a:rPr lang="en-US" altLang="en-US" sz="2400" b="0" dirty="0">
                <a:solidFill>
                  <a:srgbClr val="0000CC"/>
                </a:solidFill>
                <a:latin typeface="+mn-lt"/>
              </a:rPr>
              <a:t>circuit</a:t>
            </a: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 because it begins and ends at the same vertex.  </a:t>
            </a:r>
            <a:br>
              <a:rPr lang="en-US" altLang="en-US" sz="2400" b="0" dirty="0">
                <a:solidFill>
                  <a:schemeClr val="tx1"/>
                </a:solidFill>
                <a:latin typeface="+mn-lt"/>
              </a:rPr>
            </a:br>
            <a:br>
              <a:rPr lang="en-US" altLang="en-US" sz="1200" b="0" dirty="0">
                <a:solidFill>
                  <a:schemeClr val="tx1"/>
                </a:solidFill>
                <a:latin typeface="+mn-lt"/>
              </a:rPr>
            </a:b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It is called </a:t>
            </a:r>
            <a:r>
              <a:rPr lang="en-US" altLang="en-US" sz="2400" b="0" dirty="0">
                <a:solidFill>
                  <a:srgbClr val="0000CC"/>
                </a:solidFill>
                <a:latin typeface="+mn-lt"/>
              </a:rPr>
              <a:t>simple</a:t>
            </a:r>
            <a:r>
              <a:rPr lang="en-US" altLang="en-US" sz="2400" b="0" dirty="0">
                <a:solidFill>
                  <a:schemeClr val="tx1"/>
                </a:solidFill>
                <a:latin typeface="+mn-lt"/>
              </a:rPr>
              <a:t> because it does not contain the same edge more than once.</a:t>
            </a:r>
            <a:endParaRPr lang="en-US" altLang="en-US" b="0" dirty="0">
              <a:latin typeface="+mn-lt"/>
            </a:endParaRPr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5F2CC4D6-53A0-4D10-93DF-09980B36BD6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48165" y="3168650"/>
            <a:ext cx="1027112" cy="2730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194FFD06-C84E-4BFA-8063-8112EA99E12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06827" y="3505200"/>
            <a:ext cx="617538" cy="685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9BAC1EF-B8E5-4E9C-B5DB-911B48376A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78452" y="3030538"/>
            <a:ext cx="5565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d</a:t>
            </a:r>
            <a:endParaRPr lang="en-US" altLang="en-US" sz="3600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8F257AE3-3F1E-46F1-B7E8-19ACA3487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427" y="4800600"/>
            <a:ext cx="8675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dirty="0"/>
              <a:t> W</a:t>
            </a:r>
            <a:r>
              <a:rPr lang="en-US" altLang="en-US" sz="3600" baseline="-25000" dirty="0"/>
              <a:t>5</a:t>
            </a:r>
            <a:endParaRPr lang="en-US" altLang="en-US" sz="3600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6AA80537-FF85-43A8-9753-4E587F6B0130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1481415" y="3124200"/>
            <a:ext cx="0" cy="1062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2E0D9350-F44D-4D87-8D81-17C7B9A9D6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0228" y="2406650"/>
            <a:ext cx="206375" cy="2047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15763D32-045E-4D03-8F4C-A6CC0FC9F4A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784627" y="4195763"/>
            <a:ext cx="96043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2E3887A7-D71A-4BA6-910D-2321198F9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36941" y="3098801"/>
            <a:ext cx="204787" cy="2063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B66724A6-DCCE-427C-8181-F61514BA5156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918103" y="3171825"/>
            <a:ext cx="36513" cy="965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355A46AB-4C66-4C1D-BF67-603AA612E96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92627" y="2571750"/>
            <a:ext cx="795338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4A8C7E56-60A1-4D6C-BC7D-B289D9DD4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8253" y="4059239"/>
            <a:ext cx="206375" cy="204787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>
              <a:solidFill>
                <a:srgbClr val="FF3300"/>
              </a:solidFill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664457BC-B3F4-4A4D-9214-8088A6CF86E0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1475859" y="2380457"/>
            <a:ext cx="685800" cy="890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9F930CA8-2CB8-4281-BAE5-5270815E3B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802" y="4059239"/>
            <a:ext cx="204788" cy="204787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3600"/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59D2C93-C60B-497A-8F4F-4E30F3BD038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43290" y="4059238"/>
            <a:ext cx="55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a</a:t>
            </a:r>
            <a:endParaRPr lang="en-US" altLang="en-US" sz="3600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638D71C1-A6D5-4774-A458-4834931121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3865" y="3030538"/>
            <a:ext cx="5597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b</a:t>
            </a:r>
            <a:endParaRPr lang="en-US" altLang="en-US" sz="3600"/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2D4A9211-C610-4A57-A026-11C6812CE7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552" y="4059238"/>
            <a:ext cx="5549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e</a:t>
            </a:r>
            <a:endParaRPr lang="en-US" altLang="en-US" sz="3600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B67B76A1-27C7-4696-82C3-78D9E8318BC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324253" y="3168650"/>
            <a:ext cx="892175" cy="27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E34612D6-FA2C-489A-A78C-9E4051E6679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48165" y="3441700"/>
            <a:ext cx="615950" cy="617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5DA6B707-6ABA-4E1C-AAAF-3A02573FCE5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16427" y="2559050"/>
            <a:ext cx="0" cy="882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3600"/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B81349EE-D91E-4766-A196-1F903D7586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43290" y="4059238"/>
            <a:ext cx="55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a</a:t>
            </a:r>
            <a:endParaRPr lang="en-US" altLang="en-US" sz="3600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8171BFDB-3146-495C-960E-7E292175403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71564" y="1770320"/>
            <a:ext cx="5373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 dirty="0"/>
              <a:t> c</a:t>
            </a:r>
            <a:endParaRPr lang="en-US" altLang="en-US" sz="3600" dirty="0"/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0F54654F-6C00-4D4F-BE74-446B7DA2F6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16428" y="3352800"/>
            <a:ext cx="4540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600" i="1"/>
              <a:t> f</a:t>
            </a:r>
            <a:endParaRPr lang="en-US" altLang="en-US" sz="3600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E91CC1B0-A8E4-4DB2-9CE3-22E7F53698F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078316" y="3305176"/>
            <a:ext cx="230187" cy="246063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3600"/>
          </a:p>
        </p:txBody>
      </p:sp>
      <p:sp>
        <p:nvSpPr>
          <p:cNvPr id="31" name="Oval 28">
            <a:extLst>
              <a:ext uri="{FF2B5EF4-FFF2-40B4-BE49-F238E27FC236}">
                <a16:creationId xmlns:a16="http://schemas.microsoft.com/office/drawing/2014/main" id="{2F511202-AC93-4968-81FB-04378B15F05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3014941" y="3062288"/>
            <a:ext cx="230187" cy="246062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3600"/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4559B995-3B58-40C0-B62F-AA4534A113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3965" y="4059238"/>
            <a:ext cx="5549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i="1"/>
              <a:t> e</a:t>
            </a:r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318910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2" y="1242390"/>
            <a:ext cx="4014442" cy="25324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undirected graph is called connected if there is a path between every pair of distinct vertices of the graph. 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90E10-B711-4904-A457-E0610A17E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8" y="1242390"/>
            <a:ext cx="3670489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2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68" y="1242390"/>
            <a:ext cx="8504904" cy="2532449"/>
          </a:xfrm>
        </p:spPr>
        <p:txBody>
          <a:bodyPr>
            <a:normAutofit/>
          </a:bodyPr>
          <a:lstStyle/>
          <a:p>
            <a:r>
              <a:rPr lang="en-US" dirty="0"/>
              <a:t>An undirected graph that is not connected is called disconnected.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C7EA9-2C14-4EC3-9451-0BF239104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755" y="2801768"/>
            <a:ext cx="3670489" cy="39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Connectivity –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868" y="1242390"/>
            <a:ext cx="8504904" cy="2532449"/>
          </a:xfrm>
        </p:spPr>
        <p:txBody>
          <a:bodyPr>
            <a:normAutofit/>
          </a:bodyPr>
          <a:lstStyle/>
          <a:p>
            <a:r>
              <a:rPr lang="en-US" dirty="0"/>
              <a:t>We say that we disconnect a graph when we remove vertices or edges, or both, to produce a disconnected subgraph.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C7EA9-2C14-4EC3-9451-0BF239104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755" y="3309730"/>
            <a:ext cx="3670489" cy="341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9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Connectedness in Undirected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63" y="1530625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5D3E5-A447-4043-97E7-ABF6E37109DA}"/>
              </a:ext>
            </a:extLst>
          </p:cNvPr>
          <p:cNvSpPr txBox="1"/>
          <p:nvPr/>
        </p:nvSpPr>
        <p:spPr>
          <a:xfrm>
            <a:off x="240562" y="1238244"/>
            <a:ext cx="87110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b="1" dirty="0"/>
              <a:t>Definition:- </a:t>
            </a:r>
            <a:r>
              <a:rPr lang="en-US" sz="2400" dirty="0"/>
              <a:t>An undirected graph is called connected if there is a path between every pair of distinct vertices of the graph. 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IS THIS GRAPH CONNECTED?</a:t>
            </a:r>
          </a:p>
          <a:p>
            <a:endParaRPr lang="en-US" sz="2400" dirty="0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0EDFF531-2D97-43CA-BFFF-141534F157D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962900" y="3714750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51CA70C-120B-45D5-9078-BCC4FE70ED1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86700" y="3702050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14D06E1-E727-4053-A5AA-351B4D6EDD56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7151688" y="4267200"/>
            <a:ext cx="0" cy="10620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8712E96E-5472-4953-AAD3-B45785B44B2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7146132" y="3523457"/>
            <a:ext cx="685800" cy="890587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45124A34-B2D2-4485-A879-842C354E464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994526" y="4311650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60F9ED10-7718-472A-BA7C-3FB02FDA28F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277100" y="4648200"/>
            <a:ext cx="617538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635575B0-D359-4693-8D99-B88707B2C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5911850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A9E1E5B3-01E5-44D9-A5D1-F2A59FBAC2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0501" y="3549650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66D05EA4-D869-4E95-A728-4A2DED676BD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454900" y="5338763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F177622-2A1D-4803-BA94-E63F3D6C63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07214" y="4241801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2F28D777-C6E4-4AFC-980A-D520479477F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8588376" y="4314825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AFC6F241-FDEC-43C4-9976-94E56B5A16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8685214" y="4205288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FEBEA63-D613-4EEA-BD7A-C7A13EF217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48526" y="5202239"/>
            <a:ext cx="206375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FD869CF2-3EEC-463D-B1EE-A294636C4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7075" y="5202239"/>
            <a:ext cx="204788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8FDF8DEF-C7B2-4CA5-BCD5-295A156EFE5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13563" y="52022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AE76F636-ACB0-4E9A-AA96-418437194E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34138" y="41735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B2C73398-3395-4EF4-9F6A-6138615CBD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80325" y="3200400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B2D6CB94-CFE1-4C11-8000-0E48AA22EB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05825" y="5202238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D6B37454-F3BD-457F-87CC-0AAF98AFE3F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7748589" y="4448176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D80707D-DE9B-4FB1-BC93-7E91A65E372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18438" y="4584700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01904D19-F77C-4F8F-8107-1745229543A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818438" y="4311650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BEA94B08-948A-48A6-93F0-7B6833DE9B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13563" y="52022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891B5DC2-F1AF-4ED1-871E-2E29988AB18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80325" y="3200400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8F9BAB55-278C-428C-9392-5A0C78D545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04238" y="5202238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A3EF1323-2B6A-48D9-B9B6-5E394B4675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62901" y="4495800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358520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CEAE-D678-447A-B539-B9DB5B0F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Connectedness in Undirected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1B94-3C88-4028-A340-B719B704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63" y="1530625"/>
            <a:ext cx="8504904" cy="2532449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5D3E5-A447-4043-97E7-ABF6E37109DA}"/>
              </a:ext>
            </a:extLst>
          </p:cNvPr>
          <p:cNvSpPr txBox="1"/>
          <p:nvPr/>
        </p:nvSpPr>
        <p:spPr>
          <a:xfrm>
            <a:off x="187918" y="1289141"/>
            <a:ext cx="8657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Theorem:-</a:t>
            </a:r>
            <a:r>
              <a:rPr lang="en-US" sz="2400" dirty="0"/>
              <a:t>  There is a simple path between every pair of distinct vertices of a connected undirected graph.  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0EDFF531-2D97-43CA-BFFF-141534F157D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962900" y="3714750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51CA70C-120B-45D5-9078-BCC4FE70ED1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86700" y="3702050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14D06E1-E727-4053-A5AA-351B4D6EDD56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7151688" y="4267200"/>
            <a:ext cx="0" cy="10620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8712E96E-5472-4953-AAD3-B45785B44B2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7146132" y="3523457"/>
            <a:ext cx="685800" cy="890587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45124A34-B2D2-4485-A879-842C354E464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994526" y="4311650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60F9ED10-7718-472A-BA7C-3FB02FDA28F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277100" y="4648200"/>
            <a:ext cx="617538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635575B0-D359-4693-8D99-B88707B2C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5911850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A9E1E5B3-01E5-44D9-A5D1-F2A59FBAC2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0501" y="3549650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66D05EA4-D869-4E95-A728-4A2DED676BD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454900" y="5338763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F177622-2A1D-4803-BA94-E63F3D6C63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07214" y="4241801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2F28D777-C6E4-4AFC-980A-D520479477F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8588376" y="4314825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AFC6F241-FDEC-43C4-9976-94E56B5A16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8685214" y="4205288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FEBEA63-D613-4EEA-BD7A-C7A13EF217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48526" y="5202239"/>
            <a:ext cx="206375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FD869CF2-3EEC-463D-B1EE-A294636C4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7075" y="5202239"/>
            <a:ext cx="204788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8FDF8DEF-C7B2-4CA5-BCD5-295A156EFE5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13563" y="52022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AE76F636-ACB0-4E9A-AA96-418437194E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34138" y="41735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B2C73398-3395-4EF4-9F6A-6138615CBD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80325" y="3200400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B2D6CB94-CFE1-4C11-8000-0E48AA22EB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05825" y="5202238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D6B37454-F3BD-457F-87CC-0AAF98AFE3F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7748589" y="4448176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D80707D-DE9B-4FB1-BC93-7E91A65E372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18438" y="4584700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01904D19-F77C-4F8F-8107-1745229543A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818438" y="4311650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BEA94B08-948A-48A6-93F0-7B6833DE9B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13563" y="5202238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891B5DC2-F1AF-4ED1-871E-2E29988AB18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80325" y="3200400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8F9BAB55-278C-428C-9392-5A0C78D5459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04238" y="5202238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A3EF1323-2B6A-48D9-B9B6-5E394B4675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62901" y="4495800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705696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DE4C-CE71-43C7-8942-D1C932C2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+mn-lt"/>
              </a:rPr>
              <a:t>Graph Isomorphism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67DB-CB6B-48AB-8145-05571D5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i="0" u="none" strike="noStrike" baseline="0" dirty="0"/>
              <a:t>The simple graphs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 = </a:t>
            </a:r>
            <a:r>
              <a:rPr lang="en-US" sz="2400" b="0" i="1" u="none" strike="noStrike" baseline="0" dirty="0"/>
              <a:t>(V</a:t>
            </a:r>
            <a:r>
              <a:rPr lang="en-US" sz="2400" b="0" i="0" u="none" strike="noStrike" baseline="-25000" dirty="0"/>
              <a:t>1</a:t>
            </a:r>
            <a:r>
              <a:rPr lang="en-US" sz="2400" b="0" i="1" u="none" strike="noStrike" baseline="0" dirty="0"/>
              <a:t>,E</a:t>
            </a:r>
            <a:r>
              <a:rPr lang="en-US" sz="2400" b="0" i="0" u="none" strike="noStrike" baseline="-25000" dirty="0"/>
              <a:t>1</a:t>
            </a:r>
            <a:r>
              <a:rPr lang="en-US" sz="2400" b="0" i="1" u="none" strike="noStrike" baseline="0" dirty="0"/>
              <a:t>)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 = </a:t>
            </a:r>
            <a:r>
              <a:rPr lang="en-US" sz="2400" b="0" i="1" u="none" strike="noStrike" baseline="0" dirty="0"/>
              <a:t>(V</a:t>
            </a:r>
            <a:r>
              <a:rPr lang="en-US" sz="2400" b="0" i="0" u="none" strike="noStrike" baseline="-25000" dirty="0"/>
              <a:t>2</a:t>
            </a:r>
            <a:r>
              <a:rPr lang="en-US" sz="2400" b="0" i="1" u="none" strike="noStrike" baseline="0" dirty="0"/>
              <a:t>,E</a:t>
            </a:r>
            <a:r>
              <a:rPr lang="en-US" sz="2400" b="0" i="0" u="none" strike="noStrike" baseline="-25000" dirty="0"/>
              <a:t>2</a:t>
            </a:r>
            <a:r>
              <a:rPr lang="en-US" sz="2400" b="0" i="1" u="none" strike="noStrike" baseline="0" dirty="0"/>
              <a:t>) </a:t>
            </a:r>
            <a:r>
              <a:rPr lang="en-US" sz="2400" b="0" i="0" u="none" strike="noStrike" baseline="0" dirty="0"/>
              <a:t>are </a:t>
            </a:r>
            <a:r>
              <a:rPr lang="en-US" sz="2400" b="0" i="1" u="none" strike="noStrike" baseline="0" dirty="0"/>
              <a:t>isomorphic </a:t>
            </a:r>
            <a:r>
              <a:rPr lang="en-US" sz="2400" b="0" i="0" u="none" strike="noStrike" baseline="0" dirty="0"/>
              <a:t>if there exists a one to-one and onto function </a:t>
            </a:r>
            <a:r>
              <a:rPr lang="en-US" sz="2400" b="0" i="1" u="none" strike="noStrike" baseline="0" dirty="0"/>
              <a:t>f </a:t>
            </a:r>
            <a:r>
              <a:rPr lang="en-US" sz="2400" b="0" i="0" u="none" strike="noStrike" baseline="0" dirty="0"/>
              <a:t>from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 to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 with the property that </a:t>
            </a:r>
            <a:r>
              <a:rPr lang="en-US" sz="2400" b="0" i="1" u="none" strike="noStrike" baseline="0" dirty="0"/>
              <a:t>a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b </a:t>
            </a:r>
            <a:r>
              <a:rPr lang="en-US" sz="2400" b="0" i="0" u="none" strike="noStrike" baseline="0" dirty="0"/>
              <a:t>are adjacent in 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0" dirty="0"/>
              <a:t>1 if and only if </a:t>
            </a:r>
            <a:r>
              <a:rPr lang="en-US" sz="2400" b="0" i="1" u="none" strike="noStrike" baseline="0" dirty="0"/>
              <a:t>f (a)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f (b) </a:t>
            </a:r>
            <a:r>
              <a:rPr lang="en-US" sz="2400" b="0" i="0" u="none" strike="noStrike" baseline="0" dirty="0"/>
              <a:t>are adjacent in</a:t>
            </a:r>
            <a:r>
              <a:rPr lang="en-US" sz="2400" b="0" i="1" u="none" strike="noStrike" baseline="0" dirty="0"/>
              <a:t>G</a:t>
            </a:r>
            <a:r>
              <a:rPr lang="en-US" sz="2400" b="0" i="0" u="none" strike="noStrike" baseline="-25000" dirty="0"/>
              <a:t>2</a:t>
            </a:r>
            <a:r>
              <a:rPr lang="en-US" sz="2400" b="0" i="0" u="none" strike="noStrike" baseline="0" dirty="0"/>
              <a:t>, for all </a:t>
            </a:r>
            <a:r>
              <a:rPr lang="en-US" sz="2400" b="0" i="1" u="none" strike="noStrike" baseline="0" dirty="0"/>
              <a:t>a </a:t>
            </a:r>
            <a:r>
              <a:rPr lang="en-US" sz="2400" b="0" i="0" u="none" strike="noStrike" baseline="0" dirty="0"/>
              <a:t>and </a:t>
            </a:r>
            <a:r>
              <a:rPr lang="en-US" sz="2400" b="0" i="1" u="none" strike="noStrike" baseline="0" dirty="0"/>
              <a:t>b </a:t>
            </a:r>
            <a:r>
              <a:rPr lang="en-US" sz="2400" b="0" i="0" u="none" strike="noStrike" baseline="0" dirty="0"/>
              <a:t>in </a:t>
            </a:r>
            <a:r>
              <a:rPr lang="en-US" sz="2400" b="0" i="1" u="none" strike="noStrike" baseline="0" dirty="0"/>
              <a:t>V</a:t>
            </a:r>
            <a:r>
              <a:rPr lang="en-US" sz="2400" b="0" i="0" u="none" strike="noStrike" baseline="-25000" dirty="0"/>
              <a:t>1</a:t>
            </a:r>
            <a:r>
              <a:rPr lang="en-US" sz="2400" b="0" i="0" u="none" strike="noStrike" baseline="0" dirty="0"/>
              <a:t>. </a:t>
            </a:r>
          </a:p>
          <a:p>
            <a:pPr marL="0" indent="0" algn="l">
              <a:buNone/>
            </a:pPr>
            <a:endParaRPr lang="en-US" sz="2400" b="0" i="0" u="none" strike="noStrike" baseline="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b="0" i="0" u="none" strike="noStrike" baseline="0" dirty="0"/>
              <a:t>Such a function </a:t>
            </a:r>
            <a:r>
              <a:rPr lang="en-US" sz="2400" b="0" i="1" u="none" strike="noStrike" baseline="0" dirty="0"/>
              <a:t>f </a:t>
            </a:r>
            <a:r>
              <a:rPr lang="en-US" sz="2400" b="0" i="0" u="none" strike="noStrike" baseline="0" dirty="0"/>
              <a:t>is called an </a:t>
            </a:r>
            <a:r>
              <a:rPr lang="en-US" sz="2400" b="0" i="1" u="none" strike="noStrike" baseline="0" dirty="0"/>
              <a:t>isomorphism</a:t>
            </a:r>
            <a:r>
              <a:rPr lang="en-US" sz="2400" b="0" i="0" u="none" strike="noStrike" baseline="0" dirty="0"/>
              <a:t>.∗ Two simple graphs that are not isomorphic are called </a:t>
            </a:r>
            <a:r>
              <a:rPr lang="en-US" sz="2400" b="0" i="1" u="none" strike="noStrike" baseline="0" dirty="0"/>
              <a:t>non-isomorphic</a:t>
            </a:r>
            <a:r>
              <a:rPr lang="en-US" sz="2400" b="0" i="0" u="none" strike="noStrike" baseline="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6344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Graph Isomorphism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0F6349-ABC1-4557-A38F-5B161C8F7C5F}"/>
              </a:ext>
            </a:extLst>
          </p:cNvPr>
          <p:cNvGrpSpPr/>
          <p:nvPr/>
        </p:nvGrpSpPr>
        <p:grpSpPr>
          <a:xfrm>
            <a:off x="5081279" y="2094226"/>
            <a:ext cx="1218385" cy="2062034"/>
            <a:chOff x="5081279" y="2018026"/>
            <a:chExt cx="1218385" cy="2062034"/>
          </a:xfrm>
        </p:grpSpPr>
        <p:grpSp>
          <p:nvGrpSpPr>
            <p:cNvPr id="70" name="Group 2">
              <a:extLst>
                <a:ext uri="{FF2B5EF4-FFF2-40B4-BE49-F238E27FC236}">
                  <a16:creationId xmlns:a16="http://schemas.microsoft.com/office/drawing/2014/main" id="{218B08ED-68B3-4837-AC37-05BAEAFB7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6663" y="3441977"/>
              <a:ext cx="985838" cy="228600"/>
              <a:chOff x="576" y="1872"/>
              <a:chExt cx="621" cy="144"/>
            </a:xfrm>
          </p:grpSpPr>
          <p:sp>
            <p:nvSpPr>
              <p:cNvPr id="71" name="Line 4">
                <a:extLst>
                  <a:ext uri="{FF2B5EF4-FFF2-40B4-BE49-F238E27FC236}">
                    <a16:creationId xmlns:a16="http://schemas.microsoft.com/office/drawing/2014/main" id="{B47F86BF-6C0A-4343-BF84-A49175EF7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" y="1910"/>
                <a:ext cx="522" cy="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/>
              </a:p>
            </p:txBody>
          </p:sp>
          <p:sp>
            <p:nvSpPr>
              <p:cNvPr id="72" name="Oval 5">
                <a:extLst>
                  <a:ext uri="{FF2B5EF4-FFF2-40B4-BE49-F238E27FC236}">
                    <a16:creationId xmlns:a16="http://schemas.microsoft.com/office/drawing/2014/main" id="{FF49B9D4-B315-4D57-BDD8-9DF78A31B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grpSp>
          <p:nvGrpSpPr>
            <p:cNvPr id="73" name="Group 6">
              <a:extLst>
                <a:ext uri="{FF2B5EF4-FFF2-40B4-BE49-F238E27FC236}">
                  <a16:creationId xmlns:a16="http://schemas.microsoft.com/office/drawing/2014/main" id="{4E043023-A358-416E-8D2C-F7EB6A471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3163" y="2599015"/>
              <a:ext cx="1206501" cy="1071563"/>
              <a:chOff x="-40" y="1341"/>
              <a:chExt cx="760" cy="675"/>
            </a:xfrm>
          </p:grpSpPr>
          <p:sp>
            <p:nvSpPr>
              <p:cNvPr id="74" name="Oval 7">
                <a:extLst>
                  <a:ext uri="{FF2B5EF4-FFF2-40B4-BE49-F238E27FC236}">
                    <a16:creationId xmlns:a16="http://schemas.microsoft.com/office/drawing/2014/main" id="{34502F80-1EDF-48D1-9CFC-26F9B18A7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75" name="Line 8">
                <a:extLst>
                  <a:ext uri="{FF2B5EF4-FFF2-40B4-BE49-F238E27FC236}">
                    <a16:creationId xmlns:a16="http://schemas.microsoft.com/office/drawing/2014/main" id="{5D30032A-75AC-40CC-9228-235A4A1FD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2" y="1404"/>
                <a:ext cx="0" cy="5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76" name="Oval 9">
                <a:extLst>
                  <a:ext uri="{FF2B5EF4-FFF2-40B4-BE49-F238E27FC236}">
                    <a16:creationId xmlns:a16="http://schemas.microsoft.com/office/drawing/2014/main" id="{29C930B3-B88C-4DF2-BC4B-FD861A6DF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E61AFFFD-28B8-41EA-BC7D-A6E63E8F2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2359" y="2727602"/>
              <a:ext cx="30126" cy="8475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8" name="Oval 7">
              <a:extLst>
                <a:ext uri="{FF2B5EF4-FFF2-40B4-BE49-F238E27FC236}">
                  <a16:creationId xmlns:a16="http://schemas.microsoft.com/office/drawing/2014/main" id="{F88FD53F-7927-4D25-9DE4-276492592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6215" y="261054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9" name="Line 4">
              <a:extLst>
                <a:ext uri="{FF2B5EF4-FFF2-40B4-BE49-F238E27FC236}">
                  <a16:creationId xmlns:a16="http://schemas.microsoft.com/office/drawing/2014/main" id="{BC68CB24-FD6A-4795-881F-2B0867EF1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81279" y="2703168"/>
              <a:ext cx="1102651" cy="130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2" name="Oval 7">
              <a:extLst>
                <a:ext uri="{FF2B5EF4-FFF2-40B4-BE49-F238E27FC236}">
                  <a16:creationId xmlns:a16="http://schemas.microsoft.com/office/drawing/2014/main" id="{89E26377-560A-457A-9394-6AF84D78E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5732" y="2018026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4" name="Line 4">
              <a:extLst>
                <a:ext uri="{FF2B5EF4-FFF2-40B4-BE49-F238E27FC236}">
                  <a16:creationId xmlns:a16="http://schemas.microsoft.com/office/drawing/2014/main" id="{CF96AF3C-1300-4C38-A228-C1EF5A34B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1710" y="2153934"/>
              <a:ext cx="20887" cy="17945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5" name="Line 4">
              <a:extLst>
                <a:ext uri="{FF2B5EF4-FFF2-40B4-BE49-F238E27FC236}">
                  <a16:creationId xmlns:a16="http://schemas.microsoft.com/office/drawing/2014/main" id="{553388DB-9F9C-4562-BC0F-091D573BF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8193" y="2153935"/>
              <a:ext cx="397547" cy="519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6" name="Line 4">
              <a:extLst>
                <a:ext uri="{FF2B5EF4-FFF2-40B4-BE49-F238E27FC236}">
                  <a16:creationId xmlns:a16="http://schemas.microsoft.com/office/drawing/2014/main" id="{2242D5BD-B9A5-4D77-86DF-6FB120D8E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00987" y="2147310"/>
              <a:ext cx="471895" cy="560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8" name="Oval 7">
              <a:extLst>
                <a:ext uri="{FF2B5EF4-FFF2-40B4-BE49-F238E27FC236}">
                  <a16:creationId xmlns:a16="http://schemas.microsoft.com/office/drawing/2014/main" id="{2B792E9C-4D4B-4ADF-8DFE-553B60B66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3863" y="385146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9" name="Line 4">
              <a:extLst>
                <a:ext uri="{FF2B5EF4-FFF2-40B4-BE49-F238E27FC236}">
                  <a16:creationId xmlns:a16="http://schemas.microsoft.com/office/drawing/2014/main" id="{7E1B369F-AE1B-42FC-8FA7-431FEF1E8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2485" y="3502301"/>
              <a:ext cx="503409" cy="4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0" name="Line 4">
              <a:extLst>
                <a:ext uri="{FF2B5EF4-FFF2-40B4-BE49-F238E27FC236}">
                  <a16:creationId xmlns:a16="http://schemas.microsoft.com/office/drawing/2014/main" id="{8D7DD106-CE8B-423C-811E-88C37B863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28043" y="3538124"/>
              <a:ext cx="486865" cy="440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8C3C48-C35E-4BB5-9B89-B9644D526F4D}"/>
              </a:ext>
            </a:extLst>
          </p:cNvPr>
          <p:cNvGrpSpPr/>
          <p:nvPr/>
        </p:nvGrpSpPr>
        <p:grpSpPr>
          <a:xfrm>
            <a:off x="2303585" y="2094226"/>
            <a:ext cx="1206501" cy="2062034"/>
            <a:chOff x="2303585" y="2170426"/>
            <a:chExt cx="1206501" cy="2062034"/>
          </a:xfrm>
        </p:grpSpPr>
        <p:sp>
          <p:nvSpPr>
            <p:cNvPr id="95" name="Oval 5">
              <a:extLst>
                <a:ext uri="{FF2B5EF4-FFF2-40B4-BE49-F238E27FC236}">
                  <a16:creationId xmlns:a16="http://schemas.microsoft.com/office/drawing/2014/main" id="{C9F416FE-E3A9-41F4-B619-B9C6CAC5A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085" y="3594377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grpSp>
          <p:nvGrpSpPr>
            <p:cNvPr id="96" name="Group 6">
              <a:extLst>
                <a:ext uri="{FF2B5EF4-FFF2-40B4-BE49-F238E27FC236}">
                  <a16:creationId xmlns:a16="http://schemas.microsoft.com/office/drawing/2014/main" id="{95F049B5-7DDF-4B15-9788-53777B5A5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3585" y="2751415"/>
              <a:ext cx="1206501" cy="1071563"/>
              <a:chOff x="-40" y="1341"/>
              <a:chExt cx="760" cy="675"/>
            </a:xfrm>
          </p:grpSpPr>
          <p:sp>
            <p:nvSpPr>
              <p:cNvPr id="97" name="Oval 7">
                <a:extLst>
                  <a:ext uri="{FF2B5EF4-FFF2-40B4-BE49-F238E27FC236}">
                    <a16:creationId xmlns:a16="http://schemas.microsoft.com/office/drawing/2014/main" id="{02558DEB-A73A-4B74-8142-FDBDC3319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" y="134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  <p:sp>
            <p:nvSpPr>
              <p:cNvPr id="98" name="Line 8">
                <a:extLst>
                  <a:ext uri="{FF2B5EF4-FFF2-40B4-BE49-F238E27FC236}">
                    <a16:creationId xmlns:a16="http://schemas.microsoft.com/office/drawing/2014/main" id="{6155F3AF-8F7E-45D9-ABE6-69FC198D9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2" y="1404"/>
                <a:ext cx="0" cy="5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sz="2800" dirty="0"/>
              </a:p>
            </p:txBody>
          </p:sp>
          <p:sp>
            <p:nvSpPr>
              <p:cNvPr id="99" name="Oval 9">
                <a:extLst>
                  <a:ext uri="{FF2B5EF4-FFF2-40B4-BE49-F238E27FC236}">
                    <a16:creationId xmlns:a16="http://schemas.microsoft.com/office/drawing/2014/main" id="{B91DA69B-06F2-4C2C-9554-130EEC4BB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87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800"/>
              </a:p>
            </p:txBody>
          </p:sp>
        </p:grpSp>
        <p:sp>
          <p:nvSpPr>
            <p:cNvPr id="100" name="Line 14">
              <a:extLst>
                <a:ext uri="{FF2B5EF4-FFF2-40B4-BE49-F238E27FC236}">
                  <a16:creationId xmlns:a16="http://schemas.microsoft.com/office/drawing/2014/main" id="{84F1A89E-6F75-4354-8BE1-F1F4E8899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2781" y="2880002"/>
              <a:ext cx="30126" cy="8475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1" name="Oval 7">
              <a:extLst>
                <a:ext uri="{FF2B5EF4-FFF2-40B4-BE49-F238E27FC236}">
                  <a16:creationId xmlns:a16="http://schemas.microsoft.com/office/drawing/2014/main" id="{614DBCE6-8272-49B9-85AC-CEFD3F4A6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637" y="2762941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3" name="Line 4">
              <a:extLst>
                <a:ext uri="{FF2B5EF4-FFF2-40B4-BE49-F238E27FC236}">
                  <a16:creationId xmlns:a16="http://schemas.microsoft.com/office/drawing/2014/main" id="{3927FB07-6294-409A-9BF6-C04D90BE5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3459" y="2864318"/>
              <a:ext cx="960984" cy="8816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4" name="Line 4">
              <a:extLst>
                <a:ext uri="{FF2B5EF4-FFF2-40B4-BE49-F238E27FC236}">
                  <a16:creationId xmlns:a16="http://schemas.microsoft.com/office/drawing/2014/main" id="{34331190-40D6-48A2-8FEA-965AF3E5B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934" y="2868890"/>
              <a:ext cx="1002126" cy="801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5" name="Oval 7">
              <a:extLst>
                <a:ext uri="{FF2B5EF4-FFF2-40B4-BE49-F238E27FC236}">
                  <a16:creationId xmlns:a16="http://schemas.microsoft.com/office/drawing/2014/main" id="{054D91C0-D874-454F-98CC-E617B0BAB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154" y="2170426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7" name="Line 4">
              <a:extLst>
                <a:ext uri="{FF2B5EF4-FFF2-40B4-BE49-F238E27FC236}">
                  <a16:creationId xmlns:a16="http://schemas.microsoft.com/office/drawing/2014/main" id="{68F240DA-989E-441B-AFD5-4D4576F6C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133" y="2306334"/>
              <a:ext cx="52342" cy="18247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8" name="Line 4">
              <a:extLst>
                <a:ext uri="{FF2B5EF4-FFF2-40B4-BE49-F238E27FC236}">
                  <a16:creationId xmlns:a16="http://schemas.microsoft.com/office/drawing/2014/main" id="{6AC1063D-9C44-4EA0-8493-835CFDA70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615" y="2306335"/>
              <a:ext cx="397547" cy="519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9" name="Line 4">
              <a:extLst>
                <a:ext uri="{FF2B5EF4-FFF2-40B4-BE49-F238E27FC236}">
                  <a16:creationId xmlns:a16="http://schemas.microsoft.com/office/drawing/2014/main" id="{1489FDF0-C508-45E0-8E4A-EBD4005E4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1409" y="2299710"/>
              <a:ext cx="471895" cy="5604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1" name="Oval 7">
              <a:extLst>
                <a:ext uri="{FF2B5EF4-FFF2-40B4-BE49-F238E27FC236}">
                  <a16:creationId xmlns:a16="http://schemas.microsoft.com/office/drawing/2014/main" id="{26E5B1A2-970E-42D3-9EA4-F68765B76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285" y="4003860"/>
              <a:ext cx="228600" cy="22860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2" name="Line 4">
              <a:extLst>
                <a:ext uri="{FF2B5EF4-FFF2-40B4-BE49-F238E27FC236}">
                  <a16:creationId xmlns:a16="http://schemas.microsoft.com/office/drawing/2014/main" id="{45330C3A-065D-4AF4-8F79-8C2EC7014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907" y="3654701"/>
              <a:ext cx="503409" cy="4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3" name="Line 4">
              <a:extLst>
                <a:ext uri="{FF2B5EF4-FFF2-40B4-BE49-F238E27FC236}">
                  <a16:creationId xmlns:a16="http://schemas.microsoft.com/office/drawing/2014/main" id="{F644DC3A-54C9-4465-80A8-5C23A0AAA3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8465" y="3690524"/>
              <a:ext cx="486865" cy="440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</p:grpSp>
      <p:sp>
        <p:nvSpPr>
          <p:cNvPr id="116" name="Title 1">
            <a:extLst>
              <a:ext uri="{FF2B5EF4-FFF2-40B4-BE49-F238E27FC236}">
                <a16:creationId xmlns:a16="http://schemas.microsoft.com/office/drawing/2014/main" id="{26DEA2E0-06DE-4103-BFBE-AD9E859D756F}"/>
              </a:ext>
            </a:extLst>
          </p:cNvPr>
          <p:cNvSpPr txBox="1">
            <a:spLocks/>
          </p:cNvSpPr>
          <p:nvPr/>
        </p:nvSpPr>
        <p:spPr>
          <a:xfrm>
            <a:off x="198781" y="1048781"/>
            <a:ext cx="88458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chemeClr val="tx1"/>
                </a:solidFill>
                <a:effectLst/>
                <a:latin typeface="+mn-lt"/>
              </a:rPr>
              <a:t>Ques:-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 Are the pairs of graphs are isomorphic?</a:t>
            </a:r>
            <a:br>
              <a:rPr lang="en-US" sz="2400" dirty="0">
                <a:solidFill>
                  <a:schemeClr val="tx1"/>
                </a:solidFill>
                <a:effectLst/>
                <a:latin typeface="+mn-lt"/>
              </a:rPr>
            </a:b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1D6016-ED9C-4935-9999-C061E1CEF8D0}"/>
              </a:ext>
            </a:extLst>
          </p:cNvPr>
          <p:cNvSpPr txBox="1"/>
          <p:nvPr/>
        </p:nvSpPr>
        <p:spPr>
          <a:xfrm>
            <a:off x="308258" y="5082141"/>
            <a:ext cx="8674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Ans:-</a:t>
            </a:r>
            <a:r>
              <a:rPr lang="en-US" sz="2400" dirty="0"/>
              <a:t> Hint: Check Cycles </a:t>
            </a:r>
          </a:p>
          <a:p>
            <a:r>
              <a:rPr lang="en-US" sz="2400" dirty="0"/>
              <a:t>Not isomorphic, the right-hand side graph contains a triangle, but the left-hand side graph does not.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207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Graph Isomorphism</a:t>
            </a: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26DEA2E0-06DE-4103-BFBE-AD9E859D756F}"/>
              </a:ext>
            </a:extLst>
          </p:cNvPr>
          <p:cNvSpPr txBox="1">
            <a:spLocks/>
          </p:cNvSpPr>
          <p:nvPr/>
        </p:nvSpPr>
        <p:spPr>
          <a:xfrm>
            <a:off x="198781" y="1048781"/>
            <a:ext cx="88458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chemeClr val="tx1"/>
                </a:solidFill>
                <a:effectLst/>
                <a:latin typeface="+mn-lt"/>
              </a:rPr>
              <a:t>Ques:-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 Are the pairs of graphs are isomorphic?</a:t>
            </a:r>
            <a:br>
              <a:rPr lang="en-US" sz="2400" dirty="0">
                <a:solidFill>
                  <a:schemeClr val="tx1"/>
                </a:solidFill>
                <a:effectLst/>
                <a:latin typeface="+mn-lt"/>
              </a:rPr>
            </a:b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1D6016-ED9C-4935-9999-C061E1CEF8D0}"/>
              </a:ext>
            </a:extLst>
          </p:cNvPr>
          <p:cNvSpPr txBox="1"/>
          <p:nvPr/>
        </p:nvSpPr>
        <p:spPr>
          <a:xfrm>
            <a:off x="308258" y="5082141"/>
            <a:ext cx="86749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Ans:-</a:t>
            </a:r>
            <a:r>
              <a:rPr lang="en-US" sz="2400" dirty="0"/>
              <a:t> Hint: Check Cycles </a:t>
            </a:r>
          </a:p>
          <a:p>
            <a:r>
              <a:rPr lang="en-US" sz="2400" dirty="0"/>
              <a:t>Not isomorphic. </a:t>
            </a:r>
          </a:p>
          <a:p>
            <a:r>
              <a:rPr lang="en-US" sz="2400" dirty="0"/>
              <a:t>First does not contain a cycle of length 4, while the</a:t>
            </a:r>
          </a:p>
          <a:p>
            <a:r>
              <a:rPr lang="en-US" sz="2400" dirty="0"/>
              <a:t>right graph contains a cycle of length 4.</a:t>
            </a:r>
            <a:endParaRPr lang="en-IN" sz="2400" dirty="0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42BA1A6E-1EE7-46DB-B05E-F73252030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6" y="1760559"/>
            <a:ext cx="8791361" cy="332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1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Graph Isomorphism</a:t>
            </a: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26DEA2E0-06DE-4103-BFBE-AD9E859D756F}"/>
              </a:ext>
            </a:extLst>
          </p:cNvPr>
          <p:cNvSpPr txBox="1">
            <a:spLocks/>
          </p:cNvSpPr>
          <p:nvPr/>
        </p:nvSpPr>
        <p:spPr>
          <a:xfrm>
            <a:off x="198781" y="1048781"/>
            <a:ext cx="88458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chemeClr val="tx1"/>
                </a:solidFill>
                <a:effectLst/>
                <a:latin typeface="+mn-lt"/>
              </a:rPr>
              <a:t>Ques:-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 Determine which pairs of graphs below are isomorphic. Justify your answer!</a:t>
            </a:r>
            <a:endParaRPr lang="en-IN" sz="24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1D6016-ED9C-4935-9999-C061E1CEF8D0}"/>
              </a:ext>
            </a:extLst>
          </p:cNvPr>
          <p:cNvSpPr txBox="1"/>
          <p:nvPr/>
        </p:nvSpPr>
        <p:spPr>
          <a:xfrm>
            <a:off x="308258" y="5082141"/>
            <a:ext cx="86749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Ans:- </a:t>
            </a:r>
            <a:r>
              <a:rPr lang="en-US" sz="2400" dirty="0"/>
              <a:t>The ﬁrst two graphs are isomorphic.</a:t>
            </a:r>
          </a:p>
          <a:p>
            <a:r>
              <a:rPr lang="en-US" sz="2400" dirty="0"/>
              <a:t>On the other hand, the third graph contains an odd cycle on 5 vertices </a:t>
            </a:r>
            <a:r>
              <a:rPr lang="en-US" sz="2400" dirty="0" err="1"/>
              <a:t>a,b,c,d,e</a:t>
            </a:r>
            <a:r>
              <a:rPr lang="en-US" sz="2400" dirty="0"/>
              <a:t>, thus, this graph is not isomorphic to the ﬁrst two.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1DC05268-1255-4DC1-8C3A-9782A0E9E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1295" y="1961319"/>
            <a:ext cx="8687246" cy="3041806"/>
          </a:xfrm>
        </p:spPr>
      </p:pic>
    </p:spTree>
    <p:extLst>
      <p:ext uri="{BB962C8B-B14F-4D97-AF65-F5344CB8AC3E}">
        <p14:creationId xmlns:p14="http://schemas.microsoft.com/office/powerpoint/2010/main" val="272730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Graph Isomorphism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C99DA53-D72F-403E-B5C6-06F7697516DA}"/>
              </a:ext>
            </a:extLst>
          </p:cNvPr>
          <p:cNvSpPr txBox="1">
            <a:spLocks noChangeArrowheads="1"/>
          </p:cNvSpPr>
          <p:nvPr/>
        </p:nvSpPr>
        <p:spPr>
          <a:xfrm>
            <a:off x="135194" y="1309111"/>
            <a:ext cx="9067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ym typeface="Symbol" pitchFamily="18" charset="2"/>
              </a:rPr>
              <a:t>Ques:- </a:t>
            </a:r>
            <a:r>
              <a:rPr lang="en-US" dirty="0">
                <a:sym typeface="Symbol" pitchFamily="18" charset="2"/>
              </a:rPr>
              <a:t>Are the following two graphs isomorphic?</a:t>
            </a: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41AA12C-4084-48A7-A439-562996EC9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643" y="3943109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843E902-7B80-4A0C-AF76-5D51323D9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643" y="3790709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D212E22A-B1FE-4E70-841F-FF36C5A88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443" y="3714509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7471AA99-CF9A-41D9-A68E-61ECAEFEA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69" y="3119921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DC1E9086-0E85-4352-B9A7-994E489D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643" y="3333509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48AA2F68-0F5A-4EE1-9EFF-23ECB7482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843" y="2640703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56AAC4AF-A543-4420-9395-1F86B3FB9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643" y="2206007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2800" baseline="-25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18A93C5C-F4A8-402A-B63F-B72F478D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443" y="2876309"/>
            <a:ext cx="3048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85647676-1BC9-4EE9-8C73-DC30AE2BF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43" y="3790709"/>
            <a:ext cx="3810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34AD47CE-9C3A-497B-B748-A69793C89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643" y="2876309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21" name="AutoShape 15">
            <a:extLst>
              <a:ext uri="{FF2B5EF4-FFF2-40B4-BE49-F238E27FC236}">
                <a16:creationId xmlns:a16="http://schemas.microsoft.com/office/drawing/2014/main" id="{BC844998-3186-456D-BE40-EB7E124AF2DE}"/>
              </a:ext>
            </a:extLst>
          </p:cNvPr>
          <p:cNvCxnSpPr>
            <a:cxnSpLocks noChangeShapeType="1"/>
            <a:stCxn id="11" idx="0"/>
            <a:endCxn id="15" idx="4"/>
          </p:cNvCxnSpPr>
          <p:nvPr/>
        </p:nvCxnSpPr>
        <p:spPr bwMode="auto">
          <a:xfrm flipV="1">
            <a:off x="2558843" y="3485909"/>
            <a:ext cx="381000" cy="457200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6">
            <a:extLst>
              <a:ext uri="{FF2B5EF4-FFF2-40B4-BE49-F238E27FC236}">
                <a16:creationId xmlns:a16="http://schemas.microsoft.com/office/drawing/2014/main" id="{76144775-B4DF-426C-8A9B-7668D4EB3B81}"/>
              </a:ext>
            </a:extLst>
          </p:cNvPr>
          <p:cNvCxnSpPr>
            <a:cxnSpLocks noChangeShapeType="1"/>
            <a:stCxn id="11" idx="2"/>
            <a:endCxn id="13" idx="6"/>
          </p:cNvCxnSpPr>
          <p:nvPr/>
        </p:nvCxnSpPr>
        <p:spPr bwMode="auto">
          <a:xfrm flipH="1" flipV="1">
            <a:off x="1415843" y="3790709"/>
            <a:ext cx="1066800" cy="228600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08DBFCBD-5844-4F43-80D7-3340467FD8D2}"/>
              </a:ext>
            </a:extLst>
          </p:cNvPr>
          <p:cNvCxnSpPr>
            <a:cxnSpLocks noChangeShapeType="1"/>
            <a:stCxn id="13" idx="0"/>
            <a:endCxn id="14" idx="4"/>
          </p:cNvCxnSpPr>
          <p:nvPr/>
        </p:nvCxnSpPr>
        <p:spPr bwMode="auto">
          <a:xfrm flipV="1">
            <a:off x="1339643" y="3272321"/>
            <a:ext cx="768626" cy="442188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18">
            <a:extLst>
              <a:ext uri="{FF2B5EF4-FFF2-40B4-BE49-F238E27FC236}">
                <a16:creationId xmlns:a16="http://schemas.microsoft.com/office/drawing/2014/main" id="{2DA7E9B3-38F2-4C61-9FF8-43691AF32F26}"/>
              </a:ext>
            </a:extLst>
          </p:cNvPr>
          <p:cNvCxnSpPr>
            <a:cxnSpLocks noChangeShapeType="1"/>
            <a:stCxn id="14" idx="7"/>
            <a:endCxn id="16" idx="3"/>
          </p:cNvCxnSpPr>
          <p:nvPr/>
        </p:nvCxnSpPr>
        <p:spPr bwMode="auto">
          <a:xfrm flipV="1">
            <a:off x="2162151" y="2770785"/>
            <a:ext cx="800010" cy="371454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19">
            <a:extLst>
              <a:ext uri="{FF2B5EF4-FFF2-40B4-BE49-F238E27FC236}">
                <a16:creationId xmlns:a16="http://schemas.microsoft.com/office/drawing/2014/main" id="{2F7F2629-CDDD-4CBA-9954-622ECBB26C16}"/>
              </a:ext>
            </a:extLst>
          </p:cNvPr>
          <p:cNvCxnSpPr>
            <a:cxnSpLocks noChangeShapeType="1"/>
            <a:stCxn id="16" idx="5"/>
            <a:endCxn id="15" idx="1"/>
          </p:cNvCxnSpPr>
          <p:nvPr/>
        </p:nvCxnSpPr>
        <p:spPr bwMode="auto">
          <a:xfrm flipH="1">
            <a:off x="2885961" y="2770785"/>
            <a:ext cx="183964" cy="585042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0">
            <a:extLst>
              <a:ext uri="{FF2B5EF4-FFF2-40B4-BE49-F238E27FC236}">
                <a16:creationId xmlns:a16="http://schemas.microsoft.com/office/drawing/2014/main" id="{F0C4D2B7-EB03-4588-AC81-A2A152EDBD62}"/>
              </a:ext>
            </a:extLst>
          </p:cNvPr>
          <p:cNvCxnSpPr>
            <a:cxnSpLocks noChangeShapeType="1"/>
            <a:stCxn id="14" idx="5"/>
            <a:endCxn id="11" idx="1"/>
          </p:cNvCxnSpPr>
          <p:nvPr/>
        </p:nvCxnSpPr>
        <p:spPr bwMode="auto">
          <a:xfrm>
            <a:off x="2162151" y="3250003"/>
            <a:ext cx="342810" cy="715424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AutoShape 22">
            <a:extLst>
              <a:ext uri="{FF2B5EF4-FFF2-40B4-BE49-F238E27FC236}">
                <a16:creationId xmlns:a16="http://schemas.microsoft.com/office/drawing/2014/main" id="{94B02918-67D9-4978-8AB9-305F26A7B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25621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29" name="Text Box 23">
            <a:extLst>
              <a:ext uri="{FF2B5EF4-FFF2-40B4-BE49-F238E27FC236}">
                <a16:creationId xmlns:a16="http://schemas.microsoft.com/office/drawing/2014/main" id="{0A219889-9471-453C-A618-A8E3B588A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73221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BEA96873-6405-497C-9472-58C494811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6434" y="3012765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31" name="AutoShape 25">
            <a:extLst>
              <a:ext uri="{FF2B5EF4-FFF2-40B4-BE49-F238E27FC236}">
                <a16:creationId xmlns:a16="http://schemas.microsoft.com/office/drawing/2014/main" id="{C2B3CDB9-27C1-4063-8E93-CE54348E2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582621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32" name="AutoShape 26">
            <a:extLst>
              <a:ext uri="{FF2B5EF4-FFF2-40B4-BE49-F238E27FC236}">
                <a16:creationId xmlns:a16="http://schemas.microsoft.com/office/drawing/2014/main" id="{D7F2000C-0C0F-4CCC-A9DB-416F75A9F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725621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33" name="AutoShape 27">
            <a:extLst>
              <a:ext uri="{FF2B5EF4-FFF2-40B4-BE49-F238E27FC236}">
                <a16:creationId xmlns:a16="http://schemas.microsoft.com/office/drawing/2014/main" id="{01AD9452-4C79-471C-8DEE-B3975AF17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579" y="2656248"/>
            <a:ext cx="152400" cy="152400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800"/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D10466AD-D45E-48F1-AE13-8B4B62D1D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049221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Text Box 29">
            <a:extLst>
              <a:ext uri="{FF2B5EF4-FFF2-40B4-BE49-F238E27FC236}">
                <a16:creationId xmlns:a16="http://schemas.microsoft.com/office/drawing/2014/main" id="{3EE80DD5-906A-49C1-A98E-9D5256460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116021"/>
            <a:ext cx="3048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6" name="Text Box 30">
            <a:extLst>
              <a:ext uri="{FF2B5EF4-FFF2-40B4-BE49-F238E27FC236}">
                <a16:creationId xmlns:a16="http://schemas.microsoft.com/office/drawing/2014/main" id="{F53B2B88-94B8-44F2-B0F4-08637E7E2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497021"/>
            <a:ext cx="3810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7" name="Text Box 31">
            <a:extLst>
              <a:ext uri="{FF2B5EF4-FFF2-40B4-BE49-F238E27FC236}">
                <a16:creationId xmlns:a16="http://schemas.microsoft.com/office/drawing/2014/main" id="{96C7800F-D7D9-439A-BA61-4251A2DE4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918" y="2440391"/>
            <a:ext cx="60960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endParaRPr lang="en-US" sz="2800" baseline="-25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38" name="AutoShape 32">
            <a:extLst>
              <a:ext uri="{FF2B5EF4-FFF2-40B4-BE49-F238E27FC236}">
                <a16:creationId xmlns:a16="http://schemas.microsoft.com/office/drawing/2014/main" id="{424D8614-5CFD-4219-9728-A43D7AE695C3}"/>
              </a:ext>
            </a:extLst>
          </p:cNvPr>
          <p:cNvCxnSpPr>
            <a:cxnSpLocks noChangeShapeType="1"/>
            <a:stCxn id="28" idx="6"/>
            <a:endCxn id="32" idx="2"/>
          </p:cNvCxnSpPr>
          <p:nvPr/>
        </p:nvCxnSpPr>
        <p:spPr bwMode="auto">
          <a:xfrm>
            <a:off x="5181600" y="3801821"/>
            <a:ext cx="1295400" cy="0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33">
            <a:extLst>
              <a:ext uri="{FF2B5EF4-FFF2-40B4-BE49-F238E27FC236}">
                <a16:creationId xmlns:a16="http://schemas.microsoft.com/office/drawing/2014/main" id="{5C81236B-9061-42C0-9FC8-0C44BADE56F8}"/>
              </a:ext>
            </a:extLst>
          </p:cNvPr>
          <p:cNvCxnSpPr>
            <a:cxnSpLocks noChangeShapeType="1"/>
            <a:stCxn id="28" idx="7"/>
            <a:endCxn id="30" idx="3"/>
          </p:cNvCxnSpPr>
          <p:nvPr/>
        </p:nvCxnSpPr>
        <p:spPr bwMode="auto">
          <a:xfrm flipV="1">
            <a:off x="5159282" y="3142847"/>
            <a:ext cx="729470" cy="605092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34">
            <a:extLst>
              <a:ext uri="{FF2B5EF4-FFF2-40B4-BE49-F238E27FC236}">
                <a16:creationId xmlns:a16="http://schemas.microsoft.com/office/drawing/2014/main" id="{77B2300E-4517-4799-94DE-95D0002F2393}"/>
              </a:ext>
            </a:extLst>
          </p:cNvPr>
          <p:cNvCxnSpPr>
            <a:cxnSpLocks noChangeShapeType="1"/>
            <a:stCxn id="30" idx="0"/>
            <a:endCxn id="31" idx="4"/>
          </p:cNvCxnSpPr>
          <p:nvPr/>
        </p:nvCxnSpPr>
        <p:spPr bwMode="auto">
          <a:xfrm flipH="1" flipV="1">
            <a:off x="5791200" y="2735021"/>
            <a:ext cx="151434" cy="277744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35">
            <a:extLst>
              <a:ext uri="{FF2B5EF4-FFF2-40B4-BE49-F238E27FC236}">
                <a16:creationId xmlns:a16="http://schemas.microsoft.com/office/drawing/2014/main" id="{68C60092-49F3-4941-B478-65BCF9870DF3}"/>
              </a:ext>
            </a:extLst>
          </p:cNvPr>
          <p:cNvCxnSpPr>
            <a:cxnSpLocks noChangeShapeType="1"/>
            <a:stCxn id="31" idx="5"/>
            <a:endCxn id="33" idx="2"/>
          </p:cNvCxnSpPr>
          <p:nvPr/>
        </p:nvCxnSpPr>
        <p:spPr bwMode="auto">
          <a:xfrm>
            <a:off x="5845082" y="2712703"/>
            <a:ext cx="720497" cy="19745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AutoShape 36">
            <a:extLst>
              <a:ext uri="{FF2B5EF4-FFF2-40B4-BE49-F238E27FC236}">
                <a16:creationId xmlns:a16="http://schemas.microsoft.com/office/drawing/2014/main" id="{9FD9E2CE-1A5F-4E50-B66F-B89816CFB83B}"/>
              </a:ext>
            </a:extLst>
          </p:cNvPr>
          <p:cNvCxnSpPr>
            <a:cxnSpLocks noChangeShapeType="1"/>
            <a:stCxn id="33" idx="5"/>
            <a:endCxn id="32" idx="1"/>
          </p:cNvCxnSpPr>
          <p:nvPr/>
        </p:nvCxnSpPr>
        <p:spPr bwMode="auto">
          <a:xfrm flipH="1">
            <a:off x="6499318" y="2786330"/>
            <a:ext cx="196343" cy="961609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37">
            <a:extLst>
              <a:ext uri="{FF2B5EF4-FFF2-40B4-BE49-F238E27FC236}">
                <a16:creationId xmlns:a16="http://schemas.microsoft.com/office/drawing/2014/main" id="{2792E008-60C4-4852-A17D-231EA0B13B60}"/>
              </a:ext>
            </a:extLst>
          </p:cNvPr>
          <p:cNvCxnSpPr>
            <a:cxnSpLocks noChangeShapeType="1"/>
            <a:stCxn id="31" idx="3"/>
            <a:endCxn id="28" idx="1"/>
          </p:cNvCxnSpPr>
          <p:nvPr/>
        </p:nvCxnSpPr>
        <p:spPr bwMode="auto">
          <a:xfrm flipH="1">
            <a:off x="5051425" y="2712796"/>
            <a:ext cx="685800" cy="1035050"/>
          </a:xfrm>
          <a:prstGeom prst="straightConnector1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Rectangle 38">
            <a:extLst>
              <a:ext uri="{FF2B5EF4-FFF2-40B4-BE49-F238E27FC236}">
                <a16:creationId xmlns:a16="http://schemas.microsoft.com/office/drawing/2014/main" id="{A1145255-184C-4D36-9AA1-65BF62E0E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94" y="4635915"/>
            <a:ext cx="8763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Aft>
                <a:spcPct val="20000"/>
              </a:spcAft>
              <a:defRPr/>
            </a:pPr>
            <a:r>
              <a:rPr lang="en-US" sz="2400" b="1" dirty="0">
                <a:sym typeface="Symbol" pitchFamily="18" charset="2"/>
              </a:rPr>
              <a:t>Sol:- </a:t>
            </a:r>
            <a:r>
              <a:rPr lang="en-US" sz="2400" dirty="0">
                <a:sym typeface="Symbol" pitchFamily="18" charset="2"/>
              </a:rPr>
              <a:t>Yes, they are isomorphic, because they can be arranged to look identical. You can see this if in the right graph you move vertex b to the left of the edge {a, c}. Then the isomorphism f from the left to the right graph is: f(a) = e, f(b) = a, f(c) = b, f(d) = c, f(e) = d. </a:t>
            </a:r>
          </a:p>
        </p:txBody>
      </p:sp>
    </p:spTree>
    <p:extLst>
      <p:ext uri="{BB962C8B-B14F-4D97-AF65-F5344CB8AC3E}">
        <p14:creationId xmlns:p14="http://schemas.microsoft.com/office/powerpoint/2010/main" val="89539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4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9531</TotalTime>
  <Words>1259</Words>
  <Application>Microsoft Office PowerPoint</Application>
  <PresentationFormat>On-screen Show (4:3)</PresentationFormat>
  <Paragraphs>140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</vt:lpstr>
      <vt:lpstr>Bahnschrift</vt:lpstr>
      <vt:lpstr>Bahnschrift SemiBold</vt:lpstr>
      <vt:lpstr>Calibri</vt:lpstr>
      <vt:lpstr>Monotype Sorts</vt:lpstr>
      <vt:lpstr>Office Theme</vt:lpstr>
      <vt:lpstr>EMTH403</vt:lpstr>
      <vt:lpstr>Lecture Outcomes</vt:lpstr>
      <vt:lpstr>Connectivity - Path</vt:lpstr>
      <vt:lpstr>Connectivity - Path</vt:lpstr>
      <vt:lpstr>Connectivity - Path</vt:lpstr>
      <vt:lpstr>Connectivity - Path</vt:lpstr>
      <vt:lpstr>Connectivity - Path</vt:lpstr>
      <vt:lpstr>Connectivity - Path</vt:lpstr>
      <vt:lpstr>Connectivity - Path</vt:lpstr>
      <vt:lpstr>Connectivity – Path - Example</vt:lpstr>
      <vt:lpstr>Connectivity – Path - Example</vt:lpstr>
      <vt:lpstr>Connectivity – Path</vt:lpstr>
      <vt:lpstr>Connectivity – Path</vt:lpstr>
      <vt:lpstr>Connectivity – Path</vt:lpstr>
      <vt:lpstr>Connectivity – Path</vt:lpstr>
      <vt:lpstr>Connectivity – Path</vt:lpstr>
      <vt:lpstr>Connectivity – Path</vt:lpstr>
      <vt:lpstr>Connectedness in Undirected Graphs</vt:lpstr>
      <vt:lpstr>Connectedness in Undirected Graphs</vt:lpstr>
      <vt:lpstr>Graph Isomorphism - Definition</vt:lpstr>
      <vt:lpstr>Graph Isomorphism</vt:lpstr>
      <vt:lpstr>Graph Isomorphism</vt:lpstr>
      <vt:lpstr>Graph Isomorphism</vt:lpstr>
      <vt:lpstr>Graph Isomorphism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1444</cp:revision>
  <dcterms:created xsi:type="dcterms:W3CDTF">2020-12-04T05:20:56Z</dcterms:created>
  <dcterms:modified xsi:type="dcterms:W3CDTF">2021-01-16T09:49:18Z</dcterms:modified>
</cp:coreProperties>
</file>