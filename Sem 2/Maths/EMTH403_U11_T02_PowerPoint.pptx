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256" r:id="rId2"/>
    <p:sldId id="257" r:id="rId3"/>
    <p:sldId id="284" r:id="rId4"/>
    <p:sldId id="291" r:id="rId5"/>
    <p:sldId id="292" r:id="rId6"/>
    <p:sldId id="290" r:id="rId7"/>
    <p:sldId id="293" r:id="rId8"/>
    <p:sldId id="294" r:id="rId9"/>
    <p:sldId id="295" r:id="rId10"/>
    <p:sldId id="296" r:id="rId11"/>
    <p:sldId id="297" r:id="rId12"/>
    <p:sldId id="301" r:id="rId13"/>
    <p:sldId id="298" r:id="rId14"/>
    <p:sldId id="299" r:id="rId15"/>
    <p:sldId id="300" r:id="rId16"/>
    <p:sldId id="302" r:id="rId17"/>
    <p:sldId id="303" r:id="rId18"/>
    <p:sldId id="25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13A8035-ECEF-47C4-90A1-0C3215DAC7C2}">
          <p14:sldIdLst>
            <p14:sldId id="256"/>
            <p14:sldId id="257"/>
            <p14:sldId id="284"/>
            <p14:sldId id="291"/>
            <p14:sldId id="292"/>
            <p14:sldId id="290"/>
            <p14:sldId id="293"/>
            <p14:sldId id="294"/>
            <p14:sldId id="295"/>
            <p14:sldId id="296"/>
            <p14:sldId id="297"/>
            <p14:sldId id="301"/>
            <p14:sldId id="298"/>
            <p14:sldId id="299"/>
            <p14:sldId id="300"/>
            <p14:sldId id="302"/>
            <p14:sldId id="303"/>
            <p14:sldId id="25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00B6CC"/>
    <a:srgbClr val="BA202B"/>
    <a:srgbClr val="4472C4"/>
    <a:srgbClr val="DDDDDD"/>
    <a:srgbClr val="BBBBBB"/>
    <a:srgbClr val="00A2B8"/>
    <a:srgbClr val="00B451"/>
    <a:srgbClr val="CA628C"/>
    <a:srgbClr val="71E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1386" y="72"/>
      </p:cViewPr>
      <p:guideLst>
        <p:guide orient="horz" pos="2160"/>
        <p:guide pos="2880"/>
      </p:guideLst>
    </p:cSldViewPr>
  </p:slideViewPr>
  <p:notesTextViewPr>
    <p:cViewPr>
      <p:scale>
        <a:sx n="1" d="1"/>
        <a:sy n="1" d="1"/>
      </p:scale>
      <p:origin x="0" y="0"/>
    </p:cViewPr>
  </p:notesTextViewPr>
  <p:notesViewPr>
    <p:cSldViewPr snapToGrid="0">
      <p:cViewPr varScale="1">
        <p:scale>
          <a:sx n="49" d="100"/>
          <a:sy n="49" d="100"/>
        </p:scale>
        <p:origin x="1884"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218DD-E614-4E73-B564-F8E0717E89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4A14C21-F88B-4739-8F26-AA4DEEB64F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11DE57-39A0-4263-A76B-22C3CE26C8E2}" type="datetimeFigureOut">
              <a:rPr lang="en-IN" smtClean="0"/>
              <a:pPr/>
              <a:t>27-01-2021</a:t>
            </a:fld>
            <a:endParaRPr lang="en-IN"/>
          </a:p>
        </p:txBody>
      </p:sp>
      <p:sp>
        <p:nvSpPr>
          <p:cNvPr id="4" name="Footer Placeholder 3">
            <a:extLst>
              <a:ext uri="{FF2B5EF4-FFF2-40B4-BE49-F238E27FC236}">
                <a16:creationId xmlns:a16="http://schemas.microsoft.com/office/drawing/2014/main" id="{5C435058-CB50-45CA-B183-2892DE4A39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30C2E93-0834-4027-BDF9-2CBEA154774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E93A7-2C4F-4D32-8895-81F23FF37AD6}" type="slidenum">
              <a:rPr lang="en-IN" smtClean="0"/>
              <a:pPr/>
              <a:t>‹#›</a:t>
            </a:fld>
            <a:endParaRPr lang="en-IN"/>
          </a:p>
        </p:txBody>
      </p:sp>
    </p:spTree>
    <p:extLst>
      <p:ext uri="{BB962C8B-B14F-4D97-AF65-F5344CB8AC3E}">
        <p14:creationId xmlns:p14="http://schemas.microsoft.com/office/powerpoint/2010/main" val="3686865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08F98-5817-4768-91E0-7435FEF7FFA1}" type="datetimeFigureOut">
              <a:rPr lang="en-IN" smtClean="0"/>
              <a:pPr/>
              <a:t>27-01-2021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5C79E5-282A-4490-B8CC-DC7602F73C68}" type="slidenum">
              <a:rPr lang="en-IN" smtClean="0"/>
              <a:pPr/>
              <a:t>‹#›</a:t>
            </a:fld>
            <a:endParaRPr lang="en-IN"/>
          </a:p>
        </p:txBody>
      </p:sp>
    </p:spTree>
    <p:extLst>
      <p:ext uri="{BB962C8B-B14F-4D97-AF65-F5344CB8AC3E}">
        <p14:creationId xmlns:p14="http://schemas.microsoft.com/office/powerpoint/2010/main" val="2016600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822478E-B0D0-4983-A2EC-2C070D46FC4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11200"/>
          <a:stretch/>
        </p:blipFill>
        <p:spPr>
          <a:xfrm>
            <a:off x="-1" y="0"/>
            <a:ext cx="9144001" cy="6858000"/>
          </a:xfrm>
          <a:prstGeom prst="rect">
            <a:avLst/>
          </a:prstGeom>
        </p:spPr>
      </p:pic>
      <p:sp>
        <p:nvSpPr>
          <p:cNvPr id="2" name="Title 1"/>
          <p:cNvSpPr>
            <a:spLocks noGrp="1"/>
          </p:cNvSpPr>
          <p:nvPr>
            <p:ph type="ctrTitle" hasCustomPrompt="1"/>
          </p:nvPr>
        </p:nvSpPr>
        <p:spPr>
          <a:xfrm>
            <a:off x="4758813" y="1011007"/>
            <a:ext cx="4186084" cy="1001405"/>
          </a:xfrm>
        </p:spPr>
        <p:txBody>
          <a:bodyPr anchor="b">
            <a:noAutofit/>
          </a:bodyPr>
          <a:lstStyle>
            <a:lvl1pPr algn="r">
              <a:defRPr sz="7500">
                <a:ln>
                  <a:solidFill>
                    <a:srgbClr val="BA202B"/>
                  </a:solidFill>
                </a:ln>
                <a:solidFill>
                  <a:srgbClr val="CA628C"/>
                </a:solidFill>
                <a:effectLst>
                  <a:outerShdw blurRad="38100" dist="38100" dir="2700000" algn="tl">
                    <a:srgbClr val="000000">
                      <a:alpha val="43137"/>
                    </a:srgbClr>
                  </a:outerShdw>
                </a:effectLst>
              </a:defRPr>
            </a:lvl1pPr>
          </a:lstStyle>
          <a:p>
            <a:r>
              <a:rPr lang="en-US" dirty="0"/>
              <a:t>EMTH403</a:t>
            </a:r>
          </a:p>
        </p:txBody>
      </p:sp>
      <p:sp>
        <p:nvSpPr>
          <p:cNvPr id="3" name="Subtitle 2"/>
          <p:cNvSpPr>
            <a:spLocks noGrp="1"/>
          </p:cNvSpPr>
          <p:nvPr>
            <p:ph type="subTitle" idx="1" hasCustomPrompt="1"/>
          </p:nvPr>
        </p:nvSpPr>
        <p:spPr>
          <a:xfrm>
            <a:off x="4758813" y="2012412"/>
            <a:ext cx="4186083" cy="838943"/>
          </a:xfrm>
        </p:spPr>
        <p:txBody>
          <a:bodyPr>
            <a:normAutofit/>
          </a:bodyPr>
          <a:lstStyle>
            <a:lvl1pPr marL="0" indent="0" algn="r">
              <a:buNone/>
              <a:defRPr sz="2800">
                <a:solidFill>
                  <a:srgbClr val="00206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Mathematical Foundation for Computer Science</a:t>
            </a:r>
          </a:p>
        </p:txBody>
      </p:sp>
      <p:sp>
        <p:nvSpPr>
          <p:cNvPr id="9" name="TextBox 8">
            <a:extLst>
              <a:ext uri="{FF2B5EF4-FFF2-40B4-BE49-F238E27FC236}">
                <a16:creationId xmlns:a16="http://schemas.microsoft.com/office/drawing/2014/main" id="{FC6A5137-F38E-416C-BA01-890D57CBC895}"/>
              </a:ext>
            </a:extLst>
          </p:cNvPr>
          <p:cNvSpPr txBox="1"/>
          <p:nvPr userDrawn="1"/>
        </p:nvSpPr>
        <p:spPr>
          <a:xfrm>
            <a:off x="5369878" y="3852760"/>
            <a:ext cx="3575018" cy="507831"/>
          </a:xfrm>
          <a:prstGeom prst="rect">
            <a:avLst/>
          </a:prstGeom>
          <a:noFill/>
        </p:spPr>
        <p:txBody>
          <a:bodyPr wrap="none" rtlCol="0">
            <a:spAutoFit/>
          </a:bodyPr>
          <a:lstStyle/>
          <a:p>
            <a:pPr algn="r"/>
            <a:r>
              <a:rPr lang="en-IN" sz="2700" strike="noStrike" dirty="0">
                <a:solidFill>
                  <a:srgbClr val="BA202B"/>
                </a:solidFill>
                <a:effectLst/>
              </a:rPr>
              <a:t>Nitin K. Mishra (Ph.D.)</a:t>
            </a:r>
          </a:p>
        </p:txBody>
      </p:sp>
      <p:sp>
        <p:nvSpPr>
          <p:cNvPr id="10" name="TextBox 9">
            <a:extLst>
              <a:ext uri="{FF2B5EF4-FFF2-40B4-BE49-F238E27FC236}">
                <a16:creationId xmlns:a16="http://schemas.microsoft.com/office/drawing/2014/main" id="{12607290-3460-4AC4-ABC8-F072BD3D73E5}"/>
              </a:ext>
            </a:extLst>
          </p:cNvPr>
          <p:cNvSpPr txBox="1"/>
          <p:nvPr userDrawn="1"/>
        </p:nvSpPr>
        <p:spPr>
          <a:xfrm>
            <a:off x="5525729" y="4314425"/>
            <a:ext cx="3419167" cy="461665"/>
          </a:xfrm>
          <a:prstGeom prst="rect">
            <a:avLst/>
          </a:prstGeom>
          <a:noFill/>
        </p:spPr>
        <p:txBody>
          <a:bodyPr wrap="square" rtlCol="0">
            <a:spAutoFit/>
          </a:bodyPr>
          <a:lstStyle/>
          <a:p>
            <a:pPr algn="ctr"/>
            <a:r>
              <a:rPr lang="en-IN" sz="2400" dirty="0">
                <a:solidFill>
                  <a:schemeClr val="bg2">
                    <a:lumMod val="25000"/>
                  </a:schemeClr>
                </a:solidFill>
              </a:rPr>
              <a:t>Associate Professor</a:t>
            </a:r>
          </a:p>
        </p:txBody>
      </p:sp>
      <p:cxnSp>
        <p:nvCxnSpPr>
          <p:cNvPr id="12" name="Straight Connector 11">
            <a:extLst>
              <a:ext uri="{FF2B5EF4-FFF2-40B4-BE49-F238E27FC236}">
                <a16:creationId xmlns:a16="http://schemas.microsoft.com/office/drawing/2014/main" id="{392C86BC-E539-4EC2-9687-C9BAFAAFC1D8}"/>
              </a:ext>
            </a:extLst>
          </p:cNvPr>
          <p:cNvCxnSpPr>
            <a:cxnSpLocks/>
          </p:cNvCxnSpPr>
          <p:nvPr userDrawn="1"/>
        </p:nvCxnSpPr>
        <p:spPr>
          <a:xfrm flipH="1">
            <a:off x="5525729" y="4805586"/>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12CEEC-655E-468A-942D-1D746D27486B}"/>
              </a:ext>
            </a:extLst>
          </p:cNvPr>
          <p:cNvCxnSpPr>
            <a:cxnSpLocks/>
          </p:cNvCxnSpPr>
          <p:nvPr userDrawn="1"/>
        </p:nvCxnSpPr>
        <p:spPr>
          <a:xfrm flipH="1">
            <a:off x="5525729" y="4360591"/>
            <a:ext cx="3342972" cy="0"/>
          </a:xfrm>
          <a:prstGeom prst="line">
            <a:avLst/>
          </a:prstGeom>
          <a:ln w="38100">
            <a:solidFill>
              <a:srgbClr val="89E2EB"/>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389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arning Outcome">
    <p:bg>
      <p:bgPr>
        <a:blipFill dpi="0" rotWithShape="1">
          <a:blip r:embed="rId2" cstate="print">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1"/>
            <a:ext cx="9144000" cy="2113936"/>
          </a:xfrm>
          <a:prstGeom prst="rect">
            <a:avLst/>
          </a:prstGeom>
          <a:gradFill flip="none" rotWithShape="1">
            <a:gsLst>
              <a:gs pos="78000">
                <a:schemeClr val="accent3">
                  <a:lumMod val="0"/>
                  <a:lumOff val="100000"/>
                </a:schemeClr>
              </a:gs>
              <a:gs pos="45000">
                <a:srgbClr val="00A2B8"/>
              </a:gs>
            </a:gsLst>
            <a:lin ang="0" scaled="0"/>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hasCustomPrompt="1"/>
          </p:nvPr>
        </p:nvSpPr>
        <p:spPr>
          <a:xfrm>
            <a:off x="393290" y="0"/>
            <a:ext cx="5191433" cy="2113935"/>
          </a:xfrm>
        </p:spPr>
        <p:txBody>
          <a:bodyPr>
            <a:normAutofit/>
          </a:bodyPr>
          <a:lstStyle>
            <a:lvl1pPr>
              <a:defRPr sz="5400">
                <a:solidFill>
                  <a:schemeClr val="bg1"/>
                </a:solidFill>
                <a:effectLst>
                  <a:outerShdw blurRad="38100" dist="38100" dir="2700000" algn="tl">
                    <a:srgbClr val="000000">
                      <a:alpha val="43137"/>
                    </a:srgbClr>
                  </a:outerShdw>
                </a:effectLst>
              </a:defRPr>
            </a:lvl1pPr>
          </a:lstStyle>
          <a:p>
            <a:r>
              <a:rPr lang="en-US" dirty="0"/>
              <a:t>Lecture</a:t>
            </a:r>
            <a:br>
              <a:rPr lang="en-US" dirty="0"/>
            </a:br>
            <a:r>
              <a:rPr lang="en-US" dirty="0"/>
              <a:t>Outcomes</a:t>
            </a:r>
          </a:p>
        </p:txBody>
      </p:sp>
      <p:sp>
        <p:nvSpPr>
          <p:cNvPr id="3" name="Content Placeholder 2"/>
          <p:cNvSpPr>
            <a:spLocks noGrp="1"/>
          </p:cNvSpPr>
          <p:nvPr>
            <p:ph idx="1" hasCustomPrompt="1"/>
          </p:nvPr>
        </p:nvSpPr>
        <p:spPr>
          <a:xfrm>
            <a:off x="963560" y="2883188"/>
            <a:ext cx="7934633" cy="3500283"/>
          </a:xfrm>
        </p:spPr>
        <p:txBody>
          <a:bodyPr>
            <a:normAutofit/>
          </a:bodyPr>
          <a:lstStyle>
            <a:lvl1pPr>
              <a:lnSpc>
                <a:spcPct val="150000"/>
              </a:lnSpc>
              <a:buClr>
                <a:srgbClr val="00A2B8"/>
              </a:buClr>
              <a:defRPr/>
            </a:lvl1pPr>
            <a:lvl2pPr>
              <a:buClr>
                <a:srgbClr val="00A2B8"/>
              </a:buClr>
              <a:defRPr sz="2800"/>
            </a:lvl2pPr>
            <a:lvl3pPr>
              <a:buClr>
                <a:srgbClr val="00A2B8"/>
              </a:buClr>
              <a:defRPr/>
            </a:lvl3pPr>
            <a:lvl4pPr>
              <a:buClr>
                <a:srgbClr val="00A2B8"/>
              </a:buClr>
              <a:defRPr/>
            </a:lvl4pPr>
            <a:lvl5pPr>
              <a:buClr>
                <a:srgbClr val="00A2B8"/>
              </a:buClr>
              <a:defRPr/>
            </a:lvl5pPr>
          </a:lstStyle>
          <a:p>
            <a:pPr lvl="0"/>
            <a:r>
              <a:rPr lang="en-US" dirty="0"/>
              <a:t>outcome 1</a:t>
            </a:r>
          </a:p>
          <a:p>
            <a:pPr lvl="0"/>
            <a:r>
              <a:rPr lang="en-US" dirty="0"/>
              <a:t>outcome 2</a:t>
            </a:r>
          </a:p>
          <a:p>
            <a:pPr lvl="0"/>
            <a:r>
              <a:rPr lang="en-US" dirty="0"/>
              <a:t>outcome 3</a:t>
            </a:r>
          </a:p>
        </p:txBody>
      </p:sp>
      <p:pic>
        <p:nvPicPr>
          <p:cNvPr id="11" name="Graphic 10" descr="Target">
            <a:extLst>
              <a:ext uri="{FF2B5EF4-FFF2-40B4-BE49-F238E27FC236}">
                <a16:creationId xmlns:a16="http://schemas.microsoft.com/office/drawing/2014/main" id="{8709446A-BD58-42FE-8058-90C6B724402E}"/>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6708" y="98321"/>
            <a:ext cx="1917292" cy="1917292"/>
          </a:xfrm>
          <a:prstGeom prst="rect">
            <a:avLst/>
          </a:prstGeom>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F8377C6D-0C30-48F0-89AC-23D3E98F9A33}"/>
              </a:ext>
            </a:extLst>
          </p:cNvPr>
          <p:cNvSpPr txBox="1"/>
          <p:nvPr userDrawn="1"/>
        </p:nvSpPr>
        <p:spPr>
          <a:xfrm>
            <a:off x="393290" y="2298413"/>
            <a:ext cx="6845144" cy="584775"/>
          </a:xfrm>
          <a:prstGeom prst="rect">
            <a:avLst/>
          </a:prstGeom>
          <a:noFill/>
        </p:spPr>
        <p:txBody>
          <a:bodyPr wrap="none" rtlCol="0">
            <a:spAutoFit/>
          </a:bodyPr>
          <a:lstStyle/>
          <a:p>
            <a:r>
              <a:rPr lang="en-IN" sz="3200" dirty="0"/>
              <a:t>After this lecture, you will be able to</a:t>
            </a:r>
          </a:p>
        </p:txBody>
      </p:sp>
    </p:spTree>
    <p:extLst>
      <p:ext uri="{BB962C8B-B14F-4D97-AF65-F5344CB8AC3E}">
        <p14:creationId xmlns:p14="http://schemas.microsoft.com/office/powerpoint/2010/main" val="646160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Title and Content">
    <p:bg>
      <p:bgPr>
        <a:blipFill dpi="0" rotWithShape="1">
          <a:blip r:embed="rId2" cstate="print">
            <a:alphaModFix amt="20000"/>
            <a:lum/>
          </a:blip>
          <a:srcRect/>
          <a:stretch>
            <a:fillRect l="-6000" r="-6000"/>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8"/>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64091E1C-13AA-4430-B0AB-E932AEDB367A}"/>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225208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white)">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52A9DAD-2222-4EAA-A984-73EA804BABC9}"/>
              </a:ext>
            </a:extLst>
          </p:cNvPr>
          <p:cNvSpPr/>
          <p:nvPr userDrawn="1"/>
        </p:nvSpPr>
        <p:spPr>
          <a:xfrm>
            <a:off x="0" y="0"/>
            <a:ext cx="9144000" cy="1080000"/>
          </a:xfrm>
          <a:prstGeom prst="rect">
            <a:avLst/>
          </a:prstGeom>
          <a:solidFill>
            <a:srgbClr val="00A2B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393290" y="1"/>
            <a:ext cx="8504904" cy="1080000"/>
          </a:xfrm>
        </p:spPr>
        <p:txBody>
          <a:bodyPr>
            <a:normAutofit/>
          </a:bodyPr>
          <a:lstStyle>
            <a:lvl1pPr>
              <a:defRPr sz="3600">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393290" y="1248697"/>
            <a:ext cx="8504904" cy="5338916"/>
          </a:xfrm>
        </p:spPr>
        <p:txBody>
          <a:bodyPr/>
          <a:lstStyle>
            <a:lvl1pPr>
              <a:lnSpc>
                <a:spcPct val="150000"/>
              </a:lnSpc>
              <a:buClr>
                <a:srgbClr val="00A2B8"/>
              </a:buClr>
              <a:defRPr/>
            </a:lvl1pPr>
            <a:lvl2pPr>
              <a:lnSpc>
                <a:spcPct val="150000"/>
              </a:lnSpc>
              <a:buClr>
                <a:srgbClr val="00A2B8"/>
              </a:buClr>
              <a:defRPr/>
            </a:lvl2pPr>
            <a:lvl3pPr>
              <a:lnSpc>
                <a:spcPct val="150000"/>
              </a:lnSpc>
              <a:buClr>
                <a:srgbClr val="00A2B8"/>
              </a:buClr>
              <a:defRPr/>
            </a:lvl3pPr>
            <a:lvl4pPr>
              <a:lnSpc>
                <a:spcPct val="150000"/>
              </a:lnSpc>
              <a:buClr>
                <a:srgbClr val="00A2B8"/>
              </a:buClr>
              <a:defRPr/>
            </a:lvl4pPr>
            <a:lvl5pPr>
              <a:lnSpc>
                <a:spcPct val="150000"/>
              </a:lnSpc>
              <a:buClr>
                <a:srgbClr val="00A2B8"/>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9D40D22A-9F0E-4024-A4A6-FCCE6CB60E86}"/>
              </a:ext>
            </a:extLst>
          </p:cNvPr>
          <p:cNvSpPr txBox="1"/>
          <p:nvPr userDrawn="1"/>
        </p:nvSpPr>
        <p:spPr>
          <a:xfrm>
            <a:off x="33867" y="6666614"/>
            <a:ext cx="9110132" cy="200055"/>
          </a:xfrm>
          <a:prstGeom prst="rect">
            <a:avLst/>
          </a:prstGeom>
          <a:noFill/>
        </p:spPr>
        <p:txBody>
          <a:bodyPr wrap="square" rtlCol="0">
            <a:spAutoFit/>
          </a:bodyPr>
          <a:lstStyle/>
          <a:p>
            <a:pPr algn="ctr"/>
            <a:r>
              <a:rPr lang="en-IN" sz="700" dirty="0"/>
              <a:t>Content Source: </a:t>
            </a:r>
            <a:r>
              <a:rPr lang="en-US" sz="700" b="1" dirty="0">
                <a:solidFill>
                  <a:srgbClr val="5F6368"/>
                </a:solidFill>
                <a:latin typeface="arial" panose="020B0604020202020204" pitchFamily="34" charset="0"/>
              </a:rPr>
              <a:t>Discrete Mathematics</a:t>
            </a:r>
            <a:r>
              <a:rPr lang="en-US" sz="700" dirty="0">
                <a:solidFill>
                  <a:srgbClr val="4D5156"/>
                </a:solidFill>
                <a:latin typeface="arial" panose="020B0604020202020204" pitchFamily="34" charset="0"/>
              </a:rPr>
              <a:t> and </a:t>
            </a:r>
            <a:r>
              <a:rPr lang="en-US" sz="700" b="1" dirty="0">
                <a:solidFill>
                  <a:srgbClr val="5F6368"/>
                </a:solidFill>
                <a:latin typeface="arial" panose="020B0604020202020204" pitchFamily="34" charset="0"/>
              </a:rPr>
              <a:t>Its Applications</a:t>
            </a:r>
            <a:r>
              <a:rPr lang="en-US" sz="700" dirty="0">
                <a:solidFill>
                  <a:srgbClr val="4D5156"/>
                </a:solidFill>
                <a:latin typeface="arial" panose="020B0604020202020204" pitchFamily="34" charset="0"/>
              </a:rPr>
              <a:t>. Seventh Edition. </a:t>
            </a:r>
            <a:r>
              <a:rPr lang="en-US" sz="700" b="1" dirty="0">
                <a:solidFill>
                  <a:srgbClr val="5F6368"/>
                </a:solidFill>
                <a:latin typeface="arial" panose="020B0604020202020204" pitchFamily="34" charset="0"/>
              </a:rPr>
              <a:t>Kenneth H. Rosen. Monmouth University. Prepared by Jerrold W. Grossman, Oakland University.</a:t>
            </a:r>
            <a:r>
              <a:rPr lang="en-US" sz="700" dirty="0">
                <a:solidFill>
                  <a:srgbClr val="4D5156"/>
                </a:solidFill>
                <a:latin typeface="arial" panose="020B0604020202020204" pitchFamily="34" charset="0"/>
              </a:rPr>
              <a:t> (and formerly AT&amp;T Laboratories)</a:t>
            </a:r>
            <a:endParaRPr lang="en-IN" sz="700" dirty="0"/>
          </a:p>
        </p:txBody>
      </p:sp>
    </p:spTree>
    <p:extLst>
      <p:ext uri="{BB962C8B-B14F-4D97-AF65-F5344CB8AC3E}">
        <p14:creationId xmlns:p14="http://schemas.microsoft.com/office/powerpoint/2010/main" val="4026521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74431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2144989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1820985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859219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2763743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Thank You">
    <p:bg>
      <p:bgPr>
        <a:gradFill flip="none" rotWithShape="1">
          <a:gsLst>
            <a:gs pos="0">
              <a:schemeClr val="accent3">
                <a:lumMod val="0"/>
                <a:lumOff val="100000"/>
              </a:schemeClr>
            </a:gs>
            <a:gs pos="100000">
              <a:schemeClr val="bg1">
                <a:lumMod val="8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41FF5F-8082-499F-9B42-B9953F7F83AE}"/>
              </a:ext>
            </a:extLst>
          </p:cNvPr>
          <p:cNvSpPr txBox="1"/>
          <p:nvPr userDrawn="1"/>
        </p:nvSpPr>
        <p:spPr>
          <a:xfrm>
            <a:off x="1620711" y="2869012"/>
            <a:ext cx="5902578" cy="923330"/>
          </a:xfrm>
          <a:prstGeom prst="rect">
            <a:avLst/>
          </a:prstGeom>
          <a:noFill/>
        </p:spPr>
        <p:txBody>
          <a:bodyPr wrap="none" rtlCol="0">
            <a:spAutoFit/>
          </a:bodyPr>
          <a:lstStyle/>
          <a:p>
            <a:r>
              <a:rPr lang="en-IN" sz="5400" dirty="0">
                <a:solidFill>
                  <a:srgbClr val="00A2B8"/>
                </a:solidFill>
                <a:effectLst/>
              </a:rPr>
              <a:t>That’s all for now…</a:t>
            </a:r>
          </a:p>
        </p:txBody>
      </p:sp>
      <p:cxnSp>
        <p:nvCxnSpPr>
          <p:cNvPr id="7" name="Straight Connector 6">
            <a:extLst>
              <a:ext uri="{FF2B5EF4-FFF2-40B4-BE49-F238E27FC236}">
                <a16:creationId xmlns:a16="http://schemas.microsoft.com/office/drawing/2014/main" id="{8376A0C7-0E66-445E-9D28-DB789C63D202}"/>
              </a:ext>
            </a:extLst>
          </p:cNvPr>
          <p:cNvCxnSpPr>
            <a:cxnSpLocks/>
          </p:cNvCxnSpPr>
          <p:nvPr userDrawn="1"/>
        </p:nvCxnSpPr>
        <p:spPr>
          <a:xfrm>
            <a:off x="1720645" y="3654690"/>
            <a:ext cx="5624052" cy="0"/>
          </a:xfrm>
          <a:prstGeom prst="line">
            <a:avLst/>
          </a:prstGeom>
          <a:ln w="31750">
            <a:solidFill>
              <a:srgbClr val="CA628C"/>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01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39188165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2028595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2776747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76987-CD5A-4B0D-82F1-8DDC56102557}" type="datetimeFigureOut">
              <a:rPr lang="en-IN" smtClean="0"/>
              <a:pPr/>
              <a:t>27-01-2021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5910F8-8D71-4F22-9C7F-1F77DF6804AD}" type="slidenum">
              <a:rPr lang="en-IN" smtClean="0"/>
              <a:pPr/>
              <a:t>‹#›</a:t>
            </a:fld>
            <a:endParaRPr lang="en-IN"/>
          </a:p>
        </p:txBody>
      </p:sp>
    </p:spTree>
    <p:extLst>
      <p:ext uri="{BB962C8B-B14F-4D97-AF65-F5344CB8AC3E}">
        <p14:creationId xmlns:p14="http://schemas.microsoft.com/office/powerpoint/2010/main" val="2144704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376987-CD5A-4B0D-82F1-8DDC56102557}" type="datetimeFigureOut">
              <a:rPr lang="en-IN" smtClean="0"/>
              <a:pPr/>
              <a:t>27-01-2021</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910F8-8D71-4F22-9C7F-1F77DF6804AD}" type="slidenum">
              <a:rPr lang="en-IN" smtClean="0"/>
              <a:pPr/>
              <a:t>‹#›</a:t>
            </a:fld>
            <a:endParaRPr lang="en-IN"/>
          </a:p>
        </p:txBody>
      </p:sp>
    </p:spTree>
    <p:extLst>
      <p:ext uri="{BB962C8B-B14F-4D97-AF65-F5344CB8AC3E}">
        <p14:creationId xmlns:p14="http://schemas.microsoft.com/office/powerpoint/2010/main" val="9462137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72" r:id="rId4"/>
    <p:sldLayoutId id="2147483663" r:id="rId5"/>
    <p:sldLayoutId id="2147483664" r:id="rId6"/>
    <p:sldLayoutId id="2147483665" r:id="rId7"/>
    <p:sldLayoutId id="2147483666" r:id="rId8"/>
    <p:sldLayoutId id="2147483667" r:id="rId9"/>
    <p:sldLayoutId id="2147483673" r:id="rId10"/>
    <p:sldLayoutId id="2147483668" r:id="rId11"/>
    <p:sldLayoutId id="2147483669" r:id="rId12"/>
    <p:sldLayoutId id="2147483670" r:id="rId13"/>
    <p:sldLayoutId id="2147483671" r:id="rId14"/>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3B31A-26EC-4882-9FB2-E3790927BE30}"/>
              </a:ext>
            </a:extLst>
          </p:cNvPr>
          <p:cNvSpPr>
            <a:spLocks noGrp="1"/>
          </p:cNvSpPr>
          <p:nvPr>
            <p:ph type="ctrTitle"/>
          </p:nvPr>
        </p:nvSpPr>
        <p:spPr/>
        <p:txBody>
          <a:bodyPr>
            <a:normAutofit fontScale="90000"/>
          </a:bodyPr>
          <a:lstStyle/>
          <a:p>
            <a:r>
              <a:rPr lang="en-IN" dirty="0"/>
              <a:t>EMTH403</a:t>
            </a:r>
          </a:p>
        </p:txBody>
      </p:sp>
      <p:sp>
        <p:nvSpPr>
          <p:cNvPr id="3" name="Subtitle 2">
            <a:extLst>
              <a:ext uri="{FF2B5EF4-FFF2-40B4-BE49-F238E27FC236}">
                <a16:creationId xmlns:a16="http://schemas.microsoft.com/office/drawing/2014/main" id="{5F2FDE88-E809-4B0D-A49D-23F92304EDFA}"/>
              </a:ext>
            </a:extLst>
          </p:cNvPr>
          <p:cNvSpPr>
            <a:spLocks noGrp="1"/>
          </p:cNvSpPr>
          <p:nvPr>
            <p:ph type="subTitle" idx="1"/>
          </p:nvPr>
        </p:nvSpPr>
        <p:spPr/>
        <p:txBody>
          <a:bodyPr>
            <a:normAutofit lnSpcReduction="10000"/>
          </a:bodyPr>
          <a:lstStyle/>
          <a:p>
            <a:r>
              <a:rPr lang="en-US" dirty="0"/>
              <a:t>Mathematical Foundation for Computer Science </a:t>
            </a:r>
            <a:endParaRPr lang="en-IN" dirty="0"/>
          </a:p>
        </p:txBody>
      </p:sp>
    </p:spTree>
    <p:extLst>
      <p:ext uri="{BB962C8B-B14F-4D97-AF65-F5344CB8AC3E}">
        <p14:creationId xmlns:p14="http://schemas.microsoft.com/office/powerpoint/2010/main" val="3848506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25CB-91D8-4BF1-84BC-BE57F14646E6}"/>
              </a:ext>
            </a:extLst>
          </p:cNvPr>
          <p:cNvSpPr>
            <a:spLocks noGrp="1"/>
          </p:cNvSpPr>
          <p:nvPr>
            <p:ph type="title"/>
          </p:nvPr>
        </p:nvSpPr>
        <p:spPr/>
        <p:txBody>
          <a:bodyPr/>
          <a:lstStyle/>
          <a:p>
            <a:r>
              <a:rPr lang="en-IN" dirty="0"/>
              <a:t>Lecture Outcomes</a:t>
            </a:r>
          </a:p>
        </p:txBody>
      </p:sp>
      <p:sp>
        <p:nvSpPr>
          <p:cNvPr id="3" name="Content Placeholder 2">
            <a:extLst>
              <a:ext uri="{FF2B5EF4-FFF2-40B4-BE49-F238E27FC236}">
                <a16:creationId xmlns:a16="http://schemas.microsoft.com/office/drawing/2014/main" id="{C2262320-2170-46A9-8662-1BF0938F293E}"/>
              </a:ext>
            </a:extLst>
          </p:cNvPr>
          <p:cNvSpPr>
            <a:spLocks noGrp="1"/>
          </p:cNvSpPr>
          <p:nvPr>
            <p:ph idx="1"/>
          </p:nvPr>
        </p:nvSpPr>
        <p:spPr>
          <a:xfrm>
            <a:off x="963560" y="2883188"/>
            <a:ext cx="7934633" cy="3500283"/>
          </a:xfrm>
        </p:spPr>
        <p:txBody>
          <a:bodyPr>
            <a:normAutofit/>
          </a:bodyPr>
          <a:lstStyle/>
          <a:p>
            <a:r>
              <a:rPr lang="en-US" dirty="0"/>
              <a:t>understand what is graph coloring.</a:t>
            </a:r>
          </a:p>
          <a:p>
            <a:r>
              <a:rPr lang="en-US" dirty="0"/>
              <a:t>understand what is a </a:t>
            </a:r>
            <a:r>
              <a:rPr lang="en-IN" dirty="0"/>
              <a:t>4-Color Map Theorem.</a:t>
            </a:r>
          </a:p>
          <a:p>
            <a:r>
              <a:rPr lang="en-US" dirty="0"/>
              <a:t>understand what is a </a:t>
            </a:r>
            <a:r>
              <a:rPr lang="en-IN" dirty="0"/>
              <a:t>chromatic number</a:t>
            </a:r>
          </a:p>
          <a:p>
            <a:endParaRPr lang="en-US" dirty="0"/>
          </a:p>
          <a:p>
            <a:endParaRPr lang="en-US" dirty="0"/>
          </a:p>
        </p:txBody>
      </p:sp>
    </p:spTree>
    <p:extLst>
      <p:ext uri="{BB962C8B-B14F-4D97-AF65-F5344CB8AC3E}">
        <p14:creationId xmlns:p14="http://schemas.microsoft.com/office/powerpoint/2010/main" val="1998472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p:txBody>
          <a:bodyPr>
            <a:normAutofit fontScale="92500"/>
          </a:bodyPr>
          <a:lstStyle/>
          <a:p>
            <a:pPr marL="0" indent="0">
              <a:buNone/>
            </a:pPr>
            <a:r>
              <a:rPr lang="en-US" dirty="0">
                <a:solidFill>
                  <a:srgbClr val="0099FF"/>
                </a:solidFill>
              </a:rPr>
              <a:t>Definition: </a:t>
            </a:r>
            <a:r>
              <a:rPr lang="en-US" dirty="0"/>
              <a:t>A graph has been colored if a color has been assigned to each vertex in such a way that adjacent vertices have different colors.</a:t>
            </a:r>
          </a:p>
          <a:p>
            <a:pPr marL="0" indent="0">
              <a:buNone/>
            </a:pPr>
            <a:endParaRPr lang="en-US" dirty="0"/>
          </a:p>
          <a:p>
            <a:pPr marL="0" indent="0">
              <a:buNone/>
            </a:pPr>
            <a:endParaRPr lang="en-US" dirty="0"/>
          </a:p>
          <a:p>
            <a:pPr marL="0" indent="0">
              <a:buNone/>
            </a:pPr>
            <a:r>
              <a:rPr lang="en-US" dirty="0">
                <a:solidFill>
                  <a:srgbClr val="0099FF"/>
                </a:solidFill>
              </a:rPr>
              <a:t>Definition: </a:t>
            </a:r>
            <a:r>
              <a:rPr lang="en-US" dirty="0"/>
              <a:t>The chromatic number of a graph is the smallest number of colors with which it can be colored.</a:t>
            </a:r>
          </a:p>
          <a:p>
            <a:pPr marL="0" indent="0">
              <a:buNone/>
            </a:pPr>
            <a:r>
              <a:rPr lang="en-US" dirty="0"/>
              <a:t>In the example above, the chromatic number is 4.</a:t>
            </a:r>
            <a:endParaRPr lang="en-IN" dirty="0"/>
          </a:p>
        </p:txBody>
      </p:sp>
      <p:grpSp>
        <p:nvGrpSpPr>
          <p:cNvPr id="4" name="Group 4">
            <a:extLst>
              <a:ext uri="{FF2B5EF4-FFF2-40B4-BE49-F238E27FC236}">
                <a16:creationId xmlns:a16="http://schemas.microsoft.com/office/drawing/2014/main" id="{17A01BF2-9997-4F83-A070-7301961750AB}"/>
              </a:ext>
            </a:extLst>
          </p:cNvPr>
          <p:cNvGrpSpPr>
            <a:grpSpLocks/>
          </p:cNvGrpSpPr>
          <p:nvPr/>
        </p:nvGrpSpPr>
        <p:grpSpPr bwMode="auto">
          <a:xfrm>
            <a:off x="5290485" y="2521441"/>
            <a:ext cx="3744912" cy="1765300"/>
            <a:chOff x="226" y="2908"/>
            <a:chExt cx="2359" cy="1112"/>
          </a:xfrm>
        </p:grpSpPr>
        <p:sp>
          <p:nvSpPr>
            <p:cNvPr id="5" name="Line 5">
              <a:extLst>
                <a:ext uri="{FF2B5EF4-FFF2-40B4-BE49-F238E27FC236}">
                  <a16:creationId xmlns:a16="http://schemas.microsoft.com/office/drawing/2014/main" id="{CAE9C748-0EB4-4660-818B-1D52BE841B76}"/>
                </a:ext>
              </a:extLst>
            </p:cNvPr>
            <p:cNvSpPr>
              <a:spLocks noChangeShapeType="1"/>
            </p:cNvSpPr>
            <p:nvPr/>
          </p:nvSpPr>
          <p:spPr bwMode="auto">
            <a:xfrm flipV="1">
              <a:off x="431" y="3090"/>
              <a:ext cx="408"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 name="Line 6">
              <a:extLst>
                <a:ext uri="{FF2B5EF4-FFF2-40B4-BE49-F238E27FC236}">
                  <a16:creationId xmlns:a16="http://schemas.microsoft.com/office/drawing/2014/main" id="{A0F2B939-6667-482F-B0D7-938AD78462A2}"/>
                </a:ext>
              </a:extLst>
            </p:cNvPr>
            <p:cNvSpPr>
              <a:spLocks noChangeShapeType="1"/>
            </p:cNvSpPr>
            <p:nvPr/>
          </p:nvSpPr>
          <p:spPr bwMode="auto">
            <a:xfrm>
              <a:off x="431" y="3543"/>
              <a:ext cx="385" cy="2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 name="Line 7">
              <a:extLst>
                <a:ext uri="{FF2B5EF4-FFF2-40B4-BE49-F238E27FC236}">
                  <a16:creationId xmlns:a16="http://schemas.microsoft.com/office/drawing/2014/main" id="{D72CCE0B-2F03-4226-9C15-83744718C59D}"/>
                </a:ext>
              </a:extLst>
            </p:cNvPr>
            <p:cNvSpPr>
              <a:spLocks noChangeShapeType="1"/>
            </p:cNvSpPr>
            <p:nvPr/>
          </p:nvSpPr>
          <p:spPr bwMode="auto">
            <a:xfrm>
              <a:off x="1066" y="3022"/>
              <a:ext cx="5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 name="Line 8">
              <a:extLst>
                <a:ext uri="{FF2B5EF4-FFF2-40B4-BE49-F238E27FC236}">
                  <a16:creationId xmlns:a16="http://schemas.microsoft.com/office/drawing/2014/main" id="{A407E324-5066-4F40-8CF7-9D4479463D00}"/>
                </a:ext>
              </a:extLst>
            </p:cNvPr>
            <p:cNvSpPr>
              <a:spLocks noChangeShapeType="1"/>
            </p:cNvSpPr>
            <p:nvPr/>
          </p:nvSpPr>
          <p:spPr bwMode="auto">
            <a:xfrm>
              <a:off x="1043" y="3906"/>
              <a:ext cx="6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 name="Line 9">
              <a:extLst>
                <a:ext uri="{FF2B5EF4-FFF2-40B4-BE49-F238E27FC236}">
                  <a16:creationId xmlns:a16="http://schemas.microsoft.com/office/drawing/2014/main" id="{D0D7148D-DF65-4327-9766-399BDE9E0FE6}"/>
                </a:ext>
              </a:extLst>
            </p:cNvPr>
            <p:cNvSpPr>
              <a:spLocks noChangeShapeType="1"/>
            </p:cNvSpPr>
            <p:nvPr/>
          </p:nvSpPr>
          <p:spPr bwMode="auto">
            <a:xfrm>
              <a:off x="930" y="3135"/>
              <a:ext cx="0" cy="6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 name="Line 10">
              <a:extLst>
                <a:ext uri="{FF2B5EF4-FFF2-40B4-BE49-F238E27FC236}">
                  <a16:creationId xmlns:a16="http://schemas.microsoft.com/office/drawing/2014/main" id="{AA085866-F1BD-4DB8-9F84-5EFBEC2096C5}"/>
                </a:ext>
              </a:extLst>
            </p:cNvPr>
            <p:cNvSpPr>
              <a:spLocks noChangeShapeType="1"/>
            </p:cNvSpPr>
            <p:nvPr/>
          </p:nvSpPr>
          <p:spPr bwMode="auto">
            <a:xfrm>
              <a:off x="1814" y="3158"/>
              <a:ext cx="0" cy="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 name="Line 11">
              <a:extLst>
                <a:ext uri="{FF2B5EF4-FFF2-40B4-BE49-F238E27FC236}">
                  <a16:creationId xmlns:a16="http://schemas.microsoft.com/office/drawing/2014/main" id="{4B647756-7657-4DA0-8A78-B319907BB271}"/>
                </a:ext>
              </a:extLst>
            </p:cNvPr>
            <p:cNvSpPr>
              <a:spLocks noChangeShapeType="1"/>
            </p:cNvSpPr>
            <p:nvPr/>
          </p:nvSpPr>
          <p:spPr bwMode="auto">
            <a:xfrm>
              <a:off x="1020" y="3090"/>
              <a:ext cx="726" cy="7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2" name="Line 12">
              <a:extLst>
                <a:ext uri="{FF2B5EF4-FFF2-40B4-BE49-F238E27FC236}">
                  <a16:creationId xmlns:a16="http://schemas.microsoft.com/office/drawing/2014/main" id="{7B5FBDDC-8A4A-47FE-A21B-FAE12AF0C137}"/>
                </a:ext>
              </a:extLst>
            </p:cNvPr>
            <p:cNvSpPr>
              <a:spLocks noChangeShapeType="1"/>
            </p:cNvSpPr>
            <p:nvPr/>
          </p:nvSpPr>
          <p:spPr bwMode="auto">
            <a:xfrm flipV="1">
              <a:off x="998" y="3135"/>
              <a:ext cx="725" cy="7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13" name="Group 13">
              <a:extLst>
                <a:ext uri="{FF2B5EF4-FFF2-40B4-BE49-F238E27FC236}">
                  <a16:creationId xmlns:a16="http://schemas.microsoft.com/office/drawing/2014/main" id="{C27AECA8-DB69-4A87-831E-04FE6AD341DE}"/>
                </a:ext>
              </a:extLst>
            </p:cNvPr>
            <p:cNvGrpSpPr>
              <a:grpSpLocks/>
            </p:cNvGrpSpPr>
            <p:nvPr/>
          </p:nvGrpSpPr>
          <p:grpSpPr bwMode="auto">
            <a:xfrm>
              <a:off x="226" y="2908"/>
              <a:ext cx="2359" cy="1112"/>
              <a:chOff x="226" y="2908"/>
              <a:chExt cx="2359" cy="1112"/>
            </a:xfrm>
          </p:grpSpPr>
          <p:sp>
            <p:nvSpPr>
              <p:cNvPr id="14" name="Oval 14">
                <a:extLst>
                  <a:ext uri="{FF2B5EF4-FFF2-40B4-BE49-F238E27FC236}">
                    <a16:creationId xmlns:a16="http://schemas.microsoft.com/office/drawing/2014/main" id="{F1D82FC8-2783-4CF0-AC52-CE53F0E4C77C}"/>
                  </a:ext>
                </a:extLst>
              </p:cNvPr>
              <p:cNvSpPr>
                <a:spLocks noChangeArrowheads="1"/>
              </p:cNvSpPr>
              <p:nvPr/>
            </p:nvSpPr>
            <p:spPr bwMode="auto">
              <a:xfrm>
                <a:off x="226" y="3317"/>
                <a:ext cx="250" cy="22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Oval 15">
                <a:extLst>
                  <a:ext uri="{FF2B5EF4-FFF2-40B4-BE49-F238E27FC236}">
                    <a16:creationId xmlns:a16="http://schemas.microsoft.com/office/drawing/2014/main" id="{EB76E93D-1BC2-40CD-AAA0-B2E71CDF7F7B}"/>
                  </a:ext>
                </a:extLst>
              </p:cNvPr>
              <p:cNvSpPr>
                <a:spLocks noChangeArrowheads="1"/>
              </p:cNvSpPr>
              <p:nvPr/>
            </p:nvSpPr>
            <p:spPr bwMode="auto">
              <a:xfrm>
                <a:off x="816" y="2908"/>
                <a:ext cx="250" cy="22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Oval 16">
                <a:extLst>
                  <a:ext uri="{FF2B5EF4-FFF2-40B4-BE49-F238E27FC236}">
                    <a16:creationId xmlns:a16="http://schemas.microsoft.com/office/drawing/2014/main" id="{F282E0C1-5E07-41E6-861D-85197E6165CA}"/>
                  </a:ext>
                </a:extLst>
              </p:cNvPr>
              <p:cNvSpPr>
                <a:spLocks noChangeArrowheads="1"/>
              </p:cNvSpPr>
              <p:nvPr/>
            </p:nvSpPr>
            <p:spPr bwMode="auto">
              <a:xfrm>
                <a:off x="793" y="3793"/>
                <a:ext cx="250"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Oval 17">
                <a:extLst>
                  <a:ext uri="{FF2B5EF4-FFF2-40B4-BE49-F238E27FC236}">
                    <a16:creationId xmlns:a16="http://schemas.microsoft.com/office/drawing/2014/main" id="{0651E345-7833-4171-B749-E46FB358213D}"/>
                  </a:ext>
                </a:extLst>
              </p:cNvPr>
              <p:cNvSpPr>
                <a:spLocks noChangeArrowheads="1"/>
              </p:cNvSpPr>
              <p:nvPr/>
            </p:nvSpPr>
            <p:spPr bwMode="auto">
              <a:xfrm>
                <a:off x="1678" y="2931"/>
                <a:ext cx="250" cy="22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 name="Oval 18">
                <a:extLst>
                  <a:ext uri="{FF2B5EF4-FFF2-40B4-BE49-F238E27FC236}">
                    <a16:creationId xmlns:a16="http://schemas.microsoft.com/office/drawing/2014/main" id="{54D7A619-2136-41B7-924A-EF37741C27DB}"/>
                  </a:ext>
                </a:extLst>
              </p:cNvPr>
              <p:cNvSpPr>
                <a:spLocks noChangeArrowheads="1"/>
              </p:cNvSpPr>
              <p:nvPr/>
            </p:nvSpPr>
            <p:spPr bwMode="auto">
              <a:xfrm>
                <a:off x="1701" y="3770"/>
                <a:ext cx="250" cy="227"/>
              </a:xfrm>
              <a:prstGeom prst="ellipse">
                <a:avLst/>
              </a:prstGeom>
              <a:solidFill>
                <a:srgbClr val="FF66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 name="Text Box 19">
                <a:extLst>
                  <a:ext uri="{FF2B5EF4-FFF2-40B4-BE49-F238E27FC236}">
                    <a16:creationId xmlns:a16="http://schemas.microsoft.com/office/drawing/2014/main" id="{BC99E765-0703-47A9-B3FE-D8A6565023A7}"/>
                  </a:ext>
                </a:extLst>
              </p:cNvPr>
              <p:cNvSpPr txBox="1">
                <a:spLocks noChangeArrowheads="1"/>
              </p:cNvSpPr>
              <p:nvPr/>
            </p:nvSpPr>
            <p:spPr bwMode="auto">
              <a:xfrm>
                <a:off x="2358" y="3090"/>
                <a:ext cx="2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grpSp>
    </p:spTree>
    <p:extLst>
      <p:ext uri="{BB962C8B-B14F-4D97-AF65-F5344CB8AC3E}">
        <p14:creationId xmlns:p14="http://schemas.microsoft.com/office/powerpoint/2010/main" val="364214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p:txBody>
          <a:bodyPr>
            <a:normAutofit/>
          </a:bodyPr>
          <a:lstStyle/>
          <a:p>
            <a:pPr marL="0" indent="0">
              <a:buNone/>
            </a:pPr>
            <a:r>
              <a:rPr lang="en-US" sz="2400" dirty="0"/>
              <a:t>Four colors are sufficient to color a map of the contiguous United States.</a:t>
            </a:r>
          </a:p>
          <a:p>
            <a:pPr marL="0" indent="0" algn="l">
              <a:buNone/>
            </a:pPr>
            <a:r>
              <a:rPr lang="en-US" sz="2400" dirty="0"/>
              <a:t>Source of map: http://www.math.gatech.edu/~thomas/FC/fourcolor.html</a:t>
            </a:r>
          </a:p>
          <a:p>
            <a:pPr marL="0" indent="0">
              <a:buNone/>
            </a:pPr>
            <a:endParaRPr lang="en-IN" sz="2400" dirty="0"/>
          </a:p>
        </p:txBody>
      </p:sp>
      <p:pic>
        <p:nvPicPr>
          <p:cNvPr id="4" name="Picture 5" descr="usa">
            <a:extLst>
              <a:ext uri="{FF2B5EF4-FFF2-40B4-BE49-F238E27FC236}">
                <a16:creationId xmlns:a16="http://schemas.microsoft.com/office/drawing/2014/main" id="{84DEFCD0-7D81-4854-BEF3-ECC757B7B67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1200108" y="3817856"/>
            <a:ext cx="6858000" cy="2845174"/>
          </a:xfrm>
          <a:prstGeom prst="rect">
            <a:avLst/>
          </a:prstGeom>
          <a:noFill/>
        </p:spPr>
      </p:pic>
    </p:spTree>
    <p:extLst>
      <p:ext uri="{BB962C8B-B14F-4D97-AF65-F5344CB8AC3E}">
        <p14:creationId xmlns:p14="http://schemas.microsoft.com/office/powerpoint/2010/main" val="3250668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Trees</a:t>
            </a:r>
          </a:p>
        </p:txBody>
      </p:sp>
      <p:sp>
        <p:nvSpPr>
          <p:cNvPr id="4" name="Rectangle 55">
            <a:extLst>
              <a:ext uri="{FF2B5EF4-FFF2-40B4-BE49-F238E27FC236}">
                <a16:creationId xmlns:a16="http://schemas.microsoft.com/office/drawing/2014/main" id="{E8C3CB91-62C8-44C4-938A-A93208178C6C}"/>
              </a:ext>
            </a:extLst>
          </p:cNvPr>
          <p:cNvSpPr>
            <a:spLocks noChangeArrowheads="1"/>
          </p:cNvSpPr>
          <p:nvPr/>
        </p:nvSpPr>
        <p:spPr bwMode="auto">
          <a:xfrm>
            <a:off x="1838227" y="3697287"/>
            <a:ext cx="6268825" cy="2427065"/>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kumimoji="1" sz="3200">
                <a:solidFill>
                  <a:schemeClr val="tx1"/>
                </a:solidFill>
                <a:latin typeface="Arial" charset="0"/>
                <a:ea typeface="新細明體" pitchFamily="18" charset="-120"/>
              </a:defRPr>
            </a:lvl1pPr>
            <a:lvl2pPr marL="742950" indent="-285750">
              <a:spcBef>
                <a:spcPct val="20000"/>
              </a:spcBef>
              <a:buChar char="–"/>
              <a:defRPr kumimoji="1" sz="2800">
                <a:solidFill>
                  <a:schemeClr val="tx1"/>
                </a:solidFill>
                <a:latin typeface="Arial" charset="0"/>
                <a:ea typeface="新細明體" pitchFamily="18" charset="-120"/>
              </a:defRPr>
            </a:lvl2pPr>
            <a:lvl3pPr marL="1143000" indent="-228600">
              <a:spcBef>
                <a:spcPct val="20000"/>
              </a:spcBef>
              <a:buChar char="•"/>
              <a:defRPr kumimoji="1" sz="2400">
                <a:solidFill>
                  <a:schemeClr val="tx1"/>
                </a:solidFill>
                <a:latin typeface="Arial" charset="0"/>
                <a:ea typeface="新細明體" pitchFamily="18" charset="-120"/>
              </a:defRPr>
            </a:lvl3pPr>
            <a:lvl4pPr marL="1600200" indent="-228600">
              <a:spcBef>
                <a:spcPct val="20000"/>
              </a:spcBef>
              <a:buChar char="–"/>
              <a:defRPr kumimoji="1" sz="2000">
                <a:solidFill>
                  <a:schemeClr val="tx1"/>
                </a:solidFill>
                <a:latin typeface="Arial" charset="0"/>
                <a:ea typeface="新細明體" pitchFamily="18" charset="-120"/>
              </a:defRPr>
            </a:lvl4pPr>
            <a:lvl5pPr marL="2057400" indent="-228600">
              <a:spcBef>
                <a:spcPct val="20000"/>
              </a:spcBef>
              <a:buChar char="»"/>
              <a:defRPr kumimoji="1" sz="2000">
                <a:solidFill>
                  <a:schemeClr val="tx1"/>
                </a:solidFill>
                <a:latin typeface="Arial" charset="0"/>
                <a:ea typeface="新細明體" pitchFamily="18" charset="-120"/>
              </a:defRPr>
            </a:lvl5pPr>
            <a:lvl6pPr marL="2514600" indent="-228600" fontAlgn="base">
              <a:spcBef>
                <a:spcPct val="20000"/>
              </a:spcBef>
              <a:spcAft>
                <a:spcPct val="0"/>
              </a:spcAft>
              <a:buChar char="»"/>
              <a:defRPr kumimoji="1" sz="2000">
                <a:solidFill>
                  <a:schemeClr val="tx1"/>
                </a:solidFill>
                <a:latin typeface="Arial" charset="0"/>
                <a:ea typeface="新細明體" pitchFamily="18" charset="-120"/>
              </a:defRPr>
            </a:lvl6pPr>
            <a:lvl7pPr marL="2971800" indent="-228600" fontAlgn="base">
              <a:spcBef>
                <a:spcPct val="20000"/>
              </a:spcBef>
              <a:spcAft>
                <a:spcPct val="0"/>
              </a:spcAft>
              <a:buChar char="»"/>
              <a:defRPr kumimoji="1" sz="2000">
                <a:solidFill>
                  <a:schemeClr val="tx1"/>
                </a:solidFill>
                <a:latin typeface="Arial" charset="0"/>
                <a:ea typeface="新細明體" pitchFamily="18" charset="-120"/>
              </a:defRPr>
            </a:lvl7pPr>
            <a:lvl8pPr marL="3429000" indent="-228600" fontAlgn="base">
              <a:spcBef>
                <a:spcPct val="20000"/>
              </a:spcBef>
              <a:spcAft>
                <a:spcPct val="0"/>
              </a:spcAft>
              <a:buChar char="»"/>
              <a:defRPr kumimoji="1" sz="2000">
                <a:solidFill>
                  <a:schemeClr val="tx1"/>
                </a:solidFill>
                <a:latin typeface="Arial" charset="0"/>
                <a:ea typeface="新細明體" pitchFamily="18" charset="-120"/>
              </a:defRPr>
            </a:lvl8pPr>
            <a:lvl9pPr marL="3886200" indent="-228600" fontAlgn="base">
              <a:spcBef>
                <a:spcPct val="20000"/>
              </a:spcBef>
              <a:spcAft>
                <a:spcPct val="0"/>
              </a:spcAft>
              <a:buChar char="»"/>
              <a:defRPr kumimoji="1" sz="2000">
                <a:solidFill>
                  <a:schemeClr val="tx1"/>
                </a:solidFill>
                <a:latin typeface="Arial" charset="0"/>
                <a:ea typeface="新細明體" pitchFamily="18" charset="-120"/>
              </a:defRPr>
            </a:lvl9pPr>
          </a:lstStyle>
          <a:p>
            <a:pPr>
              <a:buFontTx/>
              <a:buNone/>
            </a:pPr>
            <a:r>
              <a:rPr lang="en-US" altLang="en-US" sz="2400" dirty="0">
                <a:solidFill>
                  <a:srgbClr val="000000"/>
                </a:solidFill>
                <a:latin typeface="+mn-lt"/>
              </a:rPr>
              <a:t>Pick any vertex as “root.”</a:t>
            </a:r>
          </a:p>
          <a:p>
            <a:pPr>
              <a:lnSpc>
                <a:spcPct val="150000"/>
              </a:lnSpc>
              <a:buFontTx/>
              <a:buNone/>
            </a:pPr>
            <a:r>
              <a:rPr lang="en-US" altLang="en-US" sz="2400" dirty="0">
                <a:solidFill>
                  <a:srgbClr val="000000"/>
                </a:solidFill>
                <a:latin typeface="+mn-lt"/>
              </a:rPr>
              <a:t>if (unique) path from root is</a:t>
            </a:r>
          </a:p>
          <a:p>
            <a:pPr>
              <a:lnSpc>
                <a:spcPct val="150000"/>
              </a:lnSpc>
              <a:buFontTx/>
              <a:buNone/>
            </a:pPr>
            <a:r>
              <a:rPr lang="en-US" altLang="en-US" sz="2400" dirty="0">
                <a:solidFill>
                  <a:srgbClr val="000000"/>
                </a:solidFill>
                <a:latin typeface="+mn-lt"/>
              </a:rPr>
              <a:t>even length:        </a:t>
            </a:r>
          </a:p>
          <a:p>
            <a:pPr>
              <a:lnSpc>
                <a:spcPct val="150000"/>
              </a:lnSpc>
              <a:buFontTx/>
              <a:buNone/>
            </a:pPr>
            <a:r>
              <a:rPr lang="en-US" altLang="en-US" sz="2400" dirty="0">
                <a:solidFill>
                  <a:srgbClr val="000000"/>
                </a:solidFill>
                <a:latin typeface="+mn-lt"/>
              </a:rPr>
              <a:t>odd length:</a:t>
            </a:r>
          </a:p>
        </p:txBody>
      </p:sp>
      <p:grpSp>
        <p:nvGrpSpPr>
          <p:cNvPr id="5" name="Group 56">
            <a:extLst>
              <a:ext uri="{FF2B5EF4-FFF2-40B4-BE49-F238E27FC236}">
                <a16:creationId xmlns:a16="http://schemas.microsoft.com/office/drawing/2014/main" id="{49B0418C-4713-4F1E-AA8F-38A0EB8F35B1}"/>
              </a:ext>
            </a:extLst>
          </p:cNvPr>
          <p:cNvGrpSpPr>
            <a:grpSpLocks/>
          </p:cNvGrpSpPr>
          <p:nvPr/>
        </p:nvGrpSpPr>
        <p:grpSpPr bwMode="auto">
          <a:xfrm>
            <a:off x="4495014" y="1371600"/>
            <a:ext cx="2046681" cy="647700"/>
            <a:chOff x="2976" y="720"/>
            <a:chExt cx="1281" cy="408"/>
          </a:xfrm>
        </p:grpSpPr>
        <p:sp>
          <p:nvSpPr>
            <p:cNvPr id="6" name="Text Box 57">
              <a:extLst>
                <a:ext uri="{FF2B5EF4-FFF2-40B4-BE49-F238E27FC236}">
                  <a16:creationId xmlns:a16="http://schemas.microsoft.com/office/drawing/2014/main" id="{6E06F921-4550-4574-9657-AAE809CFC499}"/>
                </a:ext>
              </a:extLst>
            </p:cNvPr>
            <p:cNvSpPr txBox="1">
              <a:spLocks noChangeArrowheads="1"/>
            </p:cNvSpPr>
            <p:nvPr/>
          </p:nvSpPr>
          <p:spPr bwMode="auto">
            <a:xfrm>
              <a:off x="3782" y="794"/>
              <a:ext cx="475" cy="291"/>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000000"/>
                  </a:solidFill>
                </a:rPr>
                <a:t>root</a:t>
              </a:r>
            </a:p>
          </p:txBody>
        </p:sp>
        <p:sp>
          <p:nvSpPr>
            <p:cNvPr id="7" name="Freeform 58">
              <a:extLst>
                <a:ext uri="{FF2B5EF4-FFF2-40B4-BE49-F238E27FC236}">
                  <a16:creationId xmlns:a16="http://schemas.microsoft.com/office/drawing/2014/main" id="{75B21A39-A996-43F3-8744-2E12424B2FA5}"/>
                </a:ext>
              </a:extLst>
            </p:cNvPr>
            <p:cNvSpPr>
              <a:spLocks/>
            </p:cNvSpPr>
            <p:nvPr/>
          </p:nvSpPr>
          <p:spPr bwMode="auto">
            <a:xfrm>
              <a:off x="2976" y="720"/>
              <a:ext cx="816" cy="408"/>
            </a:xfrm>
            <a:custGeom>
              <a:avLst/>
              <a:gdLst>
                <a:gd name="T0" fmla="*/ 0 w 816"/>
                <a:gd name="T1" fmla="*/ 144 h 408"/>
                <a:gd name="T2" fmla="*/ 240 w 816"/>
                <a:gd name="T3" fmla="*/ 0 h 408"/>
                <a:gd name="T4" fmla="*/ 432 w 816"/>
                <a:gd name="T5" fmla="*/ 144 h 408"/>
                <a:gd name="T6" fmla="*/ 672 w 816"/>
                <a:gd name="T7" fmla="*/ 384 h 408"/>
                <a:gd name="T8" fmla="*/ 816 w 816"/>
                <a:gd name="T9" fmla="*/ 288 h 408"/>
              </a:gdLst>
              <a:ahLst/>
              <a:cxnLst>
                <a:cxn ang="0">
                  <a:pos x="T0" y="T1"/>
                </a:cxn>
                <a:cxn ang="0">
                  <a:pos x="T2" y="T3"/>
                </a:cxn>
                <a:cxn ang="0">
                  <a:pos x="T4" y="T5"/>
                </a:cxn>
                <a:cxn ang="0">
                  <a:pos x="T6" y="T7"/>
                </a:cxn>
                <a:cxn ang="0">
                  <a:pos x="T8" y="T9"/>
                </a:cxn>
              </a:cxnLst>
              <a:rect l="0" t="0" r="r" b="b"/>
              <a:pathLst>
                <a:path w="816" h="408">
                  <a:moveTo>
                    <a:pt x="0" y="144"/>
                  </a:moveTo>
                  <a:cubicBezTo>
                    <a:pt x="84" y="72"/>
                    <a:pt x="168" y="0"/>
                    <a:pt x="240" y="0"/>
                  </a:cubicBezTo>
                  <a:cubicBezTo>
                    <a:pt x="312" y="0"/>
                    <a:pt x="360" y="80"/>
                    <a:pt x="432" y="144"/>
                  </a:cubicBezTo>
                  <a:cubicBezTo>
                    <a:pt x="504" y="208"/>
                    <a:pt x="608" y="360"/>
                    <a:pt x="672" y="384"/>
                  </a:cubicBezTo>
                  <a:cubicBezTo>
                    <a:pt x="736" y="408"/>
                    <a:pt x="776" y="348"/>
                    <a:pt x="816" y="288"/>
                  </a:cubicBezTo>
                </a:path>
              </a:pathLst>
            </a:custGeom>
            <a:noFill/>
            <a:ln w="38100" cap="flat" cmpd="sng">
              <a:solidFill>
                <a:srgbClr val="000000"/>
              </a:solidFill>
              <a:prstDash val="sysDot"/>
              <a:round/>
              <a:headEnd type="stealth" w="lg" len="lg"/>
              <a:tailEnd type="none" w="lg" len="lg"/>
            </a:ln>
            <a:effectLst/>
            <a:extLst>
              <a:ext uri="{909E8E84-426E-40DD-AFC4-6F175D3DCCD1}">
                <a14:hiddenFill xmlns:a14="http://schemas.microsoft.com/office/drawing/2010/main">
                  <a:solidFill>
                    <a:srgbClr val="0000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grpSp>
      <p:grpSp>
        <p:nvGrpSpPr>
          <p:cNvPr id="8" name="Group 59">
            <a:extLst>
              <a:ext uri="{FF2B5EF4-FFF2-40B4-BE49-F238E27FC236}">
                <a16:creationId xmlns:a16="http://schemas.microsoft.com/office/drawing/2014/main" id="{53AA2F4B-0860-4AD5-B640-2624EC9E88AE}"/>
              </a:ext>
            </a:extLst>
          </p:cNvPr>
          <p:cNvGrpSpPr>
            <a:grpSpLocks/>
          </p:cNvGrpSpPr>
          <p:nvPr/>
        </p:nvGrpSpPr>
        <p:grpSpPr bwMode="auto">
          <a:xfrm>
            <a:off x="3352015" y="1524000"/>
            <a:ext cx="2300718" cy="1828800"/>
            <a:chOff x="2256" y="816"/>
            <a:chExt cx="1440" cy="1152"/>
          </a:xfrm>
        </p:grpSpPr>
        <p:grpSp>
          <p:nvGrpSpPr>
            <p:cNvPr id="9" name="Group 60">
              <a:extLst>
                <a:ext uri="{FF2B5EF4-FFF2-40B4-BE49-F238E27FC236}">
                  <a16:creationId xmlns:a16="http://schemas.microsoft.com/office/drawing/2014/main" id="{AF02549D-7C02-408E-B03D-C13A9937181C}"/>
                </a:ext>
              </a:extLst>
            </p:cNvPr>
            <p:cNvGrpSpPr>
              <a:grpSpLocks/>
            </p:cNvGrpSpPr>
            <p:nvPr/>
          </p:nvGrpSpPr>
          <p:grpSpPr bwMode="auto">
            <a:xfrm>
              <a:off x="2256" y="816"/>
              <a:ext cx="1152" cy="912"/>
              <a:chOff x="2256" y="816"/>
              <a:chExt cx="1152" cy="912"/>
            </a:xfrm>
          </p:grpSpPr>
          <p:sp>
            <p:nvSpPr>
              <p:cNvPr id="27" name="Oval 61">
                <a:extLst>
                  <a:ext uri="{FF2B5EF4-FFF2-40B4-BE49-F238E27FC236}">
                    <a16:creationId xmlns:a16="http://schemas.microsoft.com/office/drawing/2014/main" id="{D01022E3-9CC9-47DE-9505-CBFCEFD91C3B}"/>
                  </a:ext>
                </a:extLst>
              </p:cNvPr>
              <p:cNvSpPr>
                <a:spLocks noChangeArrowheads="1"/>
              </p:cNvSpPr>
              <p:nvPr/>
            </p:nvSpPr>
            <p:spPr bwMode="auto">
              <a:xfrm>
                <a:off x="2736" y="816"/>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28" name="Oval 62">
                <a:extLst>
                  <a:ext uri="{FF2B5EF4-FFF2-40B4-BE49-F238E27FC236}">
                    <a16:creationId xmlns:a16="http://schemas.microsoft.com/office/drawing/2014/main" id="{C35D2DC1-CCEB-4926-9C51-B6DFC4679884}"/>
                  </a:ext>
                </a:extLst>
              </p:cNvPr>
              <p:cNvSpPr>
                <a:spLocks noChangeArrowheads="1"/>
              </p:cNvSpPr>
              <p:nvPr/>
            </p:nvSpPr>
            <p:spPr bwMode="auto">
              <a:xfrm>
                <a:off x="2736" y="1152"/>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29" name="Oval 63">
                <a:extLst>
                  <a:ext uri="{FF2B5EF4-FFF2-40B4-BE49-F238E27FC236}">
                    <a16:creationId xmlns:a16="http://schemas.microsoft.com/office/drawing/2014/main" id="{C595B1C8-7257-4FE8-9204-E6514A137CAE}"/>
                  </a:ext>
                </a:extLst>
              </p:cNvPr>
              <p:cNvSpPr>
                <a:spLocks noChangeArrowheads="1"/>
              </p:cNvSpPr>
              <p:nvPr/>
            </p:nvSpPr>
            <p:spPr bwMode="auto">
              <a:xfrm>
                <a:off x="3120" y="1152"/>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0" name="Oval 64">
                <a:extLst>
                  <a:ext uri="{FF2B5EF4-FFF2-40B4-BE49-F238E27FC236}">
                    <a16:creationId xmlns:a16="http://schemas.microsoft.com/office/drawing/2014/main" id="{3DDAAC66-CE2A-43BC-BE99-FE1E321CDA86}"/>
                  </a:ext>
                </a:extLst>
              </p:cNvPr>
              <p:cNvSpPr>
                <a:spLocks noChangeArrowheads="1"/>
              </p:cNvSpPr>
              <p:nvPr/>
            </p:nvSpPr>
            <p:spPr bwMode="auto">
              <a:xfrm>
                <a:off x="2400" y="1152"/>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1" name="Oval 65">
                <a:extLst>
                  <a:ext uri="{FF2B5EF4-FFF2-40B4-BE49-F238E27FC236}">
                    <a16:creationId xmlns:a16="http://schemas.microsoft.com/office/drawing/2014/main" id="{02D5E3E6-5A17-4C12-BABE-7B449B6027A2}"/>
                  </a:ext>
                </a:extLst>
              </p:cNvPr>
              <p:cNvSpPr>
                <a:spLocks noChangeArrowheads="1"/>
              </p:cNvSpPr>
              <p:nvPr/>
            </p:nvSpPr>
            <p:spPr bwMode="auto">
              <a:xfrm>
                <a:off x="2256" y="158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2" name="Oval 66">
                <a:extLst>
                  <a:ext uri="{FF2B5EF4-FFF2-40B4-BE49-F238E27FC236}">
                    <a16:creationId xmlns:a16="http://schemas.microsoft.com/office/drawing/2014/main" id="{221755D9-2BA6-4292-B2E5-D3F3D89BBDAB}"/>
                  </a:ext>
                </a:extLst>
              </p:cNvPr>
              <p:cNvSpPr>
                <a:spLocks noChangeArrowheads="1"/>
              </p:cNvSpPr>
              <p:nvPr/>
            </p:nvSpPr>
            <p:spPr bwMode="auto">
              <a:xfrm>
                <a:off x="2592" y="158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3" name="Oval 67">
                <a:extLst>
                  <a:ext uri="{FF2B5EF4-FFF2-40B4-BE49-F238E27FC236}">
                    <a16:creationId xmlns:a16="http://schemas.microsoft.com/office/drawing/2014/main" id="{B1113947-24BE-4DB6-A2D3-AB017C997CA7}"/>
                  </a:ext>
                </a:extLst>
              </p:cNvPr>
              <p:cNvSpPr>
                <a:spLocks noChangeArrowheads="1"/>
              </p:cNvSpPr>
              <p:nvPr/>
            </p:nvSpPr>
            <p:spPr bwMode="auto">
              <a:xfrm>
                <a:off x="2880" y="158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4" name="Oval 68">
                <a:extLst>
                  <a:ext uri="{FF2B5EF4-FFF2-40B4-BE49-F238E27FC236}">
                    <a16:creationId xmlns:a16="http://schemas.microsoft.com/office/drawing/2014/main" id="{B84F87F5-DEA3-45A1-A5D5-0824104E7B8A}"/>
                  </a:ext>
                </a:extLst>
              </p:cNvPr>
              <p:cNvSpPr>
                <a:spLocks noChangeArrowheads="1"/>
              </p:cNvSpPr>
              <p:nvPr/>
            </p:nvSpPr>
            <p:spPr bwMode="auto">
              <a:xfrm>
                <a:off x="3264" y="158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cxnSp>
            <p:nvCxnSpPr>
              <p:cNvPr id="35" name="AutoShape 69">
                <a:extLst>
                  <a:ext uri="{FF2B5EF4-FFF2-40B4-BE49-F238E27FC236}">
                    <a16:creationId xmlns:a16="http://schemas.microsoft.com/office/drawing/2014/main" id="{3017E156-0B13-430A-9D83-C06F64AE75FE}"/>
                  </a:ext>
                </a:extLst>
              </p:cNvPr>
              <p:cNvCxnSpPr>
                <a:cxnSpLocks noChangeShapeType="1"/>
                <a:stCxn id="27" idx="4"/>
                <a:endCxn id="28" idx="0"/>
              </p:cNvCxnSpPr>
              <p:nvPr/>
            </p:nvCxnSpPr>
            <p:spPr bwMode="auto">
              <a:xfrm>
                <a:off x="2808" y="960"/>
                <a:ext cx="0" cy="192"/>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AutoShape 70">
                <a:extLst>
                  <a:ext uri="{FF2B5EF4-FFF2-40B4-BE49-F238E27FC236}">
                    <a16:creationId xmlns:a16="http://schemas.microsoft.com/office/drawing/2014/main" id="{96C48946-412C-4C77-B4E8-0C106E4B203D}"/>
                  </a:ext>
                </a:extLst>
              </p:cNvPr>
              <p:cNvCxnSpPr>
                <a:cxnSpLocks noChangeShapeType="1"/>
                <a:stCxn id="27" idx="3"/>
                <a:endCxn id="30" idx="0"/>
              </p:cNvCxnSpPr>
              <p:nvPr/>
            </p:nvCxnSpPr>
            <p:spPr bwMode="auto">
              <a:xfrm flipH="1">
                <a:off x="2472" y="939"/>
                <a:ext cx="285" cy="213"/>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AutoShape 71">
                <a:extLst>
                  <a:ext uri="{FF2B5EF4-FFF2-40B4-BE49-F238E27FC236}">
                    <a16:creationId xmlns:a16="http://schemas.microsoft.com/office/drawing/2014/main" id="{B5D90247-2E93-4188-AB40-29EE58AC1873}"/>
                  </a:ext>
                </a:extLst>
              </p:cNvPr>
              <p:cNvCxnSpPr>
                <a:cxnSpLocks noChangeShapeType="1"/>
                <a:stCxn id="27" idx="5"/>
                <a:endCxn id="29" idx="0"/>
              </p:cNvCxnSpPr>
              <p:nvPr/>
            </p:nvCxnSpPr>
            <p:spPr bwMode="auto">
              <a:xfrm>
                <a:off x="2859" y="939"/>
                <a:ext cx="333" cy="213"/>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AutoShape 72">
                <a:extLst>
                  <a:ext uri="{FF2B5EF4-FFF2-40B4-BE49-F238E27FC236}">
                    <a16:creationId xmlns:a16="http://schemas.microsoft.com/office/drawing/2014/main" id="{638CC856-06D6-49C3-AA4F-3ED2572A899B}"/>
                  </a:ext>
                </a:extLst>
              </p:cNvPr>
              <p:cNvCxnSpPr>
                <a:cxnSpLocks noChangeShapeType="1"/>
                <a:stCxn id="28" idx="4"/>
                <a:endCxn id="32" idx="0"/>
              </p:cNvCxnSpPr>
              <p:nvPr/>
            </p:nvCxnSpPr>
            <p:spPr bwMode="auto">
              <a:xfrm flipH="1">
                <a:off x="2664" y="1296"/>
                <a:ext cx="144" cy="288"/>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AutoShape 73">
                <a:extLst>
                  <a:ext uri="{FF2B5EF4-FFF2-40B4-BE49-F238E27FC236}">
                    <a16:creationId xmlns:a16="http://schemas.microsoft.com/office/drawing/2014/main" id="{DBF2E6D3-BE4C-4BA3-A365-97A9DD67C4FC}"/>
                  </a:ext>
                </a:extLst>
              </p:cNvPr>
              <p:cNvCxnSpPr>
                <a:cxnSpLocks noChangeShapeType="1"/>
                <a:stCxn id="28" idx="4"/>
                <a:endCxn id="33" idx="0"/>
              </p:cNvCxnSpPr>
              <p:nvPr/>
            </p:nvCxnSpPr>
            <p:spPr bwMode="auto">
              <a:xfrm>
                <a:off x="2808" y="1296"/>
                <a:ext cx="144" cy="288"/>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AutoShape 74">
                <a:extLst>
                  <a:ext uri="{FF2B5EF4-FFF2-40B4-BE49-F238E27FC236}">
                    <a16:creationId xmlns:a16="http://schemas.microsoft.com/office/drawing/2014/main" id="{405787A9-1BBA-4145-9FB8-DD89B65B65E8}"/>
                  </a:ext>
                </a:extLst>
              </p:cNvPr>
              <p:cNvCxnSpPr>
                <a:cxnSpLocks noChangeShapeType="1"/>
                <a:stCxn id="30" idx="3"/>
                <a:endCxn id="31" idx="0"/>
              </p:cNvCxnSpPr>
              <p:nvPr/>
            </p:nvCxnSpPr>
            <p:spPr bwMode="auto">
              <a:xfrm flipH="1">
                <a:off x="2328" y="1275"/>
                <a:ext cx="93" cy="309"/>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AutoShape 75">
                <a:extLst>
                  <a:ext uri="{FF2B5EF4-FFF2-40B4-BE49-F238E27FC236}">
                    <a16:creationId xmlns:a16="http://schemas.microsoft.com/office/drawing/2014/main" id="{A678069C-5A5E-4111-8D0E-F6C98713B50E}"/>
                  </a:ext>
                </a:extLst>
              </p:cNvPr>
              <p:cNvCxnSpPr>
                <a:cxnSpLocks noChangeShapeType="1"/>
                <a:stCxn id="29" idx="5"/>
                <a:endCxn id="34" idx="0"/>
              </p:cNvCxnSpPr>
              <p:nvPr/>
            </p:nvCxnSpPr>
            <p:spPr bwMode="auto">
              <a:xfrm>
                <a:off x="3243" y="1275"/>
                <a:ext cx="93" cy="309"/>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 name="Oval 76">
              <a:extLst>
                <a:ext uri="{FF2B5EF4-FFF2-40B4-BE49-F238E27FC236}">
                  <a16:creationId xmlns:a16="http://schemas.microsoft.com/office/drawing/2014/main" id="{6574BF95-307B-40A9-BB94-D6FC408C1351}"/>
                </a:ext>
              </a:extLst>
            </p:cNvPr>
            <p:cNvSpPr>
              <a:spLocks noChangeArrowheads="1"/>
            </p:cNvSpPr>
            <p:nvPr/>
          </p:nvSpPr>
          <p:spPr bwMode="auto">
            <a:xfrm>
              <a:off x="2736" y="816"/>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1" name="Oval 77">
              <a:extLst>
                <a:ext uri="{FF2B5EF4-FFF2-40B4-BE49-F238E27FC236}">
                  <a16:creationId xmlns:a16="http://schemas.microsoft.com/office/drawing/2014/main" id="{77D025CC-9813-4183-A105-6BC7FFEAAB25}"/>
                </a:ext>
              </a:extLst>
            </p:cNvPr>
            <p:cNvSpPr>
              <a:spLocks noChangeArrowheads="1"/>
            </p:cNvSpPr>
            <p:nvPr/>
          </p:nvSpPr>
          <p:spPr bwMode="auto">
            <a:xfrm>
              <a:off x="2736" y="1152"/>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2" name="Oval 78">
              <a:extLst>
                <a:ext uri="{FF2B5EF4-FFF2-40B4-BE49-F238E27FC236}">
                  <a16:creationId xmlns:a16="http://schemas.microsoft.com/office/drawing/2014/main" id="{4F826374-DC80-496D-AC3E-A03232B16158}"/>
                </a:ext>
              </a:extLst>
            </p:cNvPr>
            <p:cNvSpPr>
              <a:spLocks noChangeArrowheads="1"/>
            </p:cNvSpPr>
            <p:nvPr/>
          </p:nvSpPr>
          <p:spPr bwMode="auto">
            <a:xfrm>
              <a:off x="3120" y="1152"/>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3" name="Oval 79">
              <a:extLst>
                <a:ext uri="{FF2B5EF4-FFF2-40B4-BE49-F238E27FC236}">
                  <a16:creationId xmlns:a16="http://schemas.microsoft.com/office/drawing/2014/main" id="{706C35A2-76B1-4516-9CBF-8FDE81025595}"/>
                </a:ext>
              </a:extLst>
            </p:cNvPr>
            <p:cNvSpPr>
              <a:spLocks noChangeArrowheads="1"/>
            </p:cNvSpPr>
            <p:nvPr/>
          </p:nvSpPr>
          <p:spPr bwMode="auto">
            <a:xfrm>
              <a:off x="2400" y="1152"/>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4" name="Oval 80">
              <a:extLst>
                <a:ext uri="{FF2B5EF4-FFF2-40B4-BE49-F238E27FC236}">
                  <a16:creationId xmlns:a16="http://schemas.microsoft.com/office/drawing/2014/main" id="{A0AB90F7-7495-4C8F-8508-644E07EE1CF7}"/>
                </a:ext>
              </a:extLst>
            </p:cNvPr>
            <p:cNvSpPr>
              <a:spLocks noChangeArrowheads="1"/>
            </p:cNvSpPr>
            <p:nvPr/>
          </p:nvSpPr>
          <p:spPr bwMode="auto">
            <a:xfrm>
              <a:off x="2256" y="158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5" name="Oval 81">
              <a:extLst>
                <a:ext uri="{FF2B5EF4-FFF2-40B4-BE49-F238E27FC236}">
                  <a16:creationId xmlns:a16="http://schemas.microsoft.com/office/drawing/2014/main" id="{D5DC1E81-0C6C-4455-B8EA-F2F5DBBE16E8}"/>
                </a:ext>
              </a:extLst>
            </p:cNvPr>
            <p:cNvSpPr>
              <a:spLocks noChangeArrowheads="1"/>
            </p:cNvSpPr>
            <p:nvPr/>
          </p:nvSpPr>
          <p:spPr bwMode="auto">
            <a:xfrm>
              <a:off x="2592" y="158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6" name="Oval 82">
              <a:extLst>
                <a:ext uri="{FF2B5EF4-FFF2-40B4-BE49-F238E27FC236}">
                  <a16:creationId xmlns:a16="http://schemas.microsoft.com/office/drawing/2014/main" id="{BD4E2AD7-6806-43FB-9F36-86C4CEEC1788}"/>
                </a:ext>
              </a:extLst>
            </p:cNvPr>
            <p:cNvSpPr>
              <a:spLocks noChangeArrowheads="1"/>
            </p:cNvSpPr>
            <p:nvPr/>
          </p:nvSpPr>
          <p:spPr bwMode="auto">
            <a:xfrm>
              <a:off x="2880" y="158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7" name="Oval 83">
              <a:extLst>
                <a:ext uri="{FF2B5EF4-FFF2-40B4-BE49-F238E27FC236}">
                  <a16:creationId xmlns:a16="http://schemas.microsoft.com/office/drawing/2014/main" id="{A2EED4EE-AD91-40F3-9D78-7182E43E4F09}"/>
                </a:ext>
              </a:extLst>
            </p:cNvPr>
            <p:cNvSpPr>
              <a:spLocks noChangeArrowheads="1"/>
            </p:cNvSpPr>
            <p:nvPr/>
          </p:nvSpPr>
          <p:spPr bwMode="auto">
            <a:xfrm>
              <a:off x="3264" y="158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cxnSp>
          <p:nvCxnSpPr>
            <p:cNvPr id="18" name="AutoShape 84">
              <a:extLst>
                <a:ext uri="{FF2B5EF4-FFF2-40B4-BE49-F238E27FC236}">
                  <a16:creationId xmlns:a16="http://schemas.microsoft.com/office/drawing/2014/main" id="{164F8EF6-AD80-44F6-85F1-89A27C0E5F19}"/>
                </a:ext>
              </a:extLst>
            </p:cNvPr>
            <p:cNvCxnSpPr>
              <a:cxnSpLocks noChangeShapeType="1"/>
              <a:stCxn id="10" idx="4"/>
              <a:endCxn id="11" idx="0"/>
            </p:cNvCxnSpPr>
            <p:nvPr/>
          </p:nvCxnSpPr>
          <p:spPr bwMode="auto">
            <a:xfrm>
              <a:off x="2808" y="968"/>
              <a:ext cx="0" cy="176"/>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85">
              <a:extLst>
                <a:ext uri="{FF2B5EF4-FFF2-40B4-BE49-F238E27FC236}">
                  <a16:creationId xmlns:a16="http://schemas.microsoft.com/office/drawing/2014/main" id="{C2117E88-18B0-4CD8-9C16-9EC3CA1A7BA2}"/>
                </a:ext>
              </a:extLst>
            </p:cNvPr>
            <p:cNvCxnSpPr>
              <a:cxnSpLocks noChangeShapeType="1"/>
              <a:stCxn id="10" idx="3"/>
              <a:endCxn id="13" idx="0"/>
            </p:cNvCxnSpPr>
            <p:nvPr/>
          </p:nvCxnSpPr>
          <p:spPr bwMode="auto">
            <a:xfrm flipH="1">
              <a:off x="2472" y="947"/>
              <a:ext cx="285" cy="197"/>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86">
              <a:extLst>
                <a:ext uri="{FF2B5EF4-FFF2-40B4-BE49-F238E27FC236}">
                  <a16:creationId xmlns:a16="http://schemas.microsoft.com/office/drawing/2014/main" id="{B111EDF4-103C-4723-BD01-81830AC0A466}"/>
                </a:ext>
              </a:extLst>
            </p:cNvPr>
            <p:cNvCxnSpPr>
              <a:cxnSpLocks noChangeShapeType="1"/>
              <a:stCxn id="10" idx="5"/>
              <a:endCxn id="12" idx="0"/>
            </p:cNvCxnSpPr>
            <p:nvPr/>
          </p:nvCxnSpPr>
          <p:spPr bwMode="auto">
            <a:xfrm>
              <a:off x="2859" y="947"/>
              <a:ext cx="333" cy="197"/>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87">
              <a:extLst>
                <a:ext uri="{FF2B5EF4-FFF2-40B4-BE49-F238E27FC236}">
                  <a16:creationId xmlns:a16="http://schemas.microsoft.com/office/drawing/2014/main" id="{463D94CC-AD83-4F78-96ED-31B79F511907}"/>
                </a:ext>
              </a:extLst>
            </p:cNvPr>
            <p:cNvCxnSpPr>
              <a:cxnSpLocks noChangeShapeType="1"/>
              <a:stCxn id="11" idx="4"/>
              <a:endCxn id="15" idx="0"/>
            </p:cNvCxnSpPr>
            <p:nvPr/>
          </p:nvCxnSpPr>
          <p:spPr bwMode="auto">
            <a:xfrm flipH="1">
              <a:off x="2664" y="1304"/>
              <a:ext cx="144" cy="272"/>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88">
              <a:extLst>
                <a:ext uri="{FF2B5EF4-FFF2-40B4-BE49-F238E27FC236}">
                  <a16:creationId xmlns:a16="http://schemas.microsoft.com/office/drawing/2014/main" id="{277F12E4-C60D-41D3-AD60-348876C5FD84}"/>
                </a:ext>
              </a:extLst>
            </p:cNvPr>
            <p:cNvCxnSpPr>
              <a:cxnSpLocks noChangeShapeType="1"/>
              <a:stCxn id="11" idx="4"/>
              <a:endCxn id="16" idx="0"/>
            </p:cNvCxnSpPr>
            <p:nvPr/>
          </p:nvCxnSpPr>
          <p:spPr bwMode="auto">
            <a:xfrm>
              <a:off x="2808" y="1304"/>
              <a:ext cx="144" cy="272"/>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89">
              <a:extLst>
                <a:ext uri="{FF2B5EF4-FFF2-40B4-BE49-F238E27FC236}">
                  <a16:creationId xmlns:a16="http://schemas.microsoft.com/office/drawing/2014/main" id="{251EED47-A501-4058-A2A3-A1D6550666F6}"/>
                </a:ext>
              </a:extLst>
            </p:cNvPr>
            <p:cNvCxnSpPr>
              <a:cxnSpLocks noChangeShapeType="1"/>
              <a:stCxn id="13" idx="3"/>
              <a:endCxn id="14" idx="0"/>
            </p:cNvCxnSpPr>
            <p:nvPr/>
          </p:nvCxnSpPr>
          <p:spPr bwMode="auto">
            <a:xfrm flipH="1">
              <a:off x="2328" y="1283"/>
              <a:ext cx="93" cy="293"/>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90">
              <a:extLst>
                <a:ext uri="{FF2B5EF4-FFF2-40B4-BE49-F238E27FC236}">
                  <a16:creationId xmlns:a16="http://schemas.microsoft.com/office/drawing/2014/main" id="{7A42328B-66E5-4151-B2FC-6EFF84EC79B2}"/>
                </a:ext>
              </a:extLst>
            </p:cNvPr>
            <p:cNvCxnSpPr>
              <a:cxnSpLocks noChangeShapeType="1"/>
              <a:stCxn id="12" idx="5"/>
              <a:endCxn id="17" idx="0"/>
            </p:cNvCxnSpPr>
            <p:nvPr/>
          </p:nvCxnSpPr>
          <p:spPr bwMode="auto">
            <a:xfrm>
              <a:off x="3243" y="1283"/>
              <a:ext cx="93" cy="293"/>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Oval 91">
              <a:extLst>
                <a:ext uri="{FF2B5EF4-FFF2-40B4-BE49-F238E27FC236}">
                  <a16:creationId xmlns:a16="http://schemas.microsoft.com/office/drawing/2014/main" id="{25A83960-2CB2-4EAF-879B-01B7EA60223B}"/>
                </a:ext>
              </a:extLst>
            </p:cNvPr>
            <p:cNvSpPr>
              <a:spLocks noChangeArrowheads="1"/>
            </p:cNvSpPr>
            <p:nvPr/>
          </p:nvSpPr>
          <p:spPr bwMode="auto">
            <a:xfrm>
              <a:off x="3552" y="1824"/>
              <a:ext cx="144" cy="144"/>
            </a:xfrm>
            <a:prstGeom prst="ellipse">
              <a:avLst/>
            </a:prstGeom>
            <a:solidFill>
              <a:srgbClr val="0000FF"/>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cxnSp>
          <p:nvCxnSpPr>
            <p:cNvPr id="26" name="AutoShape 92">
              <a:extLst>
                <a:ext uri="{FF2B5EF4-FFF2-40B4-BE49-F238E27FC236}">
                  <a16:creationId xmlns:a16="http://schemas.microsoft.com/office/drawing/2014/main" id="{67FA6CE2-4739-4D28-9C5A-49808F1E713D}"/>
                </a:ext>
              </a:extLst>
            </p:cNvPr>
            <p:cNvCxnSpPr>
              <a:cxnSpLocks noChangeShapeType="1"/>
              <a:stCxn id="17" idx="5"/>
              <a:endCxn id="25" idx="1"/>
            </p:cNvCxnSpPr>
            <p:nvPr/>
          </p:nvCxnSpPr>
          <p:spPr bwMode="auto">
            <a:xfrm>
              <a:off x="3387" y="1715"/>
              <a:ext cx="186" cy="122"/>
            </a:xfrm>
            <a:prstGeom prst="straightConnector1">
              <a:avLst/>
            </a:prstGeom>
            <a:noFill/>
            <a:ln w="25400">
              <a:solidFill>
                <a:srgbClr val="000000"/>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2" name="Oval 93">
            <a:extLst>
              <a:ext uri="{FF2B5EF4-FFF2-40B4-BE49-F238E27FC236}">
                <a16:creationId xmlns:a16="http://schemas.microsoft.com/office/drawing/2014/main" id="{AD7EA717-0F2B-4BEC-ACCD-E01F7426F32C}"/>
              </a:ext>
            </a:extLst>
          </p:cNvPr>
          <p:cNvSpPr>
            <a:spLocks noChangeArrowheads="1"/>
          </p:cNvSpPr>
          <p:nvPr/>
        </p:nvSpPr>
        <p:spPr bwMode="auto">
          <a:xfrm>
            <a:off x="4114015" y="1524000"/>
            <a:ext cx="230072" cy="228600"/>
          </a:xfrm>
          <a:prstGeom prst="ellipse">
            <a:avLst/>
          </a:prstGeom>
          <a:solidFill>
            <a:srgbClr val="CC0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43" name="Oval 94">
            <a:extLst>
              <a:ext uri="{FF2B5EF4-FFF2-40B4-BE49-F238E27FC236}">
                <a16:creationId xmlns:a16="http://schemas.microsoft.com/office/drawing/2014/main" id="{F9AAA019-40C4-4C13-A964-7BB2215FBD88}"/>
              </a:ext>
            </a:extLst>
          </p:cNvPr>
          <p:cNvSpPr>
            <a:spLocks noChangeArrowheads="1"/>
          </p:cNvSpPr>
          <p:nvPr/>
        </p:nvSpPr>
        <p:spPr bwMode="auto">
          <a:xfrm>
            <a:off x="3719579" y="5045320"/>
            <a:ext cx="306762" cy="304800"/>
          </a:xfrm>
          <a:prstGeom prst="ellipse">
            <a:avLst/>
          </a:prstGeom>
          <a:solidFill>
            <a:srgbClr val="A50021"/>
          </a:solidFill>
          <a:ln w="9525">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44" name="Oval 95">
            <a:extLst>
              <a:ext uri="{FF2B5EF4-FFF2-40B4-BE49-F238E27FC236}">
                <a16:creationId xmlns:a16="http://schemas.microsoft.com/office/drawing/2014/main" id="{B615ABB2-8800-419E-8308-189D81B0E63B}"/>
              </a:ext>
            </a:extLst>
          </p:cNvPr>
          <p:cNvSpPr>
            <a:spLocks noChangeArrowheads="1"/>
          </p:cNvSpPr>
          <p:nvPr/>
        </p:nvSpPr>
        <p:spPr bwMode="auto">
          <a:xfrm>
            <a:off x="3719579" y="5553320"/>
            <a:ext cx="306762" cy="330200"/>
          </a:xfrm>
          <a:prstGeom prst="ellipse">
            <a:avLst/>
          </a:prstGeom>
          <a:solidFill>
            <a:srgbClr val="008000"/>
          </a:solidFill>
          <a:ln w="9525">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grpSp>
        <p:nvGrpSpPr>
          <p:cNvPr id="45" name="Group 96">
            <a:extLst>
              <a:ext uri="{FF2B5EF4-FFF2-40B4-BE49-F238E27FC236}">
                <a16:creationId xmlns:a16="http://schemas.microsoft.com/office/drawing/2014/main" id="{6BF7BAC2-48EA-4C7E-979E-28694CBB1C61}"/>
              </a:ext>
            </a:extLst>
          </p:cNvPr>
          <p:cNvGrpSpPr>
            <a:grpSpLocks/>
          </p:cNvGrpSpPr>
          <p:nvPr/>
        </p:nvGrpSpPr>
        <p:grpSpPr bwMode="auto">
          <a:xfrm>
            <a:off x="3580614" y="2057400"/>
            <a:ext cx="1380431" cy="228600"/>
            <a:chOff x="2400" y="1152"/>
            <a:chExt cx="864" cy="144"/>
          </a:xfrm>
        </p:grpSpPr>
        <p:sp>
          <p:nvSpPr>
            <p:cNvPr id="46" name="Oval 97">
              <a:extLst>
                <a:ext uri="{FF2B5EF4-FFF2-40B4-BE49-F238E27FC236}">
                  <a16:creationId xmlns:a16="http://schemas.microsoft.com/office/drawing/2014/main" id="{DFE4E9DD-3867-4A33-8E0E-95801A342A73}"/>
                </a:ext>
              </a:extLst>
            </p:cNvPr>
            <p:cNvSpPr>
              <a:spLocks noChangeArrowheads="1"/>
            </p:cNvSpPr>
            <p:nvPr/>
          </p:nvSpPr>
          <p:spPr bwMode="auto">
            <a:xfrm>
              <a:off x="2736" y="1152"/>
              <a:ext cx="144" cy="144"/>
            </a:xfrm>
            <a:prstGeom prst="ellipse">
              <a:avLst/>
            </a:prstGeom>
            <a:solidFill>
              <a:srgbClr val="008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47" name="Oval 98">
              <a:extLst>
                <a:ext uri="{FF2B5EF4-FFF2-40B4-BE49-F238E27FC236}">
                  <a16:creationId xmlns:a16="http://schemas.microsoft.com/office/drawing/2014/main" id="{87D71A79-C4AD-47B3-BE47-0FCEE173CC0D}"/>
                </a:ext>
              </a:extLst>
            </p:cNvPr>
            <p:cNvSpPr>
              <a:spLocks noChangeArrowheads="1"/>
            </p:cNvSpPr>
            <p:nvPr/>
          </p:nvSpPr>
          <p:spPr bwMode="auto">
            <a:xfrm>
              <a:off x="3120" y="1152"/>
              <a:ext cx="144" cy="144"/>
            </a:xfrm>
            <a:prstGeom prst="ellipse">
              <a:avLst/>
            </a:prstGeom>
            <a:solidFill>
              <a:srgbClr val="008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48" name="Oval 99">
              <a:extLst>
                <a:ext uri="{FF2B5EF4-FFF2-40B4-BE49-F238E27FC236}">
                  <a16:creationId xmlns:a16="http://schemas.microsoft.com/office/drawing/2014/main" id="{FB2FE637-4763-42B9-9A0E-9AD50CAB9A57}"/>
                </a:ext>
              </a:extLst>
            </p:cNvPr>
            <p:cNvSpPr>
              <a:spLocks noChangeArrowheads="1"/>
            </p:cNvSpPr>
            <p:nvPr/>
          </p:nvSpPr>
          <p:spPr bwMode="auto">
            <a:xfrm>
              <a:off x="2400" y="1152"/>
              <a:ext cx="144" cy="144"/>
            </a:xfrm>
            <a:prstGeom prst="ellipse">
              <a:avLst/>
            </a:prstGeom>
            <a:solidFill>
              <a:srgbClr val="008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grpSp>
      <p:grpSp>
        <p:nvGrpSpPr>
          <p:cNvPr id="49" name="Group 100">
            <a:extLst>
              <a:ext uri="{FF2B5EF4-FFF2-40B4-BE49-F238E27FC236}">
                <a16:creationId xmlns:a16="http://schemas.microsoft.com/office/drawing/2014/main" id="{DC048FBE-50D5-46A5-AC83-F8D58D687AB5}"/>
              </a:ext>
            </a:extLst>
          </p:cNvPr>
          <p:cNvGrpSpPr>
            <a:grpSpLocks/>
          </p:cNvGrpSpPr>
          <p:nvPr/>
        </p:nvGrpSpPr>
        <p:grpSpPr bwMode="auto">
          <a:xfrm>
            <a:off x="3352015" y="2743200"/>
            <a:ext cx="1840574" cy="228600"/>
            <a:chOff x="2256" y="1584"/>
            <a:chExt cx="1152" cy="144"/>
          </a:xfrm>
        </p:grpSpPr>
        <p:sp>
          <p:nvSpPr>
            <p:cNvPr id="50" name="Oval 101">
              <a:extLst>
                <a:ext uri="{FF2B5EF4-FFF2-40B4-BE49-F238E27FC236}">
                  <a16:creationId xmlns:a16="http://schemas.microsoft.com/office/drawing/2014/main" id="{38781F6E-F481-40BD-9B2B-51160C672660}"/>
                </a:ext>
              </a:extLst>
            </p:cNvPr>
            <p:cNvSpPr>
              <a:spLocks noChangeArrowheads="1"/>
            </p:cNvSpPr>
            <p:nvPr/>
          </p:nvSpPr>
          <p:spPr bwMode="auto">
            <a:xfrm>
              <a:off x="2256" y="1584"/>
              <a:ext cx="144" cy="144"/>
            </a:xfrm>
            <a:prstGeom prst="ellipse">
              <a:avLst/>
            </a:prstGeom>
            <a:solidFill>
              <a:srgbClr val="CC0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1" name="Oval 102">
              <a:extLst>
                <a:ext uri="{FF2B5EF4-FFF2-40B4-BE49-F238E27FC236}">
                  <a16:creationId xmlns:a16="http://schemas.microsoft.com/office/drawing/2014/main" id="{01EC4979-2C5D-4DAF-922E-6514D8E4A54B}"/>
                </a:ext>
              </a:extLst>
            </p:cNvPr>
            <p:cNvSpPr>
              <a:spLocks noChangeArrowheads="1"/>
            </p:cNvSpPr>
            <p:nvPr/>
          </p:nvSpPr>
          <p:spPr bwMode="auto">
            <a:xfrm>
              <a:off x="2592" y="1584"/>
              <a:ext cx="144" cy="144"/>
            </a:xfrm>
            <a:prstGeom prst="ellipse">
              <a:avLst/>
            </a:prstGeom>
            <a:solidFill>
              <a:srgbClr val="CC0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2" name="Oval 103">
              <a:extLst>
                <a:ext uri="{FF2B5EF4-FFF2-40B4-BE49-F238E27FC236}">
                  <a16:creationId xmlns:a16="http://schemas.microsoft.com/office/drawing/2014/main" id="{448569B0-CB1A-41BB-BAC9-D48671E4A945}"/>
                </a:ext>
              </a:extLst>
            </p:cNvPr>
            <p:cNvSpPr>
              <a:spLocks noChangeArrowheads="1"/>
            </p:cNvSpPr>
            <p:nvPr/>
          </p:nvSpPr>
          <p:spPr bwMode="auto">
            <a:xfrm>
              <a:off x="2880" y="1584"/>
              <a:ext cx="144" cy="144"/>
            </a:xfrm>
            <a:prstGeom prst="ellipse">
              <a:avLst/>
            </a:prstGeom>
            <a:solidFill>
              <a:srgbClr val="CC0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3" name="Oval 104">
              <a:extLst>
                <a:ext uri="{FF2B5EF4-FFF2-40B4-BE49-F238E27FC236}">
                  <a16:creationId xmlns:a16="http://schemas.microsoft.com/office/drawing/2014/main" id="{D2152EFC-5AFD-4059-B946-CB2F6D160E77}"/>
                </a:ext>
              </a:extLst>
            </p:cNvPr>
            <p:cNvSpPr>
              <a:spLocks noChangeArrowheads="1"/>
            </p:cNvSpPr>
            <p:nvPr/>
          </p:nvSpPr>
          <p:spPr bwMode="auto">
            <a:xfrm>
              <a:off x="3264" y="1584"/>
              <a:ext cx="144" cy="144"/>
            </a:xfrm>
            <a:prstGeom prst="ellipse">
              <a:avLst/>
            </a:prstGeom>
            <a:solidFill>
              <a:srgbClr val="CC0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grpSp>
      <p:sp>
        <p:nvSpPr>
          <p:cNvPr id="54" name="Oval 105">
            <a:extLst>
              <a:ext uri="{FF2B5EF4-FFF2-40B4-BE49-F238E27FC236}">
                <a16:creationId xmlns:a16="http://schemas.microsoft.com/office/drawing/2014/main" id="{2148B578-C4BC-472A-ACAC-3D22F3A2FF88}"/>
              </a:ext>
            </a:extLst>
          </p:cNvPr>
          <p:cNvSpPr>
            <a:spLocks noChangeArrowheads="1"/>
          </p:cNvSpPr>
          <p:nvPr/>
        </p:nvSpPr>
        <p:spPr bwMode="auto">
          <a:xfrm>
            <a:off x="5409415" y="3124200"/>
            <a:ext cx="230072" cy="228600"/>
          </a:xfrm>
          <a:prstGeom prst="ellipse">
            <a:avLst/>
          </a:prstGeom>
          <a:solidFill>
            <a:srgbClr val="008000"/>
          </a:solidFill>
          <a:ln w="25400">
            <a:solidFill>
              <a:srgbClr val="00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Tree>
    <p:extLst>
      <p:ext uri="{BB962C8B-B14F-4D97-AF65-F5344CB8AC3E}">
        <p14:creationId xmlns:p14="http://schemas.microsoft.com/office/powerpoint/2010/main" val="285355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par>
                                <p:cTn id="9" presetID="3" presetClass="entr" presetSubtype="1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blinds(horizontal)">
                                      <p:cBhvr>
                                        <p:cTn id="11" dur="500"/>
                                        <p:tgtEl>
                                          <p:spTgt spid="43"/>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42"/>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44" grpId="0" animBg="1"/>
      <p:bldP spid="5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Trees</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p:txBody>
          <a:bodyPr>
            <a:normAutofit/>
          </a:bodyPr>
          <a:lstStyle/>
          <a:p>
            <a:pPr marL="0" indent="0">
              <a:buNone/>
            </a:pPr>
            <a:r>
              <a:rPr lang="en-US" sz="2400" dirty="0"/>
              <a:t>What is the chromatic number for each of the following graphs?</a:t>
            </a:r>
          </a:p>
          <a:p>
            <a:pPr marL="0" indent="0">
              <a:buNone/>
            </a:pPr>
            <a:endParaRPr lang="en-IN" sz="2400" dirty="0"/>
          </a:p>
        </p:txBody>
      </p:sp>
      <p:grpSp>
        <p:nvGrpSpPr>
          <p:cNvPr id="5" name="Group 4">
            <a:extLst>
              <a:ext uri="{FF2B5EF4-FFF2-40B4-BE49-F238E27FC236}">
                <a16:creationId xmlns:a16="http://schemas.microsoft.com/office/drawing/2014/main" id="{322A143E-9AAE-4A46-B0C2-EB021EDEBAF7}"/>
              </a:ext>
            </a:extLst>
          </p:cNvPr>
          <p:cNvGrpSpPr>
            <a:grpSpLocks/>
          </p:cNvGrpSpPr>
          <p:nvPr/>
        </p:nvGrpSpPr>
        <p:grpSpPr bwMode="auto">
          <a:xfrm>
            <a:off x="2099819" y="2969735"/>
            <a:ext cx="5334000" cy="1765300"/>
            <a:chOff x="1200" y="2352"/>
            <a:chExt cx="3312" cy="1112"/>
          </a:xfrm>
        </p:grpSpPr>
        <p:grpSp>
          <p:nvGrpSpPr>
            <p:cNvPr id="6" name="Group 5">
              <a:extLst>
                <a:ext uri="{FF2B5EF4-FFF2-40B4-BE49-F238E27FC236}">
                  <a16:creationId xmlns:a16="http://schemas.microsoft.com/office/drawing/2014/main" id="{93ABB5F1-2E3A-41DE-8ACA-2FF1A6261B3E}"/>
                </a:ext>
              </a:extLst>
            </p:cNvPr>
            <p:cNvGrpSpPr>
              <a:grpSpLocks/>
            </p:cNvGrpSpPr>
            <p:nvPr/>
          </p:nvGrpSpPr>
          <p:grpSpPr bwMode="auto">
            <a:xfrm>
              <a:off x="1200" y="2448"/>
              <a:ext cx="1200" cy="960"/>
              <a:chOff x="896" y="2464"/>
              <a:chExt cx="1200" cy="960"/>
            </a:xfrm>
          </p:grpSpPr>
          <p:sp>
            <p:nvSpPr>
              <p:cNvPr id="14" name="AutoShape 6">
                <a:extLst>
                  <a:ext uri="{FF2B5EF4-FFF2-40B4-BE49-F238E27FC236}">
                    <a16:creationId xmlns:a16="http://schemas.microsoft.com/office/drawing/2014/main" id="{2265A303-E789-40D5-AAEC-1E7EA538830B}"/>
                  </a:ext>
                </a:extLst>
              </p:cNvPr>
              <p:cNvSpPr>
                <a:spLocks noChangeArrowheads="1"/>
              </p:cNvSpPr>
              <p:nvPr/>
            </p:nvSpPr>
            <p:spPr bwMode="auto">
              <a:xfrm>
                <a:off x="912" y="2496"/>
                <a:ext cx="1152" cy="912"/>
              </a:xfrm>
              <a:prstGeom prst="hexagon">
                <a:avLst>
                  <a:gd name="adj" fmla="val 31579"/>
                  <a:gd name="vf" fmla="val 115470"/>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Oval 7">
                <a:extLst>
                  <a:ext uri="{FF2B5EF4-FFF2-40B4-BE49-F238E27FC236}">
                    <a16:creationId xmlns:a16="http://schemas.microsoft.com/office/drawing/2014/main" id="{E048BC82-F729-42D9-BDD2-B6F101DE7CC8}"/>
                  </a:ext>
                </a:extLst>
              </p:cNvPr>
              <p:cNvSpPr>
                <a:spLocks noChangeArrowheads="1"/>
              </p:cNvSpPr>
              <p:nvPr/>
            </p:nvSpPr>
            <p:spPr bwMode="auto">
              <a:xfrm>
                <a:off x="896" y="2928"/>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Oval 8">
                <a:extLst>
                  <a:ext uri="{FF2B5EF4-FFF2-40B4-BE49-F238E27FC236}">
                    <a16:creationId xmlns:a16="http://schemas.microsoft.com/office/drawing/2014/main" id="{918D6AD2-1CC9-40DC-94B6-FFCC7DC59617}"/>
                  </a:ext>
                </a:extLst>
              </p:cNvPr>
              <p:cNvSpPr>
                <a:spLocks noChangeArrowheads="1"/>
              </p:cNvSpPr>
              <p:nvPr/>
            </p:nvSpPr>
            <p:spPr bwMode="auto">
              <a:xfrm>
                <a:off x="1184" y="3376"/>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7" name="Oval 9">
                <a:extLst>
                  <a:ext uri="{FF2B5EF4-FFF2-40B4-BE49-F238E27FC236}">
                    <a16:creationId xmlns:a16="http://schemas.microsoft.com/office/drawing/2014/main" id="{EA6CDB13-2CDF-4545-BA37-C638D6613505}"/>
                  </a:ext>
                </a:extLst>
              </p:cNvPr>
              <p:cNvSpPr>
                <a:spLocks noChangeArrowheads="1"/>
              </p:cNvSpPr>
              <p:nvPr/>
            </p:nvSpPr>
            <p:spPr bwMode="auto">
              <a:xfrm>
                <a:off x="1744" y="2480"/>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Oval 10">
                <a:extLst>
                  <a:ext uri="{FF2B5EF4-FFF2-40B4-BE49-F238E27FC236}">
                    <a16:creationId xmlns:a16="http://schemas.microsoft.com/office/drawing/2014/main" id="{505384BB-001A-4B8D-B4FE-6554EDCF126E}"/>
                  </a:ext>
                </a:extLst>
              </p:cNvPr>
              <p:cNvSpPr>
                <a:spLocks noChangeArrowheads="1"/>
              </p:cNvSpPr>
              <p:nvPr/>
            </p:nvSpPr>
            <p:spPr bwMode="auto">
              <a:xfrm>
                <a:off x="2048" y="2928"/>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9" name="Oval 11">
                <a:extLst>
                  <a:ext uri="{FF2B5EF4-FFF2-40B4-BE49-F238E27FC236}">
                    <a16:creationId xmlns:a16="http://schemas.microsoft.com/office/drawing/2014/main" id="{7723AF7A-A986-4B56-B29D-23B0EA9C93AF}"/>
                  </a:ext>
                </a:extLst>
              </p:cNvPr>
              <p:cNvSpPr>
                <a:spLocks noChangeArrowheads="1"/>
              </p:cNvSpPr>
              <p:nvPr/>
            </p:nvSpPr>
            <p:spPr bwMode="auto">
              <a:xfrm>
                <a:off x="1760" y="3376"/>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0" name="Oval 12">
                <a:extLst>
                  <a:ext uri="{FF2B5EF4-FFF2-40B4-BE49-F238E27FC236}">
                    <a16:creationId xmlns:a16="http://schemas.microsoft.com/office/drawing/2014/main" id="{6E4D4842-F3F9-4A90-A5A2-E96D6F8319ED}"/>
                  </a:ext>
                </a:extLst>
              </p:cNvPr>
              <p:cNvSpPr>
                <a:spLocks noChangeArrowheads="1"/>
              </p:cNvSpPr>
              <p:nvPr/>
            </p:nvSpPr>
            <p:spPr bwMode="auto">
              <a:xfrm>
                <a:off x="1168" y="2464"/>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nvGrpSpPr>
            <p:cNvPr id="7" name="Group 13">
              <a:extLst>
                <a:ext uri="{FF2B5EF4-FFF2-40B4-BE49-F238E27FC236}">
                  <a16:creationId xmlns:a16="http://schemas.microsoft.com/office/drawing/2014/main" id="{284C73DA-0FD4-42D8-97A8-41F3D2A87AF2}"/>
                </a:ext>
              </a:extLst>
            </p:cNvPr>
            <p:cNvGrpSpPr>
              <a:grpSpLocks/>
            </p:cNvGrpSpPr>
            <p:nvPr/>
          </p:nvGrpSpPr>
          <p:grpSpPr bwMode="auto">
            <a:xfrm>
              <a:off x="3312" y="2352"/>
              <a:ext cx="1200" cy="1112"/>
              <a:chOff x="3000" y="2272"/>
              <a:chExt cx="1200" cy="1112"/>
            </a:xfrm>
          </p:grpSpPr>
          <p:sp>
            <p:nvSpPr>
              <p:cNvPr id="8" name="AutoShape 14">
                <a:extLst>
                  <a:ext uri="{FF2B5EF4-FFF2-40B4-BE49-F238E27FC236}">
                    <a16:creationId xmlns:a16="http://schemas.microsoft.com/office/drawing/2014/main" id="{0328DCE4-3916-4EDF-B7F7-6B07F3D7EC45}"/>
                  </a:ext>
                </a:extLst>
              </p:cNvPr>
              <p:cNvSpPr>
                <a:spLocks noChangeArrowheads="1"/>
              </p:cNvSpPr>
              <p:nvPr/>
            </p:nvSpPr>
            <p:spPr bwMode="auto">
              <a:xfrm>
                <a:off x="3024" y="2304"/>
                <a:ext cx="1152" cy="1056"/>
              </a:xfrm>
              <a:prstGeom prst="pentagon">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 name="Oval 15">
                <a:extLst>
                  <a:ext uri="{FF2B5EF4-FFF2-40B4-BE49-F238E27FC236}">
                    <a16:creationId xmlns:a16="http://schemas.microsoft.com/office/drawing/2014/main" id="{972670CD-69B3-4544-90DF-77870AC2FA78}"/>
                  </a:ext>
                </a:extLst>
              </p:cNvPr>
              <p:cNvSpPr>
                <a:spLocks noChangeArrowheads="1"/>
              </p:cNvSpPr>
              <p:nvPr/>
            </p:nvSpPr>
            <p:spPr bwMode="auto">
              <a:xfrm>
                <a:off x="3576" y="2272"/>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0" name="Oval 16">
                <a:extLst>
                  <a:ext uri="{FF2B5EF4-FFF2-40B4-BE49-F238E27FC236}">
                    <a16:creationId xmlns:a16="http://schemas.microsoft.com/office/drawing/2014/main" id="{BD79AC0F-7F2C-423E-A530-E9966126337E}"/>
                  </a:ext>
                </a:extLst>
              </p:cNvPr>
              <p:cNvSpPr>
                <a:spLocks noChangeArrowheads="1"/>
              </p:cNvSpPr>
              <p:nvPr/>
            </p:nvSpPr>
            <p:spPr bwMode="auto">
              <a:xfrm>
                <a:off x="3000" y="2688"/>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1" name="Oval 17">
                <a:extLst>
                  <a:ext uri="{FF2B5EF4-FFF2-40B4-BE49-F238E27FC236}">
                    <a16:creationId xmlns:a16="http://schemas.microsoft.com/office/drawing/2014/main" id="{092E5BB8-B73E-463A-BAFD-55A9D41A5DED}"/>
                  </a:ext>
                </a:extLst>
              </p:cNvPr>
              <p:cNvSpPr>
                <a:spLocks noChangeArrowheads="1"/>
              </p:cNvSpPr>
              <p:nvPr/>
            </p:nvSpPr>
            <p:spPr bwMode="auto">
              <a:xfrm>
                <a:off x="3232" y="3336"/>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2" name="Oval 18">
                <a:extLst>
                  <a:ext uri="{FF2B5EF4-FFF2-40B4-BE49-F238E27FC236}">
                    <a16:creationId xmlns:a16="http://schemas.microsoft.com/office/drawing/2014/main" id="{EDA77C01-D2E4-4E5E-BF90-CDDC80316CA2}"/>
                  </a:ext>
                </a:extLst>
              </p:cNvPr>
              <p:cNvSpPr>
                <a:spLocks noChangeArrowheads="1"/>
              </p:cNvSpPr>
              <p:nvPr/>
            </p:nvSpPr>
            <p:spPr bwMode="auto">
              <a:xfrm>
                <a:off x="3928" y="3328"/>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3" name="Oval 19">
                <a:extLst>
                  <a:ext uri="{FF2B5EF4-FFF2-40B4-BE49-F238E27FC236}">
                    <a16:creationId xmlns:a16="http://schemas.microsoft.com/office/drawing/2014/main" id="{954684D6-1F59-4BDC-8E24-DE85B84E1708}"/>
                  </a:ext>
                </a:extLst>
              </p:cNvPr>
              <p:cNvSpPr>
                <a:spLocks noChangeArrowheads="1"/>
              </p:cNvSpPr>
              <p:nvPr/>
            </p:nvSpPr>
            <p:spPr bwMode="auto">
              <a:xfrm>
                <a:off x="4152" y="2680"/>
                <a:ext cx="48" cy="48"/>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grpSp>
      <p:sp>
        <p:nvSpPr>
          <p:cNvPr id="21" name="Text Box 20">
            <a:extLst>
              <a:ext uri="{FF2B5EF4-FFF2-40B4-BE49-F238E27FC236}">
                <a16:creationId xmlns:a16="http://schemas.microsoft.com/office/drawing/2014/main" id="{6D56A2C2-2DF7-4018-94AE-1BAAAD6F33F3}"/>
              </a:ext>
            </a:extLst>
          </p:cNvPr>
          <p:cNvSpPr txBox="1">
            <a:spLocks noChangeArrowheads="1"/>
          </p:cNvSpPr>
          <p:nvPr/>
        </p:nvSpPr>
        <p:spPr bwMode="auto">
          <a:xfrm>
            <a:off x="2099819" y="2810985"/>
            <a:ext cx="700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latin typeface="Tahoma" panose="020B0604030504040204" pitchFamily="34" charset="0"/>
              </a:rPr>
              <a:t>White</a:t>
            </a:r>
          </a:p>
        </p:txBody>
      </p:sp>
      <p:sp>
        <p:nvSpPr>
          <p:cNvPr id="22" name="Text Box 21">
            <a:extLst>
              <a:ext uri="{FF2B5EF4-FFF2-40B4-BE49-F238E27FC236}">
                <a16:creationId xmlns:a16="http://schemas.microsoft.com/office/drawing/2014/main" id="{6A8C4E0E-5437-4FDC-90BE-C250DA79AB89}"/>
              </a:ext>
            </a:extLst>
          </p:cNvPr>
          <p:cNvSpPr txBox="1">
            <a:spLocks noChangeArrowheads="1"/>
          </p:cNvSpPr>
          <p:nvPr/>
        </p:nvSpPr>
        <p:spPr bwMode="auto">
          <a:xfrm>
            <a:off x="3471419" y="2861785"/>
            <a:ext cx="76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latin typeface="Tahoma" panose="020B0604030504040204" pitchFamily="34" charset="0"/>
              </a:rPr>
              <a:t>Yellow</a:t>
            </a:r>
          </a:p>
        </p:txBody>
      </p:sp>
      <p:sp>
        <p:nvSpPr>
          <p:cNvPr id="23" name="Text Box 22">
            <a:extLst>
              <a:ext uri="{FF2B5EF4-FFF2-40B4-BE49-F238E27FC236}">
                <a16:creationId xmlns:a16="http://schemas.microsoft.com/office/drawing/2014/main" id="{EC2A4406-9735-4535-854F-F24308AF97F2}"/>
              </a:ext>
            </a:extLst>
          </p:cNvPr>
          <p:cNvSpPr txBox="1">
            <a:spLocks noChangeArrowheads="1"/>
          </p:cNvSpPr>
          <p:nvPr/>
        </p:nvSpPr>
        <p:spPr bwMode="auto">
          <a:xfrm>
            <a:off x="3990533" y="3699985"/>
            <a:ext cx="700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latin typeface="Tahoma" panose="020B0604030504040204" pitchFamily="34" charset="0"/>
              </a:rPr>
              <a:t>White</a:t>
            </a:r>
          </a:p>
        </p:txBody>
      </p:sp>
      <p:sp>
        <p:nvSpPr>
          <p:cNvPr id="24" name="Text Box 23">
            <a:extLst>
              <a:ext uri="{FF2B5EF4-FFF2-40B4-BE49-F238E27FC236}">
                <a16:creationId xmlns:a16="http://schemas.microsoft.com/office/drawing/2014/main" id="{B4FD9469-4A1C-4CE1-A869-0B7D0672352D}"/>
              </a:ext>
            </a:extLst>
          </p:cNvPr>
          <p:cNvSpPr txBox="1">
            <a:spLocks noChangeArrowheads="1"/>
          </p:cNvSpPr>
          <p:nvPr/>
        </p:nvSpPr>
        <p:spPr bwMode="auto">
          <a:xfrm>
            <a:off x="3425382" y="4582635"/>
            <a:ext cx="76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solidFill>
                  <a:schemeClr val="tx2"/>
                </a:solidFill>
                <a:latin typeface="Tahoma" panose="020B0604030504040204" pitchFamily="34" charset="0"/>
              </a:rPr>
              <a:t>Yellow</a:t>
            </a:r>
          </a:p>
        </p:txBody>
      </p:sp>
      <p:sp>
        <p:nvSpPr>
          <p:cNvPr id="25" name="Text Box 24">
            <a:extLst>
              <a:ext uri="{FF2B5EF4-FFF2-40B4-BE49-F238E27FC236}">
                <a16:creationId xmlns:a16="http://schemas.microsoft.com/office/drawing/2014/main" id="{9042EB1E-038A-4735-B061-830DFE160406}"/>
              </a:ext>
            </a:extLst>
          </p:cNvPr>
          <p:cNvSpPr txBox="1">
            <a:spLocks noChangeArrowheads="1"/>
          </p:cNvSpPr>
          <p:nvPr/>
        </p:nvSpPr>
        <p:spPr bwMode="auto">
          <a:xfrm>
            <a:off x="2252219" y="4563585"/>
            <a:ext cx="700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latin typeface="Tahoma" panose="020B0604030504040204" pitchFamily="34" charset="0"/>
              </a:rPr>
              <a:t>White</a:t>
            </a:r>
          </a:p>
        </p:txBody>
      </p:sp>
      <p:sp>
        <p:nvSpPr>
          <p:cNvPr id="26" name="Text Box 25">
            <a:extLst>
              <a:ext uri="{FF2B5EF4-FFF2-40B4-BE49-F238E27FC236}">
                <a16:creationId xmlns:a16="http://schemas.microsoft.com/office/drawing/2014/main" id="{40A099B8-C7C8-41F2-B05C-BFBF2ACF0F68}"/>
              </a:ext>
            </a:extLst>
          </p:cNvPr>
          <p:cNvSpPr txBox="1">
            <a:spLocks noChangeArrowheads="1"/>
          </p:cNvSpPr>
          <p:nvPr/>
        </p:nvSpPr>
        <p:spPr bwMode="auto">
          <a:xfrm>
            <a:off x="1261619" y="3725385"/>
            <a:ext cx="76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solidFill>
                  <a:schemeClr val="tx2"/>
                </a:solidFill>
                <a:latin typeface="Tahoma" panose="020B0604030504040204" pitchFamily="34" charset="0"/>
              </a:rPr>
              <a:t>Yellow</a:t>
            </a:r>
          </a:p>
        </p:txBody>
      </p:sp>
      <p:sp>
        <p:nvSpPr>
          <p:cNvPr id="27" name="Text Box 26">
            <a:extLst>
              <a:ext uri="{FF2B5EF4-FFF2-40B4-BE49-F238E27FC236}">
                <a16:creationId xmlns:a16="http://schemas.microsoft.com/office/drawing/2014/main" id="{FA079AE3-233F-4999-B97B-87E74EE4E2AC}"/>
              </a:ext>
            </a:extLst>
          </p:cNvPr>
          <p:cNvSpPr txBox="1">
            <a:spLocks noChangeArrowheads="1"/>
          </p:cNvSpPr>
          <p:nvPr/>
        </p:nvSpPr>
        <p:spPr bwMode="auto">
          <a:xfrm>
            <a:off x="1382233" y="5362355"/>
            <a:ext cx="68686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2400" dirty="0">
                <a:latin typeface="+mn-lt"/>
              </a:rPr>
              <a:t>Chromatic number: 2 	             Chromatic number: 3 </a:t>
            </a:r>
          </a:p>
        </p:txBody>
      </p:sp>
      <p:sp>
        <p:nvSpPr>
          <p:cNvPr id="28" name="Text Box 27">
            <a:extLst>
              <a:ext uri="{FF2B5EF4-FFF2-40B4-BE49-F238E27FC236}">
                <a16:creationId xmlns:a16="http://schemas.microsoft.com/office/drawing/2014/main" id="{5D1B2294-2EA4-4522-8BD9-85D29645290D}"/>
              </a:ext>
            </a:extLst>
          </p:cNvPr>
          <p:cNvSpPr txBox="1">
            <a:spLocks noChangeArrowheads="1"/>
          </p:cNvSpPr>
          <p:nvPr/>
        </p:nvSpPr>
        <p:spPr bwMode="auto">
          <a:xfrm>
            <a:off x="6138419" y="2633185"/>
            <a:ext cx="700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latin typeface="Tahoma" panose="020B0604030504040204" pitchFamily="34" charset="0"/>
              </a:rPr>
              <a:t>White</a:t>
            </a:r>
          </a:p>
        </p:txBody>
      </p:sp>
      <p:sp>
        <p:nvSpPr>
          <p:cNvPr id="29" name="Text Box 28">
            <a:extLst>
              <a:ext uri="{FF2B5EF4-FFF2-40B4-BE49-F238E27FC236}">
                <a16:creationId xmlns:a16="http://schemas.microsoft.com/office/drawing/2014/main" id="{19B69794-9EC3-429B-A2BF-6ACE21924C5F}"/>
              </a:ext>
            </a:extLst>
          </p:cNvPr>
          <p:cNvSpPr txBox="1">
            <a:spLocks noChangeArrowheads="1"/>
          </p:cNvSpPr>
          <p:nvPr/>
        </p:nvSpPr>
        <p:spPr bwMode="auto">
          <a:xfrm>
            <a:off x="7311582" y="3395185"/>
            <a:ext cx="76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solidFill>
                  <a:schemeClr val="tx2"/>
                </a:solidFill>
                <a:latin typeface="Tahoma" panose="020B0604030504040204" pitchFamily="34" charset="0"/>
              </a:rPr>
              <a:t>Yellow</a:t>
            </a:r>
          </a:p>
        </p:txBody>
      </p:sp>
      <p:sp>
        <p:nvSpPr>
          <p:cNvPr id="30" name="Text Box 29">
            <a:extLst>
              <a:ext uri="{FF2B5EF4-FFF2-40B4-BE49-F238E27FC236}">
                <a16:creationId xmlns:a16="http://schemas.microsoft.com/office/drawing/2014/main" id="{CB8391E8-F9DF-44A2-92E6-F44D57D0B6D6}"/>
              </a:ext>
            </a:extLst>
          </p:cNvPr>
          <p:cNvSpPr txBox="1">
            <a:spLocks noChangeArrowheads="1"/>
          </p:cNvSpPr>
          <p:nvPr/>
        </p:nvSpPr>
        <p:spPr bwMode="auto">
          <a:xfrm>
            <a:off x="6963919" y="4595335"/>
            <a:ext cx="700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latin typeface="Tahoma" panose="020B0604030504040204" pitchFamily="34" charset="0"/>
              </a:rPr>
              <a:t>White</a:t>
            </a:r>
          </a:p>
        </p:txBody>
      </p:sp>
      <p:sp>
        <p:nvSpPr>
          <p:cNvPr id="31" name="Text Box 30">
            <a:extLst>
              <a:ext uri="{FF2B5EF4-FFF2-40B4-BE49-F238E27FC236}">
                <a16:creationId xmlns:a16="http://schemas.microsoft.com/office/drawing/2014/main" id="{9932058F-780A-4AE8-B4E9-7D578B741327}"/>
              </a:ext>
            </a:extLst>
          </p:cNvPr>
          <p:cNvSpPr txBox="1">
            <a:spLocks noChangeArrowheads="1"/>
          </p:cNvSpPr>
          <p:nvPr/>
        </p:nvSpPr>
        <p:spPr bwMode="auto">
          <a:xfrm>
            <a:off x="5605019" y="4627085"/>
            <a:ext cx="762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a:solidFill>
                  <a:schemeClr val="tx2"/>
                </a:solidFill>
                <a:latin typeface="Tahoma" panose="020B0604030504040204" pitchFamily="34" charset="0"/>
              </a:rPr>
              <a:t>Yellow</a:t>
            </a:r>
          </a:p>
        </p:txBody>
      </p:sp>
      <p:sp>
        <p:nvSpPr>
          <p:cNvPr id="32" name="Text Box 31">
            <a:extLst>
              <a:ext uri="{FF2B5EF4-FFF2-40B4-BE49-F238E27FC236}">
                <a16:creationId xmlns:a16="http://schemas.microsoft.com/office/drawing/2014/main" id="{1C96D38E-9751-4AD7-9CFA-E7CF67502772}"/>
              </a:ext>
            </a:extLst>
          </p:cNvPr>
          <p:cNvSpPr txBox="1">
            <a:spLocks noChangeArrowheads="1"/>
          </p:cNvSpPr>
          <p:nvPr/>
        </p:nvSpPr>
        <p:spPr bwMode="auto">
          <a:xfrm>
            <a:off x="4690619" y="3458685"/>
            <a:ext cx="717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algn="l"/>
            <a:r>
              <a:rPr lang="en-US" altLang="en-US" sz="1600" dirty="0">
                <a:solidFill>
                  <a:srgbClr val="33CC33"/>
                </a:solidFill>
                <a:latin typeface="Tahoma" panose="020B0604030504040204" pitchFamily="34" charset="0"/>
              </a:rPr>
              <a:t>Green</a:t>
            </a:r>
          </a:p>
        </p:txBody>
      </p:sp>
    </p:spTree>
    <p:extLst>
      <p:ext uri="{BB962C8B-B14F-4D97-AF65-F5344CB8AC3E}">
        <p14:creationId xmlns:p14="http://schemas.microsoft.com/office/powerpoint/2010/main" val="210120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left)">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left)">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left)">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wipe(left)">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animEffect transition="in" filter="wipe(left)">
                                      <p:cBhvr>
                                        <p:cTn id="57" dur="500"/>
                                        <p:tgtEl>
                                          <p:spTgt spid="3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left)">
                                      <p:cBhvr>
                                        <p:cTn id="6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2" grpId="0" autoUpdateAnimBg="0"/>
      <p:bldP spid="23" grpId="0" autoUpdateAnimBg="0"/>
      <p:bldP spid="24" grpId="0" autoUpdateAnimBg="0"/>
      <p:bldP spid="25" grpId="0" autoUpdateAnimBg="0"/>
      <p:bldP spid="26" grpId="0" autoUpdateAnimBg="0"/>
      <p:bldP spid="27" grpId="0" autoUpdateAnimBg="0"/>
      <p:bldP spid="28" grpId="0" autoUpdateAnimBg="0"/>
      <p:bldP spid="29" grpId="0" autoUpdateAnimBg="0"/>
      <p:bldP spid="30" grpId="0" autoUpdateAnimBg="0"/>
      <p:bldP spid="31" grpId="0" autoUpdateAnimBg="0"/>
      <p:bldP spid="3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- 2-Colourable Graphs</a:t>
            </a:r>
          </a:p>
        </p:txBody>
      </p:sp>
      <p:sp>
        <p:nvSpPr>
          <p:cNvPr id="4" name="Text Box 3">
            <a:extLst>
              <a:ext uri="{FF2B5EF4-FFF2-40B4-BE49-F238E27FC236}">
                <a16:creationId xmlns:a16="http://schemas.microsoft.com/office/drawing/2014/main" id="{18087853-F3E2-4C0C-9B50-B5E480618EF0}"/>
              </a:ext>
            </a:extLst>
          </p:cNvPr>
          <p:cNvSpPr txBox="1">
            <a:spLocks noChangeArrowheads="1"/>
          </p:cNvSpPr>
          <p:nvPr/>
        </p:nvSpPr>
        <p:spPr bwMode="auto">
          <a:xfrm>
            <a:off x="2309633" y="1371600"/>
            <a:ext cx="5460149" cy="461665"/>
          </a:xfrm>
          <a:prstGeom prst="rect">
            <a:avLst/>
          </a:prstGeom>
          <a:solidFill>
            <a:srgbClr val="FFFFCC"/>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When exactly is a graph 2-colourable?</a:t>
            </a:r>
          </a:p>
        </p:txBody>
      </p:sp>
      <p:sp>
        <p:nvSpPr>
          <p:cNvPr id="5" name="Oval 4">
            <a:extLst>
              <a:ext uri="{FF2B5EF4-FFF2-40B4-BE49-F238E27FC236}">
                <a16:creationId xmlns:a16="http://schemas.microsoft.com/office/drawing/2014/main" id="{C7D4BDF1-81AB-4FF1-97B9-9F09C1B41501}"/>
              </a:ext>
            </a:extLst>
          </p:cNvPr>
          <p:cNvSpPr>
            <a:spLocks noChangeArrowheads="1"/>
          </p:cNvSpPr>
          <p:nvPr/>
        </p:nvSpPr>
        <p:spPr bwMode="auto">
          <a:xfrm>
            <a:off x="1084083" y="21336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6" name="Oval 5">
            <a:extLst>
              <a:ext uri="{FF2B5EF4-FFF2-40B4-BE49-F238E27FC236}">
                <a16:creationId xmlns:a16="http://schemas.microsoft.com/office/drawing/2014/main" id="{494F5FD6-C9BC-4E3B-9104-0C4932A3977A}"/>
              </a:ext>
            </a:extLst>
          </p:cNvPr>
          <p:cNvSpPr>
            <a:spLocks noChangeArrowheads="1"/>
          </p:cNvSpPr>
          <p:nvPr/>
        </p:nvSpPr>
        <p:spPr bwMode="auto">
          <a:xfrm>
            <a:off x="1084083" y="48768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7" name="Oval 6">
            <a:extLst>
              <a:ext uri="{FF2B5EF4-FFF2-40B4-BE49-F238E27FC236}">
                <a16:creationId xmlns:a16="http://schemas.microsoft.com/office/drawing/2014/main" id="{17E4AE4A-905C-4E9F-BA87-DC007E26C456}"/>
              </a:ext>
            </a:extLst>
          </p:cNvPr>
          <p:cNvSpPr>
            <a:spLocks noChangeArrowheads="1"/>
          </p:cNvSpPr>
          <p:nvPr/>
        </p:nvSpPr>
        <p:spPr bwMode="auto">
          <a:xfrm>
            <a:off x="1998483" y="39624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8" name="Oval 7">
            <a:extLst>
              <a:ext uri="{FF2B5EF4-FFF2-40B4-BE49-F238E27FC236}">
                <a16:creationId xmlns:a16="http://schemas.microsoft.com/office/drawing/2014/main" id="{9D613931-0A91-41AE-9565-79E55E0658B1}"/>
              </a:ext>
            </a:extLst>
          </p:cNvPr>
          <p:cNvSpPr>
            <a:spLocks noChangeArrowheads="1"/>
          </p:cNvSpPr>
          <p:nvPr/>
        </p:nvSpPr>
        <p:spPr bwMode="auto">
          <a:xfrm>
            <a:off x="1998483" y="30480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9" name="Oval 8">
            <a:extLst>
              <a:ext uri="{FF2B5EF4-FFF2-40B4-BE49-F238E27FC236}">
                <a16:creationId xmlns:a16="http://schemas.microsoft.com/office/drawing/2014/main" id="{2D5A4A08-72D3-44A7-9B6E-D6DFC78556CC}"/>
              </a:ext>
            </a:extLst>
          </p:cNvPr>
          <p:cNvSpPr>
            <a:spLocks noChangeArrowheads="1"/>
          </p:cNvSpPr>
          <p:nvPr/>
        </p:nvSpPr>
        <p:spPr bwMode="auto">
          <a:xfrm>
            <a:off x="2912883" y="30480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0" name="Oval 9">
            <a:extLst>
              <a:ext uri="{FF2B5EF4-FFF2-40B4-BE49-F238E27FC236}">
                <a16:creationId xmlns:a16="http://schemas.microsoft.com/office/drawing/2014/main" id="{5162818E-82A3-40F1-8771-29FFA076F508}"/>
              </a:ext>
            </a:extLst>
          </p:cNvPr>
          <p:cNvSpPr>
            <a:spLocks noChangeArrowheads="1"/>
          </p:cNvSpPr>
          <p:nvPr/>
        </p:nvSpPr>
        <p:spPr bwMode="auto">
          <a:xfrm>
            <a:off x="2912883" y="39624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1" name="Oval 10">
            <a:extLst>
              <a:ext uri="{FF2B5EF4-FFF2-40B4-BE49-F238E27FC236}">
                <a16:creationId xmlns:a16="http://schemas.microsoft.com/office/drawing/2014/main" id="{68BBB82B-3663-4659-9DDE-DA97CA659F75}"/>
              </a:ext>
            </a:extLst>
          </p:cNvPr>
          <p:cNvSpPr>
            <a:spLocks noChangeArrowheads="1"/>
          </p:cNvSpPr>
          <p:nvPr/>
        </p:nvSpPr>
        <p:spPr bwMode="auto">
          <a:xfrm>
            <a:off x="3827283" y="48768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2" name="Oval 11">
            <a:extLst>
              <a:ext uri="{FF2B5EF4-FFF2-40B4-BE49-F238E27FC236}">
                <a16:creationId xmlns:a16="http://schemas.microsoft.com/office/drawing/2014/main" id="{89B79701-F531-4FD8-BC7B-FA7230AD00ED}"/>
              </a:ext>
            </a:extLst>
          </p:cNvPr>
          <p:cNvSpPr>
            <a:spLocks noChangeArrowheads="1"/>
          </p:cNvSpPr>
          <p:nvPr/>
        </p:nvSpPr>
        <p:spPr bwMode="auto">
          <a:xfrm>
            <a:off x="3827283" y="21336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3" name="Line 12">
            <a:extLst>
              <a:ext uri="{FF2B5EF4-FFF2-40B4-BE49-F238E27FC236}">
                <a16:creationId xmlns:a16="http://schemas.microsoft.com/office/drawing/2014/main" id="{B62E89EC-BAF9-498C-9945-B4152B0A8ABC}"/>
              </a:ext>
            </a:extLst>
          </p:cNvPr>
          <p:cNvSpPr>
            <a:spLocks noChangeShapeType="1"/>
          </p:cNvSpPr>
          <p:nvPr/>
        </p:nvSpPr>
        <p:spPr bwMode="auto">
          <a:xfrm>
            <a:off x="1160283" y="2209800"/>
            <a:ext cx="2743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4" name="Line 13">
            <a:extLst>
              <a:ext uri="{FF2B5EF4-FFF2-40B4-BE49-F238E27FC236}">
                <a16:creationId xmlns:a16="http://schemas.microsoft.com/office/drawing/2014/main" id="{7FEEBD7D-2500-414C-8039-84DAF539B285}"/>
              </a:ext>
            </a:extLst>
          </p:cNvPr>
          <p:cNvSpPr>
            <a:spLocks noChangeShapeType="1"/>
          </p:cNvSpPr>
          <p:nvPr/>
        </p:nvSpPr>
        <p:spPr bwMode="auto">
          <a:xfrm>
            <a:off x="1160283" y="2209800"/>
            <a:ext cx="0" cy="274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5" name="Line 14">
            <a:extLst>
              <a:ext uri="{FF2B5EF4-FFF2-40B4-BE49-F238E27FC236}">
                <a16:creationId xmlns:a16="http://schemas.microsoft.com/office/drawing/2014/main" id="{2285C622-C126-44D6-A8A9-5DE4700A7CF6}"/>
              </a:ext>
            </a:extLst>
          </p:cNvPr>
          <p:cNvSpPr>
            <a:spLocks noChangeShapeType="1"/>
          </p:cNvSpPr>
          <p:nvPr/>
        </p:nvSpPr>
        <p:spPr bwMode="auto">
          <a:xfrm>
            <a:off x="1160283" y="4953000"/>
            <a:ext cx="2743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6" name="Line 15">
            <a:extLst>
              <a:ext uri="{FF2B5EF4-FFF2-40B4-BE49-F238E27FC236}">
                <a16:creationId xmlns:a16="http://schemas.microsoft.com/office/drawing/2014/main" id="{F8BDA1DB-C563-4BBD-80BD-52385DFD1F67}"/>
              </a:ext>
            </a:extLst>
          </p:cNvPr>
          <p:cNvSpPr>
            <a:spLocks noChangeShapeType="1"/>
          </p:cNvSpPr>
          <p:nvPr/>
        </p:nvSpPr>
        <p:spPr bwMode="auto">
          <a:xfrm>
            <a:off x="3903483" y="2209800"/>
            <a:ext cx="0" cy="274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7" name="Line 16">
            <a:extLst>
              <a:ext uri="{FF2B5EF4-FFF2-40B4-BE49-F238E27FC236}">
                <a16:creationId xmlns:a16="http://schemas.microsoft.com/office/drawing/2014/main" id="{48017D0D-EA16-468C-A130-465E61690CE1}"/>
              </a:ext>
            </a:extLst>
          </p:cNvPr>
          <p:cNvSpPr>
            <a:spLocks noChangeShapeType="1"/>
          </p:cNvSpPr>
          <p:nvPr/>
        </p:nvSpPr>
        <p:spPr bwMode="auto">
          <a:xfrm>
            <a:off x="2074683" y="31242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8" name="Line 17">
            <a:extLst>
              <a:ext uri="{FF2B5EF4-FFF2-40B4-BE49-F238E27FC236}">
                <a16:creationId xmlns:a16="http://schemas.microsoft.com/office/drawing/2014/main" id="{A7027023-F50B-4CF2-886A-C48329A35488}"/>
              </a:ext>
            </a:extLst>
          </p:cNvPr>
          <p:cNvSpPr>
            <a:spLocks noChangeShapeType="1"/>
          </p:cNvSpPr>
          <p:nvPr/>
        </p:nvSpPr>
        <p:spPr bwMode="auto">
          <a:xfrm>
            <a:off x="2074683" y="3124200"/>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9" name="Line 18">
            <a:extLst>
              <a:ext uri="{FF2B5EF4-FFF2-40B4-BE49-F238E27FC236}">
                <a16:creationId xmlns:a16="http://schemas.microsoft.com/office/drawing/2014/main" id="{F0FAC288-7825-4A03-8357-5573B45FFA97}"/>
              </a:ext>
            </a:extLst>
          </p:cNvPr>
          <p:cNvSpPr>
            <a:spLocks noChangeShapeType="1"/>
          </p:cNvSpPr>
          <p:nvPr/>
        </p:nvSpPr>
        <p:spPr bwMode="auto">
          <a:xfrm>
            <a:off x="2989083" y="31242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0" name="Line 19">
            <a:extLst>
              <a:ext uri="{FF2B5EF4-FFF2-40B4-BE49-F238E27FC236}">
                <a16:creationId xmlns:a16="http://schemas.microsoft.com/office/drawing/2014/main" id="{491693EB-0840-4AE7-947A-446F75FD531C}"/>
              </a:ext>
            </a:extLst>
          </p:cNvPr>
          <p:cNvSpPr>
            <a:spLocks noChangeShapeType="1"/>
          </p:cNvSpPr>
          <p:nvPr/>
        </p:nvSpPr>
        <p:spPr bwMode="auto">
          <a:xfrm>
            <a:off x="2074683" y="4038600"/>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1" name="Line 20">
            <a:extLst>
              <a:ext uri="{FF2B5EF4-FFF2-40B4-BE49-F238E27FC236}">
                <a16:creationId xmlns:a16="http://schemas.microsoft.com/office/drawing/2014/main" id="{75D2A24E-B5D4-4549-8058-7FA8D9C4CFEC}"/>
              </a:ext>
            </a:extLst>
          </p:cNvPr>
          <p:cNvSpPr>
            <a:spLocks noChangeShapeType="1"/>
          </p:cNvSpPr>
          <p:nvPr/>
        </p:nvSpPr>
        <p:spPr bwMode="auto">
          <a:xfrm>
            <a:off x="1160283" y="2209800"/>
            <a:ext cx="914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2" name="Line 21">
            <a:extLst>
              <a:ext uri="{FF2B5EF4-FFF2-40B4-BE49-F238E27FC236}">
                <a16:creationId xmlns:a16="http://schemas.microsoft.com/office/drawing/2014/main" id="{1339F897-371E-4CF5-A5DC-53DE973BBF7C}"/>
              </a:ext>
            </a:extLst>
          </p:cNvPr>
          <p:cNvSpPr>
            <a:spLocks noChangeShapeType="1"/>
          </p:cNvSpPr>
          <p:nvPr/>
        </p:nvSpPr>
        <p:spPr bwMode="auto">
          <a:xfrm flipH="1">
            <a:off x="1160283" y="4038600"/>
            <a:ext cx="914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3" name="Line 22">
            <a:extLst>
              <a:ext uri="{FF2B5EF4-FFF2-40B4-BE49-F238E27FC236}">
                <a16:creationId xmlns:a16="http://schemas.microsoft.com/office/drawing/2014/main" id="{05085249-5AC4-411F-823F-31B5FDE004A9}"/>
              </a:ext>
            </a:extLst>
          </p:cNvPr>
          <p:cNvSpPr>
            <a:spLocks noChangeShapeType="1"/>
          </p:cNvSpPr>
          <p:nvPr/>
        </p:nvSpPr>
        <p:spPr bwMode="auto">
          <a:xfrm flipV="1">
            <a:off x="2989083" y="2209800"/>
            <a:ext cx="914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4" name="Line 23">
            <a:extLst>
              <a:ext uri="{FF2B5EF4-FFF2-40B4-BE49-F238E27FC236}">
                <a16:creationId xmlns:a16="http://schemas.microsoft.com/office/drawing/2014/main" id="{664DDE7B-5B24-4614-9FE5-786D6F364567}"/>
              </a:ext>
            </a:extLst>
          </p:cNvPr>
          <p:cNvSpPr>
            <a:spLocks noChangeShapeType="1"/>
          </p:cNvSpPr>
          <p:nvPr/>
        </p:nvSpPr>
        <p:spPr bwMode="auto">
          <a:xfrm>
            <a:off x="2989083" y="4038600"/>
            <a:ext cx="914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5" name="Text Box 25">
            <a:extLst>
              <a:ext uri="{FF2B5EF4-FFF2-40B4-BE49-F238E27FC236}">
                <a16:creationId xmlns:a16="http://schemas.microsoft.com/office/drawing/2014/main" id="{C4507388-FC98-4D27-97B3-5011CC114876}"/>
              </a:ext>
            </a:extLst>
          </p:cNvPr>
          <p:cNvSpPr txBox="1">
            <a:spLocks noChangeArrowheads="1"/>
          </p:cNvSpPr>
          <p:nvPr/>
        </p:nvSpPr>
        <p:spPr bwMode="auto">
          <a:xfrm>
            <a:off x="4817884" y="3505200"/>
            <a:ext cx="2989921" cy="461665"/>
          </a:xfrm>
          <a:prstGeom prst="rect">
            <a:avLst/>
          </a:prstGeom>
          <a:solidFill>
            <a:srgbClr val="CCCCFF"/>
          </a:solidFill>
          <a:ln w="9525">
            <a:solidFill>
              <a:schemeClr val="bg2"/>
            </a:solidFill>
            <a:miter lim="800000"/>
            <a:headEnd/>
            <a:tailEnd/>
          </a:ln>
          <a:effectLst>
            <a:outerShdw blurRad="63500" sx="102000" sy="102000" algn="ctr" rotWithShape="0">
              <a:prstClr val="black">
                <a:alpha val="40000"/>
              </a:prstClr>
            </a:outerShdw>
          </a:effectLst>
        </p:spPr>
        <p:txBody>
          <a:bodyPr wrap="none">
            <a:spAutoFit/>
          </a:bodyPr>
          <a:lstStyle/>
          <a:p>
            <a:r>
              <a:rPr lang="en-US" altLang="en-US" sz="2400" dirty="0"/>
              <a:t>This is 2-colourable.</a:t>
            </a:r>
          </a:p>
        </p:txBody>
      </p:sp>
      <p:sp>
        <p:nvSpPr>
          <p:cNvPr id="26" name="Oval 26">
            <a:extLst>
              <a:ext uri="{FF2B5EF4-FFF2-40B4-BE49-F238E27FC236}">
                <a16:creationId xmlns:a16="http://schemas.microsoft.com/office/drawing/2014/main" id="{0651D0FD-0504-49A4-8F5E-36AF88F056F1}"/>
              </a:ext>
            </a:extLst>
          </p:cNvPr>
          <p:cNvSpPr>
            <a:spLocks noChangeArrowheads="1"/>
          </p:cNvSpPr>
          <p:nvPr/>
        </p:nvSpPr>
        <p:spPr bwMode="auto">
          <a:xfrm>
            <a:off x="1084083" y="21336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27" name="Oval 27">
            <a:extLst>
              <a:ext uri="{FF2B5EF4-FFF2-40B4-BE49-F238E27FC236}">
                <a16:creationId xmlns:a16="http://schemas.microsoft.com/office/drawing/2014/main" id="{DA1483BE-1A56-4149-8A1B-3F5DCCE87D6F}"/>
              </a:ext>
            </a:extLst>
          </p:cNvPr>
          <p:cNvSpPr>
            <a:spLocks noChangeArrowheads="1"/>
          </p:cNvSpPr>
          <p:nvPr/>
        </p:nvSpPr>
        <p:spPr bwMode="auto">
          <a:xfrm>
            <a:off x="1084083" y="48768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28" name="Oval 28">
            <a:extLst>
              <a:ext uri="{FF2B5EF4-FFF2-40B4-BE49-F238E27FC236}">
                <a16:creationId xmlns:a16="http://schemas.microsoft.com/office/drawing/2014/main" id="{12CA9E4C-F800-44F8-9B42-3EE8474BC925}"/>
              </a:ext>
            </a:extLst>
          </p:cNvPr>
          <p:cNvSpPr>
            <a:spLocks noChangeArrowheads="1"/>
          </p:cNvSpPr>
          <p:nvPr/>
        </p:nvSpPr>
        <p:spPr bwMode="auto">
          <a:xfrm>
            <a:off x="1998483" y="39624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29" name="Oval 29">
            <a:extLst>
              <a:ext uri="{FF2B5EF4-FFF2-40B4-BE49-F238E27FC236}">
                <a16:creationId xmlns:a16="http://schemas.microsoft.com/office/drawing/2014/main" id="{DB337792-A10D-41A0-8EEB-EA8D10B8DD69}"/>
              </a:ext>
            </a:extLst>
          </p:cNvPr>
          <p:cNvSpPr>
            <a:spLocks noChangeArrowheads="1"/>
          </p:cNvSpPr>
          <p:nvPr/>
        </p:nvSpPr>
        <p:spPr bwMode="auto">
          <a:xfrm>
            <a:off x="1998483" y="30480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0" name="Oval 30">
            <a:extLst>
              <a:ext uri="{FF2B5EF4-FFF2-40B4-BE49-F238E27FC236}">
                <a16:creationId xmlns:a16="http://schemas.microsoft.com/office/drawing/2014/main" id="{BB092F72-8A0E-41F9-B5B6-123B34789767}"/>
              </a:ext>
            </a:extLst>
          </p:cNvPr>
          <p:cNvSpPr>
            <a:spLocks noChangeArrowheads="1"/>
          </p:cNvSpPr>
          <p:nvPr/>
        </p:nvSpPr>
        <p:spPr bwMode="auto">
          <a:xfrm>
            <a:off x="2912883" y="30480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1" name="Oval 31">
            <a:extLst>
              <a:ext uri="{FF2B5EF4-FFF2-40B4-BE49-F238E27FC236}">
                <a16:creationId xmlns:a16="http://schemas.microsoft.com/office/drawing/2014/main" id="{410540D1-F0C9-4BA1-B589-760CAC9991F0}"/>
              </a:ext>
            </a:extLst>
          </p:cNvPr>
          <p:cNvSpPr>
            <a:spLocks noChangeArrowheads="1"/>
          </p:cNvSpPr>
          <p:nvPr/>
        </p:nvSpPr>
        <p:spPr bwMode="auto">
          <a:xfrm>
            <a:off x="2912883" y="39624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2" name="Oval 32">
            <a:extLst>
              <a:ext uri="{FF2B5EF4-FFF2-40B4-BE49-F238E27FC236}">
                <a16:creationId xmlns:a16="http://schemas.microsoft.com/office/drawing/2014/main" id="{C6270726-90D6-46BC-8FCA-96CC194D7C30}"/>
              </a:ext>
            </a:extLst>
          </p:cNvPr>
          <p:cNvSpPr>
            <a:spLocks noChangeArrowheads="1"/>
          </p:cNvSpPr>
          <p:nvPr/>
        </p:nvSpPr>
        <p:spPr bwMode="auto">
          <a:xfrm>
            <a:off x="3827283" y="48768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3" name="Oval 33">
            <a:extLst>
              <a:ext uri="{FF2B5EF4-FFF2-40B4-BE49-F238E27FC236}">
                <a16:creationId xmlns:a16="http://schemas.microsoft.com/office/drawing/2014/main" id="{729C5173-1093-4F8E-9D85-D858ADFBE445}"/>
              </a:ext>
            </a:extLst>
          </p:cNvPr>
          <p:cNvSpPr>
            <a:spLocks noChangeArrowheads="1"/>
          </p:cNvSpPr>
          <p:nvPr/>
        </p:nvSpPr>
        <p:spPr bwMode="auto">
          <a:xfrm>
            <a:off x="3827283" y="21336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4" name="Text Box 34">
            <a:extLst>
              <a:ext uri="{FF2B5EF4-FFF2-40B4-BE49-F238E27FC236}">
                <a16:creationId xmlns:a16="http://schemas.microsoft.com/office/drawing/2014/main" id="{A2E594AE-9451-4E1D-8910-B5B7C7338BBD}"/>
              </a:ext>
            </a:extLst>
          </p:cNvPr>
          <p:cNvSpPr txBox="1">
            <a:spLocks noChangeArrowheads="1"/>
          </p:cNvSpPr>
          <p:nvPr/>
        </p:nvSpPr>
        <p:spPr bwMode="auto">
          <a:xfrm>
            <a:off x="2484258" y="5486400"/>
            <a:ext cx="4860626" cy="461665"/>
          </a:xfrm>
          <a:prstGeom prst="rect">
            <a:avLst/>
          </a:prstGeom>
          <a:solidFill>
            <a:srgbClr val="FFCCFF"/>
          </a:solidFill>
          <a:ln w="9525">
            <a:solidFill>
              <a:schemeClr val="bg2"/>
            </a:solidFill>
            <a:miter lim="800000"/>
            <a:headEnd/>
            <a:tailEnd/>
          </a:ln>
          <a:effectLst>
            <a:outerShdw blurRad="63500" sx="102000" sy="102000" algn="ctr" rotWithShape="0">
              <a:prstClr val="black">
                <a:alpha val="40000"/>
              </a:prstClr>
            </a:outerShdw>
          </a:effectLst>
        </p:spPr>
        <p:txBody>
          <a:bodyPr wrap="none">
            <a:spAutoFit/>
          </a:bodyPr>
          <a:lstStyle/>
          <a:p>
            <a:r>
              <a:rPr lang="en-US" altLang="en-US" sz="2400" dirty="0"/>
              <a:t>2 </a:t>
            </a:r>
            <a:r>
              <a:rPr lang="en-US" altLang="en-US" sz="2400" dirty="0" err="1"/>
              <a:t>colourable</a:t>
            </a:r>
            <a:r>
              <a:rPr lang="en-US" altLang="en-US" sz="2400" dirty="0"/>
              <a:t>: tree, even cycle, etc.</a:t>
            </a:r>
          </a:p>
        </p:txBody>
      </p:sp>
      <p:sp>
        <p:nvSpPr>
          <p:cNvPr id="35" name="Text Box 35">
            <a:extLst>
              <a:ext uri="{FF2B5EF4-FFF2-40B4-BE49-F238E27FC236}">
                <a16:creationId xmlns:a16="http://schemas.microsoft.com/office/drawing/2014/main" id="{E10166C4-5570-43FA-92A1-90D2194CA09D}"/>
              </a:ext>
            </a:extLst>
          </p:cNvPr>
          <p:cNvSpPr txBox="1">
            <a:spLocks noChangeArrowheads="1"/>
          </p:cNvSpPr>
          <p:nvPr/>
        </p:nvSpPr>
        <p:spPr bwMode="auto">
          <a:xfrm>
            <a:off x="2119134" y="6176963"/>
            <a:ext cx="5777544" cy="461665"/>
          </a:xfrm>
          <a:prstGeom prst="rect">
            <a:avLst/>
          </a:prstGeom>
          <a:solidFill>
            <a:srgbClr val="CCFF99"/>
          </a:solidFill>
          <a:ln w="9525">
            <a:solidFill>
              <a:schemeClr val="bg2"/>
            </a:solidFill>
            <a:miter lim="800000"/>
            <a:headEnd/>
            <a:tailEnd/>
          </a:ln>
          <a:effectLst>
            <a:outerShdw blurRad="63500" sx="102000" sy="102000" algn="ctr" rotWithShape="0">
              <a:prstClr val="black">
                <a:alpha val="40000"/>
              </a:prstClr>
            </a:outerShdw>
          </a:effectLst>
        </p:spPr>
        <p:txBody>
          <a:bodyPr wrap="none">
            <a:spAutoFit/>
          </a:bodyPr>
          <a:lstStyle/>
          <a:p>
            <a:r>
              <a:rPr lang="en-US" altLang="en-US" sz="2400" dirty="0"/>
              <a:t>Not 2 </a:t>
            </a:r>
            <a:r>
              <a:rPr lang="en-US" altLang="en-US" sz="2400" dirty="0" err="1"/>
              <a:t>colourable</a:t>
            </a:r>
            <a:r>
              <a:rPr lang="en-US" altLang="en-US" sz="2400" dirty="0"/>
              <a:t>: triangle, odd cycle, etc.</a:t>
            </a:r>
          </a:p>
        </p:txBody>
      </p:sp>
    </p:spTree>
    <p:extLst>
      <p:ext uri="{BB962C8B-B14F-4D97-AF65-F5344CB8AC3E}">
        <p14:creationId xmlns:p14="http://schemas.microsoft.com/office/powerpoint/2010/main" val="1181581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blinds(horizontal)">
                                      <p:cBhvr>
                                        <p:cTn id="12" dur="500"/>
                                        <p:tgtEl>
                                          <p:spTgt spid="2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blinds(horizontal)">
                                      <p:cBhvr>
                                        <p:cTn id="15" dur="500"/>
                                        <p:tgtEl>
                                          <p:spTgt spid="2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blinds(horizontal)">
                                      <p:cBhvr>
                                        <p:cTn id="18" dur="500"/>
                                        <p:tgtEl>
                                          <p:spTgt spid="2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blinds(horizontal)">
                                      <p:cBhvr>
                                        <p:cTn id="21" dur="500"/>
                                        <p:tgtEl>
                                          <p:spTgt spid="2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blinds(horizontal)">
                                      <p:cBhvr>
                                        <p:cTn id="24" dur="500"/>
                                        <p:tgtEl>
                                          <p:spTgt spid="32"/>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blinds(horizontal)">
                                      <p:cBhvr>
                                        <p:cTn id="27" dur="500"/>
                                        <p:tgtEl>
                                          <p:spTgt spid="31"/>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linds(horizontal)">
                                      <p:cBhvr>
                                        <p:cTn id="30" dur="500"/>
                                        <p:tgtEl>
                                          <p:spTgt spid="30"/>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blinds(horizontal)">
                                      <p:cBhvr>
                                        <p:cTn id="33" dur="500"/>
                                        <p:tgtEl>
                                          <p:spTgt spid="33"/>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blinds(horizontal)">
                                      <p:cBhvr>
                                        <p:cTn id="38" dur="500"/>
                                        <p:tgtEl>
                                          <p:spTgt spid="3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blinds(horizontal)">
                                      <p:cBhvr>
                                        <p:cTn id="4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Bipartite Graphs</a:t>
            </a:r>
          </a:p>
        </p:txBody>
      </p:sp>
      <p:sp>
        <p:nvSpPr>
          <p:cNvPr id="4" name="Text Box 3">
            <a:extLst>
              <a:ext uri="{FF2B5EF4-FFF2-40B4-BE49-F238E27FC236}">
                <a16:creationId xmlns:a16="http://schemas.microsoft.com/office/drawing/2014/main" id="{2F4BCD92-70DB-4456-8028-F3E16862D075}"/>
              </a:ext>
            </a:extLst>
          </p:cNvPr>
          <p:cNvSpPr txBox="1">
            <a:spLocks noChangeArrowheads="1"/>
          </p:cNvSpPr>
          <p:nvPr/>
        </p:nvSpPr>
        <p:spPr bwMode="auto">
          <a:xfrm>
            <a:off x="1960841" y="1371600"/>
            <a:ext cx="5460149" cy="461665"/>
          </a:xfrm>
          <a:prstGeom prst="rect">
            <a:avLst/>
          </a:prstGeom>
          <a:solidFill>
            <a:srgbClr val="FFFFCC"/>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When exactly is a graph 2-colourable?</a:t>
            </a:r>
          </a:p>
        </p:txBody>
      </p:sp>
      <p:sp>
        <p:nvSpPr>
          <p:cNvPr id="5" name="Line 36">
            <a:extLst>
              <a:ext uri="{FF2B5EF4-FFF2-40B4-BE49-F238E27FC236}">
                <a16:creationId xmlns:a16="http://schemas.microsoft.com/office/drawing/2014/main" id="{8559E150-27F7-4DA1-A23A-52BEFE287C61}"/>
              </a:ext>
            </a:extLst>
          </p:cNvPr>
          <p:cNvSpPr>
            <a:spLocks noChangeShapeType="1"/>
          </p:cNvSpPr>
          <p:nvPr/>
        </p:nvSpPr>
        <p:spPr bwMode="auto">
          <a:xfrm>
            <a:off x="506691" y="3657600"/>
            <a:ext cx="3124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6" name="Line 37">
            <a:extLst>
              <a:ext uri="{FF2B5EF4-FFF2-40B4-BE49-F238E27FC236}">
                <a16:creationId xmlns:a16="http://schemas.microsoft.com/office/drawing/2014/main" id="{FB4110A6-864E-4745-AC92-35CBEC7C8BB7}"/>
              </a:ext>
            </a:extLst>
          </p:cNvPr>
          <p:cNvSpPr>
            <a:spLocks noChangeShapeType="1"/>
          </p:cNvSpPr>
          <p:nvPr/>
        </p:nvSpPr>
        <p:spPr bwMode="auto">
          <a:xfrm>
            <a:off x="506691" y="4191000"/>
            <a:ext cx="3048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7" name="Line 38">
            <a:extLst>
              <a:ext uri="{FF2B5EF4-FFF2-40B4-BE49-F238E27FC236}">
                <a16:creationId xmlns:a16="http://schemas.microsoft.com/office/drawing/2014/main" id="{FFA12D5B-FA21-4D1B-A596-5ED43E0526E6}"/>
              </a:ext>
            </a:extLst>
          </p:cNvPr>
          <p:cNvSpPr>
            <a:spLocks noChangeShapeType="1"/>
          </p:cNvSpPr>
          <p:nvPr/>
        </p:nvSpPr>
        <p:spPr bwMode="auto">
          <a:xfrm flipH="1">
            <a:off x="506691" y="4191000"/>
            <a:ext cx="3048000" cy="1219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8" name="Line 39">
            <a:extLst>
              <a:ext uri="{FF2B5EF4-FFF2-40B4-BE49-F238E27FC236}">
                <a16:creationId xmlns:a16="http://schemas.microsoft.com/office/drawing/2014/main" id="{5EFE737A-35FC-4F1F-96DB-BC30A5D021BA}"/>
              </a:ext>
            </a:extLst>
          </p:cNvPr>
          <p:cNvSpPr>
            <a:spLocks noChangeShapeType="1"/>
          </p:cNvSpPr>
          <p:nvPr/>
        </p:nvSpPr>
        <p:spPr bwMode="auto">
          <a:xfrm flipH="1">
            <a:off x="506691" y="4800600"/>
            <a:ext cx="2971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9" name="Line 40">
            <a:extLst>
              <a:ext uri="{FF2B5EF4-FFF2-40B4-BE49-F238E27FC236}">
                <a16:creationId xmlns:a16="http://schemas.microsoft.com/office/drawing/2014/main" id="{635A2475-B457-4209-ACD1-29987051DE20}"/>
              </a:ext>
            </a:extLst>
          </p:cNvPr>
          <p:cNvSpPr>
            <a:spLocks noChangeShapeType="1"/>
          </p:cNvSpPr>
          <p:nvPr/>
        </p:nvSpPr>
        <p:spPr bwMode="auto">
          <a:xfrm flipH="1">
            <a:off x="506691" y="4800600"/>
            <a:ext cx="297180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10" name="Oval 41">
            <a:extLst>
              <a:ext uri="{FF2B5EF4-FFF2-40B4-BE49-F238E27FC236}">
                <a16:creationId xmlns:a16="http://schemas.microsoft.com/office/drawing/2014/main" id="{73258910-8AFB-4FCB-AB01-0CE747BB21D9}"/>
              </a:ext>
            </a:extLst>
          </p:cNvPr>
          <p:cNvSpPr>
            <a:spLocks noChangeArrowheads="1"/>
          </p:cNvSpPr>
          <p:nvPr/>
        </p:nvSpPr>
        <p:spPr bwMode="auto">
          <a:xfrm>
            <a:off x="430491" y="47244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1" name="Oval 42">
            <a:extLst>
              <a:ext uri="{FF2B5EF4-FFF2-40B4-BE49-F238E27FC236}">
                <a16:creationId xmlns:a16="http://schemas.microsoft.com/office/drawing/2014/main" id="{C4E2DC4D-BFDF-4521-8BF4-A80D53AB6D13}"/>
              </a:ext>
            </a:extLst>
          </p:cNvPr>
          <p:cNvSpPr>
            <a:spLocks noChangeArrowheads="1"/>
          </p:cNvSpPr>
          <p:nvPr/>
        </p:nvSpPr>
        <p:spPr bwMode="auto">
          <a:xfrm>
            <a:off x="430491" y="41148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2" name="Oval 43">
            <a:extLst>
              <a:ext uri="{FF2B5EF4-FFF2-40B4-BE49-F238E27FC236}">
                <a16:creationId xmlns:a16="http://schemas.microsoft.com/office/drawing/2014/main" id="{76DCA492-753F-43E4-AE62-E97A8E3BCE01}"/>
              </a:ext>
            </a:extLst>
          </p:cNvPr>
          <p:cNvSpPr>
            <a:spLocks noChangeArrowheads="1"/>
          </p:cNvSpPr>
          <p:nvPr/>
        </p:nvSpPr>
        <p:spPr bwMode="auto">
          <a:xfrm>
            <a:off x="430491" y="35814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3" name="Oval 44">
            <a:extLst>
              <a:ext uri="{FF2B5EF4-FFF2-40B4-BE49-F238E27FC236}">
                <a16:creationId xmlns:a16="http://schemas.microsoft.com/office/drawing/2014/main" id="{A60643DA-C3C2-4A44-AC14-5E86AF522A1F}"/>
              </a:ext>
            </a:extLst>
          </p:cNvPr>
          <p:cNvSpPr>
            <a:spLocks noChangeArrowheads="1"/>
          </p:cNvSpPr>
          <p:nvPr/>
        </p:nvSpPr>
        <p:spPr bwMode="auto">
          <a:xfrm>
            <a:off x="3478491" y="53340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4" name="Oval 45">
            <a:extLst>
              <a:ext uri="{FF2B5EF4-FFF2-40B4-BE49-F238E27FC236}">
                <a16:creationId xmlns:a16="http://schemas.microsoft.com/office/drawing/2014/main" id="{A47C8C18-144F-419D-8D64-734F76EC2871}"/>
              </a:ext>
            </a:extLst>
          </p:cNvPr>
          <p:cNvSpPr>
            <a:spLocks noChangeArrowheads="1"/>
          </p:cNvSpPr>
          <p:nvPr/>
        </p:nvSpPr>
        <p:spPr bwMode="auto">
          <a:xfrm>
            <a:off x="3478491" y="47244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5" name="Oval 46">
            <a:extLst>
              <a:ext uri="{FF2B5EF4-FFF2-40B4-BE49-F238E27FC236}">
                <a16:creationId xmlns:a16="http://schemas.microsoft.com/office/drawing/2014/main" id="{2F10F2F9-10FE-4B87-B8C9-43DE2490E424}"/>
              </a:ext>
            </a:extLst>
          </p:cNvPr>
          <p:cNvSpPr>
            <a:spLocks noChangeArrowheads="1"/>
          </p:cNvSpPr>
          <p:nvPr/>
        </p:nvSpPr>
        <p:spPr bwMode="auto">
          <a:xfrm>
            <a:off x="3478491" y="41148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6" name="Oval 47">
            <a:extLst>
              <a:ext uri="{FF2B5EF4-FFF2-40B4-BE49-F238E27FC236}">
                <a16:creationId xmlns:a16="http://schemas.microsoft.com/office/drawing/2014/main" id="{F180E16E-4037-4FCC-A96B-4D860D444B04}"/>
              </a:ext>
            </a:extLst>
          </p:cNvPr>
          <p:cNvSpPr>
            <a:spLocks noChangeArrowheads="1"/>
          </p:cNvSpPr>
          <p:nvPr/>
        </p:nvSpPr>
        <p:spPr bwMode="auto">
          <a:xfrm>
            <a:off x="3478491" y="35814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7" name="Oval 48">
            <a:extLst>
              <a:ext uri="{FF2B5EF4-FFF2-40B4-BE49-F238E27FC236}">
                <a16:creationId xmlns:a16="http://schemas.microsoft.com/office/drawing/2014/main" id="{0EDBA630-F11F-4DFA-9A63-D529CE8D797A}"/>
              </a:ext>
            </a:extLst>
          </p:cNvPr>
          <p:cNvSpPr>
            <a:spLocks noChangeArrowheads="1"/>
          </p:cNvSpPr>
          <p:nvPr/>
        </p:nvSpPr>
        <p:spPr bwMode="auto">
          <a:xfrm>
            <a:off x="430491" y="53340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8" name="Oval 49">
            <a:extLst>
              <a:ext uri="{FF2B5EF4-FFF2-40B4-BE49-F238E27FC236}">
                <a16:creationId xmlns:a16="http://schemas.microsoft.com/office/drawing/2014/main" id="{230B11CB-8308-47FE-B6B3-57402406022F}"/>
              </a:ext>
            </a:extLst>
          </p:cNvPr>
          <p:cNvSpPr>
            <a:spLocks noChangeArrowheads="1"/>
          </p:cNvSpPr>
          <p:nvPr/>
        </p:nvSpPr>
        <p:spPr bwMode="auto">
          <a:xfrm>
            <a:off x="49491" y="3276600"/>
            <a:ext cx="914400" cy="2438400"/>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19" name="Oval 50">
            <a:extLst>
              <a:ext uri="{FF2B5EF4-FFF2-40B4-BE49-F238E27FC236}">
                <a16:creationId xmlns:a16="http://schemas.microsoft.com/office/drawing/2014/main" id="{9B91C1DF-114C-444B-B8F0-2F3E4BCE04FC}"/>
              </a:ext>
            </a:extLst>
          </p:cNvPr>
          <p:cNvSpPr>
            <a:spLocks noChangeArrowheads="1"/>
          </p:cNvSpPr>
          <p:nvPr/>
        </p:nvSpPr>
        <p:spPr bwMode="auto">
          <a:xfrm>
            <a:off x="3097491" y="3276600"/>
            <a:ext cx="914400" cy="2438400"/>
          </a:xfrm>
          <a:prstGeom prst="ellipse">
            <a:avLst/>
          </a:prstGeom>
          <a:noFill/>
          <a:ln w="9525">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20" name="Line 51">
            <a:extLst>
              <a:ext uri="{FF2B5EF4-FFF2-40B4-BE49-F238E27FC236}">
                <a16:creationId xmlns:a16="http://schemas.microsoft.com/office/drawing/2014/main" id="{A1FBB740-6AE0-428A-97E2-30A222D250B0}"/>
              </a:ext>
            </a:extLst>
          </p:cNvPr>
          <p:cNvSpPr>
            <a:spLocks noChangeShapeType="1"/>
          </p:cNvSpPr>
          <p:nvPr/>
        </p:nvSpPr>
        <p:spPr bwMode="auto">
          <a:xfrm>
            <a:off x="506691" y="3657600"/>
            <a:ext cx="3048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1" name="Line 52">
            <a:extLst>
              <a:ext uri="{FF2B5EF4-FFF2-40B4-BE49-F238E27FC236}">
                <a16:creationId xmlns:a16="http://schemas.microsoft.com/office/drawing/2014/main" id="{8EE70EF0-0AC7-4C4B-B77C-216AA92AB33D}"/>
              </a:ext>
            </a:extLst>
          </p:cNvPr>
          <p:cNvSpPr>
            <a:spLocks noChangeShapeType="1"/>
          </p:cNvSpPr>
          <p:nvPr/>
        </p:nvSpPr>
        <p:spPr bwMode="auto">
          <a:xfrm>
            <a:off x="506691" y="3657600"/>
            <a:ext cx="30480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2" name="Line 53">
            <a:extLst>
              <a:ext uri="{FF2B5EF4-FFF2-40B4-BE49-F238E27FC236}">
                <a16:creationId xmlns:a16="http://schemas.microsoft.com/office/drawing/2014/main" id="{90201798-24E1-453E-9E12-8231028EB701}"/>
              </a:ext>
            </a:extLst>
          </p:cNvPr>
          <p:cNvSpPr>
            <a:spLocks noChangeShapeType="1"/>
          </p:cNvSpPr>
          <p:nvPr/>
        </p:nvSpPr>
        <p:spPr bwMode="auto">
          <a:xfrm flipV="1">
            <a:off x="506691" y="3657600"/>
            <a:ext cx="3048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3" name="Line 54">
            <a:extLst>
              <a:ext uri="{FF2B5EF4-FFF2-40B4-BE49-F238E27FC236}">
                <a16:creationId xmlns:a16="http://schemas.microsoft.com/office/drawing/2014/main" id="{0FF99E2E-AB09-4CF3-9C9C-7DC9B748BE1D}"/>
              </a:ext>
            </a:extLst>
          </p:cNvPr>
          <p:cNvSpPr>
            <a:spLocks noChangeShapeType="1"/>
          </p:cNvSpPr>
          <p:nvPr/>
        </p:nvSpPr>
        <p:spPr bwMode="auto">
          <a:xfrm>
            <a:off x="506691" y="4191000"/>
            <a:ext cx="30480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4" name="Line 55">
            <a:extLst>
              <a:ext uri="{FF2B5EF4-FFF2-40B4-BE49-F238E27FC236}">
                <a16:creationId xmlns:a16="http://schemas.microsoft.com/office/drawing/2014/main" id="{8893A428-9462-4209-82F1-54D38EF115F7}"/>
              </a:ext>
            </a:extLst>
          </p:cNvPr>
          <p:cNvSpPr>
            <a:spLocks noChangeShapeType="1"/>
          </p:cNvSpPr>
          <p:nvPr/>
        </p:nvSpPr>
        <p:spPr bwMode="auto">
          <a:xfrm flipV="1">
            <a:off x="506691" y="3657600"/>
            <a:ext cx="3048000" cy="1143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5" name="Line 56">
            <a:extLst>
              <a:ext uri="{FF2B5EF4-FFF2-40B4-BE49-F238E27FC236}">
                <a16:creationId xmlns:a16="http://schemas.microsoft.com/office/drawing/2014/main" id="{B6E9F711-F6F1-46DE-BC31-1AC021EAE27F}"/>
              </a:ext>
            </a:extLst>
          </p:cNvPr>
          <p:cNvSpPr>
            <a:spLocks noChangeShapeType="1"/>
          </p:cNvSpPr>
          <p:nvPr/>
        </p:nvSpPr>
        <p:spPr bwMode="auto">
          <a:xfrm>
            <a:off x="506691" y="4800600"/>
            <a:ext cx="3048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6" name="Line 57">
            <a:extLst>
              <a:ext uri="{FF2B5EF4-FFF2-40B4-BE49-F238E27FC236}">
                <a16:creationId xmlns:a16="http://schemas.microsoft.com/office/drawing/2014/main" id="{D8FB0153-D910-44E9-AF11-C041BB616E2F}"/>
              </a:ext>
            </a:extLst>
          </p:cNvPr>
          <p:cNvSpPr>
            <a:spLocks noChangeShapeType="1"/>
          </p:cNvSpPr>
          <p:nvPr/>
        </p:nvSpPr>
        <p:spPr bwMode="auto">
          <a:xfrm>
            <a:off x="506691" y="5410200"/>
            <a:ext cx="2971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27" name="Text Box 58">
            <a:extLst>
              <a:ext uri="{FF2B5EF4-FFF2-40B4-BE49-F238E27FC236}">
                <a16:creationId xmlns:a16="http://schemas.microsoft.com/office/drawing/2014/main" id="{7FF8CDCF-65DB-47BF-80DE-B4471767402C}"/>
              </a:ext>
            </a:extLst>
          </p:cNvPr>
          <p:cNvSpPr txBox="1">
            <a:spLocks noChangeArrowheads="1"/>
          </p:cNvSpPr>
          <p:nvPr/>
        </p:nvSpPr>
        <p:spPr bwMode="auto">
          <a:xfrm>
            <a:off x="117754" y="2214563"/>
            <a:ext cx="4783682" cy="46166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Is a bipartite graph 2-colourable?</a:t>
            </a:r>
          </a:p>
        </p:txBody>
      </p:sp>
      <p:sp>
        <p:nvSpPr>
          <p:cNvPr id="28" name="Text Box 59">
            <a:extLst>
              <a:ext uri="{FF2B5EF4-FFF2-40B4-BE49-F238E27FC236}">
                <a16:creationId xmlns:a16="http://schemas.microsoft.com/office/drawing/2014/main" id="{7E47D4D1-770E-433D-A3ED-AE209F30DDBC}"/>
              </a:ext>
            </a:extLst>
          </p:cNvPr>
          <p:cNvSpPr txBox="1">
            <a:spLocks noChangeArrowheads="1"/>
          </p:cNvSpPr>
          <p:nvPr/>
        </p:nvSpPr>
        <p:spPr bwMode="auto">
          <a:xfrm>
            <a:off x="4292714" y="5161497"/>
            <a:ext cx="4674909" cy="46307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400" dirty="0"/>
              <a:t>Is a 2-colourable graph bipartite?</a:t>
            </a:r>
          </a:p>
        </p:txBody>
      </p:sp>
      <p:sp>
        <p:nvSpPr>
          <p:cNvPr id="29" name="Oval 60">
            <a:extLst>
              <a:ext uri="{FF2B5EF4-FFF2-40B4-BE49-F238E27FC236}">
                <a16:creationId xmlns:a16="http://schemas.microsoft.com/office/drawing/2014/main" id="{14A26A1A-32F3-4086-BE88-9D0BC5392445}"/>
              </a:ext>
            </a:extLst>
          </p:cNvPr>
          <p:cNvSpPr>
            <a:spLocks noChangeArrowheads="1"/>
          </p:cNvSpPr>
          <p:nvPr/>
        </p:nvSpPr>
        <p:spPr bwMode="auto">
          <a:xfrm>
            <a:off x="4697691" y="20574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0" name="Oval 61">
            <a:extLst>
              <a:ext uri="{FF2B5EF4-FFF2-40B4-BE49-F238E27FC236}">
                <a16:creationId xmlns:a16="http://schemas.microsoft.com/office/drawing/2014/main" id="{7134B810-180A-4D6B-9F8A-5886458AA6DE}"/>
              </a:ext>
            </a:extLst>
          </p:cNvPr>
          <p:cNvSpPr>
            <a:spLocks noChangeArrowheads="1"/>
          </p:cNvSpPr>
          <p:nvPr/>
        </p:nvSpPr>
        <p:spPr bwMode="auto">
          <a:xfrm>
            <a:off x="4697691" y="48006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1" name="Oval 62">
            <a:extLst>
              <a:ext uri="{FF2B5EF4-FFF2-40B4-BE49-F238E27FC236}">
                <a16:creationId xmlns:a16="http://schemas.microsoft.com/office/drawing/2014/main" id="{B5AF3DAD-D159-497F-835F-1EEBE298C1BA}"/>
              </a:ext>
            </a:extLst>
          </p:cNvPr>
          <p:cNvSpPr>
            <a:spLocks noChangeArrowheads="1"/>
          </p:cNvSpPr>
          <p:nvPr/>
        </p:nvSpPr>
        <p:spPr bwMode="auto">
          <a:xfrm>
            <a:off x="5612091" y="38862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2" name="Oval 63">
            <a:extLst>
              <a:ext uri="{FF2B5EF4-FFF2-40B4-BE49-F238E27FC236}">
                <a16:creationId xmlns:a16="http://schemas.microsoft.com/office/drawing/2014/main" id="{CE83B3BD-DDF6-43E1-9C17-38C114B3B20E}"/>
              </a:ext>
            </a:extLst>
          </p:cNvPr>
          <p:cNvSpPr>
            <a:spLocks noChangeArrowheads="1"/>
          </p:cNvSpPr>
          <p:nvPr/>
        </p:nvSpPr>
        <p:spPr bwMode="auto">
          <a:xfrm>
            <a:off x="5612091" y="29718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3" name="Oval 64">
            <a:extLst>
              <a:ext uri="{FF2B5EF4-FFF2-40B4-BE49-F238E27FC236}">
                <a16:creationId xmlns:a16="http://schemas.microsoft.com/office/drawing/2014/main" id="{3470FD74-5A23-4511-84FD-A22C9638E391}"/>
              </a:ext>
            </a:extLst>
          </p:cNvPr>
          <p:cNvSpPr>
            <a:spLocks noChangeArrowheads="1"/>
          </p:cNvSpPr>
          <p:nvPr/>
        </p:nvSpPr>
        <p:spPr bwMode="auto">
          <a:xfrm>
            <a:off x="6526491" y="29718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4" name="Oval 65">
            <a:extLst>
              <a:ext uri="{FF2B5EF4-FFF2-40B4-BE49-F238E27FC236}">
                <a16:creationId xmlns:a16="http://schemas.microsoft.com/office/drawing/2014/main" id="{F4D5CC3E-50AF-42E0-8380-8DD48152F7D5}"/>
              </a:ext>
            </a:extLst>
          </p:cNvPr>
          <p:cNvSpPr>
            <a:spLocks noChangeArrowheads="1"/>
          </p:cNvSpPr>
          <p:nvPr/>
        </p:nvSpPr>
        <p:spPr bwMode="auto">
          <a:xfrm>
            <a:off x="6526491" y="38862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5" name="Oval 66">
            <a:extLst>
              <a:ext uri="{FF2B5EF4-FFF2-40B4-BE49-F238E27FC236}">
                <a16:creationId xmlns:a16="http://schemas.microsoft.com/office/drawing/2014/main" id="{CC8D5050-CA4A-449C-872D-E0F45C2DFEA4}"/>
              </a:ext>
            </a:extLst>
          </p:cNvPr>
          <p:cNvSpPr>
            <a:spLocks noChangeArrowheads="1"/>
          </p:cNvSpPr>
          <p:nvPr/>
        </p:nvSpPr>
        <p:spPr bwMode="auto">
          <a:xfrm>
            <a:off x="7440891" y="48006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6" name="Oval 67">
            <a:extLst>
              <a:ext uri="{FF2B5EF4-FFF2-40B4-BE49-F238E27FC236}">
                <a16:creationId xmlns:a16="http://schemas.microsoft.com/office/drawing/2014/main" id="{05A0CA5C-5EDE-4C57-AB8F-60337C7E77B8}"/>
              </a:ext>
            </a:extLst>
          </p:cNvPr>
          <p:cNvSpPr>
            <a:spLocks noChangeArrowheads="1"/>
          </p:cNvSpPr>
          <p:nvPr/>
        </p:nvSpPr>
        <p:spPr bwMode="auto">
          <a:xfrm>
            <a:off x="7440891" y="20574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37" name="Line 68">
            <a:extLst>
              <a:ext uri="{FF2B5EF4-FFF2-40B4-BE49-F238E27FC236}">
                <a16:creationId xmlns:a16="http://schemas.microsoft.com/office/drawing/2014/main" id="{99BC7253-2381-4169-B659-779B0153AAB6}"/>
              </a:ext>
            </a:extLst>
          </p:cNvPr>
          <p:cNvSpPr>
            <a:spLocks noChangeShapeType="1"/>
          </p:cNvSpPr>
          <p:nvPr/>
        </p:nvSpPr>
        <p:spPr bwMode="auto">
          <a:xfrm>
            <a:off x="4773891" y="2133600"/>
            <a:ext cx="2743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8" name="Line 69">
            <a:extLst>
              <a:ext uri="{FF2B5EF4-FFF2-40B4-BE49-F238E27FC236}">
                <a16:creationId xmlns:a16="http://schemas.microsoft.com/office/drawing/2014/main" id="{81BEE4F2-FDE4-414E-B1C8-371EB2F70D0E}"/>
              </a:ext>
            </a:extLst>
          </p:cNvPr>
          <p:cNvSpPr>
            <a:spLocks noChangeShapeType="1"/>
          </p:cNvSpPr>
          <p:nvPr/>
        </p:nvSpPr>
        <p:spPr bwMode="auto">
          <a:xfrm>
            <a:off x="4773891" y="2133600"/>
            <a:ext cx="0" cy="274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39" name="Line 70">
            <a:extLst>
              <a:ext uri="{FF2B5EF4-FFF2-40B4-BE49-F238E27FC236}">
                <a16:creationId xmlns:a16="http://schemas.microsoft.com/office/drawing/2014/main" id="{E80B3F65-3BCD-449A-9E34-BDB99B4C7C60}"/>
              </a:ext>
            </a:extLst>
          </p:cNvPr>
          <p:cNvSpPr>
            <a:spLocks noChangeShapeType="1"/>
          </p:cNvSpPr>
          <p:nvPr/>
        </p:nvSpPr>
        <p:spPr bwMode="auto">
          <a:xfrm>
            <a:off x="4773891" y="4876800"/>
            <a:ext cx="2743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0" name="Line 71">
            <a:extLst>
              <a:ext uri="{FF2B5EF4-FFF2-40B4-BE49-F238E27FC236}">
                <a16:creationId xmlns:a16="http://schemas.microsoft.com/office/drawing/2014/main" id="{A7F695F2-185F-44D3-A5D7-A552B80172AB}"/>
              </a:ext>
            </a:extLst>
          </p:cNvPr>
          <p:cNvSpPr>
            <a:spLocks noChangeShapeType="1"/>
          </p:cNvSpPr>
          <p:nvPr/>
        </p:nvSpPr>
        <p:spPr bwMode="auto">
          <a:xfrm>
            <a:off x="7517091" y="2133600"/>
            <a:ext cx="0" cy="274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1" name="Line 72">
            <a:extLst>
              <a:ext uri="{FF2B5EF4-FFF2-40B4-BE49-F238E27FC236}">
                <a16:creationId xmlns:a16="http://schemas.microsoft.com/office/drawing/2014/main" id="{0D0FBD76-DC7D-44B1-990A-B377394438AB}"/>
              </a:ext>
            </a:extLst>
          </p:cNvPr>
          <p:cNvSpPr>
            <a:spLocks noChangeShapeType="1"/>
          </p:cNvSpPr>
          <p:nvPr/>
        </p:nvSpPr>
        <p:spPr bwMode="auto">
          <a:xfrm>
            <a:off x="5688291" y="30480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2" name="Line 73">
            <a:extLst>
              <a:ext uri="{FF2B5EF4-FFF2-40B4-BE49-F238E27FC236}">
                <a16:creationId xmlns:a16="http://schemas.microsoft.com/office/drawing/2014/main" id="{3A807BC5-F864-48AE-BE5E-CB319BC3F14A}"/>
              </a:ext>
            </a:extLst>
          </p:cNvPr>
          <p:cNvSpPr>
            <a:spLocks noChangeShapeType="1"/>
          </p:cNvSpPr>
          <p:nvPr/>
        </p:nvSpPr>
        <p:spPr bwMode="auto">
          <a:xfrm>
            <a:off x="5688291" y="3048000"/>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3" name="Line 74">
            <a:extLst>
              <a:ext uri="{FF2B5EF4-FFF2-40B4-BE49-F238E27FC236}">
                <a16:creationId xmlns:a16="http://schemas.microsoft.com/office/drawing/2014/main" id="{784B0119-AB4B-4F5A-B198-CD08712759A1}"/>
              </a:ext>
            </a:extLst>
          </p:cNvPr>
          <p:cNvSpPr>
            <a:spLocks noChangeShapeType="1"/>
          </p:cNvSpPr>
          <p:nvPr/>
        </p:nvSpPr>
        <p:spPr bwMode="auto">
          <a:xfrm>
            <a:off x="6602691" y="30480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4" name="Line 75">
            <a:extLst>
              <a:ext uri="{FF2B5EF4-FFF2-40B4-BE49-F238E27FC236}">
                <a16:creationId xmlns:a16="http://schemas.microsoft.com/office/drawing/2014/main" id="{D3D93632-5E90-45DA-ACFC-2DA2B1091C61}"/>
              </a:ext>
            </a:extLst>
          </p:cNvPr>
          <p:cNvSpPr>
            <a:spLocks noChangeShapeType="1"/>
          </p:cNvSpPr>
          <p:nvPr/>
        </p:nvSpPr>
        <p:spPr bwMode="auto">
          <a:xfrm>
            <a:off x="5688291" y="3962400"/>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5" name="Line 76">
            <a:extLst>
              <a:ext uri="{FF2B5EF4-FFF2-40B4-BE49-F238E27FC236}">
                <a16:creationId xmlns:a16="http://schemas.microsoft.com/office/drawing/2014/main" id="{A675EEA9-CD42-40CB-BE4B-AD6E341D4F22}"/>
              </a:ext>
            </a:extLst>
          </p:cNvPr>
          <p:cNvSpPr>
            <a:spLocks noChangeShapeType="1"/>
          </p:cNvSpPr>
          <p:nvPr/>
        </p:nvSpPr>
        <p:spPr bwMode="auto">
          <a:xfrm>
            <a:off x="4773891" y="2133600"/>
            <a:ext cx="914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6" name="Line 77">
            <a:extLst>
              <a:ext uri="{FF2B5EF4-FFF2-40B4-BE49-F238E27FC236}">
                <a16:creationId xmlns:a16="http://schemas.microsoft.com/office/drawing/2014/main" id="{4E883440-2436-4A25-9029-3183D54B9A16}"/>
              </a:ext>
            </a:extLst>
          </p:cNvPr>
          <p:cNvSpPr>
            <a:spLocks noChangeShapeType="1"/>
          </p:cNvSpPr>
          <p:nvPr/>
        </p:nvSpPr>
        <p:spPr bwMode="auto">
          <a:xfrm flipH="1">
            <a:off x="4773891" y="3962400"/>
            <a:ext cx="914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7" name="Line 78">
            <a:extLst>
              <a:ext uri="{FF2B5EF4-FFF2-40B4-BE49-F238E27FC236}">
                <a16:creationId xmlns:a16="http://schemas.microsoft.com/office/drawing/2014/main" id="{4D63E679-5A86-4583-BE0D-7E61A0519F9D}"/>
              </a:ext>
            </a:extLst>
          </p:cNvPr>
          <p:cNvSpPr>
            <a:spLocks noChangeShapeType="1"/>
          </p:cNvSpPr>
          <p:nvPr/>
        </p:nvSpPr>
        <p:spPr bwMode="auto">
          <a:xfrm flipV="1">
            <a:off x="6602691" y="2133600"/>
            <a:ext cx="914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8" name="Line 79">
            <a:extLst>
              <a:ext uri="{FF2B5EF4-FFF2-40B4-BE49-F238E27FC236}">
                <a16:creationId xmlns:a16="http://schemas.microsoft.com/office/drawing/2014/main" id="{64D0DF70-08A4-4E2B-B12D-62BCAB9A8AC8}"/>
              </a:ext>
            </a:extLst>
          </p:cNvPr>
          <p:cNvSpPr>
            <a:spLocks noChangeShapeType="1"/>
          </p:cNvSpPr>
          <p:nvPr/>
        </p:nvSpPr>
        <p:spPr bwMode="auto">
          <a:xfrm>
            <a:off x="6602691" y="3962400"/>
            <a:ext cx="91440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00"/>
          </a:p>
        </p:txBody>
      </p:sp>
      <p:sp>
        <p:nvSpPr>
          <p:cNvPr id="49" name="Oval 80">
            <a:extLst>
              <a:ext uri="{FF2B5EF4-FFF2-40B4-BE49-F238E27FC236}">
                <a16:creationId xmlns:a16="http://schemas.microsoft.com/office/drawing/2014/main" id="{DBD0BA94-21C0-4243-B396-4BEDDA5EC12A}"/>
              </a:ext>
            </a:extLst>
          </p:cNvPr>
          <p:cNvSpPr>
            <a:spLocks noChangeArrowheads="1"/>
          </p:cNvSpPr>
          <p:nvPr/>
        </p:nvSpPr>
        <p:spPr bwMode="auto">
          <a:xfrm>
            <a:off x="4697691" y="20574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0" name="Oval 81">
            <a:extLst>
              <a:ext uri="{FF2B5EF4-FFF2-40B4-BE49-F238E27FC236}">
                <a16:creationId xmlns:a16="http://schemas.microsoft.com/office/drawing/2014/main" id="{2A98CC09-2835-491E-8278-60CECE44581D}"/>
              </a:ext>
            </a:extLst>
          </p:cNvPr>
          <p:cNvSpPr>
            <a:spLocks noChangeArrowheads="1"/>
          </p:cNvSpPr>
          <p:nvPr/>
        </p:nvSpPr>
        <p:spPr bwMode="auto">
          <a:xfrm>
            <a:off x="4697691" y="48006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1" name="Oval 82">
            <a:extLst>
              <a:ext uri="{FF2B5EF4-FFF2-40B4-BE49-F238E27FC236}">
                <a16:creationId xmlns:a16="http://schemas.microsoft.com/office/drawing/2014/main" id="{E2D62342-B3CD-4F0D-932A-D6641799E13D}"/>
              </a:ext>
            </a:extLst>
          </p:cNvPr>
          <p:cNvSpPr>
            <a:spLocks noChangeArrowheads="1"/>
          </p:cNvSpPr>
          <p:nvPr/>
        </p:nvSpPr>
        <p:spPr bwMode="auto">
          <a:xfrm>
            <a:off x="5612091" y="38862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2" name="Oval 83">
            <a:extLst>
              <a:ext uri="{FF2B5EF4-FFF2-40B4-BE49-F238E27FC236}">
                <a16:creationId xmlns:a16="http://schemas.microsoft.com/office/drawing/2014/main" id="{26F8B743-19F7-44D1-9B46-131A51C6D9A5}"/>
              </a:ext>
            </a:extLst>
          </p:cNvPr>
          <p:cNvSpPr>
            <a:spLocks noChangeArrowheads="1"/>
          </p:cNvSpPr>
          <p:nvPr/>
        </p:nvSpPr>
        <p:spPr bwMode="auto">
          <a:xfrm>
            <a:off x="5612091" y="29718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3" name="Oval 84">
            <a:extLst>
              <a:ext uri="{FF2B5EF4-FFF2-40B4-BE49-F238E27FC236}">
                <a16:creationId xmlns:a16="http://schemas.microsoft.com/office/drawing/2014/main" id="{5C4988C1-42EF-4208-8724-2B822E06D9CB}"/>
              </a:ext>
            </a:extLst>
          </p:cNvPr>
          <p:cNvSpPr>
            <a:spLocks noChangeArrowheads="1"/>
          </p:cNvSpPr>
          <p:nvPr/>
        </p:nvSpPr>
        <p:spPr bwMode="auto">
          <a:xfrm>
            <a:off x="6526491" y="29718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4" name="Oval 85">
            <a:extLst>
              <a:ext uri="{FF2B5EF4-FFF2-40B4-BE49-F238E27FC236}">
                <a16:creationId xmlns:a16="http://schemas.microsoft.com/office/drawing/2014/main" id="{107E97BF-93F7-4160-AF40-DB796216B081}"/>
              </a:ext>
            </a:extLst>
          </p:cNvPr>
          <p:cNvSpPr>
            <a:spLocks noChangeArrowheads="1"/>
          </p:cNvSpPr>
          <p:nvPr/>
        </p:nvSpPr>
        <p:spPr bwMode="auto">
          <a:xfrm>
            <a:off x="6526491" y="38862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5" name="Oval 86">
            <a:extLst>
              <a:ext uri="{FF2B5EF4-FFF2-40B4-BE49-F238E27FC236}">
                <a16:creationId xmlns:a16="http://schemas.microsoft.com/office/drawing/2014/main" id="{5255D987-B787-406A-8431-7DC024E97F8C}"/>
              </a:ext>
            </a:extLst>
          </p:cNvPr>
          <p:cNvSpPr>
            <a:spLocks noChangeArrowheads="1"/>
          </p:cNvSpPr>
          <p:nvPr/>
        </p:nvSpPr>
        <p:spPr bwMode="auto">
          <a:xfrm>
            <a:off x="7440891" y="4800600"/>
            <a:ext cx="152400" cy="152400"/>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6" name="Oval 87">
            <a:extLst>
              <a:ext uri="{FF2B5EF4-FFF2-40B4-BE49-F238E27FC236}">
                <a16:creationId xmlns:a16="http://schemas.microsoft.com/office/drawing/2014/main" id="{A90F3531-7F83-4C95-B308-73CDF3B1C26B}"/>
              </a:ext>
            </a:extLst>
          </p:cNvPr>
          <p:cNvSpPr>
            <a:spLocks noChangeArrowheads="1"/>
          </p:cNvSpPr>
          <p:nvPr/>
        </p:nvSpPr>
        <p:spPr bwMode="auto">
          <a:xfrm>
            <a:off x="7440891" y="2057400"/>
            <a:ext cx="152400" cy="152400"/>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p>
        </p:txBody>
      </p:sp>
      <p:sp>
        <p:nvSpPr>
          <p:cNvPr id="57" name="Text Box 88">
            <a:extLst>
              <a:ext uri="{FF2B5EF4-FFF2-40B4-BE49-F238E27FC236}">
                <a16:creationId xmlns:a16="http://schemas.microsoft.com/office/drawing/2014/main" id="{9750F513-2156-469C-A6F6-7EAE32A6D835}"/>
              </a:ext>
            </a:extLst>
          </p:cNvPr>
          <p:cNvSpPr txBox="1">
            <a:spLocks noChangeArrowheads="1"/>
          </p:cNvSpPr>
          <p:nvPr/>
        </p:nvSpPr>
        <p:spPr bwMode="auto">
          <a:xfrm>
            <a:off x="911550" y="6251968"/>
            <a:ext cx="7724681" cy="400110"/>
          </a:xfrm>
          <a:prstGeom prst="rect">
            <a:avLst/>
          </a:prstGeom>
          <a:solidFill>
            <a:srgbClr val="CCCCFF"/>
          </a:solidFill>
          <a:ln w="9525">
            <a:solidFill>
              <a:schemeClr val="bg2"/>
            </a:solidFill>
            <a:miter lim="800000"/>
            <a:headEnd/>
            <a:tailEnd/>
          </a:ln>
          <a:effectLst>
            <a:outerShdw blurRad="63500" sx="102000" sy="102000" algn="ctr" rotWithShape="0">
              <a:prstClr val="black">
                <a:alpha val="40000"/>
              </a:prstClr>
            </a:outerShdw>
          </a:effectLst>
        </p:spPr>
        <p:txBody>
          <a:bodyPr wrap="square">
            <a:spAutoFit/>
          </a:bodyPr>
          <a:lstStyle/>
          <a:p>
            <a:r>
              <a:rPr lang="en-US" altLang="en-US" sz="2000" b="1" dirty="0"/>
              <a:t>Fact.</a:t>
            </a:r>
            <a:r>
              <a:rPr lang="en-US" altLang="en-US" sz="2000" dirty="0"/>
              <a:t>  A graph is 2-colourable if and only if it is bipartite.</a:t>
            </a:r>
          </a:p>
        </p:txBody>
      </p:sp>
      <p:grpSp>
        <p:nvGrpSpPr>
          <p:cNvPr id="58" name="Group 4">
            <a:extLst>
              <a:ext uri="{FF2B5EF4-FFF2-40B4-BE49-F238E27FC236}">
                <a16:creationId xmlns:a16="http://schemas.microsoft.com/office/drawing/2014/main" id="{BB220620-F63E-488E-824C-F8C0AE72285C}"/>
              </a:ext>
            </a:extLst>
          </p:cNvPr>
          <p:cNvGrpSpPr>
            <a:grpSpLocks/>
          </p:cNvGrpSpPr>
          <p:nvPr/>
        </p:nvGrpSpPr>
        <p:grpSpPr bwMode="auto">
          <a:xfrm>
            <a:off x="294759" y="3041095"/>
            <a:ext cx="3548063" cy="2590800"/>
            <a:chOff x="2198" y="3014"/>
            <a:chExt cx="1371" cy="863"/>
          </a:xfrm>
        </p:grpSpPr>
        <p:sp>
          <p:nvSpPr>
            <p:cNvPr id="59" name="Oval 5">
              <a:extLst>
                <a:ext uri="{FF2B5EF4-FFF2-40B4-BE49-F238E27FC236}">
                  <a16:creationId xmlns:a16="http://schemas.microsoft.com/office/drawing/2014/main" id="{7F0A4DEB-629E-46D3-A6B4-A6C7C26C8A1F}"/>
                </a:ext>
              </a:extLst>
            </p:cNvPr>
            <p:cNvSpPr>
              <a:spLocks noChangeAspect="1" noChangeArrowheads="1"/>
            </p:cNvSpPr>
            <p:nvPr/>
          </p:nvSpPr>
          <p:spPr bwMode="auto">
            <a:xfrm>
              <a:off x="2198" y="3014"/>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60" name="Line 6">
              <a:extLst>
                <a:ext uri="{FF2B5EF4-FFF2-40B4-BE49-F238E27FC236}">
                  <a16:creationId xmlns:a16="http://schemas.microsoft.com/office/drawing/2014/main" id="{A8BFF787-0A87-4DD5-A997-0484EBBC7C71}"/>
                </a:ext>
              </a:extLst>
            </p:cNvPr>
            <p:cNvSpPr>
              <a:spLocks noChangeShapeType="1"/>
            </p:cNvSpPr>
            <p:nvPr/>
          </p:nvSpPr>
          <p:spPr bwMode="auto">
            <a:xfrm>
              <a:off x="2239" y="3041"/>
              <a:ext cx="0"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1" name="Line 7">
              <a:extLst>
                <a:ext uri="{FF2B5EF4-FFF2-40B4-BE49-F238E27FC236}">
                  <a16:creationId xmlns:a16="http://schemas.microsoft.com/office/drawing/2014/main" id="{5E8D5D0D-141B-41CF-9952-79C7C6833A8F}"/>
                </a:ext>
              </a:extLst>
            </p:cNvPr>
            <p:cNvSpPr>
              <a:spLocks noChangeShapeType="1"/>
            </p:cNvSpPr>
            <p:nvPr/>
          </p:nvSpPr>
          <p:spPr bwMode="auto">
            <a:xfrm>
              <a:off x="3541" y="3041"/>
              <a:ext cx="0"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2" name="Line 8">
              <a:extLst>
                <a:ext uri="{FF2B5EF4-FFF2-40B4-BE49-F238E27FC236}">
                  <a16:creationId xmlns:a16="http://schemas.microsoft.com/office/drawing/2014/main" id="{AA3F867F-D4D9-4386-94EC-B7C69849D693}"/>
                </a:ext>
              </a:extLst>
            </p:cNvPr>
            <p:cNvSpPr>
              <a:spLocks noChangeShapeType="1"/>
            </p:cNvSpPr>
            <p:nvPr/>
          </p:nvSpPr>
          <p:spPr bwMode="auto">
            <a:xfrm>
              <a:off x="2239" y="3041"/>
              <a:ext cx="1302"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3" name="Line 9">
              <a:extLst>
                <a:ext uri="{FF2B5EF4-FFF2-40B4-BE49-F238E27FC236}">
                  <a16:creationId xmlns:a16="http://schemas.microsoft.com/office/drawing/2014/main" id="{59CC618F-0CD7-4C3C-97B1-06527243EAE5}"/>
                </a:ext>
              </a:extLst>
            </p:cNvPr>
            <p:cNvSpPr>
              <a:spLocks noChangeShapeType="1"/>
            </p:cNvSpPr>
            <p:nvPr/>
          </p:nvSpPr>
          <p:spPr bwMode="auto">
            <a:xfrm flipV="1">
              <a:off x="2239" y="3041"/>
              <a:ext cx="1302"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4" name="Line 10">
              <a:extLst>
                <a:ext uri="{FF2B5EF4-FFF2-40B4-BE49-F238E27FC236}">
                  <a16:creationId xmlns:a16="http://schemas.microsoft.com/office/drawing/2014/main" id="{98575DF0-087C-4BF7-8CF3-02626F128778}"/>
                </a:ext>
              </a:extLst>
            </p:cNvPr>
            <p:cNvSpPr>
              <a:spLocks noChangeShapeType="1"/>
            </p:cNvSpPr>
            <p:nvPr/>
          </p:nvSpPr>
          <p:spPr bwMode="auto">
            <a:xfrm>
              <a:off x="2890" y="3041"/>
              <a:ext cx="0"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5" name="Line 11">
              <a:extLst>
                <a:ext uri="{FF2B5EF4-FFF2-40B4-BE49-F238E27FC236}">
                  <a16:creationId xmlns:a16="http://schemas.microsoft.com/office/drawing/2014/main" id="{8C7253A2-B997-4F7D-9002-A877784C343D}"/>
                </a:ext>
              </a:extLst>
            </p:cNvPr>
            <p:cNvSpPr>
              <a:spLocks noChangeShapeType="1"/>
            </p:cNvSpPr>
            <p:nvPr/>
          </p:nvSpPr>
          <p:spPr bwMode="auto">
            <a:xfrm flipH="1">
              <a:off x="2239" y="3041"/>
              <a:ext cx="651"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6" name="Line 12">
              <a:extLst>
                <a:ext uri="{FF2B5EF4-FFF2-40B4-BE49-F238E27FC236}">
                  <a16:creationId xmlns:a16="http://schemas.microsoft.com/office/drawing/2014/main" id="{71010126-E4E9-4182-9140-4F50E9E8CE34}"/>
                </a:ext>
              </a:extLst>
            </p:cNvPr>
            <p:cNvSpPr>
              <a:spLocks noChangeShapeType="1"/>
            </p:cNvSpPr>
            <p:nvPr/>
          </p:nvSpPr>
          <p:spPr bwMode="auto">
            <a:xfrm>
              <a:off x="2890" y="3041"/>
              <a:ext cx="651"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7" name="Line 13">
              <a:extLst>
                <a:ext uri="{FF2B5EF4-FFF2-40B4-BE49-F238E27FC236}">
                  <a16:creationId xmlns:a16="http://schemas.microsoft.com/office/drawing/2014/main" id="{5A4F66A9-ECBB-4B34-8206-E609B54A7324}"/>
                </a:ext>
              </a:extLst>
            </p:cNvPr>
            <p:cNvSpPr>
              <a:spLocks noChangeShapeType="1"/>
            </p:cNvSpPr>
            <p:nvPr/>
          </p:nvSpPr>
          <p:spPr bwMode="auto">
            <a:xfrm flipH="1" flipV="1">
              <a:off x="2239" y="3041"/>
              <a:ext cx="651"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8" name="Line 14">
              <a:extLst>
                <a:ext uri="{FF2B5EF4-FFF2-40B4-BE49-F238E27FC236}">
                  <a16:creationId xmlns:a16="http://schemas.microsoft.com/office/drawing/2014/main" id="{4A7BFABE-BE5F-4ECA-B06C-6E6FBBC7043C}"/>
                </a:ext>
              </a:extLst>
            </p:cNvPr>
            <p:cNvSpPr>
              <a:spLocks noChangeShapeType="1"/>
            </p:cNvSpPr>
            <p:nvPr/>
          </p:nvSpPr>
          <p:spPr bwMode="auto">
            <a:xfrm flipV="1">
              <a:off x="2890" y="3041"/>
              <a:ext cx="651"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69" name="Oval 15">
              <a:extLst>
                <a:ext uri="{FF2B5EF4-FFF2-40B4-BE49-F238E27FC236}">
                  <a16:creationId xmlns:a16="http://schemas.microsoft.com/office/drawing/2014/main" id="{2191ABF6-170A-4E02-88FE-2DC2AF097747}"/>
                </a:ext>
              </a:extLst>
            </p:cNvPr>
            <p:cNvSpPr>
              <a:spLocks noChangeAspect="1" noChangeArrowheads="1"/>
            </p:cNvSpPr>
            <p:nvPr/>
          </p:nvSpPr>
          <p:spPr bwMode="auto">
            <a:xfrm>
              <a:off x="2860" y="3014"/>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70" name="Oval 16">
              <a:extLst>
                <a:ext uri="{FF2B5EF4-FFF2-40B4-BE49-F238E27FC236}">
                  <a16:creationId xmlns:a16="http://schemas.microsoft.com/office/drawing/2014/main" id="{9BBD6EFF-F2E4-45E1-80FE-945E63AE74A6}"/>
                </a:ext>
              </a:extLst>
            </p:cNvPr>
            <p:cNvSpPr>
              <a:spLocks noChangeAspect="1" noChangeArrowheads="1"/>
            </p:cNvSpPr>
            <p:nvPr/>
          </p:nvSpPr>
          <p:spPr bwMode="auto">
            <a:xfrm>
              <a:off x="3494" y="3014"/>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71" name="Oval 17">
              <a:extLst>
                <a:ext uri="{FF2B5EF4-FFF2-40B4-BE49-F238E27FC236}">
                  <a16:creationId xmlns:a16="http://schemas.microsoft.com/office/drawing/2014/main" id="{6A7CDEE8-F857-4385-8846-1892391FE0BF}"/>
                </a:ext>
              </a:extLst>
            </p:cNvPr>
            <p:cNvSpPr>
              <a:spLocks noChangeAspect="1" noChangeArrowheads="1"/>
            </p:cNvSpPr>
            <p:nvPr/>
          </p:nvSpPr>
          <p:spPr bwMode="auto">
            <a:xfrm>
              <a:off x="2198" y="3802"/>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72" name="Oval 18">
              <a:extLst>
                <a:ext uri="{FF2B5EF4-FFF2-40B4-BE49-F238E27FC236}">
                  <a16:creationId xmlns:a16="http://schemas.microsoft.com/office/drawing/2014/main" id="{C8F75F19-34F8-461A-9623-B906ECE32AA5}"/>
                </a:ext>
              </a:extLst>
            </p:cNvPr>
            <p:cNvSpPr>
              <a:spLocks noChangeAspect="1" noChangeArrowheads="1"/>
            </p:cNvSpPr>
            <p:nvPr/>
          </p:nvSpPr>
          <p:spPr bwMode="auto">
            <a:xfrm>
              <a:off x="2860" y="3792"/>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73" name="Oval 19">
              <a:extLst>
                <a:ext uri="{FF2B5EF4-FFF2-40B4-BE49-F238E27FC236}">
                  <a16:creationId xmlns:a16="http://schemas.microsoft.com/office/drawing/2014/main" id="{0967D758-9D63-4ABE-B7DC-7BF9DCBDCEA5}"/>
                </a:ext>
              </a:extLst>
            </p:cNvPr>
            <p:cNvSpPr>
              <a:spLocks noChangeAspect="1" noChangeArrowheads="1"/>
            </p:cNvSpPr>
            <p:nvPr/>
          </p:nvSpPr>
          <p:spPr bwMode="auto">
            <a:xfrm>
              <a:off x="3494" y="3802"/>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grpSp>
      <p:grpSp>
        <p:nvGrpSpPr>
          <p:cNvPr id="74" name="Group 4">
            <a:extLst>
              <a:ext uri="{FF2B5EF4-FFF2-40B4-BE49-F238E27FC236}">
                <a16:creationId xmlns:a16="http://schemas.microsoft.com/office/drawing/2014/main" id="{515D2B5B-8756-46A7-AE88-66347E6A8C30}"/>
              </a:ext>
            </a:extLst>
          </p:cNvPr>
          <p:cNvGrpSpPr>
            <a:grpSpLocks/>
          </p:cNvGrpSpPr>
          <p:nvPr/>
        </p:nvGrpSpPr>
        <p:grpSpPr bwMode="auto">
          <a:xfrm rot="16200000">
            <a:off x="447159" y="3193495"/>
            <a:ext cx="3548063" cy="2590800"/>
            <a:chOff x="2198" y="3014"/>
            <a:chExt cx="1371" cy="863"/>
          </a:xfrm>
        </p:grpSpPr>
        <p:sp>
          <p:nvSpPr>
            <p:cNvPr id="75" name="Oval 5">
              <a:extLst>
                <a:ext uri="{FF2B5EF4-FFF2-40B4-BE49-F238E27FC236}">
                  <a16:creationId xmlns:a16="http://schemas.microsoft.com/office/drawing/2014/main" id="{3021BC66-8B31-40F3-B5CA-7CCB00A8F161}"/>
                </a:ext>
              </a:extLst>
            </p:cNvPr>
            <p:cNvSpPr>
              <a:spLocks noChangeAspect="1" noChangeArrowheads="1"/>
            </p:cNvSpPr>
            <p:nvPr/>
          </p:nvSpPr>
          <p:spPr bwMode="auto">
            <a:xfrm>
              <a:off x="2198" y="3014"/>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76" name="Line 6">
              <a:extLst>
                <a:ext uri="{FF2B5EF4-FFF2-40B4-BE49-F238E27FC236}">
                  <a16:creationId xmlns:a16="http://schemas.microsoft.com/office/drawing/2014/main" id="{34E8D4F4-F2C0-4F89-BA1C-C9985CEFE8AD}"/>
                </a:ext>
              </a:extLst>
            </p:cNvPr>
            <p:cNvSpPr>
              <a:spLocks noChangeShapeType="1"/>
            </p:cNvSpPr>
            <p:nvPr/>
          </p:nvSpPr>
          <p:spPr bwMode="auto">
            <a:xfrm>
              <a:off x="2239" y="3041"/>
              <a:ext cx="0"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77" name="Line 7">
              <a:extLst>
                <a:ext uri="{FF2B5EF4-FFF2-40B4-BE49-F238E27FC236}">
                  <a16:creationId xmlns:a16="http://schemas.microsoft.com/office/drawing/2014/main" id="{58F16682-FF64-45D0-8D37-998F16175A5B}"/>
                </a:ext>
              </a:extLst>
            </p:cNvPr>
            <p:cNvSpPr>
              <a:spLocks noChangeShapeType="1"/>
            </p:cNvSpPr>
            <p:nvPr/>
          </p:nvSpPr>
          <p:spPr bwMode="auto">
            <a:xfrm>
              <a:off x="3541" y="3041"/>
              <a:ext cx="0"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78" name="Line 8">
              <a:extLst>
                <a:ext uri="{FF2B5EF4-FFF2-40B4-BE49-F238E27FC236}">
                  <a16:creationId xmlns:a16="http://schemas.microsoft.com/office/drawing/2014/main" id="{1A4EAB8A-0675-40CB-B538-F1D53FBD851D}"/>
                </a:ext>
              </a:extLst>
            </p:cNvPr>
            <p:cNvSpPr>
              <a:spLocks noChangeShapeType="1"/>
            </p:cNvSpPr>
            <p:nvPr/>
          </p:nvSpPr>
          <p:spPr bwMode="auto">
            <a:xfrm>
              <a:off x="2239" y="3041"/>
              <a:ext cx="1302"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79" name="Line 9">
              <a:extLst>
                <a:ext uri="{FF2B5EF4-FFF2-40B4-BE49-F238E27FC236}">
                  <a16:creationId xmlns:a16="http://schemas.microsoft.com/office/drawing/2014/main" id="{926437DF-69B3-425C-AE02-6C4A98661652}"/>
                </a:ext>
              </a:extLst>
            </p:cNvPr>
            <p:cNvSpPr>
              <a:spLocks noChangeShapeType="1"/>
            </p:cNvSpPr>
            <p:nvPr/>
          </p:nvSpPr>
          <p:spPr bwMode="auto">
            <a:xfrm flipV="1">
              <a:off x="2239" y="3041"/>
              <a:ext cx="1302"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80" name="Line 10">
              <a:extLst>
                <a:ext uri="{FF2B5EF4-FFF2-40B4-BE49-F238E27FC236}">
                  <a16:creationId xmlns:a16="http://schemas.microsoft.com/office/drawing/2014/main" id="{B7846B28-405C-4822-B64A-3EBCE135443E}"/>
                </a:ext>
              </a:extLst>
            </p:cNvPr>
            <p:cNvSpPr>
              <a:spLocks noChangeShapeType="1"/>
            </p:cNvSpPr>
            <p:nvPr/>
          </p:nvSpPr>
          <p:spPr bwMode="auto">
            <a:xfrm>
              <a:off x="2890" y="3041"/>
              <a:ext cx="0"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81" name="Line 11">
              <a:extLst>
                <a:ext uri="{FF2B5EF4-FFF2-40B4-BE49-F238E27FC236}">
                  <a16:creationId xmlns:a16="http://schemas.microsoft.com/office/drawing/2014/main" id="{AA295EF5-9553-4067-A92C-E8E23BF6C8AF}"/>
                </a:ext>
              </a:extLst>
            </p:cNvPr>
            <p:cNvSpPr>
              <a:spLocks noChangeShapeType="1"/>
            </p:cNvSpPr>
            <p:nvPr/>
          </p:nvSpPr>
          <p:spPr bwMode="auto">
            <a:xfrm flipH="1">
              <a:off x="2239" y="3041"/>
              <a:ext cx="651"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82" name="Line 12">
              <a:extLst>
                <a:ext uri="{FF2B5EF4-FFF2-40B4-BE49-F238E27FC236}">
                  <a16:creationId xmlns:a16="http://schemas.microsoft.com/office/drawing/2014/main" id="{3721BEBD-DF92-43AB-8951-13D4F37B57F9}"/>
                </a:ext>
              </a:extLst>
            </p:cNvPr>
            <p:cNvSpPr>
              <a:spLocks noChangeShapeType="1"/>
            </p:cNvSpPr>
            <p:nvPr/>
          </p:nvSpPr>
          <p:spPr bwMode="auto">
            <a:xfrm>
              <a:off x="2890" y="3041"/>
              <a:ext cx="651"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83" name="Line 13">
              <a:extLst>
                <a:ext uri="{FF2B5EF4-FFF2-40B4-BE49-F238E27FC236}">
                  <a16:creationId xmlns:a16="http://schemas.microsoft.com/office/drawing/2014/main" id="{4F26A53F-E4D7-4A4C-939E-A18090E3FF2C}"/>
                </a:ext>
              </a:extLst>
            </p:cNvPr>
            <p:cNvSpPr>
              <a:spLocks noChangeShapeType="1"/>
            </p:cNvSpPr>
            <p:nvPr/>
          </p:nvSpPr>
          <p:spPr bwMode="auto">
            <a:xfrm flipH="1" flipV="1">
              <a:off x="2239" y="3041"/>
              <a:ext cx="651"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84" name="Line 14">
              <a:extLst>
                <a:ext uri="{FF2B5EF4-FFF2-40B4-BE49-F238E27FC236}">
                  <a16:creationId xmlns:a16="http://schemas.microsoft.com/office/drawing/2014/main" id="{785160D7-9B22-41E7-BE41-E86E402F90FF}"/>
                </a:ext>
              </a:extLst>
            </p:cNvPr>
            <p:cNvSpPr>
              <a:spLocks noChangeShapeType="1"/>
            </p:cNvSpPr>
            <p:nvPr/>
          </p:nvSpPr>
          <p:spPr bwMode="auto">
            <a:xfrm flipV="1">
              <a:off x="2890" y="3041"/>
              <a:ext cx="651" cy="798"/>
            </a:xfrm>
            <a:prstGeom prst="line">
              <a:avLst/>
            </a:prstGeom>
            <a:noFill/>
            <a:ln w="25400">
              <a:solidFill>
                <a:schemeClr val="tx1"/>
              </a:solidFill>
              <a:miter lim="800000"/>
              <a:headEnd/>
              <a:tailEnd/>
            </a:ln>
            <a:extLst>
              <a:ext uri="{909E8E84-426E-40DD-AFC4-6F175D3DCCD1}">
                <a14:hiddenFill xmlns:a14="http://schemas.microsoft.com/office/drawing/2010/main">
                  <a:noFill/>
                </a14:hiddenFill>
              </a:ext>
            </a:extLst>
          </p:spPr>
          <p:txBody>
            <a:bodyPr wrap="none" anchor="ctr"/>
            <a:lstStyle/>
            <a:p>
              <a:endParaRPr lang="en-IN" sz="2400"/>
            </a:p>
          </p:txBody>
        </p:sp>
        <p:sp>
          <p:nvSpPr>
            <p:cNvPr id="85" name="Oval 15">
              <a:extLst>
                <a:ext uri="{FF2B5EF4-FFF2-40B4-BE49-F238E27FC236}">
                  <a16:creationId xmlns:a16="http://schemas.microsoft.com/office/drawing/2014/main" id="{3097C4FB-01BF-4DD3-9BD0-D614FDE867CF}"/>
                </a:ext>
              </a:extLst>
            </p:cNvPr>
            <p:cNvSpPr>
              <a:spLocks noChangeAspect="1" noChangeArrowheads="1"/>
            </p:cNvSpPr>
            <p:nvPr/>
          </p:nvSpPr>
          <p:spPr bwMode="auto">
            <a:xfrm>
              <a:off x="2860" y="3014"/>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86" name="Oval 16">
              <a:extLst>
                <a:ext uri="{FF2B5EF4-FFF2-40B4-BE49-F238E27FC236}">
                  <a16:creationId xmlns:a16="http://schemas.microsoft.com/office/drawing/2014/main" id="{5CBD059E-4AFD-4D4D-A628-F05EF350932E}"/>
                </a:ext>
              </a:extLst>
            </p:cNvPr>
            <p:cNvSpPr>
              <a:spLocks noChangeAspect="1" noChangeArrowheads="1"/>
            </p:cNvSpPr>
            <p:nvPr/>
          </p:nvSpPr>
          <p:spPr bwMode="auto">
            <a:xfrm>
              <a:off x="3494" y="3014"/>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87" name="Oval 17">
              <a:extLst>
                <a:ext uri="{FF2B5EF4-FFF2-40B4-BE49-F238E27FC236}">
                  <a16:creationId xmlns:a16="http://schemas.microsoft.com/office/drawing/2014/main" id="{1B44A89D-1B7C-4122-822A-43D627CAB1B9}"/>
                </a:ext>
              </a:extLst>
            </p:cNvPr>
            <p:cNvSpPr>
              <a:spLocks noChangeAspect="1" noChangeArrowheads="1"/>
            </p:cNvSpPr>
            <p:nvPr/>
          </p:nvSpPr>
          <p:spPr bwMode="auto">
            <a:xfrm>
              <a:off x="2198" y="3802"/>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88" name="Oval 18">
              <a:extLst>
                <a:ext uri="{FF2B5EF4-FFF2-40B4-BE49-F238E27FC236}">
                  <a16:creationId xmlns:a16="http://schemas.microsoft.com/office/drawing/2014/main" id="{9B800224-8D25-458D-8EE1-B0318AF686F8}"/>
                </a:ext>
              </a:extLst>
            </p:cNvPr>
            <p:cNvSpPr>
              <a:spLocks noChangeAspect="1" noChangeArrowheads="1"/>
            </p:cNvSpPr>
            <p:nvPr/>
          </p:nvSpPr>
          <p:spPr bwMode="auto">
            <a:xfrm>
              <a:off x="2860" y="3792"/>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sp>
          <p:nvSpPr>
            <p:cNvPr id="89" name="Oval 19">
              <a:extLst>
                <a:ext uri="{FF2B5EF4-FFF2-40B4-BE49-F238E27FC236}">
                  <a16:creationId xmlns:a16="http://schemas.microsoft.com/office/drawing/2014/main" id="{B6605E9D-EC3A-4FC0-B272-34825C2C7546}"/>
                </a:ext>
              </a:extLst>
            </p:cNvPr>
            <p:cNvSpPr>
              <a:spLocks noChangeAspect="1" noChangeArrowheads="1"/>
            </p:cNvSpPr>
            <p:nvPr/>
          </p:nvSpPr>
          <p:spPr bwMode="auto">
            <a:xfrm>
              <a:off x="3494" y="3802"/>
              <a:ext cx="75" cy="75"/>
            </a:xfrm>
            <a:prstGeom prst="ellipse">
              <a:avLst/>
            </a:prstGeom>
            <a:solidFill>
              <a:schemeClr val="tx1"/>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algn="ctr" eaLnBrk="0" fontAlgn="base" hangingPunct="0">
                <a:spcBef>
                  <a:spcPct val="0"/>
                </a:spcBef>
                <a:spcAft>
                  <a:spcPct val="0"/>
                </a:spcAft>
                <a:defRPr>
                  <a:solidFill>
                    <a:schemeClr val="tx1"/>
                  </a:solidFill>
                  <a:latin typeface="Arial" panose="020B0604020202020204" pitchFamily="34" charset="0"/>
                </a:defRPr>
              </a:lvl6pPr>
              <a:lvl7pPr marL="2971800" indent="-228600" algn="ctr" eaLnBrk="0" fontAlgn="base" hangingPunct="0">
                <a:spcBef>
                  <a:spcPct val="0"/>
                </a:spcBef>
                <a:spcAft>
                  <a:spcPct val="0"/>
                </a:spcAft>
                <a:defRPr>
                  <a:solidFill>
                    <a:schemeClr val="tx1"/>
                  </a:solidFill>
                  <a:latin typeface="Arial" panose="020B0604020202020204" pitchFamily="34" charset="0"/>
                </a:defRPr>
              </a:lvl7pPr>
              <a:lvl8pPr marL="3429000" indent="-228600" algn="ctr" eaLnBrk="0" fontAlgn="base" hangingPunct="0">
                <a:spcBef>
                  <a:spcPct val="0"/>
                </a:spcBef>
                <a:spcAft>
                  <a:spcPct val="0"/>
                </a:spcAft>
                <a:defRPr>
                  <a:solidFill>
                    <a:schemeClr val="tx1"/>
                  </a:solidFill>
                  <a:latin typeface="Arial" panose="020B0604020202020204" pitchFamily="34" charset="0"/>
                </a:defRPr>
              </a:lvl8pPr>
              <a:lvl9pPr marL="3886200" indent="-228600" algn="ctr"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mn-lt"/>
              </a:endParaRPr>
            </a:p>
          </p:txBody>
        </p:sp>
      </p:grpSp>
    </p:spTree>
    <p:extLst>
      <p:ext uri="{BB962C8B-B14F-4D97-AF65-F5344CB8AC3E}">
        <p14:creationId xmlns:p14="http://schemas.microsoft.com/office/powerpoint/2010/main" val="369362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 calcmode="lin" valueType="num">
                                      <p:cBhvr>
                                        <p:cTn id="12" dur="1000" fill="hold"/>
                                        <p:tgtEl>
                                          <p:spTgt spid="58"/>
                                        </p:tgtEl>
                                        <p:attrNameLst>
                                          <p:attrName>ppt_w</p:attrName>
                                        </p:attrNameLst>
                                      </p:cBhvr>
                                      <p:tavLst>
                                        <p:tav tm="0">
                                          <p:val>
                                            <p:fltVal val="0"/>
                                          </p:val>
                                        </p:tav>
                                        <p:tav tm="100000">
                                          <p:val>
                                            <p:strVal val="#ppt_w"/>
                                          </p:val>
                                        </p:tav>
                                      </p:tavLst>
                                    </p:anim>
                                    <p:anim calcmode="lin" valueType="num">
                                      <p:cBhvr>
                                        <p:cTn id="13" dur="1000" fill="hold"/>
                                        <p:tgtEl>
                                          <p:spTgt spid="58"/>
                                        </p:tgtEl>
                                        <p:attrNameLst>
                                          <p:attrName>ppt_h</p:attrName>
                                        </p:attrNameLst>
                                      </p:cBhvr>
                                      <p:tavLst>
                                        <p:tav tm="0">
                                          <p:val>
                                            <p:fltVal val="0"/>
                                          </p:val>
                                        </p:tav>
                                        <p:tav tm="100000">
                                          <p:val>
                                            <p:strVal val="#ppt_h"/>
                                          </p:val>
                                        </p:tav>
                                      </p:tavLst>
                                    </p:anim>
                                    <p:anim calcmode="lin" valueType="num">
                                      <p:cBhvr>
                                        <p:cTn id="14" dur="1000" fill="hold"/>
                                        <p:tgtEl>
                                          <p:spTgt spid="58"/>
                                        </p:tgtEl>
                                        <p:attrNameLst>
                                          <p:attrName>style.rotation</p:attrName>
                                        </p:attrNameLst>
                                      </p:cBhvr>
                                      <p:tavLst>
                                        <p:tav tm="0">
                                          <p:val>
                                            <p:fltVal val="90"/>
                                          </p:val>
                                        </p:tav>
                                        <p:tav tm="100000">
                                          <p:val>
                                            <p:fltVal val="0"/>
                                          </p:val>
                                        </p:tav>
                                      </p:tavLst>
                                    </p:anim>
                                    <p:animEffect transition="in" filter="fade">
                                      <p:cBhvr>
                                        <p:cTn id="15" dur="1000"/>
                                        <p:tgtEl>
                                          <p:spTgt spid="5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58"/>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nodeType="clickEffect">
                                  <p:stCondLst>
                                    <p:cond delay="0"/>
                                  </p:stCondLst>
                                  <p:childTnLst>
                                    <p:set>
                                      <p:cBhvr>
                                        <p:cTn id="23" dur="1" fill="hold">
                                          <p:stCondLst>
                                            <p:cond delay="0"/>
                                          </p:stCondLst>
                                        </p:cTn>
                                        <p:tgtEl>
                                          <p:spTgt spid="74"/>
                                        </p:tgtEl>
                                        <p:attrNameLst>
                                          <p:attrName>style.visibility</p:attrName>
                                        </p:attrNameLst>
                                      </p:cBhvr>
                                      <p:to>
                                        <p:strVal val="visible"/>
                                      </p:to>
                                    </p:set>
                                    <p:anim calcmode="lin" valueType="num">
                                      <p:cBhvr>
                                        <p:cTn id="24" dur="1000" fill="hold"/>
                                        <p:tgtEl>
                                          <p:spTgt spid="74"/>
                                        </p:tgtEl>
                                        <p:attrNameLst>
                                          <p:attrName>ppt_w</p:attrName>
                                        </p:attrNameLst>
                                      </p:cBhvr>
                                      <p:tavLst>
                                        <p:tav tm="0">
                                          <p:val>
                                            <p:fltVal val="0"/>
                                          </p:val>
                                        </p:tav>
                                        <p:tav tm="100000">
                                          <p:val>
                                            <p:strVal val="#ppt_w"/>
                                          </p:val>
                                        </p:tav>
                                      </p:tavLst>
                                    </p:anim>
                                    <p:anim calcmode="lin" valueType="num">
                                      <p:cBhvr>
                                        <p:cTn id="25" dur="1000" fill="hold"/>
                                        <p:tgtEl>
                                          <p:spTgt spid="74"/>
                                        </p:tgtEl>
                                        <p:attrNameLst>
                                          <p:attrName>ppt_h</p:attrName>
                                        </p:attrNameLst>
                                      </p:cBhvr>
                                      <p:tavLst>
                                        <p:tav tm="0">
                                          <p:val>
                                            <p:fltVal val="0"/>
                                          </p:val>
                                        </p:tav>
                                        <p:tav tm="100000">
                                          <p:val>
                                            <p:strVal val="#ppt_h"/>
                                          </p:val>
                                        </p:tav>
                                      </p:tavLst>
                                    </p:anim>
                                    <p:anim calcmode="lin" valueType="num">
                                      <p:cBhvr>
                                        <p:cTn id="26" dur="1000" fill="hold"/>
                                        <p:tgtEl>
                                          <p:spTgt spid="74"/>
                                        </p:tgtEl>
                                        <p:attrNameLst>
                                          <p:attrName>style.rotation</p:attrName>
                                        </p:attrNameLst>
                                      </p:cBhvr>
                                      <p:tavLst>
                                        <p:tav tm="0">
                                          <p:val>
                                            <p:fltVal val="90"/>
                                          </p:val>
                                        </p:tav>
                                        <p:tav tm="100000">
                                          <p:val>
                                            <p:fltVal val="0"/>
                                          </p:val>
                                        </p:tav>
                                      </p:tavLst>
                                    </p:anim>
                                    <p:animEffect transition="in" filter="fade">
                                      <p:cBhvr>
                                        <p:cTn id="27" dur="10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nodeType="clickEffect">
                                  <p:stCondLst>
                                    <p:cond delay="0"/>
                                  </p:stCondLst>
                                  <p:childTnLst>
                                    <p:set>
                                      <p:cBhvr>
                                        <p:cTn id="31" dur="1" fill="hold">
                                          <p:stCondLst>
                                            <p:cond delay="0"/>
                                          </p:stCondLst>
                                        </p:cTn>
                                        <p:tgtEl>
                                          <p:spTgt spid="7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blinds(horizontal)">
                                      <p:cBhvr>
                                        <p:cTn id="36" dur="500"/>
                                        <p:tgtEl>
                                          <p:spTgt spid="5"/>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linds(horizontal)">
                                      <p:cBhvr>
                                        <p:cTn id="39" dur="500"/>
                                        <p:tgtEl>
                                          <p:spTgt spid="6"/>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linds(horizontal)">
                                      <p:cBhvr>
                                        <p:cTn id="45" dur="500"/>
                                        <p:tgtEl>
                                          <p:spTgt spid="8"/>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blinds(horizontal)">
                                      <p:cBhvr>
                                        <p:cTn id="48" dur="500"/>
                                        <p:tgtEl>
                                          <p:spTgt spid="9"/>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blinds(horizontal)">
                                      <p:cBhvr>
                                        <p:cTn id="51" dur="500"/>
                                        <p:tgtEl>
                                          <p:spTgt spid="10"/>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blinds(horizontal)">
                                      <p:cBhvr>
                                        <p:cTn id="54" dur="500"/>
                                        <p:tgtEl>
                                          <p:spTgt spid="11"/>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linds(horizontal)">
                                      <p:cBhvr>
                                        <p:cTn id="57" dur="500"/>
                                        <p:tgtEl>
                                          <p:spTgt spid="12"/>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blinds(horizontal)">
                                      <p:cBhvr>
                                        <p:cTn id="60" dur="500"/>
                                        <p:tgtEl>
                                          <p:spTgt spid="13"/>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blinds(horizontal)">
                                      <p:cBhvr>
                                        <p:cTn id="63" dur="500"/>
                                        <p:tgtEl>
                                          <p:spTgt spid="14"/>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blinds(horizontal)">
                                      <p:cBhvr>
                                        <p:cTn id="66" dur="500"/>
                                        <p:tgtEl>
                                          <p:spTgt spid="15"/>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blinds(horizontal)">
                                      <p:cBhvr>
                                        <p:cTn id="69" dur="500"/>
                                        <p:tgtEl>
                                          <p:spTgt spid="16"/>
                                        </p:tgtEl>
                                      </p:cBhvr>
                                    </p:animEffect>
                                  </p:childTnLst>
                                </p:cTn>
                              </p:par>
                              <p:par>
                                <p:cTn id="70" presetID="3" presetClass="entr" presetSubtype="10"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blinds(horizontal)">
                                      <p:cBhvr>
                                        <p:cTn id="72" dur="500"/>
                                        <p:tgtEl>
                                          <p:spTgt spid="17"/>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blinds(horizontal)">
                                      <p:cBhvr>
                                        <p:cTn id="75" dur="500"/>
                                        <p:tgtEl>
                                          <p:spTgt spid="18"/>
                                        </p:tgtEl>
                                      </p:cBhvr>
                                    </p:animEffect>
                                  </p:childTnLst>
                                </p:cTn>
                              </p:par>
                              <p:par>
                                <p:cTn id="76" presetID="3" presetClass="entr" presetSubtype="10" fill="hold" grpId="0" nodeType="withEffect">
                                  <p:stCondLst>
                                    <p:cond delay="0"/>
                                  </p:stCondLst>
                                  <p:childTnLst>
                                    <p:set>
                                      <p:cBhvr>
                                        <p:cTn id="77" dur="1" fill="hold">
                                          <p:stCondLst>
                                            <p:cond delay="0"/>
                                          </p:stCondLst>
                                        </p:cTn>
                                        <p:tgtEl>
                                          <p:spTgt spid="19"/>
                                        </p:tgtEl>
                                        <p:attrNameLst>
                                          <p:attrName>style.visibility</p:attrName>
                                        </p:attrNameLst>
                                      </p:cBhvr>
                                      <p:to>
                                        <p:strVal val="visible"/>
                                      </p:to>
                                    </p:set>
                                    <p:animEffect transition="in" filter="blinds(horizontal)">
                                      <p:cBhvr>
                                        <p:cTn id="78" dur="500"/>
                                        <p:tgtEl>
                                          <p:spTgt spid="19"/>
                                        </p:tgtEl>
                                      </p:cBhvr>
                                    </p:animEffect>
                                  </p:childTnLst>
                                </p:cTn>
                              </p:par>
                              <p:par>
                                <p:cTn id="79" presetID="3" presetClass="entr" presetSubtype="1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blinds(horizontal)">
                                      <p:cBhvr>
                                        <p:cTn id="81" dur="500"/>
                                        <p:tgtEl>
                                          <p:spTgt spid="20"/>
                                        </p:tgtEl>
                                      </p:cBhvr>
                                    </p:animEffect>
                                  </p:childTnLst>
                                </p:cTn>
                              </p:par>
                              <p:par>
                                <p:cTn id="82" presetID="3" presetClass="entr" presetSubtype="10" fill="hold" grpId="0"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blinds(horizontal)">
                                      <p:cBhvr>
                                        <p:cTn id="84" dur="500"/>
                                        <p:tgtEl>
                                          <p:spTgt spid="21"/>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blinds(horizontal)">
                                      <p:cBhvr>
                                        <p:cTn id="87" dur="500"/>
                                        <p:tgtEl>
                                          <p:spTgt spid="22"/>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blinds(horizontal)">
                                      <p:cBhvr>
                                        <p:cTn id="90" dur="500"/>
                                        <p:tgtEl>
                                          <p:spTgt spid="23"/>
                                        </p:tgtEl>
                                      </p:cBhvr>
                                    </p:animEffect>
                                  </p:childTnLst>
                                </p:cTn>
                              </p:par>
                              <p:par>
                                <p:cTn id="91" presetID="3" presetClass="entr" presetSubtype="10" fill="hold" grpId="0" nodeType="with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blinds(horizontal)">
                                      <p:cBhvr>
                                        <p:cTn id="93" dur="500"/>
                                        <p:tgtEl>
                                          <p:spTgt spid="24"/>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blinds(horizontal)">
                                      <p:cBhvr>
                                        <p:cTn id="96" dur="500"/>
                                        <p:tgtEl>
                                          <p:spTgt spid="25"/>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blinds(horizontal)">
                                      <p:cBhvr>
                                        <p:cTn id="99" dur="500"/>
                                        <p:tgtEl>
                                          <p:spTgt spid="26"/>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29"/>
                                        </p:tgtEl>
                                        <p:attrNameLst>
                                          <p:attrName>style.visibility</p:attrName>
                                        </p:attrNameLst>
                                      </p:cBhvr>
                                      <p:to>
                                        <p:strVal val="visible"/>
                                      </p:to>
                                    </p:set>
                                    <p:animEffect transition="in" filter="blinds(horizontal)">
                                      <p:cBhvr>
                                        <p:cTn id="104" dur="500"/>
                                        <p:tgtEl>
                                          <p:spTgt spid="29"/>
                                        </p:tgtEl>
                                      </p:cBhvr>
                                    </p:animEffect>
                                  </p:childTnLst>
                                </p:cTn>
                              </p:par>
                              <p:par>
                                <p:cTn id="105" presetID="3" presetClass="entr" presetSubtype="10" fill="hold" grpId="0" nodeType="with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blinds(horizontal)">
                                      <p:cBhvr>
                                        <p:cTn id="107" dur="500"/>
                                        <p:tgtEl>
                                          <p:spTgt spid="30"/>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blinds(horizontal)">
                                      <p:cBhvr>
                                        <p:cTn id="110" dur="500"/>
                                        <p:tgtEl>
                                          <p:spTgt spid="31"/>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32"/>
                                        </p:tgtEl>
                                        <p:attrNameLst>
                                          <p:attrName>style.visibility</p:attrName>
                                        </p:attrNameLst>
                                      </p:cBhvr>
                                      <p:to>
                                        <p:strVal val="visible"/>
                                      </p:to>
                                    </p:set>
                                    <p:animEffect transition="in" filter="blinds(horizontal)">
                                      <p:cBhvr>
                                        <p:cTn id="113" dur="500"/>
                                        <p:tgtEl>
                                          <p:spTgt spid="32"/>
                                        </p:tgtEl>
                                      </p:cBhvr>
                                    </p:animEffect>
                                  </p:childTnLst>
                                </p:cTn>
                              </p:par>
                              <p:par>
                                <p:cTn id="114" presetID="3" presetClass="entr" presetSubtype="10" fill="hold" grpId="0" nodeType="withEffect">
                                  <p:stCondLst>
                                    <p:cond delay="0"/>
                                  </p:stCondLst>
                                  <p:childTnLst>
                                    <p:set>
                                      <p:cBhvr>
                                        <p:cTn id="115" dur="1" fill="hold">
                                          <p:stCondLst>
                                            <p:cond delay="0"/>
                                          </p:stCondLst>
                                        </p:cTn>
                                        <p:tgtEl>
                                          <p:spTgt spid="33"/>
                                        </p:tgtEl>
                                        <p:attrNameLst>
                                          <p:attrName>style.visibility</p:attrName>
                                        </p:attrNameLst>
                                      </p:cBhvr>
                                      <p:to>
                                        <p:strVal val="visible"/>
                                      </p:to>
                                    </p:set>
                                    <p:animEffect transition="in" filter="blinds(horizontal)">
                                      <p:cBhvr>
                                        <p:cTn id="116" dur="500"/>
                                        <p:tgtEl>
                                          <p:spTgt spid="33"/>
                                        </p:tgtEl>
                                      </p:cBhvr>
                                    </p:animEffect>
                                  </p:childTnLst>
                                </p:cTn>
                              </p:par>
                              <p:par>
                                <p:cTn id="117" presetID="3" presetClass="entr" presetSubtype="10" fill="hold" grpId="0" nodeType="withEffect">
                                  <p:stCondLst>
                                    <p:cond delay="0"/>
                                  </p:stCondLst>
                                  <p:childTnLst>
                                    <p:set>
                                      <p:cBhvr>
                                        <p:cTn id="118" dur="1" fill="hold">
                                          <p:stCondLst>
                                            <p:cond delay="0"/>
                                          </p:stCondLst>
                                        </p:cTn>
                                        <p:tgtEl>
                                          <p:spTgt spid="34"/>
                                        </p:tgtEl>
                                        <p:attrNameLst>
                                          <p:attrName>style.visibility</p:attrName>
                                        </p:attrNameLst>
                                      </p:cBhvr>
                                      <p:to>
                                        <p:strVal val="visible"/>
                                      </p:to>
                                    </p:set>
                                    <p:animEffect transition="in" filter="blinds(horizontal)">
                                      <p:cBhvr>
                                        <p:cTn id="119" dur="500"/>
                                        <p:tgtEl>
                                          <p:spTgt spid="34"/>
                                        </p:tgtEl>
                                      </p:cBhvr>
                                    </p:animEffect>
                                  </p:childTnLst>
                                </p:cTn>
                              </p:par>
                              <p:par>
                                <p:cTn id="120" presetID="3" presetClass="entr" presetSubtype="10" fill="hold" grpId="0" nodeType="withEffect">
                                  <p:stCondLst>
                                    <p:cond delay="0"/>
                                  </p:stCondLst>
                                  <p:childTnLst>
                                    <p:set>
                                      <p:cBhvr>
                                        <p:cTn id="121" dur="1" fill="hold">
                                          <p:stCondLst>
                                            <p:cond delay="0"/>
                                          </p:stCondLst>
                                        </p:cTn>
                                        <p:tgtEl>
                                          <p:spTgt spid="35"/>
                                        </p:tgtEl>
                                        <p:attrNameLst>
                                          <p:attrName>style.visibility</p:attrName>
                                        </p:attrNameLst>
                                      </p:cBhvr>
                                      <p:to>
                                        <p:strVal val="visible"/>
                                      </p:to>
                                    </p:set>
                                    <p:animEffect transition="in" filter="blinds(horizontal)">
                                      <p:cBhvr>
                                        <p:cTn id="122" dur="500"/>
                                        <p:tgtEl>
                                          <p:spTgt spid="35"/>
                                        </p:tgtEl>
                                      </p:cBhvr>
                                    </p:animEffect>
                                  </p:childTnLst>
                                </p:cTn>
                              </p:par>
                              <p:par>
                                <p:cTn id="123" presetID="3" presetClass="entr" presetSubtype="10" fill="hold" grpId="0" nodeType="withEffect">
                                  <p:stCondLst>
                                    <p:cond delay="0"/>
                                  </p:stCondLst>
                                  <p:childTnLst>
                                    <p:set>
                                      <p:cBhvr>
                                        <p:cTn id="124" dur="1" fill="hold">
                                          <p:stCondLst>
                                            <p:cond delay="0"/>
                                          </p:stCondLst>
                                        </p:cTn>
                                        <p:tgtEl>
                                          <p:spTgt spid="36"/>
                                        </p:tgtEl>
                                        <p:attrNameLst>
                                          <p:attrName>style.visibility</p:attrName>
                                        </p:attrNameLst>
                                      </p:cBhvr>
                                      <p:to>
                                        <p:strVal val="visible"/>
                                      </p:to>
                                    </p:set>
                                    <p:animEffect transition="in" filter="blinds(horizontal)">
                                      <p:cBhvr>
                                        <p:cTn id="125" dur="500"/>
                                        <p:tgtEl>
                                          <p:spTgt spid="36"/>
                                        </p:tgtEl>
                                      </p:cBhvr>
                                    </p:animEffect>
                                  </p:childTnLst>
                                </p:cTn>
                              </p:par>
                              <p:par>
                                <p:cTn id="126" presetID="3" presetClass="entr" presetSubtype="10" fill="hold" grpId="0" nodeType="withEffect">
                                  <p:stCondLst>
                                    <p:cond delay="0"/>
                                  </p:stCondLst>
                                  <p:childTnLst>
                                    <p:set>
                                      <p:cBhvr>
                                        <p:cTn id="127" dur="1" fill="hold">
                                          <p:stCondLst>
                                            <p:cond delay="0"/>
                                          </p:stCondLst>
                                        </p:cTn>
                                        <p:tgtEl>
                                          <p:spTgt spid="37"/>
                                        </p:tgtEl>
                                        <p:attrNameLst>
                                          <p:attrName>style.visibility</p:attrName>
                                        </p:attrNameLst>
                                      </p:cBhvr>
                                      <p:to>
                                        <p:strVal val="visible"/>
                                      </p:to>
                                    </p:set>
                                    <p:animEffect transition="in" filter="blinds(horizontal)">
                                      <p:cBhvr>
                                        <p:cTn id="128" dur="500"/>
                                        <p:tgtEl>
                                          <p:spTgt spid="37"/>
                                        </p:tgtEl>
                                      </p:cBhvr>
                                    </p:animEffect>
                                  </p:childTnLst>
                                </p:cTn>
                              </p:par>
                              <p:par>
                                <p:cTn id="129" presetID="3" presetClass="entr" presetSubtype="10" fill="hold" grpId="0" nodeType="withEffect">
                                  <p:stCondLst>
                                    <p:cond delay="0"/>
                                  </p:stCondLst>
                                  <p:childTnLst>
                                    <p:set>
                                      <p:cBhvr>
                                        <p:cTn id="130" dur="1" fill="hold">
                                          <p:stCondLst>
                                            <p:cond delay="0"/>
                                          </p:stCondLst>
                                        </p:cTn>
                                        <p:tgtEl>
                                          <p:spTgt spid="38"/>
                                        </p:tgtEl>
                                        <p:attrNameLst>
                                          <p:attrName>style.visibility</p:attrName>
                                        </p:attrNameLst>
                                      </p:cBhvr>
                                      <p:to>
                                        <p:strVal val="visible"/>
                                      </p:to>
                                    </p:set>
                                    <p:animEffect transition="in" filter="blinds(horizontal)">
                                      <p:cBhvr>
                                        <p:cTn id="131" dur="500"/>
                                        <p:tgtEl>
                                          <p:spTgt spid="38"/>
                                        </p:tgtEl>
                                      </p:cBhvr>
                                    </p:animEffect>
                                  </p:childTnLst>
                                </p:cTn>
                              </p:par>
                              <p:par>
                                <p:cTn id="132" presetID="3" presetClass="entr" presetSubtype="10" fill="hold" grpId="0" nodeType="withEffect">
                                  <p:stCondLst>
                                    <p:cond delay="0"/>
                                  </p:stCondLst>
                                  <p:childTnLst>
                                    <p:set>
                                      <p:cBhvr>
                                        <p:cTn id="133" dur="1" fill="hold">
                                          <p:stCondLst>
                                            <p:cond delay="0"/>
                                          </p:stCondLst>
                                        </p:cTn>
                                        <p:tgtEl>
                                          <p:spTgt spid="39"/>
                                        </p:tgtEl>
                                        <p:attrNameLst>
                                          <p:attrName>style.visibility</p:attrName>
                                        </p:attrNameLst>
                                      </p:cBhvr>
                                      <p:to>
                                        <p:strVal val="visible"/>
                                      </p:to>
                                    </p:set>
                                    <p:animEffect transition="in" filter="blinds(horizontal)">
                                      <p:cBhvr>
                                        <p:cTn id="134" dur="500"/>
                                        <p:tgtEl>
                                          <p:spTgt spid="39"/>
                                        </p:tgtEl>
                                      </p:cBhvr>
                                    </p:animEffect>
                                  </p:childTnLst>
                                </p:cTn>
                              </p:par>
                              <p:par>
                                <p:cTn id="135" presetID="3" presetClass="entr" presetSubtype="10" fill="hold" grpId="0" nodeType="withEffect">
                                  <p:stCondLst>
                                    <p:cond delay="0"/>
                                  </p:stCondLst>
                                  <p:childTnLst>
                                    <p:set>
                                      <p:cBhvr>
                                        <p:cTn id="136" dur="1" fill="hold">
                                          <p:stCondLst>
                                            <p:cond delay="0"/>
                                          </p:stCondLst>
                                        </p:cTn>
                                        <p:tgtEl>
                                          <p:spTgt spid="40"/>
                                        </p:tgtEl>
                                        <p:attrNameLst>
                                          <p:attrName>style.visibility</p:attrName>
                                        </p:attrNameLst>
                                      </p:cBhvr>
                                      <p:to>
                                        <p:strVal val="visible"/>
                                      </p:to>
                                    </p:set>
                                    <p:animEffect transition="in" filter="blinds(horizontal)">
                                      <p:cBhvr>
                                        <p:cTn id="137" dur="500"/>
                                        <p:tgtEl>
                                          <p:spTgt spid="40"/>
                                        </p:tgtEl>
                                      </p:cBhvr>
                                    </p:animEffect>
                                  </p:childTnLst>
                                </p:cTn>
                              </p:par>
                              <p:par>
                                <p:cTn id="138" presetID="3" presetClass="entr" presetSubtype="10" fill="hold" grpId="0" nodeType="withEffect">
                                  <p:stCondLst>
                                    <p:cond delay="0"/>
                                  </p:stCondLst>
                                  <p:childTnLst>
                                    <p:set>
                                      <p:cBhvr>
                                        <p:cTn id="139" dur="1" fill="hold">
                                          <p:stCondLst>
                                            <p:cond delay="0"/>
                                          </p:stCondLst>
                                        </p:cTn>
                                        <p:tgtEl>
                                          <p:spTgt spid="41"/>
                                        </p:tgtEl>
                                        <p:attrNameLst>
                                          <p:attrName>style.visibility</p:attrName>
                                        </p:attrNameLst>
                                      </p:cBhvr>
                                      <p:to>
                                        <p:strVal val="visible"/>
                                      </p:to>
                                    </p:set>
                                    <p:animEffect transition="in" filter="blinds(horizontal)">
                                      <p:cBhvr>
                                        <p:cTn id="140" dur="500"/>
                                        <p:tgtEl>
                                          <p:spTgt spid="41"/>
                                        </p:tgtEl>
                                      </p:cBhvr>
                                    </p:animEffect>
                                  </p:childTnLst>
                                </p:cTn>
                              </p:par>
                              <p:par>
                                <p:cTn id="141" presetID="3" presetClass="entr" presetSubtype="10" fill="hold" grpId="0" nodeType="withEffect">
                                  <p:stCondLst>
                                    <p:cond delay="0"/>
                                  </p:stCondLst>
                                  <p:childTnLst>
                                    <p:set>
                                      <p:cBhvr>
                                        <p:cTn id="142" dur="1" fill="hold">
                                          <p:stCondLst>
                                            <p:cond delay="0"/>
                                          </p:stCondLst>
                                        </p:cTn>
                                        <p:tgtEl>
                                          <p:spTgt spid="42"/>
                                        </p:tgtEl>
                                        <p:attrNameLst>
                                          <p:attrName>style.visibility</p:attrName>
                                        </p:attrNameLst>
                                      </p:cBhvr>
                                      <p:to>
                                        <p:strVal val="visible"/>
                                      </p:to>
                                    </p:set>
                                    <p:animEffect transition="in" filter="blinds(horizontal)">
                                      <p:cBhvr>
                                        <p:cTn id="143" dur="500"/>
                                        <p:tgtEl>
                                          <p:spTgt spid="42"/>
                                        </p:tgtEl>
                                      </p:cBhvr>
                                    </p:animEffect>
                                  </p:childTnLst>
                                </p:cTn>
                              </p:par>
                              <p:par>
                                <p:cTn id="144" presetID="3" presetClass="entr" presetSubtype="10" fill="hold" grpId="0" nodeType="withEffect">
                                  <p:stCondLst>
                                    <p:cond delay="0"/>
                                  </p:stCondLst>
                                  <p:childTnLst>
                                    <p:set>
                                      <p:cBhvr>
                                        <p:cTn id="145" dur="1" fill="hold">
                                          <p:stCondLst>
                                            <p:cond delay="0"/>
                                          </p:stCondLst>
                                        </p:cTn>
                                        <p:tgtEl>
                                          <p:spTgt spid="43"/>
                                        </p:tgtEl>
                                        <p:attrNameLst>
                                          <p:attrName>style.visibility</p:attrName>
                                        </p:attrNameLst>
                                      </p:cBhvr>
                                      <p:to>
                                        <p:strVal val="visible"/>
                                      </p:to>
                                    </p:set>
                                    <p:animEffect transition="in" filter="blinds(horizontal)">
                                      <p:cBhvr>
                                        <p:cTn id="146" dur="500"/>
                                        <p:tgtEl>
                                          <p:spTgt spid="43"/>
                                        </p:tgtEl>
                                      </p:cBhvr>
                                    </p:animEffect>
                                  </p:childTnLst>
                                </p:cTn>
                              </p:par>
                              <p:par>
                                <p:cTn id="147" presetID="3" presetClass="entr" presetSubtype="10" fill="hold" grpId="0" nodeType="withEffect">
                                  <p:stCondLst>
                                    <p:cond delay="0"/>
                                  </p:stCondLst>
                                  <p:childTnLst>
                                    <p:set>
                                      <p:cBhvr>
                                        <p:cTn id="148" dur="1" fill="hold">
                                          <p:stCondLst>
                                            <p:cond delay="0"/>
                                          </p:stCondLst>
                                        </p:cTn>
                                        <p:tgtEl>
                                          <p:spTgt spid="44"/>
                                        </p:tgtEl>
                                        <p:attrNameLst>
                                          <p:attrName>style.visibility</p:attrName>
                                        </p:attrNameLst>
                                      </p:cBhvr>
                                      <p:to>
                                        <p:strVal val="visible"/>
                                      </p:to>
                                    </p:set>
                                    <p:animEffect transition="in" filter="blinds(horizontal)">
                                      <p:cBhvr>
                                        <p:cTn id="149" dur="500"/>
                                        <p:tgtEl>
                                          <p:spTgt spid="44"/>
                                        </p:tgtEl>
                                      </p:cBhvr>
                                    </p:animEffect>
                                  </p:childTnLst>
                                </p:cTn>
                              </p:par>
                              <p:par>
                                <p:cTn id="150" presetID="3" presetClass="entr" presetSubtype="10" fill="hold" grpId="0" nodeType="withEffect">
                                  <p:stCondLst>
                                    <p:cond delay="0"/>
                                  </p:stCondLst>
                                  <p:childTnLst>
                                    <p:set>
                                      <p:cBhvr>
                                        <p:cTn id="151" dur="1" fill="hold">
                                          <p:stCondLst>
                                            <p:cond delay="0"/>
                                          </p:stCondLst>
                                        </p:cTn>
                                        <p:tgtEl>
                                          <p:spTgt spid="45"/>
                                        </p:tgtEl>
                                        <p:attrNameLst>
                                          <p:attrName>style.visibility</p:attrName>
                                        </p:attrNameLst>
                                      </p:cBhvr>
                                      <p:to>
                                        <p:strVal val="visible"/>
                                      </p:to>
                                    </p:set>
                                    <p:animEffect transition="in" filter="blinds(horizontal)">
                                      <p:cBhvr>
                                        <p:cTn id="152" dur="500"/>
                                        <p:tgtEl>
                                          <p:spTgt spid="45"/>
                                        </p:tgtEl>
                                      </p:cBhvr>
                                    </p:animEffect>
                                  </p:childTnLst>
                                </p:cTn>
                              </p:par>
                              <p:par>
                                <p:cTn id="153" presetID="3" presetClass="entr" presetSubtype="10" fill="hold" grpId="0" nodeType="withEffect">
                                  <p:stCondLst>
                                    <p:cond delay="0"/>
                                  </p:stCondLst>
                                  <p:childTnLst>
                                    <p:set>
                                      <p:cBhvr>
                                        <p:cTn id="154" dur="1" fill="hold">
                                          <p:stCondLst>
                                            <p:cond delay="0"/>
                                          </p:stCondLst>
                                        </p:cTn>
                                        <p:tgtEl>
                                          <p:spTgt spid="46"/>
                                        </p:tgtEl>
                                        <p:attrNameLst>
                                          <p:attrName>style.visibility</p:attrName>
                                        </p:attrNameLst>
                                      </p:cBhvr>
                                      <p:to>
                                        <p:strVal val="visible"/>
                                      </p:to>
                                    </p:set>
                                    <p:animEffect transition="in" filter="blinds(horizontal)">
                                      <p:cBhvr>
                                        <p:cTn id="155" dur="500"/>
                                        <p:tgtEl>
                                          <p:spTgt spid="46"/>
                                        </p:tgtEl>
                                      </p:cBhvr>
                                    </p:animEffect>
                                  </p:childTnLst>
                                </p:cTn>
                              </p:par>
                              <p:par>
                                <p:cTn id="156" presetID="3" presetClass="entr" presetSubtype="10" fill="hold" grpId="0" nodeType="withEffect">
                                  <p:stCondLst>
                                    <p:cond delay="0"/>
                                  </p:stCondLst>
                                  <p:childTnLst>
                                    <p:set>
                                      <p:cBhvr>
                                        <p:cTn id="157" dur="1" fill="hold">
                                          <p:stCondLst>
                                            <p:cond delay="0"/>
                                          </p:stCondLst>
                                        </p:cTn>
                                        <p:tgtEl>
                                          <p:spTgt spid="47"/>
                                        </p:tgtEl>
                                        <p:attrNameLst>
                                          <p:attrName>style.visibility</p:attrName>
                                        </p:attrNameLst>
                                      </p:cBhvr>
                                      <p:to>
                                        <p:strVal val="visible"/>
                                      </p:to>
                                    </p:set>
                                    <p:animEffect transition="in" filter="blinds(horizontal)">
                                      <p:cBhvr>
                                        <p:cTn id="158" dur="500"/>
                                        <p:tgtEl>
                                          <p:spTgt spid="47"/>
                                        </p:tgtEl>
                                      </p:cBhvr>
                                    </p:animEffect>
                                  </p:childTnLst>
                                </p:cTn>
                              </p:par>
                              <p:par>
                                <p:cTn id="159" presetID="3" presetClass="entr" presetSubtype="10" fill="hold" grpId="0" nodeType="withEffect">
                                  <p:stCondLst>
                                    <p:cond delay="0"/>
                                  </p:stCondLst>
                                  <p:childTnLst>
                                    <p:set>
                                      <p:cBhvr>
                                        <p:cTn id="160" dur="1" fill="hold">
                                          <p:stCondLst>
                                            <p:cond delay="0"/>
                                          </p:stCondLst>
                                        </p:cTn>
                                        <p:tgtEl>
                                          <p:spTgt spid="48"/>
                                        </p:tgtEl>
                                        <p:attrNameLst>
                                          <p:attrName>style.visibility</p:attrName>
                                        </p:attrNameLst>
                                      </p:cBhvr>
                                      <p:to>
                                        <p:strVal val="visible"/>
                                      </p:to>
                                    </p:set>
                                    <p:animEffect transition="in" filter="blinds(horizontal)">
                                      <p:cBhvr>
                                        <p:cTn id="161" dur="500"/>
                                        <p:tgtEl>
                                          <p:spTgt spid="48"/>
                                        </p:tgtEl>
                                      </p:cBhvr>
                                    </p:animEffect>
                                  </p:childTnLst>
                                </p:cTn>
                              </p:par>
                              <p:par>
                                <p:cTn id="162" presetID="3" presetClass="entr" presetSubtype="10" fill="hold" grpId="0" nodeType="withEffect">
                                  <p:stCondLst>
                                    <p:cond delay="0"/>
                                  </p:stCondLst>
                                  <p:childTnLst>
                                    <p:set>
                                      <p:cBhvr>
                                        <p:cTn id="163" dur="1" fill="hold">
                                          <p:stCondLst>
                                            <p:cond delay="0"/>
                                          </p:stCondLst>
                                        </p:cTn>
                                        <p:tgtEl>
                                          <p:spTgt spid="49"/>
                                        </p:tgtEl>
                                        <p:attrNameLst>
                                          <p:attrName>style.visibility</p:attrName>
                                        </p:attrNameLst>
                                      </p:cBhvr>
                                      <p:to>
                                        <p:strVal val="visible"/>
                                      </p:to>
                                    </p:set>
                                    <p:animEffect transition="in" filter="blinds(horizontal)">
                                      <p:cBhvr>
                                        <p:cTn id="164" dur="500"/>
                                        <p:tgtEl>
                                          <p:spTgt spid="49"/>
                                        </p:tgtEl>
                                      </p:cBhvr>
                                    </p:animEffect>
                                  </p:childTnLst>
                                </p:cTn>
                              </p:par>
                              <p:par>
                                <p:cTn id="165" presetID="3" presetClass="entr" presetSubtype="10" fill="hold" grpId="0" nodeType="withEffect">
                                  <p:stCondLst>
                                    <p:cond delay="0"/>
                                  </p:stCondLst>
                                  <p:childTnLst>
                                    <p:set>
                                      <p:cBhvr>
                                        <p:cTn id="166" dur="1" fill="hold">
                                          <p:stCondLst>
                                            <p:cond delay="0"/>
                                          </p:stCondLst>
                                        </p:cTn>
                                        <p:tgtEl>
                                          <p:spTgt spid="50"/>
                                        </p:tgtEl>
                                        <p:attrNameLst>
                                          <p:attrName>style.visibility</p:attrName>
                                        </p:attrNameLst>
                                      </p:cBhvr>
                                      <p:to>
                                        <p:strVal val="visible"/>
                                      </p:to>
                                    </p:set>
                                    <p:animEffect transition="in" filter="blinds(horizontal)">
                                      <p:cBhvr>
                                        <p:cTn id="167" dur="500"/>
                                        <p:tgtEl>
                                          <p:spTgt spid="50"/>
                                        </p:tgtEl>
                                      </p:cBhvr>
                                    </p:animEffect>
                                  </p:childTnLst>
                                </p:cTn>
                              </p:par>
                              <p:par>
                                <p:cTn id="168" presetID="3" presetClass="entr" presetSubtype="10" fill="hold" grpId="0" nodeType="withEffect">
                                  <p:stCondLst>
                                    <p:cond delay="0"/>
                                  </p:stCondLst>
                                  <p:childTnLst>
                                    <p:set>
                                      <p:cBhvr>
                                        <p:cTn id="169" dur="1" fill="hold">
                                          <p:stCondLst>
                                            <p:cond delay="0"/>
                                          </p:stCondLst>
                                        </p:cTn>
                                        <p:tgtEl>
                                          <p:spTgt spid="51"/>
                                        </p:tgtEl>
                                        <p:attrNameLst>
                                          <p:attrName>style.visibility</p:attrName>
                                        </p:attrNameLst>
                                      </p:cBhvr>
                                      <p:to>
                                        <p:strVal val="visible"/>
                                      </p:to>
                                    </p:set>
                                    <p:animEffect transition="in" filter="blinds(horizontal)">
                                      <p:cBhvr>
                                        <p:cTn id="170" dur="500"/>
                                        <p:tgtEl>
                                          <p:spTgt spid="51"/>
                                        </p:tgtEl>
                                      </p:cBhvr>
                                    </p:animEffect>
                                  </p:childTnLst>
                                </p:cTn>
                              </p:par>
                              <p:par>
                                <p:cTn id="171" presetID="3" presetClass="entr" presetSubtype="10" fill="hold" grpId="0" nodeType="withEffect">
                                  <p:stCondLst>
                                    <p:cond delay="0"/>
                                  </p:stCondLst>
                                  <p:childTnLst>
                                    <p:set>
                                      <p:cBhvr>
                                        <p:cTn id="172" dur="1" fill="hold">
                                          <p:stCondLst>
                                            <p:cond delay="0"/>
                                          </p:stCondLst>
                                        </p:cTn>
                                        <p:tgtEl>
                                          <p:spTgt spid="52"/>
                                        </p:tgtEl>
                                        <p:attrNameLst>
                                          <p:attrName>style.visibility</p:attrName>
                                        </p:attrNameLst>
                                      </p:cBhvr>
                                      <p:to>
                                        <p:strVal val="visible"/>
                                      </p:to>
                                    </p:set>
                                    <p:animEffect transition="in" filter="blinds(horizontal)">
                                      <p:cBhvr>
                                        <p:cTn id="173" dur="500"/>
                                        <p:tgtEl>
                                          <p:spTgt spid="52"/>
                                        </p:tgtEl>
                                      </p:cBhvr>
                                    </p:animEffect>
                                  </p:childTnLst>
                                </p:cTn>
                              </p:par>
                              <p:par>
                                <p:cTn id="174" presetID="3" presetClass="entr" presetSubtype="10" fill="hold" grpId="0" nodeType="withEffect">
                                  <p:stCondLst>
                                    <p:cond delay="0"/>
                                  </p:stCondLst>
                                  <p:childTnLst>
                                    <p:set>
                                      <p:cBhvr>
                                        <p:cTn id="175" dur="1" fill="hold">
                                          <p:stCondLst>
                                            <p:cond delay="0"/>
                                          </p:stCondLst>
                                        </p:cTn>
                                        <p:tgtEl>
                                          <p:spTgt spid="53"/>
                                        </p:tgtEl>
                                        <p:attrNameLst>
                                          <p:attrName>style.visibility</p:attrName>
                                        </p:attrNameLst>
                                      </p:cBhvr>
                                      <p:to>
                                        <p:strVal val="visible"/>
                                      </p:to>
                                    </p:set>
                                    <p:animEffect transition="in" filter="blinds(horizontal)">
                                      <p:cBhvr>
                                        <p:cTn id="176" dur="500"/>
                                        <p:tgtEl>
                                          <p:spTgt spid="53"/>
                                        </p:tgtEl>
                                      </p:cBhvr>
                                    </p:animEffect>
                                  </p:childTnLst>
                                </p:cTn>
                              </p:par>
                              <p:par>
                                <p:cTn id="177" presetID="3" presetClass="entr" presetSubtype="10" fill="hold" grpId="0" nodeType="withEffect">
                                  <p:stCondLst>
                                    <p:cond delay="0"/>
                                  </p:stCondLst>
                                  <p:childTnLst>
                                    <p:set>
                                      <p:cBhvr>
                                        <p:cTn id="178" dur="1" fill="hold">
                                          <p:stCondLst>
                                            <p:cond delay="0"/>
                                          </p:stCondLst>
                                        </p:cTn>
                                        <p:tgtEl>
                                          <p:spTgt spid="54"/>
                                        </p:tgtEl>
                                        <p:attrNameLst>
                                          <p:attrName>style.visibility</p:attrName>
                                        </p:attrNameLst>
                                      </p:cBhvr>
                                      <p:to>
                                        <p:strVal val="visible"/>
                                      </p:to>
                                    </p:set>
                                    <p:animEffect transition="in" filter="blinds(horizontal)">
                                      <p:cBhvr>
                                        <p:cTn id="179" dur="500"/>
                                        <p:tgtEl>
                                          <p:spTgt spid="54"/>
                                        </p:tgtEl>
                                      </p:cBhvr>
                                    </p:animEffect>
                                  </p:childTnLst>
                                </p:cTn>
                              </p:par>
                              <p:par>
                                <p:cTn id="180" presetID="3" presetClass="entr" presetSubtype="10" fill="hold" grpId="0" nodeType="withEffect">
                                  <p:stCondLst>
                                    <p:cond delay="0"/>
                                  </p:stCondLst>
                                  <p:childTnLst>
                                    <p:set>
                                      <p:cBhvr>
                                        <p:cTn id="181" dur="1" fill="hold">
                                          <p:stCondLst>
                                            <p:cond delay="0"/>
                                          </p:stCondLst>
                                        </p:cTn>
                                        <p:tgtEl>
                                          <p:spTgt spid="55"/>
                                        </p:tgtEl>
                                        <p:attrNameLst>
                                          <p:attrName>style.visibility</p:attrName>
                                        </p:attrNameLst>
                                      </p:cBhvr>
                                      <p:to>
                                        <p:strVal val="visible"/>
                                      </p:to>
                                    </p:set>
                                    <p:animEffect transition="in" filter="blinds(horizontal)">
                                      <p:cBhvr>
                                        <p:cTn id="182" dur="500"/>
                                        <p:tgtEl>
                                          <p:spTgt spid="55"/>
                                        </p:tgtEl>
                                      </p:cBhvr>
                                    </p:animEffect>
                                  </p:childTnLst>
                                </p:cTn>
                              </p:par>
                              <p:par>
                                <p:cTn id="183" presetID="3" presetClass="entr" presetSubtype="10" fill="hold" grpId="0" nodeType="withEffect">
                                  <p:stCondLst>
                                    <p:cond delay="0"/>
                                  </p:stCondLst>
                                  <p:childTnLst>
                                    <p:set>
                                      <p:cBhvr>
                                        <p:cTn id="184" dur="1" fill="hold">
                                          <p:stCondLst>
                                            <p:cond delay="0"/>
                                          </p:stCondLst>
                                        </p:cTn>
                                        <p:tgtEl>
                                          <p:spTgt spid="56"/>
                                        </p:tgtEl>
                                        <p:attrNameLst>
                                          <p:attrName>style.visibility</p:attrName>
                                        </p:attrNameLst>
                                      </p:cBhvr>
                                      <p:to>
                                        <p:strVal val="visible"/>
                                      </p:to>
                                    </p:set>
                                    <p:animEffect transition="in" filter="blinds(horizontal)">
                                      <p:cBhvr>
                                        <p:cTn id="185" dur="500"/>
                                        <p:tgtEl>
                                          <p:spTgt spid="56"/>
                                        </p:tgtEl>
                                      </p:cBhvr>
                                    </p:animEffect>
                                  </p:childTnLst>
                                </p:cTn>
                              </p:par>
                            </p:childTnLst>
                          </p:cTn>
                        </p:par>
                      </p:childTnLst>
                    </p:cTn>
                  </p:par>
                  <p:par>
                    <p:cTn id="186" fill="hold">
                      <p:stCondLst>
                        <p:cond delay="indefinite"/>
                      </p:stCondLst>
                      <p:childTnLst>
                        <p:par>
                          <p:cTn id="187" fill="hold">
                            <p:stCondLst>
                              <p:cond delay="0"/>
                            </p:stCondLst>
                            <p:childTnLst>
                              <p:par>
                                <p:cTn id="188" presetID="3" presetClass="entr" presetSubtype="10" fill="hold" grpId="0" nodeType="clickEffect">
                                  <p:stCondLst>
                                    <p:cond delay="0"/>
                                  </p:stCondLst>
                                  <p:childTnLst>
                                    <p:set>
                                      <p:cBhvr>
                                        <p:cTn id="189" dur="1" fill="hold">
                                          <p:stCondLst>
                                            <p:cond delay="0"/>
                                          </p:stCondLst>
                                        </p:cTn>
                                        <p:tgtEl>
                                          <p:spTgt spid="28"/>
                                        </p:tgtEl>
                                        <p:attrNameLst>
                                          <p:attrName>style.visibility</p:attrName>
                                        </p:attrNameLst>
                                      </p:cBhvr>
                                      <p:to>
                                        <p:strVal val="visible"/>
                                      </p:to>
                                    </p:set>
                                    <p:animEffect transition="in" filter="blinds(horizontal)">
                                      <p:cBhvr>
                                        <p:cTn id="190" dur="500"/>
                                        <p:tgtEl>
                                          <p:spTgt spid="28"/>
                                        </p:tgtEl>
                                      </p:cBhvr>
                                    </p:animEffect>
                                  </p:childTnLst>
                                </p:cTn>
                              </p:par>
                            </p:childTnLst>
                          </p:cTn>
                        </p:par>
                      </p:childTnLst>
                    </p:cTn>
                  </p:par>
                  <p:par>
                    <p:cTn id="191" fill="hold">
                      <p:stCondLst>
                        <p:cond delay="indefinite"/>
                      </p:stCondLst>
                      <p:childTnLst>
                        <p:par>
                          <p:cTn id="192" fill="hold">
                            <p:stCondLst>
                              <p:cond delay="0"/>
                            </p:stCondLst>
                            <p:childTnLst>
                              <p:par>
                                <p:cTn id="193" presetID="3" presetClass="entr" presetSubtype="10" fill="hold" grpId="0" nodeType="clickEffect">
                                  <p:stCondLst>
                                    <p:cond delay="0"/>
                                  </p:stCondLst>
                                  <p:childTnLst>
                                    <p:set>
                                      <p:cBhvr>
                                        <p:cTn id="194" dur="1" fill="hold">
                                          <p:stCondLst>
                                            <p:cond delay="0"/>
                                          </p:stCondLst>
                                        </p:cTn>
                                        <p:tgtEl>
                                          <p:spTgt spid="57"/>
                                        </p:tgtEl>
                                        <p:attrNameLst>
                                          <p:attrName>style.visibility</p:attrName>
                                        </p:attrNameLst>
                                      </p:cBhvr>
                                      <p:to>
                                        <p:strVal val="visible"/>
                                      </p:to>
                                    </p:set>
                                    <p:animEffect transition="in" filter="blinds(horizontal)">
                                      <p:cBhvr>
                                        <p:cTn id="19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a:t>
            </a:r>
            <a:br>
              <a:rPr lang="en-IN" dirty="0"/>
            </a:br>
            <a:r>
              <a:rPr lang="en-IN" dirty="0"/>
              <a:t>Application in Exam Scheduling</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p:txBody>
          <a:bodyPr>
            <a:normAutofit/>
          </a:bodyPr>
          <a:lstStyle/>
          <a:p>
            <a:pPr marL="0" indent="0">
              <a:buNone/>
            </a:pPr>
            <a:r>
              <a:rPr lang="en-US" sz="2400" dirty="0"/>
              <a:t>Suppose that in a particular quarter there are students taking each of the following combinations of courses:</a:t>
            </a:r>
          </a:p>
          <a:p>
            <a:r>
              <a:rPr lang="en-US" sz="2400" dirty="0"/>
              <a:t>Math, English, Biology, Chemistry , </a:t>
            </a:r>
          </a:p>
          <a:p>
            <a:r>
              <a:rPr lang="en-US" sz="2400" dirty="0"/>
              <a:t>Math, English, Computer Science, Geography </a:t>
            </a:r>
          </a:p>
          <a:p>
            <a:r>
              <a:rPr lang="en-US" sz="2400" dirty="0"/>
              <a:t>Biology, Psychology, Geography, Spanish, </a:t>
            </a:r>
          </a:p>
          <a:p>
            <a:r>
              <a:rPr lang="en-US" sz="2400" dirty="0"/>
              <a:t>Biology, Computer Science, History, French</a:t>
            </a:r>
          </a:p>
        </p:txBody>
      </p:sp>
    </p:spTree>
    <p:extLst>
      <p:ext uri="{BB962C8B-B14F-4D97-AF65-F5344CB8AC3E}">
        <p14:creationId xmlns:p14="http://schemas.microsoft.com/office/powerpoint/2010/main" val="2455366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a:t>
            </a:r>
            <a:br>
              <a:rPr lang="en-IN" dirty="0"/>
            </a:br>
            <a:r>
              <a:rPr lang="en-IN" dirty="0"/>
              <a:t>Application in Exam Scheduling</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a:xfrm>
            <a:off x="393290" y="1488558"/>
            <a:ext cx="8504904" cy="5099056"/>
          </a:xfrm>
        </p:spPr>
        <p:txBody>
          <a:bodyPr>
            <a:normAutofit/>
          </a:bodyPr>
          <a:lstStyle/>
          <a:p>
            <a:pPr marL="0" indent="0">
              <a:buNone/>
            </a:pPr>
            <a:r>
              <a:rPr lang="en-US" sz="2400" dirty="0"/>
              <a:t>What is the minimum number of examination periods required for the exams in the ten courses specified so that students taking any of the given combinations of courses have no conflicts? </a:t>
            </a:r>
            <a:endParaRPr lang="en-IN" sz="2400" dirty="0"/>
          </a:p>
        </p:txBody>
      </p:sp>
    </p:spTree>
    <p:extLst>
      <p:ext uri="{BB962C8B-B14F-4D97-AF65-F5344CB8AC3E}">
        <p14:creationId xmlns:p14="http://schemas.microsoft.com/office/powerpoint/2010/main" val="2715285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a:t>
            </a:r>
            <a:br>
              <a:rPr lang="en-IN" dirty="0"/>
            </a:br>
            <a:r>
              <a:rPr lang="en-IN" dirty="0"/>
              <a:t>Application in Scheduling</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p:txBody>
          <a:bodyPr>
            <a:normAutofit fontScale="92500"/>
          </a:bodyPr>
          <a:lstStyle/>
          <a:p>
            <a:pPr marL="0" indent="0">
              <a:buNone/>
            </a:pPr>
            <a:r>
              <a:rPr lang="en-US" sz="2400" dirty="0"/>
              <a:t>Twelve faculty members in a mathematics department serve on the following committees:</a:t>
            </a:r>
          </a:p>
          <a:p>
            <a:pPr marL="0" indent="0">
              <a:buNone/>
            </a:pPr>
            <a:r>
              <a:rPr lang="en-US" sz="2400" dirty="0"/>
              <a:t>Undergraduate education: </a:t>
            </a:r>
            <a:r>
              <a:rPr lang="en-US" sz="2400" dirty="0" err="1"/>
              <a:t>Sineman</a:t>
            </a:r>
            <a:r>
              <a:rPr lang="en-US" sz="2400" dirty="0"/>
              <a:t>, </a:t>
            </a:r>
            <a:r>
              <a:rPr lang="en-US" sz="2400" dirty="0" err="1"/>
              <a:t>Limitson</a:t>
            </a:r>
            <a:r>
              <a:rPr lang="en-US" sz="2400" dirty="0"/>
              <a:t>, </a:t>
            </a:r>
            <a:r>
              <a:rPr lang="en-US" sz="2400" dirty="0" err="1"/>
              <a:t>Axiomus</a:t>
            </a:r>
            <a:r>
              <a:rPr lang="en-US" sz="2400" dirty="0"/>
              <a:t>, </a:t>
            </a:r>
            <a:r>
              <a:rPr lang="en-US" sz="2400" dirty="0" err="1"/>
              <a:t>Functionini</a:t>
            </a:r>
            <a:r>
              <a:rPr lang="en-US" sz="2400" dirty="0"/>
              <a:t> </a:t>
            </a:r>
          </a:p>
          <a:p>
            <a:pPr marL="0" indent="0">
              <a:buNone/>
            </a:pPr>
            <a:r>
              <a:rPr lang="en-US" sz="2400" dirty="0"/>
              <a:t>Graduate Education: </a:t>
            </a:r>
            <a:r>
              <a:rPr lang="en-US" sz="2400" dirty="0" err="1"/>
              <a:t>Graphian</a:t>
            </a:r>
            <a:r>
              <a:rPr lang="en-US" sz="2400" dirty="0"/>
              <a:t>, </a:t>
            </a:r>
            <a:r>
              <a:rPr lang="en-US" sz="2400" dirty="0" err="1"/>
              <a:t>Vectorades</a:t>
            </a:r>
            <a:r>
              <a:rPr lang="en-US" sz="2400" dirty="0"/>
              <a:t>, </a:t>
            </a:r>
            <a:r>
              <a:rPr lang="en-US" sz="2400" dirty="0" err="1"/>
              <a:t>Functionini</a:t>
            </a:r>
            <a:r>
              <a:rPr lang="en-US" sz="2400" dirty="0"/>
              <a:t>, </a:t>
            </a:r>
            <a:r>
              <a:rPr lang="en-US" sz="2400" dirty="0" err="1"/>
              <a:t>Infinitescu</a:t>
            </a:r>
            <a:r>
              <a:rPr lang="en-US" sz="2400" dirty="0"/>
              <a:t> </a:t>
            </a:r>
          </a:p>
          <a:p>
            <a:pPr marL="0" indent="0">
              <a:buNone/>
            </a:pPr>
            <a:r>
              <a:rPr lang="en-US" sz="2400" dirty="0"/>
              <a:t>Colloquium: </a:t>
            </a:r>
            <a:r>
              <a:rPr lang="en-US" sz="2400" dirty="0" err="1"/>
              <a:t>Lemmeau</a:t>
            </a:r>
            <a:r>
              <a:rPr lang="en-US" sz="2400" dirty="0"/>
              <a:t>, </a:t>
            </a:r>
            <a:r>
              <a:rPr lang="en-US" sz="2400" dirty="0" err="1"/>
              <a:t>Randomov</a:t>
            </a:r>
            <a:r>
              <a:rPr lang="en-US" sz="2400" dirty="0"/>
              <a:t>, </a:t>
            </a:r>
            <a:r>
              <a:rPr lang="en-US" sz="2400" dirty="0" err="1"/>
              <a:t>Proofizaki</a:t>
            </a:r>
            <a:r>
              <a:rPr lang="en-US" sz="2400" dirty="0"/>
              <a:t> </a:t>
            </a:r>
          </a:p>
          <a:p>
            <a:pPr marL="0" indent="0">
              <a:buNone/>
            </a:pPr>
            <a:r>
              <a:rPr lang="en-US" sz="2400" dirty="0"/>
              <a:t>Library: Van Sum, </a:t>
            </a:r>
            <a:r>
              <a:rPr lang="en-US" sz="2400" dirty="0" err="1"/>
              <a:t>Sineman</a:t>
            </a:r>
            <a:r>
              <a:rPr lang="en-US" sz="2400" dirty="0"/>
              <a:t>, </a:t>
            </a:r>
            <a:r>
              <a:rPr lang="en-US" sz="2400" dirty="0" err="1"/>
              <a:t>Lemmeau</a:t>
            </a:r>
            <a:endParaRPr lang="en-US" sz="2400" dirty="0"/>
          </a:p>
          <a:p>
            <a:pPr marL="0" indent="0">
              <a:buNone/>
            </a:pPr>
            <a:r>
              <a:rPr lang="en-US" sz="2400" dirty="0"/>
              <a:t>Staffing: </a:t>
            </a:r>
            <a:r>
              <a:rPr lang="en-US" sz="2400" dirty="0" err="1"/>
              <a:t>Graphian</a:t>
            </a:r>
            <a:r>
              <a:rPr lang="en-US" sz="2400" dirty="0"/>
              <a:t>, </a:t>
            </a:r>
            <a:r>
              <a:rPr lang="en-US" sz="2400" dirty="0" err="1"/>
              <a:t>Randomov</a:t>
            </a:r>
            <a:r>
              <a:rPr lang="en-US" sz="2400" dirty="0"/>
              <a:t>, </a:t>
            </a:r>
            <a:r>
              <a:rPr lang="en-US" sz="2400" dirty="0" err="1"/>
              <a:t>Vectorades</a:t>
            </a:r>
            <a:r>
              <a:rPr lang="en-US" sz="2400" dirty="0"/>
              <a:t>, </a:t>
            </a:r>
            <a:r>
              <a:rPr lang="en-US" sz="2400" dirty="0" err="1"/>
              <a:t>Limitson</a:t>
            </a:r>
            <a:endParaRPr lang="en-US" sz="2400" dirty="0"/>
          </a:p>
          <a:p>
            <a:pPr marL="0" indent="0">
              <a:buNone/>
            </a:pPr>
            <a:r>
              <a:rPr lang="en-US" sz="2400" dirty="0"/>
              <a:t>Promotion: </a:t>
            </a:r>
            <a:r>
              <a:rPr lang="en-US" sz="2400" dirty="0" err="1"/>
              <a:t>Vectorades</a:t>
            </a:r>
            <a:r>
              <a:rPr lang="en-US" sz="2400" dirty="0"/>
              <a:t>, Van Sum, </a:t>
            </a:r>
            <a:r>
              <a:rPr lang="en-US" sz="2400" dirty="0" err="1"/>
              <a:t>Parabolton</a:t>
            </a:r>
            <a:endParaRPr lang="en-IN" sz="2400" dirty="0"/>
          </a:p>
        </p:txBody>
      </p:sp>
    </p:spTree>
    <p:extLst>
      <p:ext uri="{BB962C8B-B14F-4D97-AF65-F5344CB8AC3E}">
        <p14:creationId xmlns:p14="http://schemas.microsoft.com/office/powerpoint/2010/main" val="731412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a:t>
            </a:r>
            <a:br>
              <a:rPr lang="en-IN" dirty="0"/>
            </a:br>
            <a:r>
              <a:rPr lang="en-IN" dirty="0"/>
              <a:t>Application in Scheduling</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a:xfrm>
            <a:off x="393290" y="1573618"/>
            <a:ext cx="8504904" cy="5013995"/>
          </a:xfrm>
        </p:spPr>
        <p:txBody>
          <a:bodyPr>
            <a:normAutofit/>
          </a:bodyPr>
          <a:lstStyle/>
          <a:p>
            <a:pPr marL="0" indent="0">
              <a:buNone/>
            </a:pPr>
            <a:r>
              <a:rPr lang="en-US" sz="2400" dirty="0"/>
              <a:t>The committees must all meet during the first week of classes, but there are only three time slots available. </a:t>
            </a:r>
          </a:p>
          <a:p>
            <a:pPr marL="0" indent="0">
              <a:buNone/>
            </a:pPr>
            <a:endParaRPr lang="en-US" sz="2400" dirty="0"/>
          </a:p>
          <a:p>
            <a:pPr marL="0" indent="0">
              <a:buNone/>
            </a:pPr>
            <a:endParaRPr lang="en-US" sz="2400" dirty="0"/>
          </a:p>
          <a:p>
            <a:pPr marL="0" indent="0">
              <a:buNone/>
            </a:pPr>
            <a:r>
              <a:rPr lang="en-US" sz="2400" dirty="0"/>
              <a:t>Find a schedule that will allow all faculty members to attend the meetings of all committees on which they serve. </a:t>
            </a:r>
          </a:p>
          <a:p>
            <a:pPr marL="0" indent="0">
              <a:buNone/>
            </a:pPr>
            <a:endParaRPr lang="en-IN" sz="2400" dirty="0"/>
          </a:p>
        </p:txBody>
      </p:sp>
    </p:spTree>
    <p:extLst>
      <p:ext uri="{BB962C8B-B14F-4D97-AF65-F5344CB8AC3E}">
        <p14:creationId xmlns:p14="http://schemas.microsoft.com/office/powerpoint/2010/main" val="3579842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Chromatic Number </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a:xfrm>
            <a:off x="574158" y="1248698"/>
            <a:ext cx="8324036" cy="5338916"/>
          </a:xfrm>
        </p:spPr>
        <p:txBody>
          <a:bodyPr>
            <a:normAutofit/>
          </a:bodyPr>
          <a:lstStyle/>
          <a:p>
            <a:pPr marL="0" indent="0">
              <a:buNone/>
            </a:pPr>
            <a:r>
              <a:rPr lang="en-US" sz="2400" dirty="0"/>
              <a:t>Find the chromatic number of the given graph.</a:t>
            </a:r>
            <a:endParaRPr lang="en-IN" sz="2400" dirty="0"/>
          </a:p>
        </p:txBody>
      </p:sp>
      <p:pic>
        <p:nvPicPr>
          <p:cNvPr id="4" name="Content Placeholder 7">
            <a:extLst>
              <a:ext uri="{FF2B5EF4-FFF2-40B4-BE49-F238E27FC236}">
                <a16:creationId xmlns:a16="http://schemas.microsoft.com/office/drawing/2014/main" id="{8FA14584-BE70-4994-BD43-7C0939949A3A}"/>
              </a:ext>
            </a:extLst>
          </p:cNvPr>
          <p:cNvPicPr>
            <a:picLocks noChangeAspect="1"/>
          </p:cNvPicPr>
          <p:nvPr/>
        </p:nvPicPr>
        <p:blipFill>
          <a:blip r:embed="rId2" cstate="print"/>
          <a:stretch>
            <a:fillRect/>
          </a:stretch>
        </p:blipFill>
        <p:spPr>
          <a:xfrm>
            <a:off x="2859386" y="1974916"/>
            <a:ext cx="2777924" cy="3341298"/>
          </a:xfrm>
          <a:prstGeom prst="rect">
            <a:avLst/>
          </a:prstGeom>
        </p:spPr>
      </p:pic>
      <p:sp>
        <p:nvSpPr>
          <p:cNvPr id="7" name="TextBox 6">
            <a:extLst>
              <a:ext uri="{FF2B5EF4-FFF2-40B4-BE49-F238E27FC236}">
                <a16:creationId xmlns:a16="http://schemas.microsoft.com/office/drawing/2014/main" id="{5C1AC83E-28F5-4F5F-B4BB-75485811547B}"/>
              </a:ext>
            </a:extLst>
          </p:cNvPr>
          <p:cNvSpPr txBox="1"/>
          <p:nvPr/>
        </p:nvSpPr>
        <p:spPr>
          <a:xfrm>
            <a:off x="510364" y="5174310"/>
            <a:ext cx="8187070" cy="1200329"/>
          </a:xfrm>
          <a:prstGeom prst="rect">
            <a:avLst/>
          </a:prstGeom>
          <a:noFill/>
        </p:spPr>
        <p:txBody>
          <a:bodyPr wrap="square">
            <a:spAutoFit/>
          </a:bodyPr>
          <a:lstStyle/>
          <a:p>
            <a:pPr algn="just"/>
            <a:r>
              <a:rPr lang="en-US" sz="2400" dirty="0"/>
              <a:t>S</a:t>
            </a:r>
            <a:r>
              <a:rPr lang="en-US" sz="2400" b="0" i="0" u="none" strike="noStrike" baseline="0" dirty="0"/>
              <a:t>ince there is a triangle, at least 3 colors are needed. Clearly 3 colors suffice, since we can color </a:t>
            </a:r>
            <a:r>
              <a:rPr lang="en-US" sz="2400" b="0" i="1" u="none" strike="noStrike" baseline="0" dirty="0"/>
              <a:t>a </a:t>
            </a:r>
            <a:r>
              <a:rPr lang="en-US" sz="2400" b="0" i="0" u="none" strike="noStrike" baseline="0" dirty="0"/>
              <a:t>and </a:t>
            </a:r>
            <a:r>
              <a:rPr lang="en-US" sz="2400" b="0" i="1" u="none" strike="noStrike" baseline="0" dirty="0"/>
              <a:t>d </a:t>
            </a:r>
            <a:r>
              <a:rPr lang="en-US" sz="2400" b="0" i="0" u="none" strike="noStrike" baseline="0" dirty="0"/>
              <a:t>the same color.</a:t>
            </a:r>
            <a:endParaRPr lang="en-IN" sz="2400" dirty="0"/>
          </a:p>
        </p:txBody>
      </p:sp>
    </p:spTree>
    <p:extLst>
      <p:ext uri="{BB962C8B-B14F-4D97-AF65-F5344CB8AC3E}">
        <p14:creationId xmlns:p14="http://schemas.microsoft.com/office/powerpoint/2010/main" val="845407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Chromatic Number </a:t>
            </a:r>
          </a:p>
        </p:txBody>
      </p:sp>
      <p:sp>
        <p:nvSpPr>
          <p:cNvPr id="3" name="Content Placeholder 2">
            <a:extLst>
              <a:ext uri="{FF2B5EF4-FFF2-40B4-BE49-F238E27FC236}">
                <a16:creationId xmlns:a16="http://schemas.microsoft.com/office/drawing/2014/main" id="{9C02EF72-4CEC-48D7-B481-516947816923}"/>
              </a:ext>
            </a:extLst>
          </p:cNvPr>
          <p:cNvSpPr>
            <a:spLocks noGrp="1"/>
          </p:cNvSpPr>
          <p:nvPr>
            <p:ph idx="1"/>
          </p:nvPr>
        </p:nvSpPr>
        <p:spPr>
          <a:xfrm>
            <a:off x="489098" y="1312493"/>
            <a:ext cx="8409096" cy="707693"/>
          </a:xfrm>
        </p:spPr>
        <p:txBody>
          <a:bodyPr>
            <a:normAutofit/>
          </a:bodyPr>
          <a:lstStyle/>
          <a:p>
            <a:pPr marL="0" indent="0">
              <a:buNone/>
            </a:pPr>
            <a:r>
              <a:rPr lang="en-US" sz="2400" dirty="0"/>
              <a:t>Find the chromatic number of the given graph.</a:t>
            </a:r>
            <a:endParaRPr lang="en-IN" sz="2400" dirty="0"/>
          </a:p>
        </p:txBody>
      </p:sp>
      <p:pic>
        <p:nvPicPr>
          <p:cNvPr id="4" name="Content Placeholder 7">
            <a:extLst>
              <a:ext uri="{FF2B5EF4-FFF2-40B4-BE49-F238E27FC236}">
                <a16:creationId xmlns:a16="http://schemas.microsoft.com/office/drawing/2014/main" id="{46A78F84-FD46-4077-B1AF-2BD73A534BC0}"/>
              </a:ext>
            </a:extLst>
          </p:cNvPr>
          <p:cNvPicPr>
            <a:picLocks noChangeAspect="1"/>
          </p:cNvPicPr>
          <p:nvPr/>
        </p:nvPicPr>
        <p:blipFill>
          <a:blip r:embed="rId2" cstate="print"/>
          <a:stretch>
            <a:fillRect/>
          </a:stretch>
        </p:blipFill>
        <p:spPr>
          <a:xfrm>
            <a:off x="2494867" y="1889919"/>
            <a:ext cx="3224156" cy="3078162"/>
          </a:xfrm>
          <a:prstGeom prst="rect">
            <a:avLst/>
          </a:prstGeom>
        </p:spPr>
      </p:pic>
      <p:sp>
        <p:nvSpPr>
          <p:cNvPr id="7" name="TextBox 6">
            <a:extLst>
              <a:ext uri="{FF2B5EF4-FFF2-40B4-BE49-F238E27FC236}">
                <a16:creationId xmlns:a16="http://schemas.microsoft.com/office/drawing/2014/main" id="{9BB1E550-B2A0-4802-B52B-D4CB01BAC333}"/>
              </a:ext>
            </a:extLst>
          </p:cNvPr>
          <p:cNvSpPr txBox="1"/>
          <p:nvPr/>
        </p:nvSpPr>
        <p:spPr>
          <a:xfrm>
            <a:off x="446567" y="4915235"/>
            <a:ext cx="8122398" cy="1200329"/>
          </a:xfrm>
          <a:prstGeom prst="rect">
            <a:avLst/>
          </a:prstGeom>
          <a:noFill/>
        </p:spPr>
        <p:txBody>
          <a:bodyPr wrap="square">
            <a:spAutoFit/>
          </a:bodyPr>
          <a:lstStyle/>
          <a:p>
            <a:pPr algn="just"/>
            <a:r>
              <a:rPr lang="en-US" sz="2400" dirty="0"/>
              <a:t>Since there is a triangle, at least 3 colors are needed. Clearly 3 colors suffice, since we can color a and c the same color.</a:t>
            </a:r>
            <a:endParaRPr lang="en-IN" sz="2400" dirty="0"/>
          </a:p>
        </p:txBody>
      </p:sp>
    </p:spTree>
    <p:extLst>
      <p:ext uri="{BB962C8B-B14F-4D97-AF65-F5344CB8AC3E}">
        <p14:creationId xmlns:p14="http://schemas.microsoft.com/office/powerpoint/2010/main" val="78297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Chromatic Number </a:t>
            </a:r>
          </a:p>
        </p:txBody>
      </p:sp>
      <p:sp>
        <p:nvSpPr>
          <p:cNvPr id="4" name="Title 1">
            <a:extLst>
              <a:ext uri="{FF2B5EF4-FFF2-40B4-BE49-F238E27FC236}">
                <a16:creationId xmlns:a16="http://schemas.microsoft.com/office/drawing/2014/main" id="{93FB1AF2-AEAB-4044-AA65-514A682E59D2}"/>
              </a:ext>
            </a:extLst>
          </p:cNvPr>
          <p:cNvSpPr txBox="1">
            <a:spLocks/>
          </p:cNvSpPr>
          <p:nvPr/>
        </p:nvSpPr>
        <p:spPr>
          <a:xfrm>
            <a:off x="609600" y="1075918"/>
            <a:ext cx="659247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effectLst>
                  <a:outerShdw blurRad="38100" dist="38100" dir="2700000" algn="tl">
                    <a:srgbClr val="000000">
                      <a:alpha val="43137"/>
                    </a:srgbClr>
                  </a:outerShdw>
                </a:effectLst>
                <a:latin typeface="+mj-lt"/>
                <a:ea typeface="+mj-ea"/>
                <a:cs typeface="+mj-cs"/>
              </a:defRPr>
            </a:lvl1pPr>
          </a:lstStyle>
          <a:p>
            <a:r>
              <a:rPr lang="en-US" sz="2400" dirty="0">
                <a:solidFill>
                  <a:schemeClr val="tx1"/>
                </a:solidFill>
                <a:effectLst/>
                <a:latin typeface="+mn-lt"/>
                <a:ea typeface="+mn-ea"/>
                <a:cs typeface="+mn-cs"/>
              </a:rPr>
              <a:t>Find the chromatic number of the given graph.</a:t>
            </a:r>
            <a:endParaRPr lang="en-IN" sz="2400" dirty="0">
              <a:solidFill>
                <a:schemeClr val="tx1"/>
              </a:solidFill>
              <a:effectLst/>
              <a:latin typeface="+mn-lt"/>
              <a:ea typeface="+mn-ea"/>
              <a:cs typeface="+mn-cs"/>
            </a:endParaRPr>
          </a:p>
        </p:txBody>
      </p:sp>
      <p:pic>
        <p:nvPicPr>
          <p:cNvPr id="5" name="Content Placeholder 7">
            <a:extLst>
              <a:ext uri="{FF2B5EF4-FFF2-40B4-BE49-F238E27FC236}">
                <a16:creationId xmlns:a16="http://schemas.microsoft.com/office/drawing/2014/main" id="{65331C8B-1B6C-4005-BE26-0AE69FB2059C}"/>
              </a:ext>
            </a:extLst>
          </p:cNvPr>
          <p:cNvPicPr>
            <a:picLocks noChangeAspect="1"/>
          </p:cNvPicPr>
          <p:nvPr/>
        </p:nvPicPr>
        <p:blipFill>
          <a:blip r:embed="rId2" cstate="print"/>
          <a:stretch>
            <a:fillRect/>
          </a:stretch>
        </p:blipFill>
        <p:spPr>
          <a:xfrm>
            <a:off x="3033664" y="1924240"/>
            <a:ext cx="3224156" cy="3078162"/>
          </a:xfrm>
          <a:prstGeom prst="rect">
            <a:avLst/>
          </a:prstGeom>
        </p:spPr>
      </p:pic>
      <p:sp>
        <p:nvSpPr>
          <p:cNvPr id="6" name="TextBox 5">
            <a:extLst>
              <a:ext uri="{FF2B5EF4-FFF2-40B4-BE49-F238E27FC236}">
                <a16:creationId xmlns:a16="http://schemas.microsoft.com/office/drawing/2014/main" id="{D3373C8D-30EE-46BB-B854-B0488FA879F2}"/>
              </a:ext>
            </a:extLst>
          </p:cNvPr>
          <p:cNvSpPr txBox="1"/>
          <p:nvPr/>
        </p:nvSpPr>
        <p:spPr>
          <a:xfrm>
            <a:off x="531629" y="5258736"/>
            <a:ext cx="7825562" cy="1200329"/>
          </a:xfrm>
          <a:prstGeom prst="rect">
            <a:avLst/>
          </a:prstGeom>
          <a:noFill/>
        </p:spPr>
        <p:txBody>
          <a:bodyPr wrap="square">
            <a:spAutoFit/>
          </a:bodyPr>
          <a:lstStyle/>
          <a:p>
            <a:pPr algn="just"/>
            <a:r>
              <a:rPr lang="en-US" sz="2400" dirty="0"/>
              <a:t>Since there is a triangle, at least 3 colors are needed. Clearly 3 colors suffice, since we can color a and c the same color.</a:t>
            </a:r>
            <a:endParaRPr lang="en-IN" sz="2400" dirty="0"/>
          </a:p>
        </p:txBody>
      </p:sp>
    </p:spTree>
    <p:extLst>
      <p:ext uri="{BB962C8B-B14F-4D97-AF65-F5344CB8AC3E}">
        <p14:creationId xmlns:p14="http://schemas.microsoft.com/office/powerpoint/2010/main" val="162541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Chromatic Number </a:t>
            </a:r>
          </a:p>
        </p:txBody>
      </p:sp>
      <p:sp>
        <p:nvSpPr>
          <p:cNvPr id="4" name="Title 1">
            <a:extLst>
              <a:ext uri="{FF2B5EF4-FFF2-40B4-BE49-F238E27FC236}">
                <a16:creationId xmlns:a16="http://schemas.microsoft.com/office/drawing/2014/main" id="{93FB1AF2-AEAB-4044-AA65-514A682E59D2}"/>
              </a:ext>
            </a:extLst>
          </p:cNvPr>
          <p:cNvSpPr txBox="1">
            <a:spLocks/>
          </p:cNvSpPr>
          <p:nvPr/>
        </p:nvSpPr>
        <p:spPr>
          <a:xfrm>
            <a:off x="609600" y="1075918"/>
            <a:ext cx="659247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effectLst>
                  <a:outerShdw blurRad="38100" dist="38100" dir="2700000" algn="tl">
                    <a:srgbClr val="000000">
                      <a:alpha val="43137"/>
                    </a:srgbClr>
                  </a:outerShdw>
                </a:effectLst>
                <a:latin typeface="+mj-lt"/>
                <a:ea typeface="+mj-ea"/>
                <a:cs typeface="+mj-cs"/>
              </a:defRPr>
            </a:lvl1pPr>
          </a:lstStyle>
          <a:p>
            <a:r>
              <a:rPr lang="en-US" sz="2400" dirty="0">
                <a:solidFill>
                  <a:schemeClr val="tx1"/>
                </a:solidFill>
                <a:effectLst/>
                <a:latin typeface="+mn-lt"/>
              </a:rPr>
              <a:t>Find the chromatic number of the given graph.</a:t>
            </a:r>
            <a:endParaRPr lang="en-IN" sz="2400" dirty="0">
              <a:solidFill>
                <a:schemeClr val="tx1"/>
              </a:solidFill>
              <a:effectLst/>
              <a:latin typeface="+mn-lt"/>
            </a:endParaRPr>
          </a:p>
        </p:txBody>
      </p:sp>
      <p:sp>
        <p:nvSpPr>
          <p:cNvPr id="6" name="TextBox 5">
            <a:extLst>
              <a:ext uri="{FF2B5EF4-FFF2-40B4-BE49-F238E27FC236}">
                <a16:creationId xmlns:a16="http://schemas.microsoft.com/office/drawing/2014/main" id="{D3373C8D-30EE-46BB-B854-B0488FA879F2}"/>
              </a:ext>
            </a:extLst>
          </p:cNvPr>
          <p:cNvSpPr txBox="1"/>
          <p:nvPr/>
        </p:nvSpPr>
        <p:spPr>
          <a:xfrm>
            <a:off x="701748" y="4875966"/>
            <a:ext cx="7889359" cy="1200329"/>
          </a:xfrm>
          <a:prstGeom prst="rect">
            <a:avLst/>
          </a:prstGeom>
          <a:noFill/>
        </p:spPr>
        <p:txBody>
          <a:bodyPr wrap="square">
            <a:spAutoFit/>
          </a:bodyPr>
          <a:lstStyle/>
          <a:p>
            <a:pPr algn="just"/>
            <a:r>
              <a:rPr lang="en-US" sz="2400" dirty="0"/>
              <a:t>Since there is an edge, at least 2 colors are needed. The coloring in which b, d, and e are red and a and c blue shows that 2 colors suffice.</a:t>
            </a:r>
          </a:p>
        </p:txBody>
      </p:sp>
      <p:pic>
        <p:nvPicPr>
          <p:cNvPr id="7" name="Picture 6">
            <a:extLst>
              <a:ext uri="{FF2B5EF4-FFF2-40B4-BE49-F238E27FC236}">
                <a16:creationId xmlns:a16="http://schemas.microsoft.com/office/drawing/2014/main" id="{81CBF12C-03AB-4488-9F6D-35BB17CE7029}"/>
              </a:ext>
            </a:extLst>
          </p:cNvPr>
          <p:cNvPicPr>
            <a:picLocks noChangeAspect="1"/>
          </p:cNvPicPr>
          <p:nvPr/>
        </p:nvPicPr>
        <p:blipFill>
          <a:blip r:embed="rId2" cstate="print"/>
          <a:stretch>
            <a:fillRect/>
          </a:stretch>
        </p:blipFill>
        <p:spPr>
          <a:xfrm>
            <a:off x="3094734" y="2175294"/>
            <a:ext cx="3102015" cy="2507411"/>
          </a:xfrm>
          <a:prstGeom prst="rect">
            <a:avLst/>
          </a:prstGeom>
        </p:spPr>
      </p:pic>
    </p:spTree>
    <p:extLst>
      <p:ext uri="{BB962C8B-B14F-4D97-AF65-F5344CB8AC3E}">
        <p14:creationId xmlns:p14="http://schemas.microsoft.com/office/powerpoint/2010/main" val="3353794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FAD3-0440-4DAE-9420-1E8A604DB4F5}"/>
              </a:ext>
            </a:extLst>
          </p:cNvPr>
          <p:cNvSpPr>
            <a:spLocks noGrp="1"/>
          </p:cNvSpPr>
          <p:nvPr>
            <p:ph type="title"/>
          </p:nvPr>
        </p:nvSpPr>
        <p:spPr/>
        <p:txBody>
          <a:bodyPr/>
          <a:lstStyle/>
          <a:p>
            <a:r>
              <a:rPr lang="en-IN" dirty="0"/>
              <a:t>Coloring Graphs – Chromatic Number </a:t>
            </a:r>
          </a:p>
        </p:txBody>
      </p:sp>
      <p:sp>
        <p:nvSpPr>
          <p:cNvPr id="4" name="Title 1">
            <a:extLst>
              <a:ext uri="{FF2B5EF4-FFF2-40B4-BE49-F238E27FC236}">
                <a16:creationId xmlns:a16="http://schemas.microsoft.com/office/drawing/2014/main" id="{93FB1AF2-AEAB-4044-AA65-514A682E59D2}"/>
              </a:ext>
            </a:extLst>
          </p:cNvPr>
          <p:cNvSpPr txBox="1">
            <a:spLocks/>
          </p:cNvSpPr>
          <p:nvPr/>
        </p:nvSpPr>
        <p:spPr>
          <a:xfrm>
            <a:off x="609600" y="1075918"/>
            <a:ext cx="6592478"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a:solidFill>
                  <a:schemeClr val="bg1"/>
                </a:solidFill>
                <a:effectLst>
                  <a:outerShdw blurRad="38100" dist="38100" dir="2700000" algn="tl">
                    <a:srgbClr val="000000">
                      <a:alpha val="43137"/>
                    </a:srgbClr>
                  </a:outerShdw>
                </a:effectLst>
                <a:latin typeface="+mj-lt"/>
                <a:ea typeface="+mj-ea"/>
                <a:cs typeface="+mj-cs"/>
              </a:defRPr>
            </a:lvl1pPr>
          </a:lstStyle>
          <a:p>
            <a:pPr algn="just"/>
            <a:r>
              <a:rPr lang="en-US" sz="2400" dirty="0">
                <a:solidFill>
                  <a:schemeClr val="tx1"/>
                </a:solidFill>
                <a:effectLst/>
                <a:latin typeface="+mn-lt"/>
              </a:rPr>
              <a:t>Find the chromatic number of the given graph.</a:t>
            </a:r>
            <a:endParaRPr lang="en-IN" sz="2400" dirty="0">
              <a:solidFill>
                <a:schemeClr val="tx1"/>
              </a:solidFill>
              <a:effectLst/>
              <a:latin typeface="+mn-lt"/>
            </a:endParaRPr>
          </a:p>
        </p:txBody>
      </p:sp>
      <p:sp>
        <p:nvSpPr>
          <p:cNvPr id="6" name="TextBox 5">
            <a:extLst>
              <a:ext uri="{FF2B5EF4-FFF2-40B4-BE49-F238E27FC236}">
                <a16:creationId xmlns:a16="http://schemas.microsoft.com/office/drawing/2014/main" id="{D3373C8D-30EE-46BB-B854-B0488FA879F2}"/>
              </a:ext>
            </a:extLst>
          </p:cNvPr>
          <p:cNvSpPr txBox="1"/>
          <p:nvPr/>
        </p:nvSpPr>
        <p:spPr>
          <a:xfrm>
            <a:off x="531628" y="4875966"/>
            <a:ext cx="8232664" cy="1569660"/>
          </a:xfrm>
          <a:prstGeom prst="rect">
            <a:avLst/>
          </a:prstGeom>
          <a:noFill/>
        </p:spPr>
        <p:txBody>
          <a:bodyPr wrap="square">
            <a:spAutoFit/>
          </a:bodyPr>
          <a:lstStyle/>
          <a:p>
            <a:pPr algn="just"/>
            <a:r>
              <a:rPr lang="en-US" sz="2400" dirty="0"/>
              <a:t>Since there is a triangle, at least 3 colors are needed. It is not hard to construct a 3-coloring. We can let a, f, h, j, and n be blue; let b, d, g, k, and m be green; and let c, e, </a:t>
            </a:r>
            <a:r>
              <a:rPr lang="en-US" sz="2400" dirty="0" err="1"/>
              <a:t>i</a:t>
            </a:r>
            <a:r>
              <a:rPr lang="en-US" sz="2400" dirty="0"/>
              <a:t>, l, and o be yellow.</a:t>
            </a:r>
          </a:p>
        </p:txBody>
      </p:sp>
      <p:pic>
        <p:nvPicPr>
          <p:cNvPr id="10" name="Picture 9">
            <a:extLst>
              <a:ext uri="{FF2B5EF4-FFF2-40B4-BE49-F238E27FC236}">
                <a16:creationId xmlns:a16="http://schemas.microsoft.com/office/drawing/2014/main" id="{C719298A-40AB-4AB4-BF0F-CF2AE0E07715}"/>
              </a:ext>
            </a:extLst>
          </p:cNvPr>
          <p:cNvPicPr>
            <a:picLocks noChangeAspect="1"/>
          </p:cNvPicPr>
          <p:nvPr/>
        </p:nvPicPr>
        <p:blipFill>
          <a:blip r:embed="rId2" cstate="print"/>
          <a:stretch>
            <a:fillRect/>
          </a:stretch>
        </p:blipFill>
        <p:spPr>
          <a:xfrm>
            <a:off x="1941922" y="2141880"/>
            <a:ext cx="5324354" cy="2398143"/>
          </a:xfrm>
          <a:prstGeom prst="rect">
            <a:avLst/>
          </a:prstGeom>
        </p:spPr>
      </p:pic>
    </p:spTree>
    <p:extLst>
      <p:ext uri="{BB962C8B-B14F-4D97-AF65-F5344CB8AC3E}">
        <p14:creationId xmlns:p14="http://schemas.microsoft.com/office/powerpoint/2010/main" val="86892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81241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yFont">
      <a:majorFont>
        <a:latin typeface="Bahnschrift SemiBold"/>
        <a:ea typeface=""/>
        <a:cs typeface=""/>
      </a:majorFont>
      <a:minorFont>
        <a:latin typeface="Bahnschrif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9959</TotalTime>
  <Words>743</Words>
  <Application>Microsoft Office PowerPoint</Application>
  <PresentationFormat>On-screen Show (4:3)</PresentationFormat>
  <Paragraphs>81</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vt:lpstr>
      <vt:lpstr>Bahnschrift</vt:lpstr>
      <vt:lpstr>Bahnschrift SemiBold</vt:lpstr>
      <vt:lpstr>Calibri</vt:lpstr>
      <vt:lpstr>Tahoma</vt:lpstr>
      <vt:lpstr>Office Theme</vt:lpstr>
      <vt:lpstr>EMTH403</vt:lpstr>
      <vt:lpstr>Lecture Outcomes</vt:lpstr>
      <vt:lpstr>Coloring Graphs</vt:lpstr>
      <vt:lpstr>Coloring Graphs</vt:lpstr>
      <vt:lpstr>Coloring Graphs - Trees</vt:lpstr>
      <vt:lpstr>Coloring Graphs - Trees</vt:lpstr>
      <vt:lpstr>Coloring Graphs - 2-Colourable Graphs</vt:lpstr>
      <vt:lpstr>Coloring Graphs - Bipartite Graphs</vt:lpstr>
      <vt:lpstr>Coloring Graphs –  Application in Exam Scheduling</vt:lpstr>
      <vt:lpstr>Coloring Graphs –  Application in Exam Scheduling</vt:lpstr>
      <vt:lpstr>Coloring Graphs –  Application in Scheduling</vt:lpstr>
      <vt:lpstr>Coloring Graphs –  Application in Scheduling</vt:lpstr>
      <vt:lpstr>Coloring Graphs – Chromatic Number </vt:lpstr>
      <vt:lpstr>Coloring Graphs – Chromatic Number </vt:lpstr>
      <vt:lpstr>Coloring Graphs – Chromatic Number </vt:lpstr>
      <vt:lpstr>Coloring Graphs – Chromatic Number </vt:lpstr>
      <vt:lpstr>Coloring Graphs – Chromatic Number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Nitin Mishra</dc:creator>
  <cp:lastModifiedBy>Arpit Thakur</cp:lastModifiedBy>
  <cp:revision>1557</cp:revision>
  <dcterms:created xsi:type="dcterms:W3CDTF">2020-12-04T05:20:56Z</dcterms:created>
  <dcterms:modified xsi:type="dcterms:W3CDTF">2021-01-27T04:50:32Z</dcterms:modified>
</cp:coreProperties>
</file>