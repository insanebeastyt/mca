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410" r:id="rId4"/>
    <p:sldId id="409" r:id="rId5"/>
    <p:sldId id="411" r:id="rId6"/>
    <p:sldId id="412" r:id="rId7"/>
    <p:sldId id="413" r:id="rId8"/>
    <p:sldId id="414" r:id="rId9"/>
    <p:sldId id="415" r:id="rId10"/>
    <p:sldId id="416" r:id="rId11"/>
    <p:sldId id="418" r:id="rId12"/>
    <p:sldId id="419" r:id="rId13"/>
    <p:sldId id="420" r:id="rId14"/>
    <p:sldId id="417" r:id="rId15"/>
    <p:sldId id="421" r:id="rId16"/>
    <p:sldId id="422" r:id="rId17"/>
    <p:sldId id="423" r:id="rId18"/>
    <p:sldId id="25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410"/>
            <p14:sldId id="409"/>
            <p14:sldId id="411"/>
            <p14:sldId id="412"/>
            <p14:sldId id="413"/>
            <p14:sldId id="414"/>
            <p14:sldId id="415"/>
            <p14:sldId id="416"/>
            <p14:sldId id="418"/>
            <p14:sldId id="419"/>
            <p14:sldId id="420"/>
            <p14:sldId id="417"/>
            <p14:sldId id="421"/>
            <p14:sldId id="422"/>
            <p14:sldId id="423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8.62069" units="1/cm"/>
          <inkml:channelProperty channel="T" name="resolution" value="1" units="1/dev"/>
        </inkml:channelProperties>
      </inkml:inkSource>
      <inkml:timestamp xml:id="ts0" timeString="2021-01-14T06:58:50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3829 13946 0,'0'0'0,"0"0"0,0 0 16,-10 0-16,-18 9 15,28-9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14-01-2021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are isomorphic graph</a:t>
            </a:r>
          </a:p>
          <a:p>
            <a:r>
              <a:rPr lang="en-US" dirty="0"/>
              <a:t>understand what </a:t>
            </a:r>
            <a:r>
              <a:rPr lang="en-IN" dirty="0"/>
              <a:t>is an isomorphism.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5DE4C-CE71-43C7-8942-D1C932C2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67DB-CB6B-48AB-8145-05571D5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u="none" strike="noStrike" baseline="0" dirty="0"/>
              <a:t>The simple graphs G</a:t>
            </a:r>
            <a:r>
              <a:rPr lang="en-US" sz="2400" b="0" u="none" strike="noStrike" baseline="-25000" dirty="0"/>
              <a:t>1</a:t>
            </a:r>
            <a:r>
              <a:rPr lang="en-US" sz="2400" b="0" u="none" strike="noStrike" baseline="0" dirty="0"/>
              <a:t> = (V</a:t>
            </a:r>
            <a:r>
              <a:rPr lang="en-US" sz="2400" b="0" u="none" strike="noStrike" baseline="-25000" dirty="0"/>
              <a:t>1</a:t>
            </a:r>
            <a:r>
              <a:rPr lang="en-US" sz="2400" b="0" u="none" strike="noStrike" baseline="0" dirty="0"/>
              <a:t>,E</a:t>
            </a:r>
            <a:r>
              <a:rPr lang="en-US" sz="2400" b="0" u="none" strike="noStrike" baseline="-25000" dirty="0"/>
              <a:t>1</a:t>
            </a:r>
            <a:r>
              <a:rPr lang="en-US" sz="2400" b="0" u="none" strike="noStrike" baseline="0" dirty="0"/>
              <a:t>) and G</a:t>
            </a:r>
            <a:r>
              <a:rPr lang="en-US" sz="2400" b="0" u="none" strike="noStrike" baseline="-25000" dirty="0"/>
              <a:t>2</a:t>
            </a:r>
            <a:r>
              <a:rPr lang="en-US" sz="2400" b="0" u="none" strike="noStrike" baseline="0" dirty="0"/>
              <a:t> = (V</a:t>
            </a:r>
            <a:r>
              <a:rPr lang="en-US" sz="2400" b="0" u="none" strike="noStrike" baseline="-25000" dirty="0"/>
              <a:t>2</a:t>
            </a:r>
            <a:r>
              <a:rPr lang="en-US" sz="2400" b="0" u="none" strike="noStrike" baseline="0" dirty="0"/>
              <a:t>,E</a:t>
            </a:r>
            <a:r>
              <a:rPr lang="en-US" sz="2400" b="0" u="none" strike="noStrike" baseline="-25000" dirty="0"/>
              <a:t>2</a:t>
            </a:r>
            <a:r>
              <a:rPr lang="en-US" sz="2400" b="0" u="none" strike="noStrike" baseline="0" dirty="0"/>
              <a:t>) are isomorphic if there exists a one to-one and onto function f from V</a:t>
            </a:r>
            <a:r>
              <a:rPr lang="en-US" sz="2400" b="0" u="none" strike="noStrike" baseline="-25000" dirty="0"/>
              <a:t>1</a:t>
            </a:r>
            <a:r>
              <a:rPr lang="en-US" sz="2400" b="0" u="none" strike="noStrike" baseline="0" dirty="0"/>
              <a:t> to V</a:t>
            </a:r>
            <a:r>
              <a:rPr lang="en-US" sz="2400" b="0" u="none" strike="noStrike" baseline="-25000" dirty="0"/>
              <a:t>2</a:t>
            </a:r>
            <a:r>
              <a:rPr lang="en-US" sz="2400" b="0" u="none" strike="noStrike" baseline="0" dirty="0"/>
              <a:t> with the property that a and b are adjacent in G1 if and only if f (a) and f (b) are adjacent inG</a:t>
            </a:r>
            <a:r>
              <a:rPr lang="en-US" sz="2400" b="0" u="none" strike="noStrike" baseline="-25000" dirty="0"/>
              <a:t>2</a:t>
            </a:r>
            <a:r>
              <a:rPr lang="en-US" sz="2400" b="0" u="none" strike="noStrike" baseline="0" dirty="0"/>
              <a:t>, for all a and b in V</a:t>
            </a:r>
            <a:r>
              <a:rPr lang="en-US" sz="2400" b="0" u="none" strike="noStrike" baseline="-25000" dirty="0"/>
              <a:t>1</a:t>
            </a:r>
            <a:r>
              <a:rPr lang="en-US" sz="2400" b="0" u="none" strike="noStrike" baseline="0" dirty="0"/>
              <a:t>. </a:t>
            </a:r>
          </a:p>
          <a:p>
            <a:pPr marL="0" indent="0" algn="l">
              <a:buNone/>
            </a:pPr>
            <a:endParaRPr lang="en-US" sz="2400" b="0" u="none" strike="noStrike" baseline="0" dirty="0"/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b="0" u="none" strike="noStrike" baseline="0" dirty="0"/>
              <a:t>Such a function f is called an isomorphism.∗ Two simple graphs that are not isomorphic are called non-isomorphic.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634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6C88C71E-E27D-48F6-9FB4-2AFD2B60779A}"/>
              </a:ext>
            </a:extLst>
          </p:cNvPr>
          <p:cNvSpPr txBox="1">
            <a:spLocks noChangeArrowheads="1"/>
          </p:cNvSpPr>
          <p:nvPr/>
        </p:nvSpPr>
        <p:spPr>
          <a:xfrm>
            <a:off x="301487" y="1272210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dirty="0"/>
              <a:t>Are these two graphs isomorphic?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C44C897A-5CCB-4727-87F6-657C5FD59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87" y="4472610"/>
            <a:ext cx="8686800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742950" lvl="1" indent="-285750">
              <a:lnSpc>
                <a:spcPct val="90000"/>
              </a:lnSpc>
              <a:buFontTx/>
              <a:buChar char="–"/>
              <a:defRPr/>
            </a:pPr>
            <a:r>
              <a:rPr lang="en-US" sz="2800" dirty="0"/>
              <a:t>They both have 5 vertices</a:t>
            </a:r>
          </a:p>
          <a:p>
            <a:pPr marL="742950" lvl="1" indent="-285750">
              <a:lnSpc>
                <a:spcPct val="90000"/>
              </a:lnSpc>
              <a:buFontTx/>
              <a:buChar char="–"/>
              <a:defRPr/>
            </a:pPr>
            <a:r>
              <a:rPr lang="en-US" sz="2800" dirty="0"/>
              <a:t>They both have 8 edges</a:t>
            </a:r>
          </a:p>
          <a:p>
            <a:pPr marL="742950" lvl="1" indent="-285750">
              <a:lnSpc>
                <a:spcPct val="90000"/>
              </a:lnSpc>
              <a:buFontTx/>
              <a:buChar char="–"/>
              <a:defRPr/>
            </a:pPr>
            <a:r>
              <a:rPr lang="en-US" sz="2800" dirty="0"/>
              <a:t>They have the same number of vertices with the same degrees:  2, 3, 3, 4, 4.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06B038-60E2-4B64-80CA-0DADCC133F70}"/>
              </a:ext>
            </a:extLst>
          </p:cNvPr>
          <p:cNvGrpSpPr/>
          <p:nvPr/>
        </p:nvGrpSpPr>
        <p:grpSpPr>
          <a:xfrm>
            <a:off x="1447263" y="2109504"/>
            <a:ext cx="5430615" cy="1193935"/>
            <a:chOff x="1355340" y="1888327"/>
            <a:chExt cx="6605130" cy="2136612"/>
          </a:xfrm>
        </p:grpSpPr>
        <p:grpSp>
          <p:nvGrpSpPr>
            <p:cNvPr id="32" name="Group 5">
              <a:extLst>
                <a:ext uri="{FF2B5EF4-FFF2-40B4-BE49-F238E27FC236}">
                  <a16:creationId xmlns:a16="http://schemas.microsoft.com/office/drawing/2014/main" id="{060D3BFE-79B1-4F4C-AF09-8DFB48C792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33" name="Oval 6">
                <a:extLst>
                  <a:ext uri="{FF2B5EF4-FFF2-40B4-BE49-F238E27FC236}">
                    <a16:creationId xmlns:a16="http://schemas.microsoft.com/office/drawing/2014/main" id="{78F510DC-E83B-49C4-8B8D-5114D0A312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4" name="Rectangle 7">
                <a:extLst>
                  <a:ext uri="{FF2B5EF4-FFF2-40B4-BE49-F238E27FC236}">
                    <a16:creationId xmlns:a16="http://schemas.microsoft.com/office/drawing/2014/main" id="{E5F296CA-A440-4530-AF7D-DC37DECF6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5" name="Line 8">
                <a:extLst>
                  <a:ext uri="{FF2B5EF4-FFF2-40B4-BE49-F238E27FC236}">
                    <a16:creationId xmlns:a16="http://schemas.microsoft.com/office/drawing/2014/main" id="{16DBBEA0-9448-4C1B-98F2-2724BED24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6" name="Line 9">
                <a:extLst>
                  <a:ext uri="{FF2B5EF4-FFF2-40B4-BE49-F238E27FC236}">
                    <a16:creationId xmlns:a16="http://schemas.microsoft.com/office/drawing/2014/main" id="{4FD1BDB9-A4F6-42C4-B108-BDDD5516A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7" name="Line 10">
                <a:extLst>
                  <a:ext uri="{FF2B5EF4-FFF2-40B4-BE49-F238E27FC236}">
                    <a16:creationId xmlns:a16="http://schemas.microsoft.com/office/drawing/2014/main" id="{68EF3679-BE90-45C2-9602-9A0EC64CB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8" name="Line 11">
                <a:extLst>
                  <a:ext uri="{FF2B5EF4-FFF2-40B4-BE49-F238E27FC236}">
                    <a16:creationId xmlns:a16="http://schemas.microsoft.com/office/drawing/2014/main" id="{5E161DDC-2F7A-4FA7-8F80-F1D987592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39" name="Oval 12">
                <a:extLst>
                  <a:ext uri="{FF2B5EF4-FFF2-40B4-BE49-F238E27FC236}">
                    <a16:creationId xmlns:a16="http://schemas.microsoft.com/office/drawing/2014/main" id="{8B349006-8074-4CCB-A717-2E347FC16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0" name="Oval 13">
                <a:extLst>
                  <a:ext uri="{FF2B5EF4-FFF2-40B4-BE49-F238E27FC236}">
                    <a16:creationId xmlns:a16="http://schemas.microsoft.com/office/drawing/2014/main" id="{7EEA07EB-569B-4696-9AC3-D1970F60F5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41" name="Oval 14">
                <a:extLst>
                  <a:ext uri="{FF2B5EF4-FFF2-40B4-BE49-F238E27FC236}">
                    <a16:creationId xmlns:a16="http://schemas.microsoft.com/office/drawing/2014/main" id="{13A237B9-F050-4E4B-882C-5A7D0E141F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2" name="Oval 15">
                <a:extLst>
                  <a:ext uri="{FF2B5EF4-FFF2-40B4-BE49-F238E27FC236}">
                    <a16:creationId xmlns:a16="http://schemas.microsoft.com/office/drawing/2014/main" id="{0D3790D0-9E1E-4808-B3EC-385DD90437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43" name="Oval 16">
                <a:extLst>
                  <a:ext uri="{FF2B5EF4-FFF2-40B4-BE49-F238E27FC236}">
                    <a16:creationId xmlns:a16="http://schemas.microsoft.com/office/drawing/2014/main" id="{DF4DE977-DA25-45C4-B10B-BB9F754BC3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4" name="Oval 17">
                <a:extLst>
                  <a:ext uri="{FF2B5EF4-FFF2-40B4-BE49-F238E27FC236}">
                    <a16:creationId xmlns:a16="http://schemas.microsoft.com/office/drawing/2014/main" id="{FE5CBAD7-4523-4BA0-A76C-222D434C32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5" name="Oval 18">
                <a:extLst>
                  <a:ext uri="{FF2B5EF4-FFF2-40B4-BE49-F238E27FC236}">
                    <a16:creationId xmlns:a16="http://schemas.microsoft.com/office/drawing/2014/main" id="{A2D8EC17-85B3-4182-A0B9-BBF1E4732A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6" name="Oval 19">
                <a:extLst>
                  <a:ext uri="{FF2B5EF4-FFF2-40B4-BE49-F238E27FC236}">
                    <a16:creationId xmlns:a16="http://schemas.microsoft.com/office/drawing/2014/main" id="{40C02566-01AE-4D76-A1AA-566F45ECEF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47" name="Group 20">
                <a:extLst>
                  <a:ext uri="{FF2B5EF4-FFF2-40B4-BE49-F238E27FC236}">
                    <a16:creationId xmlns:a16="http://schemas.microsoft.com/office/drawing/2014/main" id="{B530966E-E34B-4C31-8223-998B75817E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52" name="Line 21">
                  <a:extLst>
                    <a:ext uri="{FF2B5EF4-FFF2-40B4-BE49-F238E27FC236}">
                      <a16:creationId xmlns:a16="http://schemas.microsoft.com/office/drawing/2014/main" id="{79945185-16FC-47DA-8942-BB18CA42A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3" name="Line 22">
                  <a:extLst>
                    <a:ext uri="{FF2B5EF4-FFF2-40B4-BE49-F238E27FC236}">
                      <a16:creationId xmlns:a16="http://schemas.microsoft.com/office/drawing/2014/main" id="{F8C05AF2-443C-47DC-80C2-7FADD56283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4" name="Line 23">
                  <a:extLst>
                    <a:ext uri="{FF2B5EF4-FFF2-40B4-BE49-F238E27FC236}">
                      <a16:creationId xmlns:a16="http://schemas.microsoft.com/office/drawing/2014/main" id="{71950EA5-1CB1-42E0-A76D-ADC4207E63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5" name="Line 24">
                  <a:extLst>
                    <a:ext uri="{FF2B5EF4-FFF2-40B4-BE49-F238E27FC236}">
                      <a16:creationId xmlns:a16="http://schemas.microsoft.com/office/drawing/2014/main" id="{DF7BB5AD-8C9A-4781-8BA1-F9DF495AB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6" name="Line 25">
                  <a:extLst>
                    <a:ext uri="{FF2B5EF4-FFF2-40B4-BE49-F238E27FC236}">
                      <a16:creationId xmlns:a16="http://schemas.microsoft.com/office/drawing/2014/main" id="{42D64834-5A29-4CDC-ACDE-EF2593F71F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7" name="Line 26">
                  <a:extLst>
                    <a:ext uri="{FF2B5EF4-FFF2-40B4-BE49-F238E27FC236}">
                      <a16:creationId xmlns:a16="http://schemas.microsoft.com/office/drawing/2014/main" id="{A3DA53F6-E0CE-4A83-9FD3-95635EF03D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8" name="Line 27">
                  <a:extLst>
                    <a:ext uri="{FF2B5EF4-FFF2-40B4-BE49-F238E27FC236}">
                      <a16:creationId xmlns:a16="http://schemas.microsoft.com/office/drawing/2014/main" id="{77414FAF-B0BC-4B03-B64C-F6414ADA0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59" name="Line 28">
                  <a:extLst>
                    <a:ext uri="{FF2B5EF4-FFF2-40B4-BE49-F238E27FC236}">
                      <a16:creationId xmlns:a16="http://schemas.microsoft.com/office/drawing/2014/main" id="{414711DE-E611-4867-B1AC-D078930CD5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48" name="Oval 29">
                <a:extLst>
                  <a:ext uri="{FF2B5EF4-FFF2-40B4-BE49-F238E27FC236}">
                    <a16:creationId xmlns:a16="http://schemas.microsoft.com/office/drawing/2014/main" id="{C692FB5F-BC07-40B9-B62A-D17E5F3E0C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49" name="Text Box 30">
                <a:extLst>
                  <a:ext uri="{FF2B5EF4-FFF2-40B4-BE49-F238E27FC236}">
                    <a16:creationId xmlns:a16="http://schemas.microsoft.com/office/drawing/2014/main" id="{1B7ED803-032A-4A60-832E-EC0D250AAA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50" name="Text Box 31">
                <a:extLst>
                  <a:ext uri="{FF2B5EF4-FFF2-40B4-BE49-F238E27FC236}">
                    <a16:creationId xmlns:a16="http://schemas.microsoft.com/office/drawing/2014/main" id="{548857FB-4695-48E8-A48F-DA2C306EBD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1" name="Text Box 32">
                <a:extLst>
                  <a:ext uri="{FF2B5EF4-FFF2-40B4-BE49-F238E27FC236}">
                    <a16:creationId xmlns:a16="http://schemas.microsoft.com/office/drawing/2014/main" id="{3797440D-710A-48C4-8907-D7061D637E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03596B-4287-490D-A832-DAA0902B4342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08BB0D8-E84E-4036-85A0-EC943B35A033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7BBA6D9-3AB1-44A5-9396-263A5D5B1CD9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9B48A2B-9A57-4A9B-ACA8-5ED49ECF83F4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2B56DBB-D388-486A-9C55-AE6A309630B5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37AF9B6-373B-4A5D-9DAB-2A9173256C4C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C68E68-A1E8-41D2-BFB8-CEEB611087B2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1C3B40-6448-4A3A-B534-1DB0DDA4DF37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AC5AD67-AC57-41A5-8B17-AB229F36C701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5F23DE9-9A6C-4CEA-AD45-57F51B4805D8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69" name="Text Box 30">
              <a:extLst>
                <a:ext uri="{FF2B5EF4-FFF2-40B4-BE49-F238E27FC236}">
                  <a16:creationId xmlns:a16="http://schemas.microsoft.com/office/drawing/2014/main" id="{A9F51BBC-6E7C-4854-B8CB-C4BD3A9EF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051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" name="Text Box 3">
            <a:extLst>
              <a:ext uri="{FF2B5EF4-FFF2-40B4-BE49-F238E27FC236}">
                <a16:creationId xmlns:a16="http://schemas.microsoft.com/office/drawing/2014/main" id="{3EE90C75-7A27-4D69-AF94-8A1CE2A65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01" y="2878073"/>
            <a:ext cx="224773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102" name="Text Box 4">
            <a:extLst>
              <a:ext uri="{FF2B5EF4-FFF2-40B4-BE49-F238E27FC236}">
                <a16:creationId xmlns:a16="http://schemas.microsoft.com/office/drawing/2014/main" id="{D131098D-08E5-4CE5-853C-12D83D103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71" y="2918653"/>
            <a:ext cx="221086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0   0   1   1   1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0   0   1   0   1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1   1   0   1   1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1   0   1   0   1</a:t>
            </a: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1   1   1   1   0</a:t>
            </a:r>
          </a:p>
        </p:txBody>
      </p:sp>
      <p:sp>
        <p:nvSpPr>
          <p:cNvPr id="103" name="Line 5">
            <a:extLst>
              <a:ext uri="{FF2B5EF4-FFF2-40B4-BE49-F238E27FC236}">
                <a16:creationId xmlns:a16="http://schemas.microsoft.com/office/drawing/2014/main" id="{6102618E-DD5D-45AD-BBEB-299475BB02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8045" y="3135793"/>
            <a:ext cx="0" cy="2209800"/>
          </a:xfrm>
          <a:prstGeom prst="line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F485E950-9C1C-4D3B-8FF2-1DC5B937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272" y="5275048"/>
            <a:ext cx="89916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marL="742950" lvl="1" indent="-285750">
              <a:buFontTx/>
              <a:buChar char="–"/>
              <a:defRPr/>
            </a:pPr>
            <a:r>
              <a:rPr lang="en-US" sz="2800" dirty="0"/>
              <a:t>G and H don’t appear to be isomorphic. </a:t>
            </a:r>
          </a:p>
          <a:p>
            <a:pPr marL="742950" lvl="1" indent="-285750">
              <a:buFontTx/>
              <a:buChar char="–"/>
              <a:defRPr/>
            </a:pPr>
            <a:r>
              <a:rPr lang="en-US" sz="2800" dirty="0"/>
              <a:t>However, we haven’t tried mapping vertices from G onto H yet.  </a:t>
            </a:r>
            <a:endParaRPr lang="en-US" sz="1600" dirty="0"/>
          </a:p>
        </p:txBody>
      </p:sp>
      <p:sp>
        <p:nvSpPr>
          <p:cNvPr id="105" name="Text Box 7">
            <a:extLst>
              <a:ext uri="{FF2B5EF4-FFF2-40B4-BE49-F238E27FC236}">
                <a16:creationId xmlns:a16="http://schemas.microsoft.com/office/drawing/2014/main" id="{5B28CCE9-1581-4071-B281-8C0A99E51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8438" y="2966724"/>
            <a:ext cx="215956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en-US" sz="2400" dirty="0"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endParaRPr lang="en-US" sz="2400" dirty="0"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endParaRPr lang="en-US" sz="2400" dirty="0"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i="1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en-US" sz="2400" dirty="0">
              <a:latin typeface="Book Antiqua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CFF4638-A755-436E-896E-FF8395296937}"/>
                  </a:ext>
                </a:extLst>
              </p14:cNvPr>
              <p14:cNvContentPartPr/>
              <p14:nvPr/>
            </p14:nvContentPartPr>
            <p14:xfrm>
              <a:off x="-583308" y="5298853"/>
              <a:ext cx="14040" cy="3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CFF4638-A755-436E-896E-FF83952969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92668" y="5289493"/>
                <a:ext cx="3276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42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utoUpdateAnimBg="0"/>
      <p:bldP spid="102" grpId="0" autoUpdateAnimBg="0"/>
      <p:bldP spid="104" grpId="0" autoUpdateAnimBg="0"/>
      <p:bldP spid="10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F485E950-9C1C-4D3B-8FF2-1DC5B937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05" y="4186524"/>
            <a:ext cx="8958795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lvl="0" defTabSz="914400">
              <a:spcBef>
                <a:spcPct val="20000"/>
              </a:spcBef>
              <a:defRPr/>
            </a:pP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Start with the vertices of degree 2 since each graph only has one:</a:t>
            </a:r>
          </a:p>
          <a:p>
            <a:pPr lvl="1" defTabSz="914400">
              <a:spcBef>
                <a:spcPct val="20000"/>
              </a:spcBef>
              <a:defRPr/>
            </a:pP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	deg(</a:t>
            </a:r>
            <a:r>
              <a:rPr lang="en-US" sz="2800" i="1" dirty="0">
                <a:solidFill>
                  <a:prstClr val="black"/>
                </a:solidFill>
                <a:cs typeface="Arial" panose="020B0604020202020204" pitchFamily="34" charset="0"/>
              </a:rPr>
              <a:t>u</a:t>
            </a:r>
            <a:r>
              <a:rPr lang="en-US" sz="2800" baseline="-25000" dirty="0"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) = deg(</a:t>
            </a:r>
            <a:r>
              <a:rPr lang="en-US" sz="2800" i="1" dirty="0">
                <a:solidFill>
                  <a:prstClr val="black"/>
                </a:solidFill>
                <a:cs typeface="Arial" panose="020B0604020202020204" pitchFamily="34" charset="0"/>
              </a:rPr>
              <a:t>v</a:t>
            </a:r>
            <a:r>
              <a:rPr lang="en-US" sz="2800" baseline="-25000" dirty="0">
                <a:solidFill>
                  <a:prstClr val="black"/>
                </a:solidFill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) = 2   therefore    </a:t>
            </a:r>
            <a:r>
              <a:rPr lang="en-US" sz="2800" i="1" dirty="0">
                <a:solidFill>
                  <a:prstClr val="black"/>
                </a:solidFill>
                <a:cs typeface="Arial" panose="020B0604020202020204" pitchFamily="34" charset="0"/>
              </a:rPr>
              <a:t>f</a:t>
            </a: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(</a:t>
            </a:r>
            <a:r>
              <a:rPr lang="en-US" sz="2800" i="1" dirty="0">
                <a:solidFill>
                  <a:prstClr val="black"/>
                </a:solidFill>
                <a:cs typeface="Arial" panose="020B0604020202020204" pitchFamily="34" charset="0"/>
              </a:rPr>
              <a:t>u</a:t>
            </a:r>
            <a:r>
              <a:rPr lang="en-US" sz="2800" baseline="-25000" dirty="0"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prstClr val="black"/>
                </a:solidFill>
                <a:cs typeface="Arial" panose="020B0604020202020204" pitchFamily="34" charset="0"/>
              </a:rPr>
              <a:t>) = </a:t>
            </a:r>
            <a:r>
              <a:rPr lang="en-US" sz="2800" i="1" dirty="0">
                <a:solidFill>
                  <a:prstClr val="black"/>
                </a:solidFill>
                <a:cs typeface="Arial" panose="020B0604020202020204" pitchFamily="34" charset="0"/>
              </a:rPr>
              <a:t>v</a:t>
            </a:r>
            <a:r>
              <a:rPr lang="en-US" sz="2800" baseline="-25000" dirty="0">
                <a:solidFill>
                  <a:prstClr val="black"/>
                </a:solidFill>
                <a:cs typeface="Arial" panose="020B0604020202020204" pitchFamily="34" charset="0"/>
              </a:rPr>
              <a:t>2</a:t>
            </a:r>
            <a:endParaRPr lang="en-US" sz="2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426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F485E950-9C1C-4D3B-8FF2-1DC5B937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0" y="3329810"/>
            <a:ext cx="89916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>
              <a:defRPr/>
            </a:pPr>
            <a:r>
              <a:rPr lang="en-US" sz="2800" dirty="0"/>
              <a:t>Now consider vertices of degree 3</a:t>
            </a:r>
          </a:p>
          <a:p>
            <a:pPr lvl="1">
              <a:defRPr/>
            </a:pPr>
            <a:r>
              <a:rPr lang="en-US" sz="2800" dirty="0"/>
              <a:t>	deg(</a:t>
            </a:r>
            <a:r>
              <a:rPr lang="en-US" sz="2800" i="1" dirty="0"/>
              <a:t>u</a:t>
            </a:r>
            <a:r>
              <a:rPr lang="en-US" sz="2800" baseline="-25000" dirty="0"/>
              <a:t>1</a:t>
            </a:r>
            <a:r>
              <a:rPr lang="en-US" sz="2800" dirty="0"/>
              <a:t>) = deg(</a:t>
            </a:r>
            <a:r>
              <a:rPr lang="en-US" sz="2800" i="1" dirty="0"/>
              <a:t>u</a:t>
            </a:r>
            <a:r>
              <a:rPr lang="en-US" sz="2800" baseline="-25000" dirty="0"/>
              <a:t>5</a:t>
            </a:r>
            <a:r>
              <a:rPr lang="en-US" sz="2800" dirty="0"/>
              <a:t>) = deg(</a:t>
            </a:r>
            <a:r>
              <a:rPr lang="en-US" sz="2800" i="1" dirty="0"/>
              <a:t>v</a:t>
            </a:r>
            <a:r>
              <a:rPr lang="en-US" sz="2800" baseline="-25000" dirty="0"/>
              <a:t>1</a:t>
            </a:r>
            <a:r>
              <a:rPr lang="en-US" sz="2800" dirty="0"/>
              <a:t>) = deg(</a:t>
            </a:r>
            <a:r>
              <a:rPr lang="en-US" sz="2800" i="1" dirty="0"/>
              <a:t>v</a:t>
            </a:r>
            <a:r>
              <a:rPr lang="en-US" sz="2800" baseline="-25000" dirty="0"/>
              <a:t>4</a:t>
            </a:r>
            <a:r>
              <a:rPr lang="en-US" sz="2800" dirty="0"/>
              <a:t>) = 3</a:t>
            </a:r>
          </a:p>
          <a:p>
            <a:pPr lvl="1">
              <a:defRPr/>
            </a:pPr>
            <a:r>
              <a:rPr lang="en-US" sz="2800" dirty="0"/>
              <a:t>therefore we must have either one of</a:t>
            </a:r>
          </a:p>
          <a:p>
            <a:pPr lvl="2">
              <a:defRPr/>
            </a:pPr>
            <a:r>
              <a:rPr lang="en-US" sz="2800" dirty="0"/>
              <a:t>f(u</a:t>
            </a:r>
            <a:r>
              <a:rPr lang="en-US" sz="2800" baseline="-25000" dirty="0"/>
              <a:t>1</a:t>
            </a:r>
            <a:r>
              <a:rPr lang="en-US" sz="2800" dirty="0"/>
              <a:t>) = v</a:t>
            </a:r>
            <a:r>
              <a:rPr lang="en-US" sz="2800" baseline="-25000" dirty="0"/>
              <a:t>1</a:t>
            </a:r>
            <a:r>
              <a:rPr lang="en-US" sz="2800" dirty="0"/>
              <a:t> and f(u</a:t>
            </a:r>
            <a:r>
              <a:rPr lang="en-US" sz="2800" baseline="-25000" dirty="0"/>
              <a:t>5</a:t>
            </a:r>
            <a:r>
              <a:rPr lang="en-US" sz="2800" dirty="0"/>
              <a:t>) = v</a:t>
            </a:r>
            <a:r>
              <a:rPr lang="en-US" sz="2800" baseline="-25000" dirty="0"/>
              <a:t>4    </a:t>
            </a:r>
            <a:endParaRPr lang="en-US" sz="2800" dirty="0"/>
          </a:p>
          <a:p>
            <a:pPr lvl="2">
              <a:defRPr/>
            </a:pPr>
            <a:r>
              <a:rPr lang="en-US" sz="2800" dirty="0"/>
              <a:t>f(u</a:t>
            </a:r>
            <a:r>
              <a:rPr lang="en-US" sz="2800" baseline="-25000" dirty="0"/>
              <a:t>1</a:t>
            </a:r>
            <a:r>
              <a:rPr lang="en-US" sz="2800" dirty="0"/>
              <a:t>) = v</a:t>
            </a:r>
            <a:r>
              <a:rPr lang="en-US" sz="2800" baseline="-25000" dirty="0"/>
              <a:t>4</a:t>
            </a:r>
            <a:r>
              <a:rPr lang="en-US" sz="2800" dirty="0"/>
              <a:t> and f(u</a:t>
            </a:r>
            <a:r>
              <a:rPr lang="en-US" sz="2800" baseline="-25000" dirty="0"/>
              <a:t>5</a:t>
            </a:r>
            <a:r>
              <a:rPr lang="en-US" sz="2800" dirty="0"/>
              <a:t>) = v</a:t>
            </a:r>
            <a:r>
              <a:rPr lang="en-US" sz="2800" baseline="-25000" dirty="0"/>
              <a:t>1</a:t>
            </a:r>
            <a:endParaRPr lang="en-US" sz="2800" dirty="0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19FBE14-0239-494A-800D-15635064FAEB}"/>
              </a:ext>
            </a:extLst>
          </p:cNvPr>
          <p:cNvSpPr txBox="1"/>
          <p:nvPr/>
        </p:nvSpPr>
        <p:spPr>
          <a:xfrm>
            <a:off x="3162963" y="5934867"/>
            <a:ext cx="41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Along with f(u</a:t>
            </a:r>
            <a:r>
              <a:rPr lang="en-US" sz="3200" baseline="-25000" dirty="0"/>
              <a:t>3</a:t>
            </a:r>
            <a:r>
              <a:rPr lang="en-US" sz="3200" dirty="0"/>
              <a:t>) = v</a:t>
            </a:r>
            <a:r>
              <a:rPr lang="en-US" sz="3200" baseline="-25000" dirty="0"/>
              <a:t>2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014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utoUpdateAnimBg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F485E950-9C1C-4D3B-8FF2-1DC5B937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80419"/>
            <a:ext cx="89916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lvl="0" algn="just" defTabSz="914400">
              <a:spcBef>
                <a:spcPct val="20000"/>
              </a:spcBef>
              <a:defRPr/>
            </a:pP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Now try vertices of degree 4:</a:t>
            </a:r>
          </a:p>
          <a:p>
            <a:pPr lvl="1" algn="just" defTabSz="914400">
              <a:spcBef>
                <a:spcPct val="20000"/>
              </a:spcBef>
              <a:defRPr/>
            </a:pP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	deg(u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deg(u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4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deg(v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deg(v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5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4   </a:t>
            </a:r>
          </a:p>
          <a:p>
            <a:pPr lvl="0" algn="just" defTabSz="914400">
              <a:spcBef>
                <a:spcPct val="20000"/>
              </a:spcBef>
              <a:defRPr/>
            </a:pP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	therefore we must have one of:</a:t>
            </a:r>
          </a:p>
          <a:p>
            <a:pPr lvl="2" algn="just" defTabSz="914400">
              <a:spcBef>
                <a:spcPct val="20000"/>
              </a:spcBef>
              <a:defRPr/>
            </a:pP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f(u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 and f(u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4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5		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or</a:t>
            </a:r>
          </a:p>
          <a:p>
            <a:pPr lvl="2" algn="just" defTabSz="914400">
              <a:spcBef>
                <a:spcPct val="20000"/>
              </a:spcBef>
              <a:defRPr/>
            </a:pP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f(u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2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5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 and f(u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4</a:t>
            </a:r>
            <a:r>
              <a:rPr lang="en-US" sz="2400" dirty="0">
                <a:solidFill>
                  <a:prstClr val="black"/>
                </a:solidFill>
                <a:cs typeface="Arial" panose="020B0604020202020204" pitchFamily="34" charset="0"/>
              </a:rPr>
              <a:t>) = v</a:t>
            </a:r>
            <a:r>
              <a:rPr lang="en-US" sz="2400" baseline="-25000" dirty="0">
                <a:solidFill>
                  <a:prstClr val="black"/>
                </a:solidFill>
                <a:cs typeface="Arial" panose="020B0604020202020204" pitchFamily="34" charset="0"/>
              </a:rPr>
              <a:t>3</a:t>
            </a:r>
            <a:endParaRPr lang="en-US" sz="24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lvl="0" algn="just" defTabSz="914400">
              <a:spcBef>
                <a:spcPct val="20000"/>
              </a:spcBef>
              <a:defRPr/>
            </a:pPr>
            <a:endParaRPr lang="en-US" sz="24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FF3CC32-4477-4ADD-9174-8F34D5FB4E2A}"/>
              </a:ext>
            </a:extLst>
          </p:cNvPr>
          <p:cNvSpPr txBox="1"/>
          <p:nvPr/>
        </p:nvSpPr>
        <p:spPr>
          <a:xfrm>
            <a:off x="248489" y="4452306"/>
            <a:ext cx="3654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Along with f(u</a:t>
            </a:r>
            <a:r>
              <a:rPr lang="en-US" sz="2400" baseline="-25000" dirty="0"/>
              <a:t>3</a:t>
            </a:r>
            <a:r>
              <a:rPr lang="en-US" sz="2400" dirty="0"/>
              <a:t>) = v</a:t>
            </a:r>
            <a:r>
              <a:rPr lang="en-US" sz="2400" baseline="-25000" dirty="0"/>
              <a:t>2</a:t>
            </a:r>
            <a:endParaRPr lang="en-IN" sz="2400" dirty="0"/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36BF1EC0-5847-4987-9EA2-03F680A54475}"/>
              </a:ext>
            </a:extLst>
          </p:cNvPr>
          <p:cNvSpPr txBox="1">
            <a:spLocks noChangeArrowheads="1"/>
          </p:cNvSpPr>
          <p:nvPr/>
        </p:nvSpPr>
        <p:spPr>
          <a:xfrm>
            <a:off x="904461" y="5131812"/>
            <a:ext cx="6311348" cy="12779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buFontTx/>
              <a:buNone/>
              <a:defRPr/>
            </a:pPr>
            <a:r>
              <a:rPr lang="en-US" dirty="0">
                <a:latin typeface="+mn-lt"/>
              </a:rPr>
              <a:t>And along with f(u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) = v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 and f(u</a:t>
            </a:r>
            <a:r>
              <a:rPr lang="en-US" baseline="-25000" dirty="0">
                <a:latin typeface="+mn-lt"/>
              </a:rPr>
              <a:t>5</a:t>
            </a:r>
            <a:r>
              <a:rPr lang="en-US" dirty="0">
                <a:latin typeface="+mn-lt"/>
              </a:rPr>
              <a:t>) = v</a:t>
            </a:r>
            <a:r>
              <a:rPr lang="en-US" baseline="-25000" dirty="0">
                <a:latin typeface="+mn-lt"/>
              </a:rPr>
              <a:t>4   </a:t>
            </a:r>
            <a:endParaRPr lang="en-US" dirty="0">
              <a:latin typeface="+mn-lt"/>
            </a:endParaRPr>
          </a:p>
          <a:p>
            <a:pPr lvl="2">
              <a:buFontTx/>
              <a:buNone/>
              <a:defRPr/>
            </a:pPr>
            <a:r>
              <a:rPr lang="en-US" dirty="0">
                <a:latin typeface="+mn-lt"/>
              </a:rPr>
              <a:t>OR</a:t>
            </a:r>
          </a:p>
          <a:p>
            <a:pPr lvl="2">
              <a:buFontTx/>
              <a:buNone/>
              <a:defRPr/>
            </a:pPr>
            <a:r>
              <a:rPr lang="en-US" dirty="0">
                <a:latin typeface="+mn-lt"/>
              </a:rPr>
              <a:t>f(u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) = v</a:t>
            </a:r>
            <a:r>
              <a:rPr lang="en-US" baseline="-25000" dirty="0">
                <a:latin typeface="+mn-lt"/>
              </a:rPr>
              <a:t>4</a:t>
            </a:r>
            <a:r>
              <a:rPr lang="en-US" dirty="0">
                <a:latin typeface="+mn-lt"/>
              </a:rPr>
              <a:t> and f(u</a:t>
            </a:r>
            <a:r>
              <a:rPr lang="en-US" baseline="-25000" dirty="0">
                <a:latin typeface="+mn-lt"/>
              </a:rPr>
              <a:t>5</a:t>
            </a:r>
            <a:r>
              <a:rPr lang="en-US" dirty="0">
                <a:latin typeface="+mn-lt"/>
              </a:rPr>
              <a:t>) = v</a:t>
            </a:r>
            <a:r>
              <a:rPr lang="en-US" baseline="-25000" dirty="0">
                <a:latin typeface="+mn-lt"/>
              </a:rPr>
              <a:t>1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934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utoUpdateAnimBg="0"/>
      <p:bldP spid="46" grpId="0"/>
      <p:bldP spid="47" grpId="0" build="p" bldLvl="3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F485E950-9C1C-4D3B-8FF2-1DC5B937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2280419"/>
            <a:ext cx="89916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lvl="0" algn="just" defTabSz="914400">
              <a:spcBef>
                <a:spcPct val="20000"/>
              </a:spcBef>
              <a:defRPr/>
            </a:pPr>
            <a:endParaRPr lang="en-US" sz="2400" i="1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47" name="Rectangle 3">
            <a:extLst>
              <a:ext uri="{FF2B5EF4-FFF2-40B4-BE49-F238E27FC236}">
                <a16:creationId xmlns:a16="http://schemas.microsoft.com/office/drawing/2014/main" id="{36BF1EC0-5847-4987-9EA2-03F680A54475}"/>
              </a:ext>
            </a:extLst>
          </p:cNvPr>
          <p:cNvSpPr txBox="1">
            <a:spLocks noChangeArrowheads="1"/>
          </p:cNvSpPr>
          <p:nvPr/>
        </p:nvSpPr>
        <p:spPr>
          <a:xfrm>
            <a:off x="368956" y="4457864"/>
            <a:ext cx="8511849" cy="2585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>
                <a:latin typeface="+mn-lt"/>
              </a:rPr>
              <a:t>There are four possible bijections which are as follows:</a:t>
            </a:r>
          </a:p>
          <a:p>
            <a:pPr lvl="1">
              <a:defRPr/>
            </a:pP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,</a:t>
            </a:r>
            <a:r>
              <a:rPr lang="en-US" sz="2400" baseline="-250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4</a:t>
            </a:r>
            <a:endParaRPr lang="en-US" sz="2400" dirty="0">
              <a:latin typeface="+mn-lt"/>
            </a:endParaRPr>
          </a:p>
          <a:p>
            <a:pPr lvl="1">
              <a:defRPr/>
            </a:pP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,</a:t>
            </a:r>
            <a:r>
              <a:rPr lang="en-US" sz="2400" baseline="-250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1</a:t>
            </a:r>
          </a:p>
          <a:p>
            <a:pPr lvl="1">
              <a:defRPr/>
            </a:pP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,</a:t>
            </a:r>
            <a:r>
              <a:rPr lang="en-US" sz="2400" baseline="-250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4</a:t>
            </a:r>
          </a:p>
          <a:p>
            <a:pPr lvl="1">
              <a:defRPr/>
            </a:pP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1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, f(u</a:t>
            </a:r>
            <a:r>
              <a:rPr lang="en-US" sz="2400" baseline="-25000" dirty="0">
                <a:latin typeface="+mn-lt"/>
              </a:rPr>
              <a:t>4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3</a:t>
            </a:r>
            <a:r>
              <a:rPr lang="en-US" sz="2400" dirty="0">
                <a:latin typeface="+mn-lt"/>
              </a:rPr>
              <a:t>,</a:t>
            </a:r>
            <a:r>
              <a:rPr lang="en-US" sz="2400" baseline="-25000" dirty="0">
                <a:latin typeface="+mn-lt"/>
              </a:rPr>
              <a:t> </a:t>
            </a:r>
            <a:r>
              <a:rPr lang="en-US" sz="2400" dirty="0">
                <a:latin typeface="+mn-lt"/>
              </a:rPr>
              <a:t>f(u</a:t>
            </a:r>
            <a:r>
              <a:rPr lang="en-US" sz="2400" baseline="-25000" dirty="0">
                <a:latin typeface="+mn-lt"/>
              </a:rPr>
              <a:t>5</a:t>
            </a:r>
            <a:r>
              <a:rPr lang="en-US" sz="2400" dirty="0">
                <a:latin typeface="+mn-lt"/>
              </a:rPr>
              <a:t>) = v</a:t>
            </a:r>
            <a:r>
              <a:rPr lang="en-US" sz="2400" baseline="-25000" dirty="0">
                <a:latin typeface="+mn-lt"/>
              </a:rPr>
              <a:t>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7E4E7A6-D938-4118-A1C1-968FB88A5696}"/>
              </a:ext>
            </a:extLst>
          </p:cNvPr>
          <p:cNvGrpSpPr/>
          <p:nvPr/>
        </p:nvGrpSpPr>
        <p:grpSpPr>
          <a:xfrm>
            <a:off x="439026" y="2177331"/>
            <a:ext cx="1360068" cy="2300933"/>
            <a:chOff x="232300" y="1955080"/>
            <a:chExt cx="1360068" cy="2300933"/>
          </a:xfrm>
        </p:grpSpPr>
        <p:sp>
          <p:nvSpPr>
            <p:cNvPr id="48" name="Rectangle 3">
              <a:extLst>
                <a:ext uri="{FF2B5EF4-FFF2-40B4-BE49-F238E27FC236}">
                  <a16:creationId xmlns:a16="http://schemas.microsoft.com/office/drawing/2014/main" id="{3A06DE3F-AEFC-451C-9C2E-5496F11F652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32300" y="1955080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U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5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4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835F5663-B2F3-4530-B226-D5395210F38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0927" y="1988212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4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5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ED30CE4-AB8F-4643-A61D-3F2777FCA7BF}"/>
              </a:ext>
            </a:extLst>
          </p:cNvPr>
          <p:cNvGrpSpPr/>
          <p:nvPr/>
        </p:nvGrpSpPr>
        <p:grpSpPr>
          <a:xfrm>
            <a:off x="2483346" y="2280925"/>
            <a:ext cx="1321897" cy="2283886"/>
            <a:chOff x="270471" y="1988212"/>
            <a:chExt cx="1321897" cy="2283886"/>
          </a:xfrm>
        </p:grpSpPr>
        <p:sp>
          <p:nvSpPr>
            <p:cNvPr id="57" name="Rectangle 3">
              <a:extLst>
                <a:ext uri="{FF2B5EF4-FFF2-40B4-BE49-F238E27FC236}">
                  <a16:creationId xmlns:a16="http://schemas.microsoft.com/office/drawing/2014/main" id="{2F7C64BE-7AE5-43D6-BBD7-3B45E45F8A2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0471" y="2004297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U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5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4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58" name="Rectangle 3">
              <a:extLst>
                <a:ext uri="{FF2B5EF4-FFF2-40B4-BE49-F238E27FC236}">
                  <a16:creationId xmlns:a16="http://schemas.microsoft.com/office/drawing/2014/main" id="{DFD901CA-7FE2-4D9F-B868-444665EAE2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0927" y="1988212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4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5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B4DF4D-7824-4FAF-8745-990FE62B1083}"/>
              </a:ext>
            </a:extLst>
          </p:cNvPr>
          <p:cNvGrpSpPr/>
          <p:nvPr/>
        </p:nvGrpSpPr>
        <p:grpSpPr>
          <a:xfrm>
            <a:off x="4767815" y="2343708"/>
            <a:ext cx="1322156" cy="2281737"/>
            <a:chOff x="270212" y="1988212"/>
            <a:chExt cx="1322156" cy="2281737"/>
          </a:xfrm>
        </p:grpSpPr>
        <p:sp>
          <p:nvSpPr>
            <p:cNvPr id="60" name="Rectangle 3">
              <a:extLst>
                <a:ext uri="{FF2B5EF4-FFF2-40B4-BE49-F238E27FC236}">
                  <a16:creationId xmlns:a16="http://schemas.microsoft.com/office/drawing/2014/main" id="{C6D7A48E-7ECA-4BFF-B3B1-D3D5AFAB864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0212" y="2002148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U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5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4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404D0BC2-EBD2-4B20-ACBF-C67B9407CD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0927" y="1988212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4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5</a:t>
              </a:r>
              <a:endParaRPr lang="en-US" sz="2400" dirty="0">
                <a:latin typeface="+mn-lt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7EB1721-F389-4545-8770-1F618BF7B0B0}"/>
              </a:ext>
            </a:extLst>
          </p:cNvPr>
          <p:cNvGrpSpPr/>
          <p:nvPr/>
        </p:nvGrpSpPr>
        <p:grpSpPr>
          <a:xfrm>
            <a:off x="7093235" y="2231226"/>
            <a:ext cx="1360068" cy="2300933"/>
            <a:chOff x="232300" y="1955080"/>
            <a:chExt cx="1360068" cy="2300933"/>
          </a:xfrm>
        </p:grpSpPr>
        <p:sp>
          <p:nvSpPr>
            <p:cNvPr id="63" name="Rectangle 3">
              <a:extLst>
                <a:ext uri="{FF2B5EF4-FFF2-40B4-BE49-F238E27FC236}">
                  <a16:creationId xmlns:a16="http://schemas.microsoft.com/office/drawing/2014/main" id="{58A5228C-C136-4448-AF9D-63E900A8BFE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32300" y="1955080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U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5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/>
                <a:t>U</a:t>
              </a:r>
              <a:r>
                <a:rPr lang="en-US" sz="2400" baseline="-25000" dirty="0">
                  <a:latin typeface="+mn-lt"/>
                </a:rPr>
                <a:t>4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64" name="Rectangle 3">
              <a:extLst>
                <a:ext uri="{FF2B5EF4-FFF2-40B4-BE49-F238E27FC236}">
                  <a16:creationId xmlns:a16="http://schemas.microsoft.com/office/drawing/2014/main" id="{B7C30CB2-5370-4ACF-A6FE-D8ED89E4A9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00927" y="1988212"/>
              <a:ext cx="591441" cy="226780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3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2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1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4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3</a:t>
              </a:r>
            </a:p>
            <a:p>
              <a:pPr marL="0" indent="0">
                <a:buNone/>
                <a:defRPr/>
              </a:pPr>
              <a:r>
                <a:rPr lang="en-US" sz="2400" dirty="0">
                  <a:latin typeface="+mn-lt"/>
                </a:rPr>
                <a:t>V</a:t>
              </a:r>
              <a:r>
                <a:rPr lang="en-US" sz="2400" baseline="-25000" dirty="0">
                  <a:latin typeface="+mn-lt"/>
                </a:rPr>
                <a:t>5</a:t>
              </a:r>
              <a:endParaRPr lang="en-US" sz="24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78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utoUpdateAnimBg="0"/>
      <p:bldP spid="47" grpId="0" build="p" bldLvl="3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65" name="Text Box 3">
            <a:extLst>
              <a:ext uri="{FF2B5EF4-FFF2-40B4-BE49-F238E27FC236}">
                <a16:creationId xmlns:a16="http://schemas.microsoft.com/office/drawing/2014/main" id="{72F3BE6B-C8C2-48AE-91F8-9287657F4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78" y="2220913"/>
            <a:ext cx="2305439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/>
              <a:t>     </a:t>
            </a: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>
                <a:solidFill>
                  <a:schemeClr val="tx2"/>
                </a:solidFill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</a:rPr>
              <a:t>4</a:t>
            </a:r>
            <a:r>
              <a:rPr lang="en-US" sz="2400" dirty="0">
                <a:solidFill>
                  <a:schemeClr val="tx2"/>
                </a:solidFill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</a:rPr>
              <a:t>5</a:t>
            </a:r>
            <a:endParaRPr lang="en-US" sz="2400" dirty="0">
              <a:solidFill>
                <a:schemeClr val="tx2"/>
              </a:solidFill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1</a:t>
            </a:r>
            <a:r>
              <a:rPr lang="en-US" sz="2400" dirty="0"/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2</a:t>
            </a:r>
            <a:r>
              <a:rPr lang="en-US" sz="2400" dirty="0"/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3</a:t>
            </a:r>
            <a:r>
              <a:rPr lang="en-US" sz="2400" dirty="0"/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4</a:t>
            </a:r>
            <a:r>
              <a:rPr lang="en-US" sz="2400" dirty="0"/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</a:rPr>
              <a:t>5</a:t>
            </a:r>
            <a:r>
              <a:rPr lang="en-US" sz="2400" dirty="0"/>
              <a:t> 1   1   0   1   0</a:t>
            </a:r>
          </a:p>
        </p:txBody>
      </p:sp>
      <p:sp>
        <p:nvSpPr>
          <p:cNvPr id="66" name="Text Box 4">
            <a:extLst>
              <a:ext uri="{FF2B5EF4-FFF2-40B4-BE49-F238E27FC236}">
                <a16:creationId xmlns:a16="http://schemas.microsoft.com/office/drawing/2014/main" id="{B12E4414-B9FA-4AA2-9AA8-6493B02C3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377" y="2220913"/>
            <a:ext cx="227177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/>
              <a:t>     </a:t>
            </a: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1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2 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3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4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5</a:t>
            </a:r>
            <a:endParaRPr lang="en-US" sz="2400">
              <a:solidFill>
                <a:schemeClr val="tx2"/>
              </a:solidFill>
            </a:endParaRP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1</a:t>
            </a:r>
            <a:r>
              <a:rPr lang="en-US" sz="2400"/>
              <a:t> 0   0   1   1   1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2</a:t>
            </a:r>
            <a:r>
              <a:rPr lang="en-US" sz="2400"/>
              <a:t> 0   0   1   0   1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3</a:t>
            </a:r>
            <a:r>
              <a:rPr lang="en-US" sz="2400"/>
              <a:t> 1   1   0   1   1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4</a:t>
            </a:r>
            <a:r>
              <a:rPr lang="en-US" sz="2400"/>
              <a:t> 1   0   1   0   1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5</a:t>
            </a:r>
            <a:r>
              <a:rPr lang="en-US" sz="2400"/>
              <a:t> 1   1   1   1   0</a:t>
            </a:r>
          </a:p>
        </p:txBody>
      </p:sp>
      <p:sp>
        <p:nvSpPr>
          <p:cNvPr id="67" name="Line 5">
            <a:extLst>
              <a:ext uri="{FF2B5EF4-FFF2-40B4-BE49-F238E27FC236}">
                <a16:creationId xmlns:a16="http://schemas.microsoft.com/office/drawing/2014/main" id="{E175D1C2-791E-48BE-BE72-284C5F4EB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1177" y="2286000"/>
            <a:ext cx="0" cy="2209800"/>
          </a:xfrm>
          <a:prstGeom prst="line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 sz="2400"/>
          </a:p>
        </p:txBody>
      </p:sp>
      <p:sp>
        <p:nvSpPr>
          <p:cNvPr id="68" name="Rectangle 6">
            <a:extLst>
              <a:ext uri="{FF2B5EF4-FFF2-40B4-BE49-F238E27FC236}">
                <a16:creationId xmlns:a16="http://schemas.microsoft.com/office/drawing/2014/main" id="{8AC26B21-A1B8-4E2A-9117-0DD125E44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7364" y="4562106"/>
            <a:ext cx="8686792" cy="11950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marL="342900" indent="-342900">
              <a:defRPr/>
            </a:pPr>
            <a:endParaRPr lang="en-US" sz="2400" dirty="0"/>
          </a:p>
          <a:p>
            <a:pPr marL="342900" indent="-342900">
              <a:defRPr/>
            </a:pPr>
            <a:r>
              <a:rPr lang="en-US" sz="2400" dirty="0"/>
              <a:t>		f(u</a:t>
            </a:r>
            <a:r>
              <a:rPr lang="en-US" sz="2400" baseline="-25000" dirty="0"/>
              <a:t>1</a:t>
            </a:r>
            <a:r>
              <a:rPr lang="en-US" sz="2400" dirty="0"/>
              <a:t>) = v</a:t>
            </a:r>
            <a:r>
              <a:rPr lang="en-US" sz="2400" baseline="-25000" dirty="0"/>
              <a:t>1</a:t>
            </a:r>
            <a:r>
              <a:rPr lang="en-US" sz="2400" dirty="0"/>
              <a:t>, f(u</a:t>
            </a:r>
            <a:r>
              <a:rPr lang="en-US" sz="2400" baseline="-25000" dirty="0"/>
              <a:t>2</a:t>
            </a:r>
            <a:r>
              <a:rPr lang="en-US" sz="2400" dirty="0"/>
              <a:t>) = v</a:t>
            </a:r>
            <a:r>
              <a:rPr lang="en-US" sz="2400" baseline="-25000" dirty="0"/>
              <a:t>3</a:t>
            </a:r>
            <a:r>
              <a:rPr lang="en-US" sz="2400" dirty="0"/>
              <a:t>, f(u</a:t>
            </a:r>
            <a:r>
              <a:rPr lang="en-US" sz="2400" baseline="-25000" dirty="0"/>
              <a:t>3</a:t>
            </a:r>
            <a:r>
              <a:rPr lang="en-US" sz="2400" dirty="0"/>
              <a:t>) = v</a:t>
            </a:r>
            <a:r>
              <a:rPr lang="en-US" sz="2400" baseline="-25000" dirty="0"/>
              <a:t>2</a:t>
            </a:r>
            <a:r>
              <a:rPr lang="en-US" sz="2400" dirty="0"/>
              <a:t>, f(u</a:t>
            </a:r>
            <a:r>
              <a:rPr lang="en-US" sz="2400" baseline="-25000" dirty="0"/>
              <a:t>4</a:t>
            </a:r>
            <a:r>
              <a:rPr lang="en-US" sz="2400" dirty="0"/>
              <a:t>) = v</a:t>
            </a:r>
            <a:r>
              <a:rPr lang="en-US" sz="2400" baseline="-25000" dirty="0"/>
              <a:t>5</a:t>
            </a:r>
            <a:r>
              <a:rPr lang="en-US" sz="2400" dirty="0"/>
              <a:t>,</a:t>
            </a:r>
            <a:r>
              <a:rPr lang="en-US" sz="2400" baseline="-25000" dirty="0"/>
              <a:t> </a:t>
            </a:r>
            <a:r>
              <a:rPr lang="en-US" sz="2400" dirty="0"/>
              <a:t>f(u</a:t>
            </a:r>
            <a:r>
              <a:rPr lang="en-US" sz="2400" baseline="-25000" dirty="0"/>
              <a:t>5</a:t>
            </a:r>
            <a:r>
              <a:rPr lang="en-US" sz="2400" dirty="0"/>
              <a:t>) = v</a:t>
            </a:r>
            <a:r>
              <a:rPr lang="en-US" sz="2400" baseline="-25000" dirty="0"/>
              <a:t>4</a:t>
            </a:r>
          </a:p>
        </p:txBody>
      </p:sp>
      <p:sp>
        <p:nvSpPr>
          <p:cNvPr id="69" name="Text Box 7">
            <a:extLst>
              <a:ext uri="{FF2B5EF4-FFF2-40B4-BE49-F238E27FC236}">
                <a16:creationId xmlns:a16="http://schemas.microsoft.com/office/drawing/2014/main" id="{D9A2409E-06C5-4056-AE34-FE0451FF4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2177" y="2220913"/>
            <a:ext cx="224292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/>
              <a:t>     </a:t>
            </a: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1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3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2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5</a:t>
            </a:r>
            <a:r>
              <a:rPr lang="en-US" sz="2400">
                <a:solidFill>
                  <a:schemeClr val="tx2"/>
                </a:solidFill>
              </a:rPr>
              <a:t> v</a:t>
            </a:r>
            <a:r>
              <a:rPr lang="en-US" sz="2400" baseline="-25000">
                <a:solidFill>
                  <a:schemeClr val="tx2"/>
                </a:solidFill>
              </a:rPr>
              <a:t>4</a:t>
            </a:r>
            <a:endParaRPr lang="en-US" sz="2400">
              <a:solidFill>
                <a:schemeClr val="tx2"/>
              </a:solidFill>
            </a:endParaRP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1</a:t>
            </a:r>
            <a:r>
              <a:rPr lang="en-US" sz="2400"/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3</a:t>
            </a:r>
            <a:r>
              <a:rPr lang="en-US" sz="2400"/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2</a:t>
            </a:r>
            <a:r>
              <a:rPr lang="en-US" sz="2400"/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5</a:t>
            </a:r>
            <a:r>
              <a:rPr lang="en-US" sz="2400"/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</a:rPr>
              <a:t>v</a:t>
            </a:r>
            <a:r>
              <a:rPr lang="en-US" sz="2400" baseline="-25000">
                <a:solidFill>
                  <a:schemeClr val="tx2"/>
                </a:solidFill>
              </a:rPr>
              <a:t>4</a:t>
            </a:r>
            <a:r>
              <a:rPr lang="en-US" sz="2400"/>
              <a:t> 1   1   0   1   0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C39861-FAA3-4FA5-85DF-AE38703478FB}"/>
              </a:ext>
            </a:extLst>
          </p:cNvPr>
          <p:cNvSpPr txBox="1"/>
          <p:nvPr/>
        </p:nvSpPr>
        <p:spPr>
          <a:xfrm>
            <a:off x="0" y="5610607"/>
            <a:ext cx="9678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Therefore the two graphs are isomorphic as their adjacency matrix are equal for the above given bijection.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216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utoUpdateAnimBg="0"/>
      <p:bldP spid="66" grpId="0" autoUpdateAnimBg="0"/>
      <p:bldP spid="68" grpId="0"/>
      <p:bldP spid="69" grpId="0" autoUpdateAnimBg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B0FED78-DB4D-405F-8D1F-6AF9214BE863}"/>
              </a:ext>
            </a:extLst>
          </p:cNvPr>
          <p:cNvSpPr/>
          <p:nvPr/>
        </p:nvSpPr>
        <p:spPr bwMode="white">
          <a:xfrm>
            <a:off x="-43068" y="1649893"/>
            <a:ext cx="8458200" cy="358140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50" name="Text Box 3">
            <a:extLst>
              <a:ext uri="{FF2B5EF4-FFF2-40B4-BE49-F238E27FC236}">
                <a16:creationId xmlns:a16="http://schemas.microsoft.com/office/drawing/2014/main" id="{578FDFA2-712C-44FD-91C1-94157EB4C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18" y="2201035"/>
            <a:ext cx="231986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51" name="Text Box 4">
            <a:extLst>
              <a:ext uri="{FF2B5EF4-FFF2-40B4-BE49-F238E27FC236}">
                <a16:creationId xmlns:a16="http://schemas.microsoft.com/office/drawing/2014/main" id="{C62E08D1-CA7F-4B69-AB9D-D47E43219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217" y="2201035"/>
            <a:ext cx="230704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0   0   1   0   1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1   0   1   0   1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1   1   1   1   0</a:t>
            </a: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35D2606C-7666-449E-B208-3E3E45414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017" y="2266122"/>
            <a:ext cx="0" cy="2209800"/>
          </a:xfrm>
          <a:prstGeom prst="line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53" name="Rectangle 6">
            <a:extLst>
              <a:ext uri="{FF2B5EF4-FFF2-40B4-BE49-F238E27FC236}">
                <a16:creationId xmlns:a16="http://schemas.microsoft.com/office/drawing/2014/main" id="{2FA79D92-4CB4-4FA4-AD19-432BD0AD7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5139" y="4590470"/>
            <a:ext cx="8931929" cy="5931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marL="342900" indent="-342900">
              <a:defRPr/>
            </a:pPr>
            <a:r>
              <a:rPr lang="en-US" sz="2800" dirty="0"/>
              <a:t>	f(u</a:t>
            </a:r>
            <a:r>
              <a:rPr lang="en-US" sz="2800" baseline="-25000" dirty="0"/>
              <a:t>1</a:t>
            </a:r>
            <a:r>
              <a:rPr lang="en-US" sz="2800" dirty="0"/>
              <a:t>) = v</a:t>
            </a:r>
            <a:r>
              <a:rPr lang="en-US" sz="2800" baseline="-25000" dirty="0"/>
              <a:t>4</a:t>
            </a:r>
            <a:r>
              <a:rPr lang="en-US" sz="2800" dirty="0"/>
              <a:t>, f(u</a:t>
            </a:r>
            <a:r>
              <a:rPr lang="en-US" sz="2800" baseline="-25000" dirty="0"/>
              <a:t>2</a:t>
            </a:r>
            <a:r>
              <a:rPr lang="en-US" sz="2800" dirty="0"/>
              <a:t>) = v</a:t>
            </a:r>
            <a:r>
              <a:rPr lang="en-US" sz="2800" baseline="-25000" dirty="0"/>
              <a:t>3</a:t>
            </a:r>
            <a:r>
              <a:rPr lang="en-US" sz="2800" dirty="0"/>
              <a:t>, f(u</a:t>
            </a:r>
            <a:r>
              <a:rPr lang="en-US" sz="2800" baseline="-25000" dirty="0"/>
              <a:t>3</a:t>
            </a:r>
            <a:r>
              <a:rPr lang="en-US" sz="2800" dirty="0"/>
              <a:t>) = v</a:t>
            </a:r>
            <a:r>
              <a:rPr lang="en-US" sz="2800" baseline="-25000" dirty="0"/>
              <a:t>2</a:t>
            </a:r>
            <a:r>
              <a:rPr lang="en-US" sz="2800" dirty="0"/>
              <a:t>, f(u</a:t>
            </a:r>
            <a:r>
              <a:rPr lang="en-US" sz="2800" baseline="-25000" dirty="0"/>
              <a:t>4</a:t>
            </a:r>
            <a:r>
              <a:rPr lang="en-US" sz="2800" dirty="0"/>
              <a:t>) = v</a:t>
            </a:r>
            <a:r>
              <a:rPr lang="en-US" sz="2800" baseline="-25000" dirty="0"/>
              <a:t>5</a:t>
            </a:r>
            <a:r>
              <a:rPr lang="en-US" sz="2800" dirty="0"/>
              <a:t>,</a:t>
            </a:r>
            <a:r>
              <a:rPr lang="en-US" sz="2800" baseline="-25000" dirty="0"/>
              <a:t> </a:t>
            </a:r>
            <a:r>
              <a:rPr lang="en-US" sz="2800" dirty="0"/>
              <a:t>f(u</a:t>
            </a:r>
            <a:r>
              <a:rPr lang="en-US" sz="2800" baseline="-25000" dirty="0"/>
              <a:t>5</a:t>
            </a:r>
            <a:r>
              <a:rPr lang="en-US" sz="2800" dirty="0"/>
              <a:t>) = v</a:t>
            </a:r>
            <a:r>
              <a:rPr lang="en-US" sz="2800" baseline="-25000" dirty="0"/>
              <a:t>1</a:t>
            </a:r>
            <a:endParaRPr lang="en-US" sz="2800" dirty="0"/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D9C1CD84-E44F-4846-82C3-6A718755D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017" y="2201035"/>
            <a:ext cx="2247731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673D91-4722-4DC5-9E1E-ECD4D37B12C7}"/>
              </a:ext>
            </a:extLst>
          </p:cNvPr>
          <p:cNvSpPr txBox="1"/>
          <p:nvPr/>
        </p:nvSpPr>
        <p:spPr>
          <a:xfrm>
            <a:off x="146610" y="5183619"/>
            <a:ext cx="9068789" cy="12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Therefore the two graphs are isomorphic as their adjacency matrix are equal  for the given bijection.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5005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utoUpdateAnimBg="0"/>
      <p:bldP spid="51" grpId="0" autoUpdateAnimBg="0"/>
      <p:bldP spid="53" grpId="0"/>
      <p:bldP spid="54" grpId="0" autoUpdateAnimBg="0"/>
      <p:bldP spid="6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55" name="Text Box 3">
            <a:extLst>
              <a:ext uri="{FF2B5EF4-FFF2-40B4-BE49-F238E27FC236}">
                <a16:creationId xmlns:a16="http://schemas.microsoft.com/office/drawing/2014/main" id="{A3375D92-AE7E-457B-AF23-2B0C3DC9B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266" y="2171218"/>
            <a:ext cx="231986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56" name="Text Box 4">
            <a:extLst>
              <a:ext uri="{FF2B5EF4-FFF2-40B4-BE49-F238E27FC236}">
                <a16:creationId xmlns:a16="http://schemas.microsoft.com/office/drawing/2014/main" id="{40880F3F-F772-4B4E-A426-0203C283C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465" y="2171218"/>
            <a:ext cx="230704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0   0   1   0   1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1   0   1   0   1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1   1   1   1   0</a:t>
            </a:r>
          </a:p>
        </p:txBody>
      </p:sp>
      <p:sp>
        <p:nvSpPr>
          <p:cNvPr id="57" name="Line 5">
            <a:extLst>
              <a:ext uri="{FF2B5EF4-FFF2-40B4-BE49-F238E27FC236}">
                <a16:creationId xmlns:a16="http://schemas.microsoft.com/office/drawing/2014/main" id="{B88B5CE2-D13A-42E3-86AE-83D207DD4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265" y="2236305"/>
            <a:ext cx="0" cy="2209800"/>
          </a:xfrm>
          <a:prstGeom prst="line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3371DD28-0257-494A-8719-26A83D48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31" y="4705799"/>
            <a:ext cx="87630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marL="342900" indent="-342900">
              <a:defRPr/>
            </a:pPr>
            <a:r>
              <a:rPr lang="en-US" sz="2800" dirty="0"/>
              <a:t>It turns out that</a:t>
            </a:r>
          </a:p>
          <a:p>
            <a:pPr marL="342900" indent="-342900">
              <a:defRPr/>
            </a:pPr>
            <a:r>
              <a:rPr lang="en-US" sz="2800" dirty="0"/>
              <a:t>	f(u</a:t>
            </a:r>
            <a:r>
              <a:rPr lang="en-US" sz="2800" baseline="-25000" dirty="0"/>
              <a:t>1</a:t>
            </a:r>
            <a:r>
              <a:rPr lang="en-US" sz="2800" dirty="0"/>
              <a:t>) = v</a:t>
            </a:r>
            <a:r>
              <a:rPr lang="en-US" sz="2800" baseline="-25000" dirty="0"/>
              <a:t>1</a:t>
            </a:r>
            <a:r>
              <a:rPr lang="en-US" sz="2800" dirty="0"/>
              <a:t>, f(u</a:t>
            </a:r>
            <a:r>
              <a:rPr lang="en-US" sz="2800" baseline="-25000" dirty="0"/>
              <a:t>2</a:t>
            </a:r>
            <a:r>
              <a:rPr lang="en-US" sz="2800" dirty="0"/>
              <a:t>) = v</a:t>
            </a:r>
            <a:r>
              <a:rPr lang="en-US" sz="2800" baseline="-25000" dirty="0"/>
              <a:t>5</a:t>
            </a:r>
            <a:r>
              <a:rPr lang="en-US" sz="2800" dirty="0"/>
              <a:t>, f(u</a:t>
            </a:r>
            <a:r>
              <a:rPr lang="en-US" sz="2800" baseline="-25000" dirty="0"/>
              <a:t>3</a:t>
            </a:r>
            <a:r>
              <a:rPr lang="en-US" sz="2800" dirty="0"/>
              <a:t>) = v</a:t>
            </a:r>
            <a:r>
              <a:rPr lang="en-US" sz="2800" baseline="-25000" dirty="0"/>
              <a:t>2</a:t>
            </a:r>
            <a:r>
              <a:rPr lang="en-US" sz="2800" dirty="0"/>
              <a:t>, f(u</a:t>
            </a:r>
            <a:r>
              <a:rPr lang="en-US" sz="2800" baseline="-25000" dirty="0"/>
              <a:t>4</a:t>
            </a:r>
            <a:r>
              <a:rPr lang="en-US" sz="2800" dirty="0"/>
              <a:t>) = v</a:t>
            </a:r>
            <a:r>
              <a:rPr lang="en-US" sz="2800" baseline="-25000" dirty="0"/>
              <a:t>3</a:t>
            </a:r>
            <a:r>
              <a:rPr lang="en-US" sz="2800" dirty="0"/>
              <a:t>,</a:t>
            </a:r>
            <a:r>
              <a:rPr lang="en-US" sz="2800" baseline="-25000" dirty="0"/>
              <a:t> </a:t>
            </a:r>
            <a:r>
              <a:rPr lang="en-US" sz="2800" dirty="0"/>
              <a:t>f(u</a:t>
            </a:r>
            <a:r>
              <a:rPr lang="en-US" sz="2800" baseline="-25000" dirty="0"/>
              <a:t>5</a:t>
            </a:r>
            <a:r>
              <a:rPr lang="en-US" sz="2800" dirty="0"/>
              <a:t>) = v</a:t>
            </a:r>
            <a:r>
              <a:rPr lang="en-US" sz="2800" baseline="-25000" dirty="0"/>
              <a:t>4</a:t>
            </a:r>
          </a:p>
          <a:p>
            <a:pPr marL="342900" indent="-342900">
              <a:defRPr/>
            </a:pPr>
            <a:endParaRPr lang="en-US" sz="2800" dirty="0"/>
          </a:p>
        </p:txBody>
      </p:sp>
      <p:sp>
        <p:nvSpPr>
          <p:cNvPr id="59" name="Text Box 7">
            <a:extLst>
              <a:ext uri="{FF2B5EF4-FFF2-40B4-BE49-F238E27FC236}">
                <a16:creationId xmlns:a16="http://schemas.microsoft.com/office/drawing/2014/main" id="{2C06C7E1-4E9A-4957-97F5-A7694F112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1265" y="2171218"/>
            <a:ext cx="225574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CD5BD0-F71B-40DC-A025-EE335C889283}"/>
              </a:ext>
            </a:extLst>
          </p:cNvPr>
          <p:cNvSpPr txBox="1"/>
          <p:nvPr/>
        </p:nvSpPr>
        <p:spPr>
          <a:xfrm>
            <a:off x="274611" y="5628226"/>
            <a:ext cx="9068789" cy="112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Therefore the two graphs are isomorphic as their adjacency matrix are equal  for the given bijection.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3427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utoUpdateAnimBg="0"/>
      <p:bldP spid="56" grpId="0" autoUpdateAnimBg="0"/>
      <p:bldP spid="58" grpId="0"/>
      <p:bldP spid="59" grpId="0" autoUpdateAnimBg="0"/>
      <p:bldP spid="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Isomorphism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88088A31-EFF4-484E-85F0-165C3B74F07F}"/>
              </a:ext>
            </a:extLst>
          </p:cNvPr>
          <p:cNvGrpSpPr/>
          <p:nvPr/>
        </p:nvGrpSpPr>
        <p:grpSpPr>
          <a:xfrm>
            <a:off x="1356424" y="1009170"/>
            <a:ext cx="5430615" cy="1193935"/>
            <a:chOff x="1355340" y="1888327"/>
            <a:chExt cx="6605130" cy="2136612"/>
          </a:xfrm>
        </p:grpSpPr>
        <p:grpSp>
          <p:nvGrpSpPr>
            <p:cNvPr id="169" name="Group 5">
              <a:extLst>
                <a:ext uri="{FF2B5EF4-FFF2-40B4-BE49-F238E27FC236}">
                  <a16:creationId xmlns:a16="http://schemas.microsoft.com/office/drawing/2014/main" id="{76358310-7210-4A12-BA0E-F735688ACD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1462" y="1961187"/>
              <a:ext cx="6254752" cy="2063752"/>
              <a:chOff x="818" y="1298"/>
              <a:chExt cx="3940" cy="1300"/>
            </a:xfrm>
          </p:grpSpPr>
          <p:sp>
            <p:nvSpPr>
              <p:cNvPr id="181" name="Oval 6">
                <a:extLst>
                  <a:ext uri="{FF2B5EF4-FFF2-40B4-BE49-F238E27FC236}">
                    <a16:creationId xmlns:a16="http://schemas.microsoft.com/office/drawing/2014/main" id="{3DD35E40-676D-41AE-8B7F-7D963BE55B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4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6F0FE7D1-BCFA-4D09-ABD8-15DDA636C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3" name="Line 8">
                <a:extLst>
                  <a:ext uri="{FF2B5EF4-FFF2-40B4-BE49-F238E27FC236}">
                    <a16:creationId xmlns:a16="http://schemas.microsoft.com/office/drawing/2014/main" id="{638F4429-B9AE-4C80-B9F3-5465F5879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4" name="Line 9">
                <a:extLst>
                  <a:ext uri="{FF2B5EF4-FFF2-40B4-BE49-F238E27FC236}">
                    <a16:creationId xmlns:a16="http://schemas.microsoft.com/office/drawing/2014/main" id="{97CD8A3B-52E1-42F3-B2E5-4A90B50B72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52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5" name="Line 10">
                <a:extLst>
                  <a:ext uri="{FF2B5EF4-FFF2-40B4-BE49-F238E27FC236}">
                    <a16:creationId xmlns:a16="http://schemas.microsoft.com/office/drawing/2014/main" id="{2EBEEC3C-5DF5-4BF5-8613-4A5230BD9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45"/>
                <a:ext cx="624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6" name="Line 11">
                <a:extLst>
                  <a:ext uri="{FF2B5EF4-FFF2-40B4-BE49-F238E27FC236}">
                    <a16:creationId xmlns:a16="http://schemas.microsoft.com/office/drawing/2014/main" id="{19E2D09B-0300-47D1-981C-EB9A8508A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69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7" name="Oval 12">
                <a:extLst>
                  <a:ext uri="{FF2B5EF4-FFF2-40B4-BE49-F238E27FC236}">
                    <a16:creationId xmlns:a16="http://schemas.microsoft.com/office/drawing/2014/main" id="{C356BA67-6918-4AE9-94D2-1EE6C3611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1597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88" name="Oval 13">
                <a:extLst>
                  <a:ext uri="{FF2B5EF4-FFF2-40B4-BE49-F238E27FC236}">
                    <a16:creationId xmlns:a16="http://schemas.microsoft.com/office/drawing/2014/main" id="{B89C9011-5BD9-49BA-BAD1-30EDAE93B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04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89" name="Oval 14">
                <a:extLst>
                  <a:ext uri="{FF2B5EF4-FFF2-40B4-BE49-F238E27FC236}">
                    <a16:creationId xmlns:a16="http://schemas.microsoft.com/office/drawing/2014/main" id="{7B195470-23B6-4C3B-A793-217E6AD26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36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0" name="Oval 15">
                <a:extLst>
                  <a:ext uri="{FF2B5EF4-FFF2-40B4-BE49-F238E27FC236}">
                    <a16:creationId xmlns:a16="http://schemas.microsoft.com/office/drawing/2014/main" id="{0E183CAE-2295-4706-B938-61FDB2436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738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sz="2400"/>
              </a:p>
            </p:txBody>
          </p:sp>
          <p:sp>
            <p:nvSpPr>
              <p:cNvPr id="191" name="Oval 16">
                <a:extLst>
                  <a:ext uri="{FF2B5EF4-FFF2-40B4-BE49-F238E27FC236}">
                    <a16:creationId xmlns:a16="http://schemas.microsoft.com/office/drawing/2014/main" id="{071917F1-2051-435B-9CA1-921148FDC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808" y="1546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2" name="Oval 17">
                <a:extLst>
                  <a:ext uri="{FF2B5EF4-FFF2-40B4-BE49-F238E27FC236}">
                    <a16:creationId xmlns:a16="http://schemas.microsoft.com/office/drawing/2014/main" id="{8519DAD2-4C5A-43F5-BBB9-64410600A9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312" y="1882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3" name="Oval 18">
                <a:extLst>
                  <a:ext uri="{FF2B5EF4-FFF2-40B4-BE49-F238E27FC236}">
                    <a16:creationId xmlns:a16="http://schemas.microsoft.com/office/drawing/2014/main" id="{00C16F2D-9C0D-4D51-BAC7-5A6E766A9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52" y="2221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4" name="Oval 19">
                <a:extLst>
                  <a:ext uri="{FF2B5EF4-FFF2-40B4-BE49-F238E27FC236}">
                    <a16:creationId xmlns:a16="http://schemas.microsoft.com/office/drawing/2014/main" id="{0926E5B5-A241-47C8-8370-E87D1ECE3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76" y="2029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grpSp>
            <p:nvGrpSpPr>
              <p:cNvPr id="195" name="Group 20">
                <a:extLst>
                  <a:ext uri="{FF2B5EF4-FFF2-40B4-BE49-F238E27FC236}">
                    <a16:creationId xmlns:a16="http://schemas.microsoft.com/office/drawing/2014/main" id="{21253EA3-E763-41A2-B58B-6E8130D52E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8" y="1597"/>
                <a:ext cx="1392" cy="672"/>
                <a:chOff x="3120" y="1536"/>
                <a:chExt cx="1392" cy="672"/>
              </a:xfrm>
            </p:grpSpPr>
            <p:sp>
              <p:nvSpPr>
                <p:cNvPr id="200" name="Line 21">
                  <a:extLst>
                    <a:ext uri="{FF2B5EF4-FFF2-40B4-BE49-F238E27FC236}">
                      <a16:creationId xmlns:a16="http://schemas.microsoft.com/office/drawing/2014/main" id="{B80FD224-3CEF-4084-97E2-6A5E2759BC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36"/>
                  <a:ext cx="528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1" name="Line 22">
                  <a:extLst>
                    <a:ext uri="{FF2B5EF4-FFF2-40B4-BE49-F238E27FC236}">
                      <a16:creationId xmlns:a16="http://schemas.microsoft.com/office/drawing/2014/main" id="{E2D6F9A7-071B-40F2-AC44-3E7938C332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20" y="1584"/>
                  <a:ext cx="1392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2" name="Line 23">
                  <a:extLst>
                    <a:ext uri="{FF2B5EF4-FFF2-40B4-BE49-F238E27FC236}">
                      <a16:creationId xmlns:a16="http://schemas.microsoft.com/office/drawing/2014/main" id="{B9FCD712-28FE-4605-BF83-57DEAD92E5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768" cy="48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3" name="Line 24">
                  <a:extLst>
                    <a:ext uri="{FF2B5EF4-FFF2-40B4-BE49-F238E27FC236}">
                      <a16:creationId xmlns:a16="http://schemas.microsoft.com/office/drawing/2014/main" id="{4CD3E9A4-DCAE-4A43-BD99-37012ADB5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67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4" name="Line 25">
                  <a:extLst>
                    <a:ext uri="{FF2B5EF4-FFF2-40B4-BE49-F238E27FC236}">
                      <a16:creationId xmlns:a16="http://schemas.microsoft.com/office/drawing/2014/main" id="{57CDFEA7-B54E-43D9-BDAA-4A95A3F095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92" y="2016"/>
                  <a:ext cx="624" cy="1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5" name="Line 26">
                  <a:extLst>
                    <a:ext uri="{FF2B5EF4-FFF2-40B4-BE49-F238E27FC236}">
                      <a16:creationId xmlns:a16="http://schemas.microsoft.com/office/drawing/2014/main" id="{756859B3-7D17-420F-9EF1-CCE2B4FC6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416" y="1584"/>
                  <a:ext cx="96" cy="43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6" name="Line 27">
                  <a:extLst>
                    <a:ext uri="{FF2B5EF4-FFF2-40B4-BE49-F238E27FC236}">
                      <a16:creationId xmlns:a16="http://schemas.microsoft.com/office/drawing/2014/main" id="{33E561DB-E7C2-48F7-891B-E89F142BB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144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  <p:sp>
              <p:nvSpPr>
                <p:cNvPr id="207" name="Line 28">
                  <a:extLst>
                    <a:ext uri="{FF2B5EF4-FFF2-40B4-BE49-F238E27FC236}">
                      <a16:creationId xmlns:a16="http://schemas.microsoft.com/office/drawing/2014/main" id="{84A21C4B-2E99-45B6-8D97-346250D937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20" y="1872"/>
                  <a:ext cx="1296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/>
                <a:p>
                  <a:pPr>
                    <a:defRPr/>
                  </a:pPr>
                  <a:endParaRPr lang="en-US" sz="2400"/>
                </a:p>
              </p:txBody>
            </p:sp>
          </p:grpSp>
          <p:sp>
            <p:nvSpPr>
              <p:cNvPr id="196" name="Oval 29">
                <a:extLst>
                  <a:ext uri="{FF2B5EF4-FFF2-40B4-BE49-F238E27FC236}">
                    <a16:creationId xmlns:a16="http://schemas.microsoft.com/office/drawing/2014/main" id="{166E75FB-01DF-43C9-9FD3-C8F8C66600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672" y="1594"/>
                <a:ext cx="86" cy="8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2400"/>
              </a:p>
            </p:txBody>
          </p:sp>
          <p:sp>
            <p:nvSpPr>
              <p:cNvPr id="197" name="Text Box 30">
                <a:extLst>
                  <a:ext uri="{FF2B5EF4-FFF2-40B4-BE49-F238E27FC236}">
                    <a16:creationId xmlns:a16="http://schemas.microsoft.com/office/drawing/2014/main" id="{CD4E5D0F-070C-4D7E-A7BD-2F898D80D0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6" y="2307"/>
                <a:ext cx="2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G</a:t>
                </a:r>
              </a:p>
            </p:txBody>
          </p:sp>
          <p:sp>
            <p:nvSpPr>
              <p:cNvPr id="198" name="Text Box 31">
                <a:extLst>
                  <a:ext uri="{FF2B5EF4-FFF2-40B4-BE49-F238E27FC236}">
                    <a16:creationId xmlns:a16="http://schemas.microsoft.com/office/drawing/2014/main" id="{B7EA1A3D-06E8-4480-BFCC-7E57DB2680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8" y="1298"/>
                <a:ext cx="20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i="1" dirty="0">
                    <a:solidFill>
                      <a:schemeClr val="tx2"/>
                    </a:solidFill>
                  </a:rPr>
                  <a:t> 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99" name="Text Box 32">
                <a:extLst>
                  <a:ext uri="{FF2B5EF4-FFF2-40B4-BE49-F238E27FC236}">
                    <a16:creationId xmlns:a16="http://schemas.microsoft.com/office/drawing/2014/main" id="{1EA0726D-8BA7-47FF-B379-E6B1DACFEA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8" y="1304"/>
                <a:ext cx="1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71D22C4-8DC2-4AA8-8D6C-EA35B2FD0FBE}"/>
                </a:ext>
              </a:extLst>
            </p:cNvPr>
            <p:cNvSpPr txBox="1"/>
            <p:nvPr/>
          </p:nvSpPr>
          <p:spPr>
            <a:xfrm>
              <a:off x="1431953" y="2314640"/>
              <a:ext cx="4251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D85619E-C6AF-4522-9814-D2ED24DA5E58}"/>
                </a:ext>
              </a:extLst>
            </p:cNvPr>
            <p:cNvSpPr txBox="1"/>
            <p:nvPr/>
          </p:nvSpPr>
          <p:spPr>
            <a:xfrm>
              <a:off x="3044686" y="2064521"/>
              <a:ext cx="46198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3E08F757-8C8F-42FD-978F-A2F81CBDC571}"/>
                </a:ext>
              </a:extLst>
            </p:cNvPr>
            <p:cNvSpPr txBox="1"/>
            <p:nvPr/>
          </p:nvSpPr>
          <p:spPr>
            <a:xfrm>
              <a:off x="3755610" y="3008006"/>
              <a:ext cx="4651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CFBB6F6-45D2-4E5A-B3F7-41DE501FF100}"/>
                </a:ext>
              </a:extLst>
            </p:cNvPr>
            <p:cNvSpPr txBox="1"/>
            <p:nvPr/>
          </p:nvSpPr>
          <p:spPr>
            <a:xfrm>
              <a:off x="2813245" y="3350252"/>
              <a:ext cx="473206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F120183-C4F7-425C-A715-CAC598DC68FC}"/>
                </a:ext>
              </a:extLst>
            </p:cNvPr>
            <p:cNvSpPr txBox="1"/>
            <p:nvPr/>
          </p:nvSpPr>
          <p:spPr>
            <a:xfrm>
              <a:off x="6264270" y="1888327"/>
              <a:ext cx="407484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1</a:t>
              </a:r>
              <a:endParaRPr lang="en-IN" sz="2400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4A535D5-6D50-4747-AEC3-B5BD968BA7D8}"/>
                </a:ext>
              </a:extLst>
            </p:cNvPr>
            <p:cNvSpPr txBox="1"/>
            <p:nvPr/>
          </p:nvSpPr>
          <p:spPr>
            <a:xfrm>
              <a:off x="1355340" y="3182736"/>
              <a:ext cx="468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u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04F6A84-045E-4D8C-B82D-00B211372F01}"/>
                </a:ext>
              </a:extLst>
            </p:cNvPr>
            <p:cNvSpPr txBox="1"/>
            <p:nvPr/>
          </p:nvSpPr>
          <p:spPr>
            <a:xfrm>
              <a:off x="7516118" y="2385390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2</a:t>
              </a:r>
              <a:endParaRPr lang="en-IN" sz="24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21018FF-E734-4DD2-BC69-E57AD6877ECF}"/>
                </a:ext>
              </a:extLst>
            </p:cNvPr>
            <p:cNvSpPr txBox="1"/>
            <p:nvPr/>
          </p:nvSpPr>
          <p:spPr>
            <a:xfrm>
              <a:off x="7054887" y="3157614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3</a:t>
              </a:r>
              <a:endParaRPr lang="en-IN" sz="24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4A5E4AE-AA52-4609-9C4D-95DD258A7A65}"/>
                </a:ext>
              </a:extLst>
            </p:cNvPr>
            <p:cNvSpPr txBox="1"/>
            <p:nvPr/>
          </p:nvSpPr>
          <p:spPr>
            <a:xfrm>
              <a:off x="5821202" y="3204150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4</a:t>
              </a:r>
              <a:endParaRPr lang="en-IN" sz="24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206C3992-4BF4-4913-BFFD-0BE3110DE44E}"/>
                </a:ext>
              </a:extLst>
            </p:cNvPr>
            <p:cNvSpPr txBox="1"/>
            <p:nvPr/>
          </p:nvSpPr>
          <p:spPr>
            <a:xfrm>
              <a:off x="5216897" y="2939386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chemeClr val="tx2"/>
                  </a:solidFill>
                </a:rPr>
                <a:t>v</a:t>
              </a:r>
              <a:r>
                <a:rPr lang="en-US" sz="2400" i="1" baseline="-25000" dirty="0">
                  <a:solidFill>
                    <a:schemeClr val="tx2"/>
                  </a:solidFill>
                </a:rPr>
                <a:t>5</a:t>
              </a:r>
              <a:endParaRPr lang="en-IN" sz="2400" dirty="0"/>
            </a:p>
          </p:txBody>
        </p:sp>
        <p:sp>
          <p:nvSpPr>
            <p:cNvPr id="180" name="Text Box 30">
              <a:extLst>
                <a:ext uri="{FF2B5EF4-FFF2-40B4-BE49-F238E27FC236}">
                  <a16:creationId xmlns:a16="http://schemas.microsoft.com/office/drawing/2014/main" id="{47A43877-32E9-47AE-8EA4-DE7D6AF55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8068" y="3516853"/>
              <a:ext cx="533134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chemeClr val="tx2"/>
                  </a:solidFill>
                </a:rPr>
                <a:t>H</a:t>
              </a:r>
            </a:p>
          </p:txBody>
        </p:sp>
      </p:grpSp>
      <p:sp>
        <p:nvSpPr>
          <p:cNvPr id="49" name="Text Box 3">
            <a:extLst>
              <a:ext uri="{FF2B5EF4-FFF2-40B4-BE49-F238E27FC236}">
                <a16:creationId xmlns:a16="http://schemas.microsoft.com/office/drawing/2014/main" id="{3A30E5E3-3992-4639-BAB0-B4DE92723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960" y="2220913"/>
            <a:ext cx="231986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u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50" name="Text Box 4">
            <a:extLst>
              <a:ext uri="{FF2B5EF4-FFF2-40B4-BE49-F238E27FC236}">
                <a16:creationId xmlns:a16="http://schemas.microsoft.com/office/drawing/2014/main" id="{15B5E0DC-3A77-4FEA-9F57-DB515CA6D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9159" y="2220913"/>
            <a:ext cx="230704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>
                <a:latin typeface="Book Antiqua" pitchFamily="18" charset="0"/>
              </a:rPr>
              <a:t>     </a:t>
            </a: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2 </a:t>
            </a: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endParaRPr lang="en-US" sz="240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>
                <a:latin typeface="Book Antiqua" pitchFamily="18" charset="0"/>
              </a:rPr>
              <a:t> 0   0   1   1   1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>
                <a:latin typeface="Book Antiqua" pitchFamily="18" charset="0"/>
              </a:rPr>
              <a:t> 0   0   1   0   1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>
                <a:latin typeface="Book Antiqua" pitchFamily="18" charset="0"/>
              </a:rPr>
              <a:t> 1   1   0   1   1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>
                <a:latin typeface="Book Antiqua" pitchFamily="18" charset="0"/>
              </a:rPr>
              <a:t> 1   0   1   0   1</a:t>
            </a:r>
          </a:p>
          <a:p>
            <a:pPr marL="457200" indent="-457200" eaLnBrk="0" hangingPunct="0">
              <a:defRPr/>
            </a:pPr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>
                <a:latin typeface="Book Antiqua" pitchFamily="18" charset="0"/>
              </a:rPr>
              <a:t> 1   1   1   1   0</a:t>
            </a:r>
          </a:p>
        </p:txBody>
      </p:sp>
      <p:sp>
        <p:nvSpPr>
          <p:cNvPr id="51" name="Line 5">
            <a:extLst>
              <a:ext uri="{FF2B5EF4-FFF2-40B4-BE49-F238E27FC236}">
                <a16:creationId xmlns:a16="http://schemas.microsoft.com/office/drawing/2014/main" id="{BDA5F61F-B2A3-428A-BD0E-AA87A953B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9959" y="2286000"/>
            <a:ext cx="0" cy="2209800"/>
          </a:xfrm>
          <a:prstGeom prst="line">
            <a:avLst/>
          </a:prstGeom>
          <a:noFill/>
          <a:ln w="57150">
            <a:solidFill>
              <a:schemeClr val="accent2"/>
            </a:solidFill>
            <a:miter lim="800000"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52" name="Rectangle 6">
            <a:extLst>
              <a:ext uri="{FF2B5EF4-FFF2-40B4-BE49-F238E27FC236}">
                <a16:creationId xmlns:a16="http://schemas.microsoft.com/office/drawing/2014/main" id="{2FF2730D-536B-4F7B-93C6-4E7781E10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505" y="4309265"/>
            <a:ext cx="8763000" cy="171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44450" rIns="0" bIns="44450"/>
          <a:lstStyle/>
          <a:p>
            <a:pPr marL="342900" indent="-342900">
              <a:defRPr/>
            </a:pPr>
            <a:endParaRPr lang="en-US" sz="2800" dirty="0"/>
          </a:p>
          <a:p>
            <a:pPr marL="342900" indent="-342900">
              <a:defRPr/>
            </a:pPr>
            <a:r>
              <a:rPr lang="en-US" sz="2800" dirty="0"/>
              <a:t>	f(u</a:t>
            </a:r>
            <a:r>
              <a:rPr lang="en-US" sz="2800" baseline="-25000" dirty="0"/>
              <a:t>1</a:t>
            </a:r>
            <a:r>
              <a:rPr lang="en-US" sz="2800" dirty="0"/>
              <a:t>) = v</a:t>
            </a:r>
            <a:r>
              <a:rPr lang="en-US" sz="2800" baseline="-25000" dirty="0"/>
              <a:t>4</a:t>
            </a:r>
            <a:r>
              <a:rPr lang="en-US" sz="2800" dirty="0"/>
              <a:t>, f(u</a:t>
            </a:r>
            <a:r>
              <a:rPr lang="en-US" sz="2800" baseline="-25000" dirty="0"/>
              <a:t>2</a:t>
            </a:r>
            <a:r>
              <a:rPr lang="en-US" sz="2800" dirty="0"/>
              <a:t>) = v</a:t>
            </a:r>
            <a:r>
              <a:rPr lang="en-US" sz="2800" baseline="-25000" dirty="0"/>
              <a:t>5</a:t>
            </a:r>
            <a:r>
              <a:rPr lang="en-US" sz="2800" dirty="0"/>
              <a:t>, f(u</a:t>
            </a:r>
            <a:r>
              <a:rPr lang="en-US" sz="2800" baseline="-25000" dirty="0"/>
              <a:t>3</a:t>
            </a:r>
            <a:r>
              <a:rPr lang="en-US" sz="2800" dirty="0"/>
              <a:t>) = v</a:t>
            </a:r>
            <a:r>
              <a:rPr lang="en-US" sz="2800" baseline="-25000" dirty="0"/>
              <a:t>2</a:t>
            </a:r>
            <a:r>
              <a:rPr lang="en-US" sz="2800" dirty="0"/>
              <a:t>, f(u</a:t>
            </a:r>
            <a:r>
              <a:rPr lang="en-US" sz="2800" baseline="-25000" dirty="0"/>
              <a:t>4</a:t>
            </a:r>
            <a:r>
              <a:rPr lang="en-US" sz="2800" dirty="0"/>
              <a:t>) = v</a:t>
            </a:r>
            <a:r>
              <a:rPr lang="en-US" sz="2800" baseline="-25000" dirty="0"/>
              <a:t>3</a:t>
            </a:r>
            <a:r>
              <a:rPr lang="en-US" sz="2800" dirty="0"/>
              <a:t>,</a:t>
            </a:r>
            <a:r>
              <a:rPr lang="en-US" sz="2800" baseline="-25000" dirty="0"/>
              <a:t> </a:t>
            </a:r>
            <a:r>
              <a:rPr lang="en-US" sz="2800" dirty="0"/>
              <a:t>f(u</a:t>
            </a:r>
            <a:r>
              <a:rPr lang="en-US" sz="2800" baseline="-25000" dirty="0"/>
              <a:t>5</a:t>
            </a:r>
            <a:r>
              <a:rPr lang="en-US" sz="2800" dirty="0"/>
              <a:t>) = v</a:t>
            </a:r>
            <a:r>
              <a:rPr lang="en-US" sz="2800" baseline="-25000" dirty="0"/>
              <a:t>1</a:t>
            </a:r>
          </a:p>
          <a:p>
            <a:pPr marL="342900" indent="-342900">
              <a:defRPr/>
            </a:pPr>
            <a:endParaRPr lang="en-US" sz="2800" baseline="-25000" dirty="0"/>
          </a:p>
          <a:p>
            <a:pPr marL="342900" indent="-342900">
              <a:defRPr/>
            </a:pPr>
            <a:endParaRPr lang="en-US" sz="2800" dirty="0"/>
          </a:p>
        </p:txBody>
      </p:sp>
      <p:sp>
        <p:nvSpPr>
          <p:cNvPr id="53" name="Text Box 7">
            <a:extLst>
              <a:ext uri="{FF2B5EF4-FFF2-40B4-BE49-F238E27FC236}">
                <a16:creationId xmlns:a16="http://schemas.microsoft.com/office/drawing/2014/main" id="{855E69F3-BF3C-4294-B937-207FC93E3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959" y="2220913"/>
            <a:ext cx="2255746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defRPr/>
            </a:pPr>
            <a:r>
              <a:rPr lang="en-US" sz="2400" dirty="0">
                <a:latin typeface="Book Antiqua" pitchFamily="18" charset="0"/>
              </a:rPr>
              <a:t>     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 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endParaRPr lang="en-US" sz="2400" dirty="0">
              <a:solidFill>
                <a:schemeClr val="tx2"/>
              </a:solidFill>
              <a:latin typeface="Book Antiqua" pitchFamily="18" charset="0"/>
            </a:endParaRP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4</a:t>
            </a:r>
            <a:r>
              <a:rPr lang="en-US" sz="2400" dirty="0">
                <a:latin typeface="Book Antiqua" pitchFamily="18" charset="0"/>
              </a:rPr>
              <a:t> 0   1   0   1   1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5</a:t>
            </a:r>
            <a:r>
              <a:rPr lang="en-US" sz="2400" dirty="0">
                <a:latin typeface="Book Antiqua" pitchFamily="18" charset="0"/>
              </a:rPr>
              <a:t> 1   0   1   1   1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2</a:t>
            </a:r>
            <a:r>
              <a:rPr lang="en-US" sz="2400" dirty="0">
                <a:latin typeface="Book Antiqua" pitchFamily="18" charset="0"/>
              </a:rPr>
              <a:t> 0   1   0   1   0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3</a:t>
            </a:r>
            <a:r>
              <a:rPr lang="en-US" sz="2400" dirty="0">
                <a:latin typeface="Book Antiqua" pitchFamily="18" charset="0"/>
              </a:rPr>
              <a:t> 1   1   1   0   1</a:t>
            </a:r>
          </a:p>
          <a:p>
            <a:pPr marL="457200" indent="-457200" eaLnBrk="0" hangingPunct="0">
              <a:defRPr/>
            </a:pPr>
            <a:r>
              <a:rPr lang="en-US" sz="2400" dirty="0">
                <a:solidFill>
                  <a:schemeClr val="tx2"/>
                </a:solidFill>
                <a:latin typeface="Book Antiqua" pitchFamily="18" charset="0"/>
              </a:rPr>
              <a:t>v</a:t>
            </a:r>
            <a:r>
              <a:rPr lang="en-US" sz="2400" baseline="-25000" dirty="0">
                <a:solidFill>
                  <a:schemeClr val="tx2"/>
                </a:solidFill>
                <a:latin typeface="Book Antiqua" pitchFamily="18" charset="0"/>
              </a:rPr>
              <a:t>1</a:t>
            </a:r>
            <a:r>
              <a:rPr lang="en-US" sz="2400" dirty="0">
                <a:latin typeface="Book Antiqua" pitchFamily="18" charset="0"/>
              </a:rPr>
              <a:t> 1   1   0   1   0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3F6F39-71F8-448C-A652-6E2302A32DB4}"/>
              </a:ext>
            </a:extLst>
          </p:cNvPr>
          <p:cNvSpPr txBox="1"/>
          <p:nvPr/>
        </p:nvSpPr>
        <p:spPr>
          <a:xfrm>
            <a:off x="367540" y="5307738"/>
            <a:ext cx="8530654" cy="129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Therefore the two graphs are isomorphic as their adjacency matrix are equal  for the given bijection.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8156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utoUpdateAnimBg="0"/>
      <p:bldP spid="50" grpId="0" autoUpdateAnimBg="0"/>
      <p:bldP spid="52" grpId="0"/>
      <p:bldP spid="53" grpId="0" autoUpdateAnimBg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C7C3-F098-4882-BDD6-737AA227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3B10-98E6-4A6E-B47E-7D9972E4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whether the given pair of graphs is isomorphic. Exhibit an isomorphism or provide a rigorous argument that none exists.?</a:t>
            </a:r>
            <a:endParaRPr lang="en-IN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CE7B456-85C8-442C-A407-139FF02648AE}"/>
              </a:ext>
            </a:extLst>
          </p:cNvPr>
          <p:cNvGrpSpPr/>
          <p:nvPr/>
        </p:nvGrpSpPr>
        <p:grpSpPr>
          <a:xfrm>
            <a:off x="1273046" y="3140190"/>
            <a:ext cx="6133094" cy="3112698"/>
            <a:chOff x="925177" y="2176095"/>
            <a:chExt cx="6133094" cy="3112698"/>
          </a:xfrm>
        </p:grpSpPr>
        <p:sp>
          <p:nvSpPr>
            <p:cNvPr id="6" name="Oval 12">
              <a:extLst>
                <a:ext uri="{FF2B5EF4-FFF2-40B4-BE49-F238E27FC236}">
                  <a16:creationId xmlns:a16="http://schemas.microsoft.com/office/drawing/2014/main" id="{397F7657-5013-4C8D-838C-54541336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42" y="269640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B56BA2EE-81D7-4890-889C-D739F9262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860" y="267354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1F347647-2123-490F-B038-BA09C4EE93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678322" y="2191774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EE54306E-50C3-41D8-AC42-ABB9ACFDF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363" y="266990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882BB36E-F0B2-455B-AA15-C008AAD26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438" y="264704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5F69FE35-8814-4D88-A067-F067D61C82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38900" y="2165270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E128ECFD-4BDC-4F9C-8794-5E0F89ED5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4346" y="267984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080869-7665-4BA8-9462-CFE0DFE57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9200" y="267686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4322D5CA-5117-4F20-8F67-DA6405347B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213906" y="219508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3EC9EAE5-E08C-4AAA-B631-2AF3322991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807008" y="2195085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B41C169F-7D4A-46F2-B0E7-3024179D61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078808" y="219293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FFC68CC-66BF-4A31-8CF4-7F544B66E4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946233" y="3163098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8" name="Oval 12">
              <a:extLst>
                <a:ext uri="{FF2B5EF4-FFF2-40B4-BE49-F238E27FC236}">
                  <a16:creationId xmlns:a16="http://schemas.microsoft.com/office/drawing/2014/main" id="{6559016C-1555-4EE0-9DF4-69F90C91A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648" y="350306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97468FB4-5802-4959-A077-156272D1F7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215664" y="3216108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0" name="Oval 12">
              <a:extLst>
                <a:ext uri="{FF2B5EF4-FFF2-40B4-BE49-F238E27FC236}">
                  <a16:creationId xmlns:a16="http://schemas.microsoft.com/office/drawing/2014/main" id="{CAF1B0BC-C4E3-4987-AE97-54E7E058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419" y="356982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1" name="Oval 12">
              <a:extLst>
                <a:ext uri="{FF2B5EF4-FFF2-40B4-BE49-F238E27FC236}">
                  <a16:creationId xmlns:a16="http://schemas.microsoft.com/office/drawing/2014/main" id="{252E45D0-B9DD-4730-9416-FF48D9FEB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442" y="425022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FC741C82-B8A0-4F5D-8E04-664E0FEE1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377" y="422736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7BC15C4A-A616-494C-9CFF-85EF57734B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787582" y="3685954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130E6FB4-1090-4E8D-9129-71B607824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92" y="422372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B9D135D6-321C-4DEA-8A37-1858E3065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627" y="420086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DD50A4D3-8CBA-4CF7-B68B-0F64AF2673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086832" y="3659450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487C695B-48DC-4818-B2E9-EDBCBD6D7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91" y="423365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879DBC25-F908-48A4-B1D1-C2CAEAE4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1804" y="423067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BA4E7807-9050-43E8-A49E-3A79AA86B1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343009" y="368926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BD14A88E-6933-4EE6-A539-EF7D3836C8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970222" y="3689265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411BF4DC-8299-4F02-919C-1C11490CC3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201644" y="368711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4B542626-4C18-44E3-B053-DB61A831B8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985011" y="4651987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3" name="Oval 12">
              <a:extLst>
                <a:ext uri="{FF2B5EF4-FFF2-40B4-BE49-F238E27FC236}">
                  <a16:creationId xmlns:a16="http://schemas.microsoft.com/office/drawing/2014/main" id="{9CE6B4D4-0D5E-475D-BC73-6752C781F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478" y="495585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3508E521-CBC3-4239-AF22-EE0DF78192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368064" y="4769924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DF4E3595-C12C-4996-9A8E-0DE3C03B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4479" y="506019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B63973E-90FC-4319-8859-28F82AD3E5B2}"/>
                </a:ext>
              </a:extLst>
            </p:cNvPr>
            <p:cNvSpPr txBox="1"/>
            <p:nvPr/>
          </p:nvSpPr>
          <p:spPr>
            <a:xfrm>
              <a:off x="925177" y="222472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5FA62E-231F-41A5-A6A4-309B26E5705C}"/>
                </a:ext>
              </a:extLst>
            </p:cNvPr>
            <p:cNvSpPr txBox="1"/>
            <p:nvPr/>
          </p:nvSpPr>
          <p:spPr>
            <a:xfrm>
              <a:off x="2016995" y="2189924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902572F-15C6-4B74-95E9-C13EA7449B8F}"/>
                </a:ext>
              </a:extLst>
            </p:cNvPr>
            <p:cNvSpPr txBox="1"/>
            <p:nvPr/>
          </p:nvSpPr>
          <p:spPr>
            <a:xfrm>
              <a:off x="3145681" y="2176095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468A45-45EB-4A7B-A69D-2004C060D7FE}"/>
                </a:ext>
              </a:extLst>
            </p:cNvPr>
            <p:cNvSpPr txBox="1"/>
            <p:nvPr/>
          </p:nvSpPr>
          <p:spPr>
            <a:xfrm>
              <a:off x="4277573" y="2226937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E42527-DF32-41F8-8A72-0C501D480ACA}"/>
                </a:ext>
              </a:extLst>
            </p:cNvPr>
            <p:cNvSpPr txBox="1"/>
            <p:nvPr/>
          </p:nvSpPr>
          <p:spPr>
            <a:xfrm>
              <a:off x="5417481" y="2231320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1572DEA-6EEE-45C8-AE3F-D051C74B229F}"/>
                </a:ext>
              </a:extLst>
            </p:cNvPr>
            <p:cNvSpPr txBox="1"/>
            <p:nvPr/>
          </p:nvSpPr>
          <p:spPr>
            <a:xfrm>
              <a:off x="6552575" y="2208239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AED42D-DAEE-4906-BEF5-2354A863153F}"/>
                </a:ext>
              </a:extLst>
            </p:cNvPr>
            <p:cNvSpPr txBox="1"/>
            <p:nvPr/>
          </p:nvSpPr>
          <p:spPr>
            <a:xfrm>
              <a:off x="2851029" y="3240157"/>
              <a:ext cx="4411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DD7DAC4-A014-4DD1-8DCB-B61588BA5988}"/>
                </a:ext>
              </a:extLst>
            </p:cNvPr>
            <p:cNvSpPr txBox="1"/>
            <p:nvPr/>
          </p:nvSpPr>
          <p:spPr>
            <a:xfrm>
              <a:off x="5095602" y="3240157"/>
              <a:ext cx="453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E15DF61-754E-47D9-A169-52526BECCEFF}"/>
                </a:ext>
              </a:extLst>
            </p:cNvPr>
            <p:cNvSpPr txBox="1"/>
            <p:nvPr/>
          </p:nvSpPr>
          <p:spPr>
            <a:xfrm>
              <a:off x="938430" y="3798421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5883512-D4E5-40FC-A140-38E9BB2F305F}"/>
                </a:ext>
              </a:extLst>
            </p:cNvPr>
            <p:cNvSpPr txBox="1"/>
            <p:nvPr/>
          </p:nvSpPr>
          <p:spPr>
            <a:xfrm>
              <a:off x="2030248" y="376362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FB4047-5263-4E17-9E13-A15735648FE5}"/>
                </a:ext>
              </a:extLst>
            </p:cNvPr>
            <p:cNvSpPr txBox="1"/>
            <p:nvPr/>
          </p:nvSpPr>
          <p:spPr>
            <a:xfrm>
              <a:off x="3158934" y="3749791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BEE791-5F10-49F8-854E-7C7992DC9A61}"/>
                </a:ext>
              </a:extLst>
            </p:cNvPr>
            <p:cNvSpPr txBox="1"/>
            <p:nvPr/>
          </p:nvSpPr>
          <p:spPr>
            <a:xfrm>
              <a:off x="4290826" y="3800633"/>
              <a:ext cx="5036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964427-5BF3-4A51-96AE-9678E99CD02C}"/>
                </a:ext>
              </a:extLst>
            </p:cNvPr>
            <p:cNvSpPr txBox="1"/>
            <p:nvPr/>
          </p:nvSpPr>
          <p:spPr>
            <a:xfrm>
              <a:off x="6565828" y="378193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4CAA1DD-B831-4981-901A-1790EFC38999}"/>
                </a:ext>
              </a:extLst>
            </p:cNvPr>
            <p:cNvSpPr txBox="1"/>
            <p:nvPr/>
          </p:nvSpPr>
          <p:spPr>
            <a:xfrm>
              <a:off x="5542427" y="3805330"/>
              <a:ext cx="4988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96637B-CF5E-41C2-B0E5-A8D1FD3A2AA8}"/>
                </a:ext>
              </a:extLst>
            </p:cNvPr>
            <p:cNvSpPr txBox="1"/>
            <p:nvPr/>
          </p:nvSpPr>
          <p:spPr>
            <a:xfrm>
              <a:off x="5066867" y="4731123"/>
              <a:ext cx="502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8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170BB2D-FC9C-4916-A076-FDFF12A27657}"/>
                </a:ext>
              </a:extLst>
            </p:cNvPr>
            <p:cNvSpPr txBox="1"/>
            <p:nvPr/>
          </p:nvSpPr>
          <p:spPr>
            <a:xfrm>
              <a:off x="1780332" y="4794072"/>
              <a:ext cx="489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0438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C7C3-F098-4882-BDD6-737AA227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3B10-98E6-4A6E-B47E-7D9972E4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graphs are not isomorphic In the first graph the vertices of degree 3 are adjacent to a common vertex. This is not true of the second graph.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1E5F36-8862-401D-8662-17B8690C16D4}"/>
              </a:ext>
            </a:extLst>
          </p:cNvPr>
          <p:cNvGrpSpPr/>
          <p:nvPr/>
        </p:nvGrpSpPr>
        <p:grpSpPr>
          <a:xfrm>
            <a:off x="974872" y="1162303"/>
            <a:ext cx="6133094" cy="3112698"/>
            <a:chOff x="925177" y="2176095"/>
            <a:chExt cx="6133094" cy="3112698"/>
          </a:xfrm>
        </p:grpSpPr>
        <p:sp>
          <p:nvSpPr>
            <p:cNvPr id="6" name="Oval 12">
              <a:extLst>
                <a:ext uri="{FF2B5EF4-FFF2-40B4-BE49-F238E27FC236}">
                  <a16:creationId xmlns:a16="http://schemas.microsoft.com/office/drawing/2014/main" id="{397F7657-5013-4C8D-838C-54541336E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42" y="269640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B56BA2EE-81D7-4890-889C-D739F9262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860" y="267354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1F347647-2123-490F-B038-BA09C4EE93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678322" y="2191774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EE54306E-50C3-41D8-AC42-ABB9ACFDF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363" y="266990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882BB36E-F0B2-455B-AA15-C008AAD26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438" y="264704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5F69FE35-8814-4D88-A067-F067D61C82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938900" y="2165270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E128ECFD-4BDC-4F9C-8794-5E0F89ED5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4346" y="267984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080869-7665-4BA8-9462-CFE0DFE57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9200" y="267686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4322D5CA-5117-4F20-8F67-DA6405347B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213906" y="219508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3EC9EAE5-E08C-4AAA-B631-2AF3322991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807008" y="2195085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B41C169F-7D4A-46F2-B0E7-3024179D61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078808" y="219293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FFC68CC-66BF-4A31-8CF4-7F544B66E4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2946233" y="3163098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8" name="Oval 12">
              <a:extLst>
                <a:ext uri="{FF2B5EF4-FFF2-40B4-BE49-F238E27FC236}">
                  <a16:creationId xmlns:a16="http://schemas.microsoft.com/office/drawing/2014/main" id="{6559016C-1555-4EE0-9DF4-69F90C91A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2648" y="3503062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97468FB4-5802-4959-A077-156272D1F7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215664" y="3216108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0" name="Oval 12">
              <a:extLst>
                <a:ext uri="{FF2B5EF4-FFF2-40B4-BE49-F238E27FC236}">
                  <a16:creationId xmlns:a16="http://schemas.microsoft.com/office/drawing/2014/main" id="{CAF1B0BC-C4E3-4987-AE97-54E7E058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419" y="356982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1" name="Oval 12">
              <a:extLst>
                <a:ext uri="{FF2B5EF4-FFF2-40B4-BE49-F238E27FC236}">
                  <a16:creationId xmlns:a16="http://schemas.microsoft.com/office/drawing/2014/main" id="{252E45D0-B9DD-4730-9416-FF48D9FEB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442" y="4250224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2" name="Oval 12">
              <a:extLst>
                <a:ext uri="{FF2B5EF4-FFF2-40B4-BE49-F238E27FC236}">
                  <a16:creationId xmlns:a16="http://schemas.microsoft.com/office/drawing/2014/main" id="{FC741C82-B8A0-4F5D-8E04-664E0FEE1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377" y="4227365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7BC15C4A-A616-494C-9CFF-85EF57734B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787582" y="3685954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130E6FB4-1090-4E8D-9129-71B607824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692" y="4223720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5" name="Oval 12">
              <a:extLst>
                <a:ext uri="{FF2B5EF4-FFF2-40B4-BE49-F238E27FC236}">
                  <a16:creationId xmlns:a16="http://schemas.microsoft.com/office/drawing/2014/main" id="{B9D135D6-321C-4DEA-8A37-1858E3065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5627" y="4200861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DD50A4D3-8CBA-4CF7-B68B-0F64AF2673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4086832" y="3659450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487C695B-48DC-4818-B2E9-EDBCBD6D7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9991" y="4233658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8" name="Oval 12">
              <a:extLst>
                <a:ext uri="{FF2B5EF4-FFF2-40B4-BE49-F238E27FC236}">
                  <a16:creationId xmlns:a16="http://schemas.microsoft.com/office/drawing/2014/main" id="{879DBC25-F908-48A4-B1D1-C2CAEAE4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1804" y="4230677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BA4E7807-9050-43E8-A49E-3A79AA86B1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6343009" y="368926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0" name="Line 11">
              <a:extLst>
                <a:ext uri="{FF2B5EF4-FFF2-40B4-BE49-F238E27FC236}">
                  <a16:creationId xmlns:a16="http://schemas.microsoft.com/office/drawing/2014/main" id="{BD14A88E-6933-4EE6-A539-EF7D3836C8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970222" y="3689265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411BF4DC-8299-4F02-919C-1C11490CC3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5201644" y="3687116"/>
              <a:ext cx="19878" cy="122212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4B542626-4C18-44E3-B053-DB61A831B8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1985011" y="4651987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3" name="Oval 12">
              <a:extLst>
                <a:ext uri="{FF2B5EF4-FFF2-40B4-BE49-F238E27FC236}">
                  <a16:creationId xmlns:a16="http://schemas.microsoft.com/office/drawing/2014/main" id="{9CE6B4D4-0D5E-475D-BC73-6752C781F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1478" y="4955859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3508E521-CBC3-4239-AF22-EE0DF78192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368064" y="4769924"/>
              <a:ext cx="77145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35" name="Oval 12">
              <a:extLst>
                <a:ext uri="{FF2B5EF4-FFF2-40B4-BE49-F238E27FC236}">
                  <a16:creationId xmlns:a16="http://schemas.microsoft.com/office/drawing/2014/main" id="{DF4E3595-C12C-4996-9A8E-0DE3C03B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4479" y="5060193"/>
              <a:ext cx="228600" cy="2286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B63973E-90FC-4319-8859-28F82AD3E5B2}"/>
                </a:ext>
              </a:extLst>
            </p:cNvPr>
            <p:cNvSpPr txBox="1"/>
            <p:nvPr/>
          </p:nvSpPr>
          <p:spPr>
            <a:xfrm>
              <a:off x="925177" y="222472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5FA62E-231F-41A5-A6A4-309B26E5705C}"/>
                </a:ext>
              </a:extLst>
            </p:cNvPr>
            <p:cNvSpPr txBox="1"/>
            <p:nvPr/>
          </p:nvSpPr>
          <p:spPr>
            <a:xfrm>
              <a:off x="2016995" y="2189924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902572F-15C6-4B74-95E9-C13EA7449B8F}"/>
                </a:ext>
              </a:extLst>
            </p:cNvPr>
            <p:cNvSpPr txBox="1"/>
            <p:nvPr/>
          </p:nvSpPr>
          <p:spPr>
            <a:xfrm>
              <a:off x="3145681" y="2176095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468A45-45EB-4A7B-A69D-2004C060D7FE}"/>
                </a:ext>
              </a:extLst>
            </p:cNvPr>
            <p:cNvSpPr txBox="1"/>
            <p:nvPr/>
          </p:nvSpPr>
          <p:spPr>
            <a:xfrm>
              <a:off x="4277573" y="2226937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4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DE42527-DF32-41F8-8A72-0C501D480ACA}"/>
                </a:ext>
              </a:extLst>
            </p:cNvPr>
            <p:cNvSpPr txBox="1"/>
            <p:nvPr/>
          </p:nvSpPr>
          <p:spPr>
            <a:xfrm>
              <a:off x="5417481" y="2231320"/>
              <a:ext cx="450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5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1572DEA-6EEE-45C8-AE3F-D051C74B229F}"/>
                </a:ext>
              </a:extLst>
            </p:cNvPr>
            <p:cNvSpPr txBox="1"/>
            <p:nvPr/>
          </p:nvSpPr>
          <p:spPr>
            <a:xfrm>
              <a:off x="6552575" y="2208239"/>
              <a:ext cx="444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AED42D-DAEE-4906-BEF5-2354A863153F}"/>
                </a:ext>
              </a:extLst>
            </p:cNvPr>
            <p:cNvSpPr txBox="1"/>
            <p:nvPr/>
          </p:nvSpPr>
          <p:spPr>
            <a:xfrm>
              <a:off x="2851029" y="3240157"/>
              <a:ext cx="4411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7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DD7DAC4-A014-4DD1-8DCB-B61588BA5988}"/>
                </a:ext>
              </a:extLst>
            </p:cNvPr>
            <p:cNvSpPr txBox="1"/>
            <p:nvPr/>
          </p:nvSpPr>
          <p:spPr>
            <a:xfrm>
              <a:off x="5095602" y="3240157"/>
              <a:ext cx="4539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v</a:t>
              </a:r>
              <a:r>
                <a:rPr lang="en-IN" sz="2400" baseline="-25000" dirty="0"/>
                <a:t>8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E15DF61-754E-47D9-A169-52526BECCEFF}"/>
                </a:ext>
              </a:extLst>
            </p:cNvPr>
            <p:cNvSpPr txBox="1"/>
            <p:nvPr/>
          </p:nvSpPr>
          <p:spPr>
            <a:xfrm>
              <a:off x="938430" y="3798421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1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5883512-D4E5-40FC-A140-38E9BB2F305F}"/>
                </a:ext>
              </a:extLst>
            </p:cNvPr>
            <p:cNvSpPr txBox="1"/>
            <p:nvPr/>
          </p:nvSpPr>
          <p:spPr>
            <a:xfrm>
              <a:off x="2030248" y="3763620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FB4047-5263-4E17-9E13-A15735648FE5}"/>
                </a:ext>
              </a:extLst>
            </p:cNvPr>
            <p:cNvSpPr txBox="1"/>
            <p:nvPr/>
          </p:nvSpPr>
          <p:spPr>
            <a:xfrm>
              <a:off x="3158934" y="3749791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3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BEE791-5F10-49F8-854E-7C7992DC9A61}"/>
                </a:ext>
              </a:extLst>
            </p:cNvPr>
            <p:cNvSpPr txBox="1"/>
            <p:nvPr/>
          </p:nvSpPr>
          <p:spPr>
            <a:xfrm>
              <a:off x="4290826" y="3800633"/>
              <a:ext cx="5036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964427-5BF3-4A51-96AE-9678E99CD02C}"/>
                </a:ext>
              </a:extLst>
            </p:cNvPr>
            <p:cNvSpPr txBox="1"/>
            <p:nvPr/>
          </p:nvSpPr>
          <p:spPr>
            <a:xfrm>
              <a:off x="6565828" y="378193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4CAA1DD-B831-4981-901A-1790EFC38999}"/>
                </a:ext>
              </a:extLst>
            </p:cNvPr>
            <p:cNvSpPr txBox="1"/>
            <p:nvPr/>
          </p:nvSpPr>
          <p:spPr>
            <a:xfrm>
              <a:off x="5542427" y="3805330"/>
              <a:ext cx="4988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B96637B-CF5E-41C2-B0E5-A8D1FD3A2AA8}"/>
                </a:ext>
              </a:extLst>
            </p:cNvPr>
            <p:cNvSpPr txBox="1"/>
            <p:nvPr/>
          </p:nvSpPr>
          <p:spPr>
            <a:xfrm>
              <a:off x="5066867" y="4731123"/>
              <a:ext cx="502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8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170BB2D-FC9C-4916-A076-FDFF12A27657}"/>
                </a:ext>
              </a:extLst>
            </p:cNvPr>
            <p:cNvSpPr txBox="1"/>
            <p:nvPr/>
          </p:nvSpPr>
          <p:spPr>
            <a:xfrm>
              <a:off x="1780332" y="4794072"/>
              <a:ext cx="4892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dirty="0"/>
                <a:t>U</a:t>
              </a:r>
              <a:r>
                <a:rPr lang="en-IN" sz="2400" baseline="-25000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889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C7C3-F098-4882-BDD6-737AA227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3B10-98E6-4A6E-B47E-7D9972E4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23327" cy="1950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Ques:- </a:t>
            </a:r>
            <a:r>
              <a:rPr lang="en-US" dirty="0"/>
              <a:t>Determine whether the given pair of graphs is isomorphic. Exhibit an isomorphism or provide  a rigorous argument that none exists.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7EF2B83-A9DC-47DD-9274-2D1366312D7D}"/>
              </a:ext>
            </a:extLst>
          </p:cNvPr>
          <p:cNvGrpSpPr/>
          <p:nvPr/>
        </p:nvGrpSpPr>
        <p:grpSpPr>
          <a:xfrm>
            <a:off x="356361" y="3160649"/>
            <a:ext cx="6520697" cy="2860069"/>
            <a:chOff x="356361" y="3160649"/>
            <a:chExt cx="6520697" cy="2860069"/>
          </a:xfrm>
        </p:grpSpPr>
        <p:sp>
          <p:nvSpPr>
            <p:cNvPr id="80" name="Text Box 47">
              <a:extLst>
                <a:ext uri="{FF2B5EF4-FFF2-40B4-BE49-F238E27FC236}">
                  <a16:creationId xmlns:a16="http://schemas.microsoft.com/office/drawing/2014/main" id="{4903001E-2677-4044-AF9C-D3D44F6867E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70948" y="4372323"/>
              <a:ext cx="6431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2" name="Line 49">
              <a:extLst>
                <a:ext uri="{FF2B5EF4-FFF2-40B4-BE49-F238E27FC236}">
                  <a16:creationId xmlns:a16="http://schemas.microsoft.com/office/drawing/2014/main" id="{23B7C171-A67E-47CA-9096-0B41170CB1D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>
              <a:off x="1073911" y="4465985"/>
              <a:ext cx="0" cy="10620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3" name="Oval 50">
              <a:extLst>
                <a:ext uri="{FF2B5EF4-FFF2-40B4-BE49-F238E27FC236}">
                  <a16:creationId xmlns:a16="http://schemas.microsoft.com/office/drawing/2014/main" id="{06D5EC02-CACB-44A8-9F0D-48F4DC67EB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2724" y="3748435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4" name="Line 51">
              <a:extLst>
                <a:ext uri="{FF2B5EF4-FFF2-40B4-BE49-F238E27FC236}">
                  <a16:creationId xmlns:a16="http://schemas.microsoft.com/office/drawing/2014/main" id="{04923AF2-7070-44CF-9245-0732E176E29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77123" y="5537548"/>
              <a:ext cx="96043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5" name="Oval 52">
              <a:extLst>
                <a:ext uri="{FF2B5EF4-FFF2-40B4-BE49-F238E27FC236}">
                  <a16:creationId xmlns:a16="http://schemas.microsoft.com/office/drawing/2014/main" id="{12C07E7E-568A-4A0C-9D1C-B2EEA352B9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29437" y="4440586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6" name="Line 53">
              <a:extLst>
                <a:ext uri="{FF2B5EF4-FFF2-40B4-BE49-F238E27FC236}">
                  <a16:creationId xmlns:a16="http://schemas.microsoft.com/office/drawing/2014/main" id="{D4E4F4FC-F785-4DE0-A684-9CBB4C949ED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2510599" y="4513610"/>
              <a:ext cx="36513" cy="9652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7" name="Oval 54">
              <a:extLst>
                <a:ext uri="{FF2B5EF4-FFF2-40B4-BE49-F238E27FC236}">
                  <a16:creationId xmlns:a16="http://schemas.microsoft.com/office/drawing/2014/main" id="{C6954A15-3BA0-4184-B722-703AABA930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2607437" y="4404073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8" name="Line 55">
              <a:extLst>
                <a:ext uri="{FF2B5EF4-FFF2-40B4-BE49-F238E27FC236}">
                  <a16:creationId xmlns:a16="http://schemas.microsoft.com/office/drawing/2014/main" id="{15EC6317-0451-475F-9BE3-CFB99B64D94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85123" y="3913535"/>
              <a:ext cx="795338" cy="5969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9" name="Oval 56">
              <a:extLst>
                <a:ext uri="{FF2B5EF4-FFF2-40B4-BE49-F238E27FC236}">
                  <a16:creationId xmlns:a16="http://schemas.microsoft.com/office/drawing/2014/main" id="{A13D9A01-EA09-4B5F-9EDF-3B38DD5623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70749" y="5401024"/>
              <a:ext cx="206375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0" name="Line 57">
              <a:extLst>
                <a:ext uri="{FF2B5EF4-FFF2-40B4-BE49-F238E27FC236}">
                  <a16:creationId xmlns:a16="http://schemas.microsoft.com/office/drawing/2014/main" id="{3070A83D-93BF-4319-A601-41A0B247D3B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1068355" y="3722242"/>
              <a:ext cx="685800" cy="890587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1" name="Oval 58">
              <a:extLst>
                <a:ext uri="{FF2B5EF4-FFF2-40B4-BE49-F238E27FC236}">
                  <a16:creationId xmlns:a16="http://schemas.microsoft.com/office/drawing/2014/main" id="{3E0F9948-4B76-43B8-95D9-0856611C07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69298" y="5401024"/>
              <a:ext cx="204788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3" name="Text Box 60">
              <a:extLst>
                <a:ext uri="{FF2B5EF4-FFF2-40B4-BE49-F238E27FC236}">
                  <a16:creationId xmlns:a16="http://schemas.microsoft.com/office/drawing/2014/main" id="{55E8208F-514C-4EF8-B6AA-0047AA33E56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6361" y="4372323"/>
              <a:ext cx="59663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0" name="Text Box 68">
              <a:extLst>
                <a:ext uri="{FF2B5EF4-FFF2-40B4-BE49-F238E27FC236}">
                  <a16:creationId xmlns:a16="http://schemas.microsoft.com/office/drawing/2014/main" id="{A2BE6968-DE19-4441-8ABD-57B3EA4C7A9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64924" y="5479493"/>
              <a:ext cx="64633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1" name="Text Box 69">
              <a:extLst>
                <a:ext uri="{FF2B5EF4-FFF2-40B4-BE49-F238E27FC236}">
                  <a16:creationId xmlns:a16="http://schemas.microsoft.com/office/drawing/2014/main" id="{D9E8B0F8-E4D7-4F20-925F-72820A94598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2975" y="3160649"/>
              <a:ext cx="63991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altLang="en-US" sz="28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2" name="Text Box 70">
              <a:extLst>
                <a:ext uri="{FF2B5EF4-FFF2-40B4-BE49-F238E27FC236}">
                  <a16:creationId xmlns:a16="http://schemas.microsoft.com/office/drawing/2014/main" id="{043931F7-ADB9-45A1-9E28-1F0495B83D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11189" y="5497498"/>
              <a:ext cx="65274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5" name="Text Box 47">
              <a:extLst>
                <a:ext uri="{FF2B5EF4-FFF2-40B4-BE49-F238E27FC236}">
                  <a16:creationId xmlns:a16="http://schemas.microsoft.com/office/drawing/2014/main" id="{5C94698B-21AD-4057-8408-60A0C356D9A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59581" y="4372323"/>
              <a:ext cx="6174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8" name="Oval 50">
              <a:extLst>
                <a:ext uri="{FF2B5EF4-FFF2-40B4-BE49-F238E27FC236}">
                  <a16:creationId xmlns:a16="http://schemas.microsoft.com/office/drawing/2014/main" id="{C0C87DE0-8093-456C-A493-0C78628267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21357" y="3748435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0" name="Oval 52">
              <a:extLst>
                <a:ext uri="{FF2B5EF4-FFF2-40B4-BE49-F238E27FC236}">
                  <a16:creationId xmlns:a16="http://schemas.microsoft.com/office/drawing/2014/main" id="{67D38C82-25F1-4F28-9748-771300A145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8070" y="4440586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2" name="Oval 54">
              <a:extLst>
                <a:ext uri="{FF2B5EF4-FFF2-40B4-BE49-F238E27FC236}">
                  <a16:creationId xmlns:a16="http://schemas.microsoft.com/office/drawing/2014/main" id="{81F71CA1-9259-481B-9F72-BFF99E5B27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6056314" y="4423951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4" name="Oval 56">
              <a:extLst>
                <a:ext uri="{FF2B5EF4-FFF2-40B4-BE49-F238E27FC236}">
                  <a16:creationId xmlns:a16="http://schemas.microsoft.com/office/drawing/2014/main" id="{7DF01DD0-9BCD-42F5-BBAA-CD10047217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9382" y="5401024"/>
              <a:ext cx="206375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6" name="Oval 58">
              <a:extLst>
                <a:ext uri="{FF2B5EF4-FFF2-40B4-BE49-F238E27FC236}">
                  <a16:creationId xmlns:a16="http://schemas.microsoft.com/office/drawing/2014/main" id="{CB56695F-C32B-4122-9AF2-62B93E26EB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931" y="5401024"/>
              <a:ext cx="204788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7" name="Text Box 60">
              <a:extLst>
                <a:ext uri="{FF2B5EF4-FFF2-40B4-BE49-F238E27FC236}">
                  <a16:creationId xmlns:a16="http://schemas.microsoft.com/office/drawing/2014/main" id="{157768F3-16E1-4A8B-A76A-4F5BB771F8A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54751" y="4385351"/>
              <a:ext cx="57099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3" name="Text Box 68">
              <a:extLst>
                <a:ext uri="{FF2B5EF4-FFF2-40B4-BE49-F238E27FC236}">
                  <a16:creationId xmlns:a16="http://schemas.microsoft.com/office/drawing/2014/main" id="{693D66F1-336F-4224-AE08-A435FFDB97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53557" y="5479493"/>
              <a:ext cx="62068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4" name="Text Box 69">
              <a:extLst>
                <a:ext uri="{FF2B5EF4-FFF2-40B4-BE49-F238E27FC236}">
                  <a16:creationId xmlns:a16="http://schemas.microsoft.com/office/drawing/2014/main" id="{15A72150-7300-49E2-9B7E-AE1FA6D7FAD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21608" y="3160649"/>
              <a:ext cx="6142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altLang="en-US" sz="28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5" name="Text Box 70">
              <a:extLst>
                <a:ext uri="{FF2B5EF4-FFF2-40B4-BE49-F238E27FC236}">
                  <a16:creationId xmlns:a16="http://schemas.microsoft.com/office/drawing/2014/main" id="{6126AD98-8155-432E-89F3-AD3E3D36D75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99822" y="5497498"/>
              <a:ext cx="62709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4C059C7-C071-4529-B488-CBE213F371DC}"/>
                </a:ext>
              </a:extLst>
            </p:cNvPr>
            <p:cNvCxnSpPr>
              <a:cxnSpLocks/>
            </p:cNvCxnSpPr>
            <p:nvPr/>
          </p:nvCxnSpPr>
          <p:spPr>
            <a:xfrm>
              <a:off x="5304667" y="3827947"/>
              <a:ext cx="535780" cy="165258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2E276F5-C8AD-4450-AAD5-A412DB330542}"/>
                </a:ext>
              </a:extLst>
            </p:cNvPr>
            <p:cNvCxnSpPr>
              <a:cxnSpLocks/>
              <a:stCxn id="112" idx="1"/>
              <a:endCxn id="110" idx="2"/>
            </p:cNvCxnSpPr>
            <p:nvPr/>
          </p:nvCxnSpPr>
          <p:spPr>
            <a:xfrm flipH="1" flipV="1">
              <a:off x="4318070" y="4543774"/>
              <a:ext cx="1746359" cy="5562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1628781-0A12-4EAF-B5A5-4C861A2B8804}"/>
                </a:ext>
              </a:extLst>
            </p:cNvPr>
            <p:cNvCxnSpPr>
              <a:cxnSpLocks/>
              <a:stCxn id="112" idx="1"/>
            </p:cNvCxnSpPr>
            <p:nvPr/>
          </p:nvCxnSpPr>
          <p:spPr>
            <a:xfrm flipH="1">
              <a:off x="4722815" y="4599397"/>
              <a:ext cx="1341614" cy="93600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419A51E-E528-4BA3-88DD-CBC4D51F1E4C}"/>
                </a:ext>
              </a:extLst>
            </p:cNvPr>
            <p:cNvCxnSpPr>
              <a:cxnSpLocks/>
              <a:stCxn id="110" idx="5"/>
              <a:endCxn id="116" idx="0"/>
            </p:cNvCxnSpPr>
            <p:nvPr/>
          </p:nvCxnSpPr>
          <p:spPr>
            <a:xfrm>
              <a:off x="4492867" y="4616738"/>
              <a:ext cx="1367458" cy="78428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5876C83-2B9D-4A77-A74C-0D1FFA4BAA78}"/>
                </a:ext>
              </a:extLst>
            </p:cNvPr>
            <p:cNvCxnSpPr>
              <a:cxnSpLocks/>
              <a:endCxn id="108" idx="4"/>
            </p:cNvCxnSpPr>
            <p:nvPr/>
          </p:nvCxnSpPr>
          <p:spPr>
            <a:xfrm flipV="1">
              <a:off x="4762569" y="3953223"/>
              <a:ext cx="561976" cy="152076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8722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C7C3-F098-4882-BDD6-737AA227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3B10-98E6-4A6E-B47E-7D9972E45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Ans:- </a:t>
            </a:r>
            <a:r>
              <a:rPr lang="en-US" dirty="0"/>
              <a:t>These graphs are isomorphic, since each is the 5-cycle. </a:t>
            </a:r>
          </a:p>
          <a:p>
            <a:pPr marL="0" indent="0">
              <a:buNone/>
            </a:pPr>
            <a:r>
              <a:rPr lang="en-US" dirty="0"/>
              <a:t>One isomorphism is </a:t>
            </a:r>
          </a:p>
          <a:p>
            <a:pPr marL="0" indent="0">
              <a:buNone/>
            </a:pPr>
            <a:r>
              <a:rPr lang="en-US" dirty="0"/>
              <a:t>f(u</a:t>
            </a:r>
            <a:r>
              <a:rPr lang="en-US" baseline="-25000" dirty="0"/>
              <a:t>1</a:t>
            </a:r>
            <a:r>
              <a:rPr lang="en-US" dirty="0"/>
              <a:t>) = v</a:t>
            </a:r>
            <a:r>
              <a:rPr lang="en-US" baseline="-25000" dirty="0"/>
              <a:t>1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f(u</a:t>
            </a:r>
            <a:r>
              <a:rPr lang="en-US" baseline="-25000" dirty="0"/>
              <a:t>2</a:t>
            </a:r>
            <a:r>
              <a:rPr lang="en-US" dirty="0"/>
              <a:t>) = v</a:t>
            </a:r>
            <a:r>
              <a:rPr lang="en-US" baseline="-25000" dirty="0"/>
              <a:t>3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f(u</a:t>
            </a:r>
            <a:r>
              <a:rPr lang="en-US" baseline="-25000" dirty="0"/>
              <a:t>3</a:t>
            </a:r>
            <a:r>
              <a:rPr lang="en-US" dirty="0"/>
              <a:t>) =V</a:t>
            </a:r>
            <a:r>
              <a:rPr lang="en-US" baseline="-25000" dirty="0"/>
              <a:t>5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f(u</a:t>
            </a:r>
            <a:r>
              <a:rPr lang="en-US" baseline="-25000" dirty="0"/>
              <a:t>4</a:t>
            </a:r>
            <a:r>
              <a:rPr lang="en-US" dirty="0"/>
              <a:t>) =v</a:t>
            </a:r>
            <a:r>
              <a:rPr lang="en-US" baseline="-25000" dirty="0"/>
              <a:t>2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and f(u</a:t>
            </a:r>
            <a:r>
              <a:rPr lang="en-US" baseline="-25000" dirty="0"/>
              <a:t>5</a:t>
            </a:r>
            <a:r>
              <a:rPr lang="en-US" dirty="0"/>
              <a:t>) =V</a:t>
            </a:r>
            <a:r>
              <a:rPr lang="en-US" baseline="-25000" dirty="0"/>
              <a:t>4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46A51D-22E5-456A-A28D-E95980D96D22}"/>
              </a:ext>
            </a:extLst>
          </p:cNvPr>
          <p:cNvGrpSpPr/>
          <p:nvPr/>
        </p:nvGrpSpPr>
        <p:grpSpPr>
          <a:xfrm>
            <a:off x="2484155" y="3429000"/>
            <a:ext cx="6520697" cy="2860069"/>
            <a:chOff x="356361" y="3160649"/>
            <a:chExt cx="6520697" cy="2860069"/>
          </a:xfrm>
        </p:grpSpPr>
        <p:sp>
          <p:nvSpPr>
            <p:cNvPr id="7" name="Text Box 47">
              <a:extLst>
                <a:ext uri="{FF2B5EF4-FFF2-40B4-BE49-F238E27FC236}">
                  <a16:creationId xmlns:a16="http://schemas.microsoft.com/office/drawing/2014/main" id="{F2936C88-D330-46C0-A3E2-1CAE7E9CFB3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70948" y="4372323"/>
              <a:ext cx="6431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Line 49">
              <a:extLst>
                <a:ext uri="{FF2B5EF4-FFF2-40B4-BE49-F238E27FC236}">
                  <a16:creationId xmlns:a16="http://schemas.microsoft.com/office/drawing/2014/main" id="{D18F2CE2-6A29-4BE4-911C-D7C2F65915D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>
              <a:off x="1073911" y="4465985"/>
              <a:ext cx="0" cy="10620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Oval 50">
              <a:extLst>
                <a:ext uri="{FF2B5EF4-FFF2-40B4-BE49-F238E27FC236}">
                  <a16:creationId xmlns:a16="http://schemas.microsoft.com/office/drawing/2014/main" id="{7F1728A9-586B-4488-B282-593260FCBD4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32724" y="3748435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Line 51">
              <a:extLst>
                <a:ext uri="{FF2B5EF4-FFF2-40B4-BE49-F238E27FC236}">
                  <a16:creationId xmlns:a16="http://schemas.microsoft.com/office/drawing/2014/main" id="{B6CEEF36-98D7-4DC9-BCC2-BF668B9A1F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77123" y="5537548"/>
              <a:ext cx="96043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Oval 52">
              <a:extLst>
                <a:ext uri="{FF2B5EF4-FFF2-40B4-BE49-F238E27FC236}">
                  <a16:creationId xmlns:a16="http://schemas.microsoft.com/office/drawing/2014/main" id="{56D02CC0-91DB-47CB-A7B7-144FC7334F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29437" y="4440586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id="{ABDD0806-C01C-47F0-BC74-81C2EC196A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2510599" y="4513610"/>
              <a:ext cx="36513" cy="9652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Oval 54">
              <a:extLst>
                <a:ext uri="{FF2B5EF4-FFF2-40B4-BE49-F238E27FC236}">
                  <a16:creationId xmlns:a16="http://schemas.microsoft.com/office/drawing/2014/main" id="{04A415B7-D67F-44EA-A933-2562A4D416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2607437" y="4404073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D92742AE-FFBA-4B7A-BE8F-3134093054A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885123" y="3913535"/>
              <a:ext cx="795338" cy="5969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Oval 56">
              <a:extLst>
                <a:ext uri="{FF2B5EF4-FFF2-40B4-BE49-F238E27FC236}">
                  <a16:creationId xmlns:a16="http://schemas.microsoft.com/office/drawing/2014/main" id="{F0834DAA-DB34-48F1-8F3B-0F10D662CF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70749" y="5401024"/>
              <a:ext cx="206375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CD557D1F-E1B9-4380-BC23-ECE218CBCE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1068355" y="3722242"/>
              <a:ext cx="685800" cy="890587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Oval 58">
              <a:extLst>
                <a:ext uri="{FF2B5EF4-FFF2-40B4-BE49-F238E27FC236}">
                  <a16:creationId xmlns:a16="http://schemas.microsoft.com/office/drawing/2014/main" id="{4D6E73F5-33E8-4032-AFC0-B2100EB300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269298" y="5401024"/>
              <a:ext cx="204788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Text Box 60">
              <a:extLst>
                <a:ext uri="{FF2B5EF4-FFF2-40B4-BE49-F238E27FC236}">
                  <a16:creationId xmlns:a16="http://schemas.microsoft.com/office/drawing/2014/main" id="{860DD92D-8DD0-445A-8C04-5FD953D69C1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6361" y="4372323"/>
              <a:ext cx="59663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Text Box 68">
              <a:extLst>
                <a:ext uri="{FF2B5EF4-FFF2-40B4-BE49-F238E27FC236}">
                  <a16:creationId xmlns:a16="http://schemas.microsoft.com/office/drawing/2014/main" id="{2CB5BC20-C640-4604-926B-BCD24F21652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64924" y="5479493"/>
              <a:ext cx="64633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Text Box 69">
              <a:extLst>
                <a:ext uri="{FF2B5EF4-FFF2-40B4-BE49-F238E27FC236}">
                  <a16:creationId xmlns:a16="http://schemas.microsoft.com/office/drawing/2014/main" id="{3B1F5CD9-2155-4715-8712-B54CB81E8A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32975" y="3160649"/>
              <a:ext cx="63991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altLang="en-US" sz="28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Text Box 70">
              <a:extLst>
                <a:ext uri="{FF2B5EF4-FFF2-40B4-BE49-F238E27FC236}">
                  <a16:creationId xmlns:a16="http://schemas.microsoft.com/office/drawing/2014/main" id="{F2E367AC-AE54-434A-9583-B28F78C5679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11189" y="5497498"/>
              <a:ext cx="65274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U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" name="Text Box 47">
              <a:extLst>
                <a:ext uri="{FF2B5EF4-FFF2-40B4-BE49-F238E27FC236}">
                  <a16:creationId xmlns:a16="http://schemas.microsoft.com/office/drawing/2014/main" id="{7636D0D0-B74D-471E-96BA-2FE6D674ACA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59581" y="4372323"/>
              <a:ext cx="61747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Oval 50">
              <a:extLst>
                <a:ext uri="{FF2B5EF4-FFF2-40B4-BE49-F238E27FC236}">
                  <a16:creationId xmlns:a16="http://schemas.microsoft.com/office/drawing/2014/main" id="{30727C51-6F59-4B84-A181-FBFDCC2A4F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21357" y="3748435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Oval 52">
              <a:extLst>
                <a:ext uri="{FF2B5EF4-FFF2-40B4-BE49-F238E27FC236}">
                  <a16:creationId xmlns:a16="http://schemas.microsoft.com/office/drawing/2014/main" id="{8B6CAB40-8869-49A2-A80B-43BFD89998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18070" y="4440586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Oval 54">
              <a:extLst>
                <a:ext uri="{FF2B5EF4-FFF2-40B4-BE49-F238E27FC236}">
                  <a16:creationId xmlns:a16="http://schemas.microsoft.com/office/drawing/2014/main" id="{1712BEB9-DF08-49C8-82C8-BB4323E1C8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6056314" y="4423951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Oval 56">
              <a:extLst>
                <a:ext uri="{FF2B5EF4-FFF2-40B4-BE49-F238E27FC236}">
                  <a16:creationId xmlns:a16="http://schemas.microsoft.com/office/drawing/2014/main" id="{28BA2DF3-DDC5-4C9E-B183-BA2D5D9E4D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59382" y="5401024"/>
              <a:ext cx="206375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Oval 58">
              <a:extLst>
                <a:ext uri="{FF2B5EF4-FFF2-40B4-BE49-F238E27FC236}">
                  <a16:creationId xmlns:a16="http://schemas.microsoft.com/office/drawing/2014/main" id="{20A588E8-71A3-4DD4-941D-28D50CC407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57931" y="5401024"/>
              <a:ext cx="204788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Text Box 60">
              <a:extLst>
                <a:ext uri="{FF2B5EF4-FFF2-40B4-BE49-F238E27FC236}">
                  <a16:creationId xmlns:a16="http://schemas.microsoft.com/office/drawing/2014/main" id="{55B4F5B8-CD55-4C3E-9A8F-60E8857CC39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54751" y="4385351"/>
              <a:ext cx="57099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Text Box 68">
              <a:extLst>
                <a:ext uri="{FF2B5EF4-FFF2-40B4-BE49-F238E27FC236}">
                  <a16:creationId xmlns:a16="http://schemas.microsoft.com/office/drawing/2014/main" id="{5802D429-C0D2-4F2E-8DAA-C08E6E640DA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53557" y="5479493"/>
              <a:ext cx="62068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Text Box 69">
              <a:extLst>
                <a:ext uri="{FF2B5EF4-FFF2-40B4-BE49-F238E27FC236}">
                  <a16:creationId xmlns:a16="http://schemas.microsoft.com/office/drawing/2014/main" id="{390FFF53-DDE0-4F48-B1F2-57017FBCD00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021608" y="3160649"/>
              <a:ext cx="61427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altLang="en-US" sz="28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Text Box 70">
              <a:extLst>
                <a:ext uri="{FF2B5EF4-FFF2-40B4-BE49-F238E27FC236}">
                  <a16:creationId xmlns:a16="http://schemas.microsoft.com/office/drawing/2014/main" id="{5C2DF8D6-C475-4CC6-8D1C-8BC915DC4D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99822" y="5497498"/>
              <a:ext cx="62709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V</a:t>
              </a:r>
              <a:r>
                <a:rPr lang="en-US" altLang="en-US" sz="2800" i="1" baseline="-25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en-US" alt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6CE8F5-AF16-4E0E-A451-F692E35869F1}"/>
                </a:ext>
              </a:extLst>
            </p:cNvPr>
            <p:cNvCxnSpPr>
              <a:cxnSpLocks/>
            </p:cNvCxnSpPr>
            <p:nvPr/>
          </p:nvCxnSpPr>
          <p:spPr>
            <a:xfrm>
              <a:off x="5304667" y="3827947"/>
              <a:ext cx="535780" cy="165258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C55CA6B-0029-45E8-BE1B-6825096610CD}"/>
                </a:ext>
              </a:extLst>
            </p:cNvPr>
            <p:cNvCxnSpPr>
              <a:cxnSpLocks/>
              <a:stCxn id="25" idx="1"/>
              <a:endCxn id="24" idx="2"/>
            </p:cNvCxnSpPr>
            <p:nvPr/>
          </p:nvCxnSpPr>
          <p:spPr>
            <a:xfrm flipH="1" flipV="1">
              <a:off x="4318070" y="4543774"/>
              <a:ext cx="1746359" cy="5562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CBE6D87-AE22-47FD-9A66-97FFF71C4CF0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flipH="1">
              <a:off x="4722815" y="4599397"/>
              <a:ext cx="1341614" cy="93600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1554E7-2381-4315-B8E2-E82E1D3346A1}"/>
                </a:ext>
              </a:extLst>
            </p:cNvPr>
            <p:cNvCxnSpPr>
              <a:cxnSpLocks/>
              <a:stCxn id="24" idx="5"/>
              <a:endCxn id="27" idx="0"/>
            </p:cNvCxnSpPr>
            <p:nvPr/>
          </p:nvCxnSpPr>
          <p:spPr>
            <a:xfrm>
              <a:off x="4492867" y="4616738"/>
              <a:ext cx="1367458" cy="78428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247ABE-E8D0-4EE1-BE88-52A381A59A76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4762569" y="3953223"/>
              <a:ext cx="561976" cy="152076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021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9499</TotalTime>
  <Words>1655</Words>
  <Application>Microsoft Office PowerPoint</Application>
  <PresentationFormat>On-screen Show (4:3)</PresentationFormat>
  <Paragraphs>391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</vt:lpstr>
      <vt:lpstr>Bahnschrift</vt:lpstr>
      <vt:lpstr>Bahnschrift SemiBold</vt:lpstr>
      <vt:lpstr>Book Antiqua</vt:lpstr>
      <vt:lpstr>Calibri</vt:lpstr>
      <vt:lpstr>Office Theme</vt:lpstr>
      <vt:lpstr>EMTH403</vt:lpstr>
      <vt:lpstr>Lecture Outcomes</vt:lpstr>
      <vt:lpstr>Graph Isomorphism - Definition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Arpit Thakur</cp:lastModifiedBy>
  <cp:revision>1426</cp:revision>
  <dcterms:created xsi:type="dcterms:W3CDTF">2020-12-04T05:20:56Z</dcterms:created>
  <dcterms:modified xsi:type="dcterms:W3CDTF">2021-01-14T10:01:14Z</dcterms:modified>
</cp:coreProperties>
</file>