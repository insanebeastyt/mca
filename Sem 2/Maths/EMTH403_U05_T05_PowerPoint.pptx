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88" r:id="rId4"/>
    <p:sldId id="311" r:id="rId5"/>
    <p:sldId id="312" r:id="rId6"/>
    <p:sldId id="313" r:id="rId7"/>
    <p:sldId id="314" r:id="rId8"/>
    <p:sldId id="315" r:id="rId9"/>
    <p:sldId id="289" r:id="rId10"/>
    <p:sldId id="308" r:id="rId11"/>
    <p:sldId id="309" r:id="rId12"/>
    <p:sldId id="310" r:id="rId13"/>
    <p:sldId id="316" r:id="rId14"/>
    <p:sldId id="319" r:id="rId15"/>
    <p:sldId id="317" r:id="rId16"/>
    <p:sldId id="318" r:id="rId17"/>
    <p:sldId id="322" r:id="rId18"/>
    <p:sldId id="323" r:id="rId19"/>
    <p:sldId id="324" r:id="rId20"/>
    <p:sldId id="293" r:id="rId21"/>
    <p:sldId id="325" r:id="rId22"/>
    <p:sldId id="294" r:id="rId23"/>
    <p:sldId id="295" r:id="rId24"/>
    <p:sldId id="296" r:id="rId25"/>
    <p:sldId id="326" r:id="rId26"/>
    <p:sldId id="290" r:id="rId27"/>
    <p:sldId id="291" r:id="rId28"/>
    <p:sldId id="292" r:id="rId29"/>
    <p:sldId id="327" r:id="rId30"/>
    <p:sldId id="330" r:id="rId31"/>
    <p:sldId id="328" r:id="rId32"/>
    <p:sldId id="329" r:id="rId33"/>
    <p:sldId id="331" r:id="rId34"/>
    <p:sldId id="332" r:id="rId35"/>
    <p:sldId id="333" r:id="rId36"/>
    <p:sldId id="259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88"/>
            <p14:sldId id="311"/>
            <p14:sldId id="312"/>
            <p14:sldId id="313"/>
            <p14:sldId id="314"/>
            <p14:sldId id="315"/>
            <p14:sldId id="289"/>
            <p14:sldId id="308"/>
            <p14:sldId id="309"/>
            <p14:sldId id="310"/>
            <p14:sldId id="316"/>
            <p14:sldId id="319"/>
            <p14:sldId id="317"/>
            <p14:sldId id="318"/>
            <p14:sldId id="322"/>
            <p14:sldId id="323"/>
            <p14:sldId id="324"/>
            <p14:sldId id="293"/>
            <p14:sldId id="325"/>
            <p14:sldId id="294"/>
            <p14:sldId id="295"/>
            <p14:sldId id="296"/>
            <p14:sldId id="326"/>
            <p14:sldId id="290"/>
            <p14:sldId id="291"/>
            <p14:sldId id="292"/>
            <p14:sldId id="327"/>
            <p14:sldId id="330"/>
            <p14:sldId id="328"/>
            <p14:sldId id="329"/>
            <p14:sldId id="331"/>
            <p14:sldId id="332"/>
            <p14:sldId id="333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02B"/>
    <a:srgbClr val="00B6CC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04-01-2021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648595" cy="3500283"/>
          </a:xfrm>
        </p:spPr>
        <p:txBody>
          <a:bodyPr>
            <a:normAutofit/>
          </a:bodyPr>
          <a:lstStyle/>
          <a:p>
            <a:r>
              <a:rPr lang="en-US" sz="2600" dirty="0"/>
              <a:t>understand the </a:t>
            </a:r>
            <a:r>
              <a:rPr lang="en-IN" sz="2600" dirty="0"/>
              <a:t>Division</a:t>
            </a:r>
            <a:r>
              <a:rPr lang="en-US" sz="2600" dirty="0"/>
              <a:t> rule in the basics of counting. </a:t>
            </a:r>
          </a:p>
          <a:p>
            <a:r>
              <a:rPr lang="en-US" sz="2600" dirty="0"/>
              <a:t>understand how to find total number of functions in the basics of counting.</a:t>
            </a:r>
          </a:p>
          <a:p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080001"/>
            <a:ext cx="8504904" cy="540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In how many ways can we select three students from a group of five students to stand in line for a picture?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By the product rule, there are </a:t>
            </a:r>
          </a:p>
          <a:p>
            <a:pPr marL="0" indent="0">
              <a:buNone/>
            </a:pPr>
            <a:r>
              <a:rPr lang="en-US" dirty="0"/>
              <a:t>5 · 4 · 3 = 60 ways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91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/>
          <p:nvPr/>
        </p:nvCxnSpPr>
        <p:spPr>
          <a:xfrm>
            <a:off x="3588026" y="1878492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479758" cy="63610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29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479758" cy="139148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4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479758" cy="2037525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479758" cy="282271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11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/>
          <p:nvPr/>
        </p:nvCxnSpPr>
        <p:spPr>
          <a:xfrm>
            <a:off x="3588026" y="1878492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40826B-BD21-4FAB-B751-BAB33968B923}"/>
              </a:ext>
            </a:extLst>
          </p:cNvPr>
          <p:cNvCxnSpPr>
            <a:cxnSpLocks/>
          </p:cNvCxnSpPr>
          <p:nvPr/>
        </p:nvCxnSpPr>
        <p:spPr>
          <a:xfrm>
            <a:off x="3618486" y="2517909"/>
            <a:ext cx="1557342" cy="31452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66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/>
          <p:nvPr/>
        </p:nvCxnSpPr>
        <p:spPr>
          <a:xfrm>
            <a:off x="3588026" y="1878492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62BC05-A4A7-4973-968A-7B6A4270650D}"/>
              </a:ext>
            </a:extLst>
          </p:cNvPr>
          <p:cNvCxnSpPr>
            <a:cxnSpLocks/>
          </p:cNvCxnSpPr>
          <p:nvPr/>
        </p:nvCxnSpPr>
        <p:spPr>
          <a:xfrm>
            <a:off x="3633716" y="2517909"/>
            <a:ext cx="1434068" cy="712308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22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/>
          <p:nvPr/>
        </p:nvCxnSpPr>
        <p:spPr>
          <a:xfrm>
            <a:off x="3588026" y="1878492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E6F955-CF01-4888-BAFF-E62A07BBADF6}"/>
              </a:ext>
            </a:extLst>
          </p:cNvPr>
          <p:cNvCxnSpPr>
            <a:cxnSpLocks/>
          </p:cNvCxnSpPr>
          <p:nvPr/>
        </p:nvCxnSpPr>
        <p:spPr>
          <a:xfrm>
            <a:off x="3532882" y="2609813"/>
            <a:ext cx="1642946" cy="1346496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2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/>
          <p:nvPr/>
        </p:nvCxnSpPr>
        <p:spPr>
          <a:xfrm>
            <a:off x="3588026" y="1878492"/>
            <a:ext cx="158780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>
            <a:off x="3564954" y="2646671"/>
            <a:ext cx="1577319" cy="2081835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58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554247" cy="277302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>
            <a:off x="3564954" y="2646671"/>
            <a:ext cx="1577319" cy="133892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17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554247" cy="277302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>
            <a:off x="3564954" y="2646671"/>
            <a:ext cx="1577319" cy="133892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5B9DDA-B706-4CFA-A2CB-57738C1B1F3E}"/>
              </a:ext>
            </a:extLst>
          </p:cNvPr>
          <p:cNvCxnSpPr>
            <a:cxnSpLocks/>
          </p:cNvCxnSpPr>
          <p:nvPr/>
        </p:nvCxnSpPr>
        <p:spPr>
          <a:xfrm flipV="1">
            <a:off x="3537701" y="1878492"/>
            <a:ext cx="1604572" cy="1485375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77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554247" cy="277302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>
            <a:off x="3564954" y="2646671"/>
            <a:ext cx="1577319" cy="133892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5B9DDA-B706-4CFA-A2CB-57738C1B1F3E}"/>
              </a:ext>
            </a:extLst>
          </p:cNvPr>
          <p:cNvCxnSpPr>
            <a:cxnSpLocks/>
          </p:cNvCxnSpPr>
          <p:nvPr/>
        </p:nvCxnSpPr>
        <p:spPr>
          <a:xfrm flipV="1">
            <a:off x="3537701" y="2524539"/>
            <a:ext cx="1604572" cy="839329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08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554247" cy="277302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>
            <a:off x="3564954" y="2646671"/>
            <a:ext cx="1577319" cy="133892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5B9DDA-B706-4CFA-A2CB-57738C1B1F3E}"/>
              </a:ext>
            </a:extLst>
          </p:cNvPr>
          <p:cNvCxnSpPr>
            <a:cxnSpLocks/>
          </p:cNvCxnSpPr>
          <p:nvPr/>
        </p:nvCxnSpPr>
        <p:spPr>
          <a:xfrm flipV="1">
            <a:off x="3537701" y="3269974"/>
            <a:ext cx="1530083" cy="9389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28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47975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 flipV="1">
            <a:off x="3564954" y="2554357"/>
            <a:ext cx="1577319" cy="92315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5B9DDA-B706-4CFA-A2CB-57738C1B1F3E}"/>
              </a:ext>
            </a:extLst>
          </p:cNvPr>
          <p:cNvCxnSpPr>
            <a:cxnSpLocks/>
          </p:cNvCxnSpPr>
          <p:nvPr/>
        </p:nvCxnSpPr>
        <p:spPr>
          <a:xfrm flipV="1">
            <a:off x="3537701" y="3279913"/>
            <a:ext cx="1604572" cy="8395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A89327-2996-471B-AC02-30BA86690838}"/>
              </a:ext>
            </a:extLst>
          </p:cNvPr>
          <p:cNvSpPr txBox="1"/>
          <p:nvPr/>
        </p:nvSpPr>
        <p:spPr>
          <a:xfrm>
            <a:off x="6559826" y="1391478"/>
            <a:ext cx="268356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1</a:t>
            </a:r>
            <a:r>
              <a:rPr lang="en-IN" sz="2600" baseline="30000" dirty="0"/>
              <a:t>ST</a:t>
            </a:r>
            <a:r>
              <a:rPr lang="en-IN" sz="2600" dirty="0"/>
              <a:t> 		2</a:t>
            </a:r>
            <a:r>
              <a:rPr lang="en-IN" sz="2600" baseline="30000" dirty="0"/>
              <a:t>ND</a:t>
            </a:r>
            <a:r>
              <a:rPr lang="en-IN" sz="2600" dirty="0"/>
              <a:t> 	3</a:t>
            </a:r>
            <a:r>
              <a:rPr lang="en-IN" sz="2600" baseline="30000" dirty="0"/>
              <a:t>RD</a:t>
            </a:r>
            <a:r>
              <a:rPr lang="en-IN" sz="2600" dirty="0"/>
              <a:t> </a:t>
            </a:r>
          </a:p>
          <a:p>
            <a:r>
              <a:rPr lang="en-IN" sz="2600" dirty="0">
                <a:solidFill>
                  <a:srgbClr val="FF0000"/>
                </a:solidFill>
              </a:rPr>
              <a:t>S1 		S2		S3</a:t>
            </a:r>
          </a:p>
          <a:p>
            <a:r>
              <a:rPr lang="en-IN" sz="2600" dirty="0"/>
              <a:t>S1 		S2		S4</a:t>
            </a:r>
          </a:p>
          <a:p>
            <a:r>
              <a:rPr lang="en-IN" sz="2600" dirty="0"/>
              <a:t>S1 		S2		S5</a:t>
            </a:r>
          </a:p>
          <a:p>
            <a:r>
              <a:rPr lang="en-IN" sz="2600" dirty="0"/>
              <a:t>S1 		S3		S2</a:t>
            </a:r>
          </a:p>
          <a:p>
            <a:r>
              <a:rPr lang="en-IN" sz="2600" dirty="0"/>
              <a:t>S1 		S3		S4</a:t>
            </a:r>
          </a:p>
          <a:p>
            <a:r>
              <a:rPr lang="en-IN" sz="2600" dirty="0"/>
              <a:t>S1 		S3		S5</a:t>
            </a:r>
          </a:p>
          <a:p>
            <a:r>
              <a:rPr lang="en-IN" sz="2600" dirty="0"/>
              <a:t>S1 		S4		S1</a:t>
            </a:r>
          </a:p>
          <a:p>
            <a:r>
              <a:rPr lang="en-IN" sz="2600" dirty="0"/>
              <a:t>S1 		S4		S2</a:t>
            </a:r>
          </a:p>
          <a:p>
            <a:r>
              <a:rPr lang="en-IN" sz="2600" dirty="0"/>
              <a:t>S1 		S4		S3</a:t>
            </a:r>
          </a:p>
          <a:p>
            <a:endParaRPr lang="en-IN" sz="2600" dirty="0"/>
          </a:p>
          <a:p>
            <a:r>
              <a:rPr lang="en-IN" sz="2600" dirty="0"/>
              <a:t>……</a:t>
            </a:r>
          </a:p>
          <a:p>
            <a:r>
              <a:rPr lang="en-IN" sz="2600" dirty="0"/>
              <a:t>S5 	S4		S3	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AEBD6-12E1-4451-9361-6180C4B85929}"/>
              </a:ext>
            </a:extLst>
          </p:cNvPr>
          <p:cNvSpPr txBox="1"/>
          <p:nvPr/>
        </p:nvSpPr>
        <p:spPr>
          <a:xfrm>
            <a:off x="765313" y="5214014"/>
            <a:ext cx="24052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Other Cases</a:t>
            </a:r>
          </a:p>
        </p:txBody>
      </p:sp>
    </p:spTree>
    <p:extLst>
      <p:ext uri="{BB962C8B-B14F-4D97-AF65-F5344CB8AC3E}">
        <p14:creationId xmlns:p14="http://schemas.microsoft.com/office/powerpoint/2010/main" val="225480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554247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>
            <a:off x="3564954" y="2646672"/>
            <a:ext cx="1577319" cy="1259406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5B9DDA-B706-4CFA-A2CB-57738C1B1F3E}"/>
              </a:ext>
            </a:extLst>
          </p:cNvPr>
          <p:cNvCxnSpPr>
            <a:cxnSpLocks/>
          </p:cNvCxnSpPr>
          <p:nvPr/>
        </p:nvCxnSpPr>
        <p:spPr>
          <a:xfrm flipV="1">
            <a:off x="3537701" y="3240157"/>
            <a:ext cx="1530083" cy="123712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A89327-2996-471B-AC02-30BA86690838}"/>
              </a:ext>
            </a:extLst>
          </p:cNvPr>
          <p:cNvSpPr txBox="1"/>
          <p:nvPr/>
        </p:nvSpPr>
        <p:spPr>
          <a:xfrm>
            <a:off x="6559826" y="1391478"/>
            <a:ext cx="268356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1</a:t>
            </a:r>
            <a:r>
              <a:rPr lang="en-IN" sz="2600" baseline="30000" dirty="0"/>
              <a:t>ST</a:t>
            </a:r>
            <a:r>
              <a:rPr lang="en-IN" sz="2600" dirty="0"/>
              <a:t> 		2</a:t>
            </a:r>
            <a:r>
              <a:rPr lang="en-IN" sz="2600" baseline="30000" dirty="0"/>
              <a:t>ND</a:t>
            </a:r>
            <a:r>
              <a:rPr lang="en-IN" sz="2600" dirty="0"/>
              <a:t> 	3</a:t>
            </a:r>
            <a:r>
              <a:rPr lang="en-IN" sz="2600" baseline="30000" dirty="0"/>
              <a:t>RD</a:t>
            </a:r>
            <a:r>
              <a:rPr lang="en-IN" sz="2600" dirty="0"/>
              <a:t> </a:t>
            </a:r>
          </a:p>
          <a:p>
            <a:r>
              <a:rPr lang="en-IN" sz="2600" dirty="0"/>
              <a:t>S1 		S2		S3</a:t>
            </a:r>
          </a:p>
          <a:p>
            <a:r>
              <a:rPr lang="en-IN" sz="2600" dirty="0"/>
              <a:t>S1 		S2		S4</a:t>
            </a:r>
          </a:p>
          <a:p>
            <a:r>
              <a:rPr lang="en-IN" sz="2600" dirty="0"/>
              <a:t>S1 		S2		S5</a:t>
            </a:r>
          </a:p>
          <a:p>
            <a:r>
              <a:rPr lang="en-IN" sz="2600" dirty="0"/>
              <a:t>S1 		S3		S2</a:t>
            </a:r>
          </a:p>
          <a:p>
            <a:r>
              <a:rPr lang="en-IN" sz="2600" dirty="0"/>
              <a:t>S1 		S3		S4</a:t>
            </a:r>
          </a:p>
          <a:p>
            <a:r>
              <a:rPr lang="en-IN" sz="2600" dirty="0"/>
              <a:t>S1 		S3		S5</a:t>
            </a:r>
          </a:p>
          <a:p>
            <a:r>
              <a:rPr lang="en-IN" sz="2600" dirty="0"/>
              <a:t>S1 		S4		S1</a:t>
            </a:r>
          </a:p>
          <a:p>
            <a:r>
              <a:rPr lang="en-IN" sz="2600" dirty="0"/>
              <a:t>S1 		S4		S2</a:t>
            </a:r>
          </a:p>
          <a:p>
            <a:r>
              <a:rPr lang="en-IN" sz="2600" dirty="0">
                <a:solidFill>
                  <a:srgbClr val="FF0000"/>
                </a:solidFill>
              </a:rPr>
              <a:t>S1 		S4		S3</a:t>
            </a:r>
          </a:p>
          <a:p>
            <a:endParaRPr lang="en-IN" sz="2600" dirty="0"/>
          </a:p>
          <a:p>
            <a:r>
              <a:rPr lang="en-IN" sz="2600" dirty="0"/>
              <a:t>……</a:t>
            </a:r>
          </a:p>
          <a:p>
            <a:r>
              <a:rPr lang="en-IN" sz="2600" dirty="0"/>
              <a:t>S5 	S4		S3	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AEBD6-12E1-4451-9361-6180C4B85929}"/>
              </a:ext>
            </a:extLst>
          </p:cNvPr>
          <p:cNvSpPr txBox="1"/>
          <p:nvPr/>
        </p:nvSpPr>
        <p:spPr>
          <a:xfrm>
            <a:off x="765313" y="5214014"/>
            <a:ext cx="24052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Other Cases</a:t>
            </a:r>
          </a:p>
        </p:txBody>
      </p:sp>
    </p:spTree>
    <p:extLst>
      <p:ext uri="{BB962C8B-B14F-4D97-AF65-F5344CB8AC3E}">
        <p14:creationId xmlns:p14="http://schemas.microsoft.com/office/powerpoint/2010/main" val="281487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ECE28-458F-47BA-B3F3-EBB5FAB6E4C6}"/>
              </a:ext>
            </a:extLst>
          </p:cNvPr>
          <p:cNvSpPr/>
          <p:nvPr/>
        </p:nvSpPr>
        <p:spPr>
          <a:xfrm>
            <a:off x="2556280" y="1643987"/>
            <a:ext cx="1445449" cy="260405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1C416-0C62-4CAF-9E0D-FF1AEECD94B2}"/>
              </a:ext>
            </a:extLst>
          </p:cNvPr>
          <p:cNvSpPr txBox="1"/>
          <p:nvPr/>
        </p:nvSpPr>
        <p:spPr>
          <a:xfrm>
            <a:off x="3070655" y="1579865"/>
            <a:ext cx="686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D5ACC8-59EC-4CCB-B862-F4398BC26982}"/>
              </a:ext>
            </a:extLst>
          </p:cNvPr>
          <p:cNvSpPr/>
          <p:nvPr/>
        </p:nvSpPr>
        <p:spPr>
          <a:xfrm>
            <a:off x="4516105" y="1607184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0F4667-7563-4305-BAC0-7B12B502EA41}"/>
              </a:ext>
            </a:extLst>
          </p:cNvPr>
          <p:cNvCxnSpPr>
            <a:cxnSpLocks/>
          </p:cNvCxnSpPr>
          <p:nvPr/>
        </p:nvCxnSpPr>
        <p:spPr>
          <a:xfrm>
            <a:off x="3588026" y="1878492"/>
            <a:ext cx="1554247" cy="280283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0DBE4-8E30-47E7-A266-215B619CEAFA}"/>
              </a:ext>
            </a:extLst>
          </p:cNvPr>
          <p:cNvSpPr txBox="1"/>
          <p:nvPr/>
        </p:nvSpPr>
        <p:spPr>
          <a:xfrm>
            <a:off x="1064344" y="1640317"/>
            <a:ext cx="1916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1EEA3-7103-4385-8B4C-C1A5230FD40D}"/>
              </a:ext>
            </a:extLst>
          </p:cNvPr>
          <p:cNvSpPr txBox="1"/>
          <p:nvPr/>
        </p:nvSpPr>
        <p:spPr>
          <a:xfrm>
            <a:off x="5067784" y="1560468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C3215E-6181-4372-AF38-B01C7D8ECA0C}"/>
              </a:ext>
            </a:extLst>
          </p:cNvPr>
          <p:cNvCxnSpPr>
            <a:cxnSpLocks/>
          </p:cNvCxnSpPr>
          <p:nvPr/>
        </p:nvCxnSpPr>
        <p:spPr>
          <a:xfrm>
            <a:off x="3564954" y="2646672"/>
            <a:ext cx="1502830" cy="1358798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5B9DDA-B706-4CFA-A2CB-57738C1B1F3E}"/>
              </a:ext>
            </a:extLst>
          </p:cNvPr>
          <p:cNvCxnSpPr>
            <a:cxnSpLocks/>
          </p:cNvCxnSpPr>
          <p:nvPr/>
        </p:nvCxnSpPr>
        <p:spPr>
          <a:xfrm flipV="1">
            <a:off x="3537701" y="3260035"/>
            <a:ext cx="1530083" cy="10383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A89327-2996-471B-AC02-30BA86690838}"/>
              </a:ext>
            </a:extLst>
          </p:cNvPr>
          <p:cNvSpPr txBox="1"/>
          <p:nvPr/>
        </p:nvSpPr>
        <p:spPr>
          <a:xfrm>
            <a:off x="6559826" y="1391478"/>
            <a:ext cx="268356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1</a:t>
            </a:r>
            <a:r>
              <a:rPr lang="en-IN" sz="2600" baseline="30000" dirty="0"/>
              <a:t>ST</a:t>
            </a:r>
            <a:r>
              <a:rPr lang="en-IN" sz="2600" dirty="0"/>
              <a:t> 		2</a:t>
            </a:r>
            <a:r>
              <a:rPr lang="en-IN" sz="2600" baseline="30000" dirty="0"/>
              <a:t>ND</a:t>
            </a:r>
            <a:r>
              <a:rPr lang="en-IN" sz="2600" dirty="0"/>
              <a:t> 	3</a:t>
            </a:r>
            <a:r>
              <a:rPr lang="en-IN" sz="2600" baseline="30000" dirty="0"/>
              <a:t>RD</a:t>
            </a:r>
            <a:r>
              <a:rPr lang="en-IN" sz="2600" dirty="0"/>
              <a:t> </a:t>
            </a:r>
          </a:p>
          <a:p>
            <a:r>
              <a:rPr lang="en-IN" sz="2600" dirty="0"/>
              <a:t>S1 		S2		S3</a:t>
            </a:r>
          </a:p>
          <a:p>
            <a:r>
              <a:rPr lang="en-IN" sz="2600" dirty="0"/>
              <a:t>S1 		S2		S4</a:t>
            </a:r>
          </a:p>
          <a:p>
            <a:r>
              <a:rPr lang="en-IN" sz="2600" dirty="0"/>
              <a:t>S1 		S2		S5</a:t>
            </a:r>
          </a:p>
          <a:p>
            <a:r>
              <a:rPr lang="en-IN" sz="2600" dirty="0"/>
              <a:t>S1 		S3		S2</a:t>
            </a:r>
          </a:p>
          <a:p>
            <a:r>
              <a:rPr lang="en-IN" sz="2600" dirty="0"/>
              <a:t>S1 		S3		S4</a:t>
            </a:r>
          </a:p>
          <a:p>
            <a:r>
              <a:rPr lang="en-IN" sz="2600" dirty="0"/>
              <a:t>S1 		S3		S5</a:t>
            </a:r>
          </a:p>
          <a:p>
            <a:r>
              <a:rPr lang="en-IN" sz="2600" dirty="0"/>
              <a:t>S1 		S4		S1</a:t>
            </a:r>
          </a:p>
          <a:p>
            <a:r>
              <a:rPr lang="en-IN" sz="2600" dirty="0"/>
              <a:t>S1 		S4		S2</a:t>
            </a:r>
          </a:p>
          <a:p>
            <a:r>
              <a:rPr lang="en-IN" sz="2600" dirty="0"/>
              <a:t>S1 		S4		S3</a:t>
            </a:r>
          </a:p>
          <a:p>
            <a:endParaRPr lang="en-IN" sz="2600" dirty="0"/>
          </a:p>
          <a:p>
            <a:r>
              <a:rPr lang="en-IN" sz="2600" dirty="0"/>
              <a:t>……</a:t>
            </a:r>
          </a:p>
          <a:p>
            <a:r>
              <a:rPr lang="en-IN" sz="2600" dirty="0">
                <a:solidFill>
                  <a:srgbClr val="FF0000"/>
                </a:solidFill>
              </a:rPr>
              <a:t>S5 	S4		S3</a:t>
            </a:r>
            <a:r>
              <a:rPr lang="en-IN" sz="2600" dirty="0"/>
              <a:t>	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AEBD6-12E1-4451-9361-6180C4B85929}"/>
              </a:ext>
            </a:extLst>
          </p:cNvPr>
          <p:cNvSpPr txBox="1"/>
          <p:nvPr/>
        </p:nvSpPr>
        <p:spPr>
          <a:xfrm>
            <a:off x="278299" y="4697179"/>
            <a:ext cx="42937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3600" dirty="0"/>
              <a:t>By the product rule, there are </a:t>
            </a:r>
          </a:p>
          <a:p>
            <a:pPr marL="0" indent="0">
              <a:buNone/>
            </a:pPr>
            <a:r>
              <a:rPr lang="en-US" sz="3600" dirty="0"/>
              <a:t>5 · 4 · 3 = 60 ways</a:t>
            </a:r>
          </a:p>
        </p:txBody>
      </p:sp>
    </p:spTree>
    <p:extLst>
      <p:ext uri="{BB962C8B-B14F-4D97-AF65-F5344CB8AC3E}">
        <p14:creationId xmlns:p14="http://schemas.microsoft.com/office/powerpoint/2010/main" val="354257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93" y="990280"/>
            <a:ext cx="9029007" cy="1325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In how many ways can we arrange all five of these students in a line for a picture?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6179CD-31B9-4F45-AD35-DA0F12DFBA63}"/>
              </a:ext>
            </a:extLst>
          </p:cNvPr>
          <p:cNvSpPr/>
          <p:nvPr/>
        </p:nvSpPr>
        <p:spPr>
          <a:xfrm>
            <a:off x="1930117" y="2409294"/>
            <a:ext cx="1445449" cy="3268632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AC635-F536-4B29-AAAA-9946DEB04450}"/>
              </a:ext>
            </a:extLst>
          </p:cNvPr>
          <p:cNvSpPr txBox="1"/>
          <p:nvPr/>
        </p:nvSpPr>
        <p:spPr>
          <a:xfrm>
            <a:off x="2444492" y="2345172"/>
            <a:ext cx="6863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1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2</a:t>
            </a:r>
            <a:r>
              <a:rPr lang="en-IN" sz="2400" baseline="30000" dirty="0">
                <a:solidFill>
                  <a:srgbClr val="FFFF00"/>
                </a:solidFill>
              </a:rPr>
              <a:t>nd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3</a:t>
            </a:r>
            <a:r>
              <a:rPr lang="en-IN" sz="2400" baseline="30000" dirty="0">
                <a:solidFill>
                  <a:srgbClr val="FFFF00"/>
                </a:solidFill>
              </a:rPr>
              <a:t>rd</a:t>
            </a:r>
          </a:p>
          <a:p>
            <a:endParaRPr lang="en-IN" sz="2400" baseline="300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4</a:t>
            </a:r>
            <a:r>
              <a:rPr lang="en-IN" sz="2400" baseline="30000" dirty="0">
                <a:solidFill>
                  <a:srgbClr val="FFFF00"/>
                </a:solidFill>
              </a:rPr>
              <a:t>th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</a:p>
          <a:p>
            <a:endParaRPr lang="en-IN" sz="2400" baseline="300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5</a:t>
            </a:r>
            <a:r>
              <a:rPr lang="en-IN" sz="2400" baseline="30000" dirty="0">
                <a:solidFill>
                  <a:srgbClr val="FFFF00"/>
                </a:solidFill>
              </a:rPr>
              <a:t>th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897C95-7425-4128-B576-EBBFB8DA5223}"/>
              </a:ext>
            </a:extLst>
          </p:cNvPr>
          <p:cNvSpPr/>
          <p:nvPr/>
        </p:nvSpPr>
        <p:spPr>
          <a:xfrm>
            <a:off x="3889942" y="2372491"/>
            <a:ext cx="1445449" cy="3402137"/>
          </a:xfrm>
          <a:prstGeom prst="ellipse">
            <a:avLst/>
          </a:prstGeom>
          <a:solidFill>
            <a:srgbClr val="00B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45AD17-2B30-472E-AB6E-74D3D08295BF}"/>
              </a:ext>
            </a:extLst>
          </p:cNvPr>
          <p:cNvCxnSpPr>
            <a:cxnSpLocks/>
          </p:cNvCxnSpPr>
          <p:nvPr/>
        </p:nvCxnSpPr>
        <p:spPr>
          <a:xfrm>
            <a:off x="2961863" y="2653738"/>
            <a:ext cx="1479758" cy="1371604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F0E85F-1B16-4575-B563-8EB2917E4045}"/>
              </a:ext>
            </a:extLst>
          </p:cNvPr>
          <p:cNvSpPr txBox="1"/>
          <p:nvPr/>
        </p:nvSpPr>
        <p:spPr>
          <a:xfrm>
            <a:off x="438181" y="2326112"/>
            <a:ext cx="19168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Choices</a:t>
            </a:r>
          </a:p>
          <a:p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Choices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B257D-0BB0-4DDB-841F-96A0E83275C5}"/>
              </a:ext>
            </a:extLst>
          </p:cNvPr>
          <p:cNvSpPr txBox="1"/>
          <p:nvPr/>
        </p:nvSpPr>
        <p:spPr>
          <a:xfrm>
            <a:off x="4491314" y="2365533"/>
            <a:ext cx="6863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</a:rPr>
              <a:t>S1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S2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S3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S4</a:t>
            </a:r>
          </a:p>
          <a:p>
            <a:endParaRPr lang="en-IN" sz="2400" dirty="0">
              <a:solidFill>
                <a:srgbClr val="FFFF00"/>
              </a:solidFill>
            </a:endParaRPr>
          </a:p>
          <a:p>
            <a:r>
              <a:rPr lang="en-IN" sz="2400" dirty="0">
                <a:solidFill>
                  <a:srgbClr val="FFFF00"/>
                </a:solidFill>
              </a:rPr>
              <a:t>S5</a:t>
            </a:r>
          </a:p>
          <a:p>
            <a:endParaRPr lang="en-IN" sz="2400" dirty="0">
              <a:solidFill>
                <a:srgbClr val="FFFF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DB32A6-02B5-48D1-A91C-EF871281BF5F}"/>
              </a:ext>
            </a:extLst>
          </p:cNvPr>
          <p:cNvCxnSpPr>
            <a:cxnSpLocks/>
          </p:cNvCxnSpPr>
          <p:nvPr/>
        </p:nvCxnSpPr>
        <p:spPr>
          <a:xfrm>
            <a:off x="2938791" y="3411979"/>
            <a:ext cx="1502830" cy="1358798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8C4615-882D-41CD-B593-04A3C1D64316}"/>
              </a:ext>
            </a:extLst>
          </p:cNvPr>
          <p:cNvCxnSpPr>
            <a:cxnSpLocks/>
          </p:cNvCxnSpPr>
          <p:nvPr/>
        </p:nvCxnSpPr>
        <p:spPr>
          <a:xfrm flipV="1">
            <a:off x="2911538" y="2653738"/>
            <a:ext cx="1604572" cy="147543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0E0509A-A41C-40DF-8B92-71D077ADF245}"/>
              </a:ext>
            </a:extLst>
          </p:cNvPr>
          <p:cNvSpPr txBox="1"/>
          <p:nvPr/>
        </p:nvSpPr>
        <p:spPr>
          <a:xfrm>
            <a:off x="5588149" y="2382026"/>
            <a:ext cx="25841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1</a:t>
            </a:r>
            <a:r>
              <a:rPr lang="en-IN" sz="2400" baseline="30000" dirty="0"/>
              <a:t>ST</a:t>
            </a:r>
            <a:r>
              <a:rPr lang="en-IN" sz="2400" dirty="0"/>
              <a:t> 		2</a:t>
            </a:r>
            <a:r>
              <a:rPr lang="en-IN" sz="2400" baseline="30000" dirty="0"/>
              <a:t>ND</a:t>
            </a:r>
            <a:r>
              <a:rPr lang="en-IN" sz="2400" dirty="0"/>
              <a:t> 	3</a:t>
            </a:r>
            <a:r>
              <a:rPr lang="en-IN" sz="2400" baseline="30000" dirty="0"/>
              <a:t>RD	</a:t>
            </a:r>
            <a:r>
              <a:rPr lang="en-IN" sz="2400" dirty="0"/>
              <a:t> </a:t>
            </a:r>
          </a:p>
          <a:p>
            <a:r>
              <a:rPr lang="en-IN" sz="2400" dirty="0"/>
              <a:t>S1 		S2		S3</a:t>
            </a:r>
          </a:p>
          <a:p>
            <a:r>
              <a:rPr lang="en-IN" sz="2400" dirty="0"/>
              <a:t>S1 		S2		S3</a:t>
            </a:r>
          </a:p>
          <a:p>
            <a:r>
              <a:rPr lang="en-IN" sz="2400" dirty="0"/>
              <a:t>……</a:t>
            </a:r>
          </a:p>
          <a:p>
            <a:r>
              <a:rPr lang="en-IN" sz="2400" dirty="0">
                <a:solidFill>
                  <a:srgbClr val="FF0000"/>
                </a:solidFill>
              </a:rPr>
              <a:t>S3 		S4		S1</a:t>
            </a:r>
          </a:p>
          <a:p>
            <a:endParaRPr lang="en-IN" sz="2400" dirty="0">
              <a:solidFill>
                <a:srgbClr val="FF0000"/>
              </a:solidFill>
            </a:endParaRPr>
          </a:p>
          <a:p>
            <a:endParaRPr lang="en-IN" sz="2400" dirty="0"/>
          </a:p>
          <a:p>
            <a:r>
              <a:rPr lang="en-IN" sz="2400" dirty="0"/>
              <a:t>……</a:t>
            </a:r>
          </a:p>
          <a:p>
            <a:r>
              <a:rPr lang="en-IN" sz="2400" dirty="0"/>
              <a:t>S5 		S4		S3	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5FED5-2AD2-4C5E-9174-8892FD8228F9}"/>
              </a:ext>
            </a:extLst>
          </p:cNvPr>
          <p:cNvSpPr txBox="1"/>
          <p:nvPr/>
        </p:nvSpPr>
        <p:spPr>
          <a:xfrm>
            <a:off x="188846" y="5780543"/>
            <a:ext cx="569512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600" b="1" dirty="0"/>
              <a:t>Sol:-</a:t>
            </a:r>
            <a:r>
              <a:rPr lang="en-US" sz="2600" dirty="0"/>
              <a:t> By the product rule, there are </a:t>
            </a:r>
          </a:p>
          <a:p>
            <a:pPr marL="0" indent="0">
              <a:buNone/>
            </a:pPr>
            <a:r>
              <a:rPr lang="en-US" sz="2600" dirty="0"/>
              <a:t>5 · 4 · 3 · 2 · 1 = 120 ways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B48D4-39E2-4CE0-AC58-79973D46411F}"/>
              </a:ext>
            </a:extLst>
          </p:cNvPr>
          <p:cNvSpPr txBox="1"/>
          <p:nvPr/>
        </p:nvSpPr>
        <p:spPr>
          <a:xfrm>
            <a:off x="7943453" y="2382026"/>
            <a:ext cx="11309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4</a:t>
            </a:r>
            <a:r>
              <a:rPr lang="en-IN" sz="2400" baseline="30000" dirty="0"/>
              <a:t>th</a:t>
            </a:r>
            <a:r>
              <a:rPr lang="en-IN" sz="2400" dirty="0"/>
              <a:t> 	5</a:t>
            </a:r>
            <a:r>
              <a:rPr lang="en-IN" sz="2400" baseline="30000" dirty="0"/>
              <a:t>th</a:t>
            </a:r>
            <a:r>
              <a:rPr lang="en-IN" sz="2400" dirty="0"/>
              <a:t>  </a:t>
            </a:r>
          </a:p>
          <a:p>
            <a:r>
              <a:rPr lang="en-IN" sz="2400" dirty="0"/>
              <a:t>S4 	S5	</a:t>
            </a:r>
          </a:p>
          <a:p>
            <a:r>
              <a:rPr lang="en-IN" sz="2400" dirty="0"/>
              <a:t>S5 	S4</a:t>
            </a:r>
          </a:p>
          <a:p>
            <a:r>
              <a:rPr lang="en-IN" sz="2400" dirty="0"/>
              <a:t>….</a:t>
            </a:r>
          </a:p>
          <a:p>
            <a:r>
              <a:rPr lang="en-IN" sz="2400" dirty="0">
                <a:solidFill>
                  <a:srgbClr val="FF0000"/>
                </a:solidFill>
              </a:rPr>
              <a:t>S2 	S5		</a:t>
            </a:r>
            <a:r>
              <a:rPr lang="en-IN" sz="2400" dirty="0"/>
              <a:t>	</a:t>
            </a:r>
          </a:p>
          <a:p>
            <a:endParaRPr lang="en-IN" sz="2400" dirty="0"/>
          </a:p>
          <a:p>
            <a:r>
              <a:rPr lang="en-IN" sz="2400" dirty="0"/>
              <a:t>……</a:t>
            </a:r>
          </a:p>
          <a:p>
            <a:r>
              <a:rPr lang="en-IN" sz="2400" dirty="0"/>
              <a:t>S5	S4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B5E7CE-BDB2-401D-9547-68CD3E96522E}"/>
              </a:ext>
            </a:extLst>
          </p:cNvPr>
          <p:cNvCxnSpPr>
            <a:cxnSpLocks/>
          </p:cNvCxnSpPr>
          <p:nvPr/>
        </p:nvCxnSpPr>
        <p:spPr>
          <a:xfrm flipV="1">
            <a:off x="2938791" y="3339540"/>
            <a:ext cx="1577319" cy="13788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B9A249-D1FF-4F26-A3A5-404D85C8F940}"/>
              </a:ext>
            </a:extLst>
          </p:cNvPr>
          <p:cNvCxnSpPr>
            <a:cxnSpLocks/>
          </p:cNvCxnSpPr>
          <p:nvPr/>
        </p:nvCxnSpPr>
        <p:spPr>
          <a:xfrm>
            <a:off x="3251813" y="5236416"/>
            <a:ext cx="1418406" cy="16673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99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8" grpId="0"/>
      <p:bldP spid="9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93" y="990280"/>
            <a:ext cx="9029007" cy="1325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In how many ways can we arrange all five of these students in a line for a picture?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5FED5-2AD2-4C5E-9174-8892FD8228F9}"/>
              </a:ext>
            </a:extLst>
          </p:cNvPr>
          <p:cNvSpPr txBox="1"/>
          <p:nvPr/>
        </p:nvSpPr>
        <p:spPr>
          <a:xfrm>
            <a:off x="114993" y="2186610"/>
            <a:ext cx="83432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/>
              <a:t>Sol:-</a:t>
            </a:r>
            <a:r>
              <a:rPr lang="en-US" sz="2400" dirty="0"/>
              <a:t> By the product rule, there are </a:t>
            </a:r>
          </a:p>
          <a:p>
            <a:pPr marL="0" indent="0">
              <a:buNone/>
            </a:pPr>
            <a:r>
              <a:rPr lang="en-US" sz="2400" dirty="0"/>
              <a:t>5 · 4 · 3 · 2 · 1 = 120 ways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OR</a:t>
            </a:r>
          </a:p>
          <a:p>
            <a:r>
              <a:rPr lang="en-US" sz="2400" dirty="0"/>
              <a:t>5 · (5-1) · (5-2) · (5-3) · (5-4) = 120 ways</a:t>
            </a:r>
          </a:p>
          <a:p>
            <a:r>
              <a:rPr lang="en-US" sz="2400" dirty="0"/>
              <a:t>OR</a:t>
            </a:r>
          </a:p>
          <a:p>
            <a:r>
              <a:rPr lang="en-US" sz="2400" dirty="0"/>
              <a:t>n · (n-1) · (n-2) · (n-3) · (n-4) = 120 ways</a:t>
            </a:r>
          </a:p>
          <a:p>
            <a:r>
              <a:rPr lang="en-US" sz="2400" dirty="0"/>
              <a:t>Where n=5</a:t>
            </a:r>
          </a:p>
          <a:p>
            <a:br>
              <a:rPr lang="en-US" sz="2400" dirty="0"/>
            </a:br>
            <a:r>
              <a:rPr lang="en-US" sz="2400" dirty="0"/>
              <a:t>OR</a:t>
            </a:r>
          </a:p>
          <a:p>
            <a:r>
              <a:rPr lang="en-US" sz="2400" dirty="0"/>
              <a:t>n · (n-1) · (n-2) · (n-3) · (n-(r-1)) = 120 ways</a:t>
            </a:r>
          </a:p>
          <a:p>
            <a:r>
              <a:rPr lang="en-US" sz="2400" dirty="0"/>
              <a:t>where n=5, where r=5.</a:t>
            </a:r>
          </a:p>
        </p:txBody>
      </p:sp>
    </p:spTree>
    <p:extLst>
      <p:ext uri="{BB962C8B-B14F-4D97-AF65-F5344CB8AC3E}">
        <p14:creationId xmlns:p14="http://schemas.microsoft.com/office/powerpoint/2010/main" val="144002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3E31D-61E3-4350-B24D-F5AFCF94C29F}"/>
              </a:ext>
            </a:extLst>
          </p:cNvPr>
          <p:cNvSpPr txBox="1"/>
          <p:nvPr/>
        </p:nvSpPr>
        <p:spPr>
          <a:xfrm>
            <a:off x="422262" y="3472056"/>
            <a:ext cx="6290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b="0" u="none" strike="noStrike" baseline="0" dirty="0"/>
              <a:t>Total ways = n(n − 1)(n − 2) · · · (n − (r </a:t>
            </a:r>
            <a:r>
              <a:rPr lang="pt-BR" sz="2500" dirty="0"/>
              <a:t>–</a:t>
            </a:r>
            <a:r>
              <a:rPr lang="pt-BR" sz="2500" b="0" u="none" strike="noStrike" baseline="0" dirty="0"/>
              <a:t> 1))</a:t>
            </a:r>
            <a:endParaRPr lang="en-IN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16196-63FC-4F7A-97E3-835672F38D43}"/>
              </a:ext>
            </a:extLst>
          </p:cNvPr>
          <p:cNvSpPr txBox="1"/>
          <p:nvPr/>
        </p:nvSpPr>
        <p:spPr>
          <a:xfrm>
            <a:off x="422262" y="4065130"/>
            <a:ext cx="6290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dirty="0"/>
              <a:t>Total ways = n</a:t>
            </a:r>
            <a:r>
              <a:rPr lang="pt-BR" sz="2500" b="0" u="none" strike="noStrike" baseline="0" dirty="0"/>
              <a:t>(n − 1)(n − 2) · · · (n − r </a:t>
            </a:r>
            <a:r>
              <a:rPr lang="pt-BR" sz="2500" dirty="0"/>
              <a:t>+</a:t>
            </a:r>
            <a:r>
              <a:rPr lang="pt-BR" sz="2500" b="0" u="none" strike="noStrike" baseline="0" dirty="0"/>
              <a:t>1)</a:t>
            </a:r>
            <a:endParaRPr lang="en-IN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D7224-A3F0-4498-A219-69630BFBD630}"/>
              </a:ext>
            </a:extLst>
          </p:cNvPr>
          <p:cNvSpPr txBox="1"/>
          <p:nvPr/>
        </p:nvSpPr>
        <p:spPr>
          <a:xfrm>
            <a:off x="114993" y="2799495"/>
            <a:ext cx="6374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b="1" u="none" strike="noStrike" baseline="0" dirty="0"/>
              <a:t>Sol:- </a:t>
            </a:r>
            <a:r>
              <a:rPr lang="pt-BR" sz="2500" b="0" u="none" strike="noStrike" baseline="0" dirty="0"/>
              <a:t>N students and r positions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FC83B0-68B2-4B28-8925-BBCD262DE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93" y="990280"/>
            <a:ext cx="9029007" cy="1325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In how many ways can we arrange all five of these students in a line for a picture?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7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-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dirty="0"/>
                  <a:t>If n is a positive integer and r is an integer with 1 ≤ r ≤ n, then there are</a:t>
                </a:r>
              </a:p>
              <a:p>
                <a:pPr marL="0" indent="0">
                  <a:buNone/>
                </a:pPr>
                <a:r>
                  <a:rPr lang="en-IN" dirty="0"/>
                  <a:t>P(n, r) = n(n − 1)(n − 2) · · · (n − r + 1)</a:t>
                </a:r>
              </a:p>
              <a:p>
                <a:pPr marL="0" indent="0">
                  <a:buNone/>
                </a:pPr>
                <a:r>
                  <a:rPr lang="en-IN" dirty="0"/>
                  <a:t>r-permutations of a set with n distinct elements.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pt-BR" b="1" dirty="0"/>
                  <a:t>Cor.:- </a:t>
                </a:r>
                <a:r>
                  <a:rPr lang="pt-BR" dirty="0"/>
                  <a:t>If n and r are integers with 0 ≤ r ≤ n, then </a:t>
                </a:r>
                <a:br>
                  <a:rPr lang="pt-BR" dirty="0"/>
                </a:br>
                <a:r>
                  <a:rPr lang="pt-BR" dirty="0"/>
                  <a:t>P(n, 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dirty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dirty="0"/>
                          <m:t>(</m:t>
                        </m:r>
                        <m:r>
                          <m:rPr>
                            <m:nor/>
                          </m:rPr>
                          <a:rPr lang="pt-BR" dirty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 − </m:t>
                        </m:r>
                        <m:r>
                          <m:rPr>
                            <m:nor/>
                          </m:rPr>
                          <a:rPr lang="pt-BR" dirty="0"/>
                          <m:t>r</m:t>
                        </m:r>
                        <m:r>
                          <m:rPr>
                            <m:nor/>
                          </m:rPr>
                          <a:rPr lang="pt-BR" dirty="0"/>
                          <m:t>)!</m:t>
                        </m:r>
                      </m:den>
                    </m:f>
                  </m:oMath>
                </a14:m>
                <a:r>
                  <a:rPr lang="pt-BR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  <a:blipFill>
                <a:blip r:embed="rId2"/>
                <a:stretch>
                  <a:fillRect l="-1308" r="-1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462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49" y="1239367"/>
            <a:ext cx="8392901" cy="26328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ways are there to select a first-prize winner, a second-prize winner, and a third-prize winner from 100 different people who have entered a contest?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3A523-A2DF-4D17-9255-77C8D0EE7C72}"/>
              </a:ext>
            </a:extLst>
          </p:cNvPr>
          <p:cNvSpPr txBox="1"/>
          <p:nvPr/>
        </p:nvSpPr>
        <p:spPr>
          <a:xfrm>
            <a:off x="1263763" y="4184608"/>
            <a:ext cx="62904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b="0" i="1" u="none" strike="noStrike" baseline="0" dirty="0"/>
              <a:t>Total ways = n(n </a:t>
            </a:r>
            <a:r>
              <a:rPr lang="pt-BR" sz="2500" b="0" i="0" u="none" strike="noStrike" baseline="0" dirty="0"/>
              <a:t>− 1</a:t>
            </a:r>
            <a:r>
              <a:rPr lang="pt-BR" sz="2500" b="0" i="1" u="none" strike="noStrike" baseline="0" dirty="0"/>
              <a:t>)(n </a:t>
            </a:r>
            <a:r>
              <a:rPr lang="pt-BR" sz="2500" b="0" i="0" u="none" strike="noStrike" baseline="0" dirty="0"/>
              <a:t>− 2</a:t>
            </a:r>
            <a:r>
              <a:rPr lang="pt-BR" sz="2500" b="0" i="1" u="none" strike="noStrike" baseline="0" dirty="0"/>
              <a:t>) </a:t>
            </a:r>
            <a:r>
              <a:rPr lang="pt-BR" sz="2500" b="0" i="0" u="none" strike="noStrike" baseline="0" dirty="0"/>
              <a:t>· · · </a:t>
            </a:r>
            <a:r>
              <a:rPr lang="pt-BR" sz="2500" b="0" i="1" u="none" strike="noStrike" baseline="0" dirty="0"/>
              <a:t>(n </a:t>
            </a:r>
            <a:r>
              <a:rPr lang="pt-BR" sz="2500" b="0" i="0" u="none" strike="noStrike" baseline="0" dirty="0"/>
              <a:t>− (</a:t>
            </a:r>
            <a:r>
              <a:rPr lang="pt-BR" sz="2500" b="0" i="1" u="none" strike="noStrike" baseline="0" dirty="0"/>
              <a:t>r </a:t>
            </a:r>
            <a:r>
              <a:rPr lang="pt-BR" sz="2500" dirty="0"/>
              <a:t>–</a:t>
            </a:r>
            <a:r>
              <a:rPr lang="pt-BR" sz="2500" b="0" i="0" u="none" strike="noStrike" baseline="0" dirty="0"/>
              <a:t> 1)</a:t>
            </a:r>
            <a:r>
              <a:rPr lang="pt-BR" sz="2500" b="0" i="1" u="none" strike="noStrike" baseline="0" dirty="0"/>
              <a:t>) where</a:t>
            </a:r>
            <a:r>
              <a:rPr lang="pt-BR" sz="2500" b="0" i="1" u="none" strike="noStrike" dirty="0"/>
              <a:t> n=100, r=3.</a:t>
            </a:r>
            <a:endParaRPr lang="en-IN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0C044-47BF-4C98-97E1-3DFFC6D6FF1D}"/>
              </a:ext>
            </a:extLst>
          </p:cNvPr>
          <p:cNvSpPr txBox="1"/>
          <p:nvPr/>
        </p:nvSpPr>
        <p:spPr>
          <a:xfrm>
            <a:off x="1263763" y="5370776"/>
            <a:ext cx="6290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i="1" dirty="0"/>
              <a:t>Total ways = n</a:t>
            </a:r>
            <a:r>
              <a:rPr lang="pt-BR" sz="2500" b="0" i="1" u="none" strike="noStrike" baseline="0" dirty="0"/>
              <a:t>(n </a:t>
            </a:r>
            <a:r>
              <a:rPr lang="pt-BR" sz="2500" b="0" i="0" u="none" strike="noStrike" baseline="0" dirty="0"/>
              <a:t>− 1</a:t>
            </a:r>
            <a:r>
              <a:rPr lang="pt-BR" sz="2500" b="0" i="1" u="none" strike="noStrike" baseline="0" dirty="0"/>
              <a:t>)(n </a:t>
            </a:r>
            <a:r>
              <a:rPr lang="pt-BR" sz="2500" b="0" i="0" u="none" strike="noStrike" baseline="0" dirty="0"/>
              <a:t>− 2</a:t>
            </a:r>
            <a:r>
              <a:rPr lang="pt-BR" sz="2500" b="0" i="1" u="none" strike="noStrike" baseline="0" dirty="0"/>
              <a:t>) </a:t>
            </a:r>
            <a:r>
              <a:rPr lang="pt-BR" sz="2500" b="0" i="0" u="none" strike="noStrike" baseline="0" dirty="0"/>
              <a:t>· · · </a:t>
            </a:r>
            <a:r>
              <a:rPr lang="pt-BR" sz="2500" b="0" i="1" u="none" strike="noStrike" baseline="0" dirty="0"/>
              <a:t>(n </a:t>
            </a:r>
            <a:r>
              <a:rPr lang="pt-BR" sz="2500" b="0" i="0" u="none" strike="noStrike" baseline="0" dirty="0"/>
              <a:t>− </a:t>
            </a:r>
            <a:r>
              <a:rPr lang="pt-BR" sz="2500" b="0" i="1" u="none" strike="noStrike" baseline="0" dirty="0"/>
              <a:t>r </a:t>
            </a:r>
            <a:r>
              <a:rPr lang="pt-BR" sz="2500" dirty="0"/>
              <a:t>+</a:t>
            </a:r>
            <a:r>
              <a:rPr lang="pt-BR" sz="2500" b="0" i="0" u="none" strike="noStrike" baseline="0" dirty="0"/>
              <a:t>1</a:t>
            </a:r>
            <a:r>
              <a:rPr lang="pt-BR" sz="2500" b="0" i="1" u="none" strike="noStrike" baseline="0" dirty="0"/>
              <a:t>)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94825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080001"/>
                <a:ext cx="8392901" cy="547867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3100" b="1" dirty="0"/>
                  <a:t>Ques:- </a:t>
                </a:r>
                <a:r>
                  <a:rPr lang="en-US" sz="3100" dirty="0"/>
                  <a:t>How many ways are there to select a first-prize winner, a second-prize winner, and a third-prize winner from 100 different people who have entered a contest?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Sol:- It </a:t>
                </a:r>
                <a:r>
                  <a:rPr lang="en-US" dirty="0"/>
                  <a:t>is, the number of 3-permutations of a set of 100 elements. </a:t>
                </a:r>
              </a:p>
              <a:p>
                <a:pPr marL="0" indent="0">
                  <a:buNone/>
                </a:pPr>
                <a:r>
                  <a:rPr lang="en-US" dirty="0"/>
                  <a:t>Consequently, the answer is</a:t>
                </a:r>
              </a:p>
              <a:p>
                <a:pPr marL="0" indent="0">
                  <a:buNone/>
                </a:pPr>
                <a:r>
                  <a:rPr lang="en-US" dirty="0"/>
                  <a:t>P(100, 3)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dirty="0" smtClean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dirty="0"/>
                          <m:t>(</m:t>
                        </m:r>
                        <m:r>
                          <m:rPr>
                            <m:nor/>
                          </m:rPr>
                          <a:rPr lang="pt-BR" dirty="0" smtClean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 − </m:t>
                        </m:r>
                        <m:r>
                          <m:rPr>
                            <m:nor/>
                          </m:rPr>
                          <a:rPr lang="pt-BR" dirty="0"/>
                          <m:t>r</m:t>
                        </m:r>
                        <m:r>
                          <m:rPr>
                            <m:nor/>
                          </m:rPr>
                          <a:rPr lang="pt-BR" dirty="0"/>
                          <m:t>)!</m:t>
                        </m:r>
                      </m:den>
                    </m:f>
                  </m:oMath>
                </a14:m>
                <a:r>
                  <a:rPr lang="pt-B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nor/>
                          </m:rPr>
                          <a:rPr lang="pt-BR" b="1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b="1" dirty="0"/>
                          <m:t>(</m:t>
                        </m:r>
                        <m:r>
                          <m:rPr>
                            <m:nor/>
                          </m:rPr>
                          <a:rPr lang="en-IN" b="1" i="0" dirty="0" smtClean="0"/>
                          <m:t>100</m:t>
                        </m:r>
                        <m:r>
                          <m:rPr>
                            <m:nor/>
                          </m:rPr>
                          <a:rPr lang="pt-BR" b="1" dirty="0"/>
                          <m:t> − </m:t>
                        </m:r>
                        <m:r>
                          <m:rPr>
                            <m:nor/>
                          </m:rPr>
                          <a:rPr lang="en-IN" b="1" i="0" dirty="0" smtClean="0"/>
                          <m:t>3</m:t>
                        </m:r>
                        <m:r>
                          <m:rPr>
                            <m:nor/>
                          </m:rPr>
                          <a:rPr lang="pt-BR" b="1" dirty="0"/>
                          <m:t>)!</m:t>
                        </m:r>
                      </m:den>
                    </m:f>
                  </m:oMath>
                </a14:m>
                <a:r>
                  <a:rPr lang="pt-BR" b="1" dirty="0"/>
                  <a:t> = </a:t>
                </a:r>
                <a:r>
                  <a:rPr lang="en-US" dirty="0"/>
                  <a:t>100 · 99 · 98 = 970,200.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080001"/>
                <a:ext cx="8392901" cy="5478674"/>
              </a:xfrm>
              <a:blipFill>
                <a:blip r:embed="rId2"/>
                <a:stretch>
                  <a:fillRect l="-1308" r="-1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404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392901" cy="540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Suppose that there are eight horses in a race. The winner receives a gold medal, the second place finisher receives a silver medal, and the third-place finisher receives a bronze medal. How many different ways are there to award these medals, if all possible outcomes of the race can</a:t>
            </a:r>
          </a:p>
          <a:p>
            <a:pPr marL="0" indent="0">
              <a:buNone/>
            </a:pPr>
            <a:r>
              <a:rPr lang="en-US" dirty="0"/>
              <a:t>occur and there are no ties?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318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392901" cy="540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Sol:-</a:t>
            </a:r>
            <a:r>
              <a:rPr lang="en-US" dirty="0"/>
              <a:t> The number of different ways to award the medals is the number of 3-permutations of a set with eight elements. </a:t>
            </a:r>
          </a:p>
          <a:p>
            <a:pPr marL="0" indent="0">
              <a:buNone/>
            </a:pPr>
            <a:r>
              <a:rPr lang="en-US" dirty="0"/>
              <a:t>Hence, there are P(8, 3) = 8 · 7 · 6 = 336 possible ways to award the medals.</a:t>
            </a:r>
            <a:endParaRPr lang="en-IN" dirty="0"/>
          </a:p>
        </p:txBody>
      </p:sp>
      <p:pic>
        <p:nvPicPr>
          <p:cNvPr id="4" name="Picture 3" descr="horses.gif">
            <a:extLst>
              <a:ext uri="{FF2B5EF4-FFF2-40B4-BE49-F238E27FC236}">
                <a16:creationId xmlns:a16="http://schemas.microsoft.com/office/drawing/2014/main" id="{3DCFA3D5-D0EB-4F39-A349-C000A6685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886" y="4643304"/>
            <a:ext cx="4522304" cy="193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54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392901" cy="540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permutations of the letters ABCDEFGH contain the string ABC 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the letters ABC must occur as a block, we can find the answer by finding the number of permutations of six objects, namely, the block ABC and the individual letters D, E, F, G, and 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877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392901" cy="54005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ABC</a:t>
            </a:r>
            <a:r>
              <a:rPr lang="en-US" dirty="0"/>
              <a:t>DEFGH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ABC</a:t>
            </a:r>
            <a:r>
              <a:rPr lang="en-US" dirty="0"/>
              <a:t>DEFHG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D</a:t>
            </a:r>
            <a:r>
              <a:rPr lang="en-US" dirty="0">
                <a:solidFill>
                  <a:srgbClr val="FF0000"/>
                </a:solidFill>
              </a:rPr>
              <a:t>ABC</a:t>
            </a:r>
            <a:r>
              <a:rPr lang="en-US" dirty="0"/>
              <a:t>EFHG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DE</a:t>
            </a:r>
            <a:r>
              <a:rPr lang="en-US" dirty="0">
                <a:solidFill>
                  <a:srgbClr val="FF0000"/>
                </a:solidFill>
              </a:rPr>
              <a:t>ABC</a:t>
            </a:r>
            <a:r>
              <a:rPr lang="en-US" dirty="0"/>
              <a:t>FHG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DEFHG</a:t>
            </a:r>
            <a:r>
              <a:rPr lang="en-US" dirty="0">
                <a:solidFill>
                  <a:srgbClr val="FF0000"/>
                </a:solidFill>
              </a:rPr>
              <a:t>ABC  </a:t>
            </a:r>
            <a:r>
              <a:rPr lang="en-US" dirty="0"/>
              <a:t>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493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 </a:t>
                </a:r>
                <a:r>
                  <a:rPr lang="en-US" dirty="0"/>
                  <a:t>How many permutations of the letters ABCDEFGH contain the string ABC 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Sol:- </a:t>
                </a:r>
                <a:r>
                  <a:rPr lang="en-US" dirty="0"/>
                  <a:t>Because these six objects can occur in any order, there are P(6, 6)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dirty="0" smtClean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dirty="0"/>
                          <m:t>(</m:t>
                        </m:r>
                        <m:r>
                          <m:rPr>
                            <m:nor/>
                          </m:rPr>
                          <a:rPr lang="pt-BR" dirty="0" smtClean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 − </m:t>
                        </m:r>
                        <m:r>
                          <m:rPr>
                            <m:nor/>
                          </m:rPr>
                          <a:rPr lang="pt-BR" dirty="0"/>
                          <m:t>r</m:t>
                        </m:r>
                        <m:r>
                          <m:rPr>
                            <m:nor/>
                          </m:rPr>
                          <a:rPr lang="pt-BR" dirty="0"/>
                          <m:t>)!</m:t>
                        </m:r>
                      </m:den>
                    </m:f>
                  </m:oMath>
                </a14:m>
                <a:r>
                  <a:rPr lang="pt-B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0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nor/>
                          </m:rPr>
                          <a:rPr lang="pt-BR" b="1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b="1" dirty="0"/>
                          <m:t>(</m:t>
                        </m:r>
                        <m:r>
                          <m:rPr>
                            <m:nor/>
                          </m:rPr>
                          <a:rPr lang="en-IN" b="1" i="0" dirty="0" smtClean="0"/>
                          <m:t>6</m:t>
                        </m:r>
                        <m:r>
                          <m:rPr>
                            <m:nor/>
                          </m:rPr>
                          <a:rPr lang="pt-BR" b="1" dirty="0"/>
                          <m:t> − </m:t>
                        </m:r>
                        <m:r>
                          <m:rPr>
                            <m:nor/>
                          </m:rPr>
                          <a:rPr lang="en-IN" b="1" i="0" dirty="0" smtClean="0"/>
                          <m:t>6</m:t>
                        </m:r>
                        <m:r>
                          <m:rPr>
                            <m:nor/>
                          </m:rPr>
                          <a:rPr lang="pt-BR" b="1" dirty="0"/>
                          <m:t>)!</m:t>
                        </m:r>
                      </m:den>
                    </m:f>
                  </m:oMath>
                </a14:m>
                <a:r>
                  <a:rPr lang="pt-BR" b="1" dirty="0"/>
                  <a:t> =</a:t>
                </a:r>
                <a:r>
                  <a:rPr lang="en-US" dirty="0"/>
                  <a:t> 6! = 720 permutations of the letters ABCDEFGH in which ABC occurs as a block.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  <a:blipFill>
                <a:blip r:embed="rId2"/>
                <a:stretch>
                  <a:fillRect l="-1526" r="-1526" b="-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899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621502" cy="5509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permutations of {a, b, c, d, e, f, g} end with a?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If we want the permutation to end with a, then we may as well forget about the a, and just count the number of permutations of { b, c, d, e, f, g}.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821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392901" cy="540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b c d e f g </a:t>
            </a:r>
            <a:r>
              <a:rPr lang="en-IN" dirty="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pPr marL="0" indent="0">
              <a:buNone/>
            </a:pPr>
            <a:r>
              <a:rPr lang="en-IN" dirty="0"/>
              <a:t>b c d e g f </a:t>
            </a:r>
            <a:r>
              <a:rPr lang="en-IN" dirty="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pPr marL="0" indent="0">
              <a:buNone/>
            </a:pPr>
            <a:r>
              <a:rPr lang="en-IN" dirty="0"/>
              <a:t>b c d f e g </a:t>
            </a:r>
            <a:r>
              <a:rPr lang="en-IN" dirty="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pPr marL="0" indent="0">
              <a:buNone/>
            </a:pPr>
            <a:r>
              <a:rPr lang="en-IN" dirty="0"/>
              <a:t>c b d e f g </a:t>
            </a:r>
            <a:r>
              <a:rPr lang="en-IN" dirty="0">
                <a:solidFill>
                  <a:srgbClr val="FF0000"/>
                </a:solidFill>
              </a:rPr>
              <a:t>a  </a:t>
            </a:r>
            <a:r>
              <a:rPr lang="en-IN" dirty="0"/>
              <a:t>etc.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666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7"/>
                <a:ext cx="8621502" cy="550991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 </a:t>
                </a:r>
                <a:r>
                  <a:rPr lang="en-US" dirty="0"/>
                  <a:t>How many permutations of {a, b, c, d, e, f, g} end with a?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Sol:- </a:t>
                </a:r>
                <a:r>
                  <a:rPr lang="en-US" dirty="0"/>
                  <a:t>Each permutation of these 6 letters, followed by a, will be a permutation of the desired type, and conversely. Therefore the answer is P(6, 6)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dirty="0" smtClean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dirty="0"/>
                          <m:t>(</m:t>
                        </m:r>
                        <m:r>
                          <m:rPr>
                            <m:nor/>
                          </m:rPr>
                          <a:rPr lang="pt-BR" dirty="0" smtClean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 − </m:t>
                        </m:r>
                        <m:r>
                          <m:rPr>
                            <m:nor/>
                          </m:rPr>
                          <a:rPr lang="pt-BR" dirty="0"/>
                          <m:t>r</m:t>
                        </m:r>
                        <m:r>
                          <m:rPr>
                            <m:nor/>
                          </m:rPr>
                          <a:rPr lang="pt-BR" dirty="0"/>
                          <m:t>)!</m:t>
                        </m:r>
                      </m:den>
                    </m:f>
                  </m:oMath>
                </a14:m>
                <a:r>
                  <a:rPr lang="pt-B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0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nor/>
                          </m:rPr>
                          <a:rPr lang="pt-BR" b="1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b="1" dirty="0"/>
                          <m:t>(</m:t>
                        </m:r>
                        <m:r>
                          <m:rPr>
                            <m:nor/>
                          </m:rPr>
                          <a:rPr lang="en-IN" b="1" i="0" dirty="0" smtClean="0"/>
                          <m:t>6</m:t>
                        </m:r>
                        <m:r>
                          <m:rPr>
                            <m:nor/>
                          </m:rPr>
                          <a:rPr lang="pt-BR" b="1" dirty="0"/>
                          <m:t> − </m:t>
                        </m:r>
                        <m:r>
                          <m:rPr>
                            <m:nor/>
                          </m:rPr>
                          <a:rPr lang="en-IN" b="1" i="0" dirty="0" smtClean="0"/>
                          <m:t>6</m:t>
                        </m:r>
                        <m:r>
                          <m:rPr>
                            <m:nor/>
                          </m:rPr>
                          <a:rPr lang="pt-BR" b="1" dirty="0"/>
                          <m:t>)!</m:t>
                        </m:r>
                      </m:den>
                    </m:f>
                  </m:oMath>
                </a14:m>
                <a:r>
                  <a:rPr lang="pt-BR" b="1" dirty="0"/>
                  <a:t> =</a:t>
                </a:r>
                <a:r>
                  <a:rPr lang="en-US" dirty="0"/>
                  <a:t> 6! = 720.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7"/>
                <a:ext cx="8621502" cy="5509912"/>
              </a:xfrm>
              <a:blipFill>
                <a:blip r:embed="rId2"/>
                <a:stretch>
                  <a:fillRect l="-1273" r="-1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554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A09E-C297-48E3-9F70-216768B3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0D6B4-1BCE-49B2-A3BB-F3A903925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080001"/>
            <a:ext cx="8504904" cy="53389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ways are there for eight men </a:t>
            </a:r>
            <a:r>
              <a:rPr lang="en-US" b="1" dirty="0">
                <a:solidFill>
                  <a:srgbClr val="FF0000"/>
                </a:solidFill>
              </a:rPr>
              <a:t>and</a:t>
            </a:r>
            <a:r>
              <a:rPr lang="en-US" dirty="0"/>
              <a:t> five women to stand in a line so that no two women stand next to each other?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First position the men and then consider possible positions for the women.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20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A09E-C297-48E3-9F70-216768B3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Permutation – Example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E9D8B-818F-462F-AEDF-A4ECCC1E7FCF}"/>
              </a:ext>
            </a:extLst>
          </p:cNvPr>
          <p:cNvSpPr txBox="1"/>
          <p:nvPr/>
        </p:nvSpPr>
        <p:spPr>
          <a:xfrm>
            <a:off x="237203" y="2749970"/>
            <a:ext cx="86695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500" dirty="0"/>
              <a:t>_ M1_M2_M3_M4_M5_M6_M7_M8_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88FB9-0981-48AA-ACCB-C7FF76738D2C}"/>
              </a:ext>
            </a:extLst>
          </p:cNvPr>
          <p:cNvSpPr txBox="1"/>
          <p:nvPr/>
        </p:nvSpPr>
        <p:spPr>
          <a:xfrm>
            <a:off x="237203" y="3270116"/>
            <a:ext cx="86695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500" dirty="0"/>
              <a:t>_  1_     2_   3_   4_   5_  6_   7_   8_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004080-A53E-4687-9275-9EECABF912EB}"/>
                  </a:ext>
                </a:extLst>
              </p:cNvPr>
              <p:cNvSpPr txBox="1"/>
              <p:nvPr/>
            </p:nvSpPr>
            <p:spPr>
              <a:xfrm>
                <a:off x="389603" y="3998986"/>
                <a:ext cx="8669594" cy="2855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Positions= 9</a:t>
                </a:r>
              </a:p>
              <a:p>
                <a:pPr algn="ctr"/>
                <a:r>
                  <a:rPr lang="en-IN" sz="2400" dirty="0"/>
                  <a:t>Women= 5</a:t>
                </a:r>
              </a:p>
              <a:p>
                <a:pPr algn="ctr"/>
                <a:r>
                  <a:rPr lang="en-US" sz="2400" dirty="0"/>
                  <a:t>P(9,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 smtClean="0"/>
                          <m:t>n</m:t>
                        </m:r>
                        <m:r>
                          <m:rPr>
                            <m:nor/>
                          </m:rPr>
                          <a:rPr lang="pt-BR" sz="2400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/>
                          <m:t>(</m:t>
                        </m:r>
                        <m:r>
                          <m:rPr>
                            <m:nor/>
                          </m:rPr>
                          <a:rPr lang="pt-BR" sz="2400" dirty="0" smtClean="0"/>
                          <m:t>n</m:t>
                        </m:r>
                        <m:r>
                          <m:rPr>
                            <m:nor/>
                          </m:rPr>
                          <a:rPr lang="pt-BR" sz="2400" dirty="0"/>
                          <m:t> − </m:t>
                        </m:r>
                        <m:r>
                          <m:rPr>
                            <m:nor/>
                          </m:rPr>
                          <a:rPr lang="pt-BR" sz="2400" dirty="0"/>
                          <m:t>r</m:t>
                        </m:r>
                        <m:r>
                          <m:rPr>
                            <m:nor/>
                          </m:rPr>
                          <a:rPr lang="pt-BR" sz="2400" dirty="0"/>
                          <m:t>)!</m:t>
                        </m:r>
                      </m:den>
                    </m:f>
                  </m:oMath>
                </a14:m>
                <a:r>
                  <a:rPr lang="pt-BR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1" i="0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nor/>
                          </m:rPr>
                          <a:rPr lang="pt-BR" sz="2400" b="1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b="1" dirty="0"/>
                          <m:t>(</m:t>
                        </m:r>
                        <m:r>
                          <m:rPr>
                            <m:nor/>
                          </m:rPr>
                          <a:rPr lang="en-IN" sz="2400" b="1" i="0" dirty="0" smtClean="0"/>
                          <m:t>9</m:t>
                        </m:r>
                        <m:r>
                          <m:rPr>
                            <m:nor/>
                          </m:rPr>
                          <a:rPr lang="pt-BR" sz="2400" b="1" dirty="0"/>
                          <m:t> − </m:t>
                        </m:r>
                        <m:r>
                          <m:rPr>
                            <m:nor/>
                          </m:rPr>
                          <a:rPr lang="en-IN" sz="2400" b="1" i="0" dirty="0" smtClean="0"/>
                          <m:t>5</m:t>
                        </m:r>
                        <m:r>
                          <m:rPr>
                            <m:nor/>
                          </m:rPr>
                          <a:rPr lang="pt-BR" sz="2400" b="1" dirty="0"/>
                          <m:t>)!</m:t>
                        </m:r>
                      </m:den>
                    </m:f>
                  </m:oMath>
                </a14:m>
                <a:r>
                  <a:rPr lang="pt-BR" sz="2400" b="1" dirty="0"/>
                  <a:t> =</a:t>
                </a:r>
                <a:r>
                  <a:rPr lang="en-US" sz="2400" dirty="0"/>
                  <a:t> 98765</a:t>
                </a:r>
              </a:p>
              <a:p>
                <a:pPr algn="ctr"/>
                <a:r>
                  <a:rPr lang="en-US" sz="2400" dirty="0"/>
                  <a:t>P(8, 8)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400" dirty="0" smtClean="0"/>
                          <m:t>n</m:t>
                        </m:r>
                        <m:r>
                          <m:rPr>
                            <m:nor/>
                          </m:rPr>
                          <a:rPr lang="pt-BR" sz="2400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dirty="0"/>
                          <m:t>(</m:t>
                        </m:r>
                        <m:r>
                          <m:rPr>
                            <m:nor/>
                          </m:rPr>
                          <a:rPr lang="pt-BR" sz="2400" dirty="0" smtClean="0"/>
                          <m:t>n</m:t>
                        </m:r>
                        <m:r>
                          <m:rPr>
                            <m:nor/>
                          </m:rPr>
                          <a:rPr lang="pt-BR" sz="2400" dirty="0"/>
                          <m:t> − </m:t>
                        </m:r>
                        <m:r>
                          <m:rPr>
                            <m:nor/>
                          </m:rPr>
                          <a:rPr lang="pt-BR" sz="2400" dirty="0"/>
                          <m:t>r</m:t>
                        </m:r>
                        <m:r>
                          <m:rPr>
                            <m:nor/>
                          </m:rPr>
                          <a:rPr lang="pt-BR" sz="2400" dirty="0"/>
                          <m:t>)!</m:t>
                        </m:r>
                      </m:den>
                    </m:f>
                  </m:oMath>
                </a14:m>
                <a:r>
                  <a:rPr lang="pt-BR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1" i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nor/>
                          </m:rPr>
                          <a:rPr lang="pt-BR" sz="2400" b="1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2400" b="1" dirty="0"/>
                          <m:t>(</m:t>
                        </m:r>
                        <m:r>
                          <m:rPr>
                            <m:nor/>
                          </m:rPr>
                          <a:rPr lang="en-IN" sz="2400" b="1" i="0" dirty="0" smtClean="0"/>
                          <m:t>8</m:t>
                        </m:r>
                        <m:r>
                          <m:rPr>
                            <m:nor/>
                          </m:rPr>
                          <a:rPr lang="pt-BR" sz="2400" b="1" dirty="0"/>
                          <m:t> − </m:t>
                        </m:r>
                        <m:r>
                          <m:rPr>
                            <m:nor/>
                          </m:rPr>
                          <a:rPr lang="en-IN" sz="2400" b="1" i="0" dirty="0" smtClean="0"/>
                          <m:t>8</m:t>
                        </m:r>
                        <m:r>
                          <m:rPr>
                            <m:nor/>
                          </m:rPr>
                          <a:rPr lang="pt-BR" sz="2400" b="1" dirty="0"/>
                          <m:t>)!</m:t>
                        </m:r>
                      </m:den>
                    </m:f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b="1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nor/>
                      </m:rPr>
                      <a:rPr lang="pt-BR" sz="2400" b="1" dirty="0"/>
                      <m:t>!</m:t>
                    </m:r>
                  </m:oMath>
                </a14:m>
                <a:endParaRPr lang="en-US" sz="2400" dirty="0"/>
              </a:p>
              <a:p>
                <a:pPr algn="ctr"/>
                <a:r>
                  <a:rPr lang="en-IN" sz="2400" dirty="0"/>
                  <a:t>P(8, 8) · P(9, 5) = 8! 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1" i="0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nor/>
                          </m:rPr>
                          <a:rPr lang="pt-BR" sz="2400" b="1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1" i="0" dirty="0" smtClean="0"/>
                          <m:t>4</m:t>
                        </m:r>
                        <m:r>
                          <m:rPr>
                            <m:nor/>
                          </m:rPr>
                          <a:rPr lang="pt-BR" sz="2400" b="1" dirty="0"/>
                          <m:t>!</m:t>
                        </m:r>
                      </m:den>
                    </m:f>
                  </m:oMath>
                </a14:m>
                <a:r>
                  <a:rPr lang="pt-BR" sz="2400" b="1" dirty="0"/>
                  <a:t> </a:t>
                </a:r>
                <a:r>
                  <a:rPr lang="en-IN" sz="2400" dirty="0"/>
                  <a:t>= 609,638,400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004080-A53E-4687-9275-9EECABF91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03" y="3998986"/>
                <a:ext cx="8669594" cy="2855782"/>
              </a:xfrm>
              <a:prstGeom prst="rect">
                <a:avLst/>
              </a:prstGeom>
              <a:blipFill>
                <a:blip r:embed="rId2"/>
                <a:stretch>
                  <a:fillRect t="-1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959A522-10C7-43E0-BCCC-8BEA882DEA0B}"/>
              </a:ext>
            </a:extLst>
          </p:cNvPr>
          <p:cNvSpPr txBox="1"/>
          <p:nvPr/>
        </p:nvSpPr>
        <p:spPr>
          <a:xfrm>
            <a:off x="389603" y="1123268"/>
            <a:ext cx="86695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/>
              <a:t>W1, W2, W3, W4, W5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288D13-4A69-425B-B3AB-89EB531CD994}"/>
              </a:ext>
            </a:extLst>
          </p:cNvPr>
          <p:cNvCxnSpPr>
            <a:cxnSpLocks/>
          </p:cNvCxnSpPr>
          <p:nvPr/>
        </p:nvCxnSpPr>
        <p:spPr>
          <a:xfrm flipV="1">
            <a:off x="548868" y="1808923"/>
            <a:ext cx="2601836" cy="144862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9C5759-9672-4B83-9B17-581EC75BAE32}"/>
              </a:ext>
            </a:extLst>
          </p:cNvPr>
          <p:cNvCxnSpPr>
            <a:cxnSpLocks/>
          </p:cNvCxnSpPr>
          <p:nvPr/>
        </p:nvCxnSpPr>
        <p:spPr>
          <a:xfrm flipV="1">
            <a:off x="1514061" y="1808871"/>
            <a:ext cx="1845365" cy="14306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84DA82-D8C5-4545-AA69-B4EC5211038D}"/>
              </a:ext>
            </a:extLst>
          </p:cNvPr>
          <p:cNvCxnSpPr>
            <a:cxnSpLocks/>
          </p:cNvCxnSpPr>
          <p:nvPr/>
        </p:nvCxnSpPr>
        <p:spPr>
          <a:xfrm flipV="1">
            <a:off x="2503003" y="1764340"/>
            <a:ext cx="1283806" cy="154704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47AD1C-C747-4176-A71E-062CB20C86DC}"/>
              </a:ext>
            </a:extLst>
          </p:cNvPr>
          <p:cNvCxnSpPr>
            <a:cxnSpLocks/>
          </p:cNvCxnSpPr>
          <p:nvPr/>
        </p:nvCxnSpPr>
        <p:spPr>
          <a:xfrm flipV="1">
            <a:off x="3499910" y="1848748"/>
            <a:ext cx="578446" cy="1402449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A39CB0-6AF1-41AC-971E-C5338273725D}"/>
              </a:ext>
            </a:extLst>
          </p:cNvPr>
          <p:cNvCxnSpPr>
            <a:cxnSpLocks/>
          </p:cNvCxnSpPr>
          <p:nvPr/>
        </p:nvCxnSpPr>
        <p:spPr>
          <a:xfrm flipV="1">
            <a:off x="4540208" y="1896069"/>
            <a:ext cx="31792" cy="1343442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ED519F-1B60-4AE4-B2AF-C318A1F08661}"/>
              </a:ext>
            </a:extLst>
          </p:cNvPr>
          <p:cNvCxnSpPr>
            <a:cxnSpLocks/>
          </p:cNvCxnSpPr>
          <p:nvPr/>
        </p:nvCxnSpPr>
        <p:spPr>
          <a:xfrm flipV="1">
            <a:off x="5479136" y="1908634"/>
            <a:ext cx="31792" cy="1343442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DDCCD9-0784-4BEA-8458-0A1A358EF72C}"/>
              </a:ext>
            </a:extLst>
          </p:cNvPr>
          <p:cNvCxnSpPr>
            <a:cxnSpLocks/>
          </p:cNvCxnSpPr>
          <p:nvPr/>
        </p:nvCxnSpPr>
        <p:spPr>
          <a:xfrm flipH="1" flipV="1">
            <a:off x="5972780" y="1896069"/>
            <a:ext cx="474782" cy="134322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391DC1-B6BC-47E7-9850-5C1AB3E7A715}"/>
              </a:ext>
            </a:extLst>
          </p:cNvPr>
          <p:cNvCxnSpPr>
            <a:cxnSpLocks/>
          </p:cNvCxnSpPr>
          <p:nvPr/>
        </p:nvCxnSpPr>
        <p:spPr>
          <a:xfrm flipH="1" flipV="1">
            <a:off x="6418064" y="1846265"/>
            <a:ext cx="1039817" cy="1414392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957FEE4-7D20-4EA7-A371-A5D36A018AFA}"/>
              </a:ext>
            </a:extLst>
          </p:cNvPr>
          <p:cNvCxnSpPr>
            <a:cxnSpLocks/>
          </p:cNvCxnSpPr>
          <p:nvPr/>
        </p:nvCxnSpPr>
        <p:spPr>
          <a:xfrm flipH="1" flipV="1">
            <a:off x="6652111" y="1720533"/>
            <a:ext cx="1770963" cy="1458199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0BCFC3A8-2B4E-4CA4-B4E0-F8450205B6D1}"/>
              </a:ext>
            </a:extLst>
          </p:cNvPr>
          <p:cNvSpPr/>
          <p:nvPr/>
        </p:nvSpPr>
        <p:spPr>
          <a:xfrm rot="16200000">
            <a:off x="4530397" y="-28730"/>
            <a:ext cx="414491" cy="336084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10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8400</TotalTime>
  <Words>1791</Words>
  <Application>Microsoft Office PowerPoint</Application>
  <PresentationFormat>On-screen Show (4:3)</PresentationFormat>
  <Paragraphs>513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1</vt:lpstr>
      <vt:lpstr>Permutation – Example 2</vt:lpstr>
      <vt:lpstr>Permutation – Example 2</vt:lpstr>
      <vt:lpstr>Permutation – Example 2</vt:lpstr>
      <vt:lpstr>Permutation - Theorem</vt:lpstr>
      <vt:lpstr>Permutation – Example 3</vt:lpstr>
      <vt:lpstr>Permutation – Example 3</vt:lpstr>
      <vt:lpstr>Permutation – Example 4</vt:lpstr>
      <vt:lpstr>Permutation – Example 4</vt:lpstr>
      <vt:lpstr>Permutation – Example 5</vt:lpstr>
      <vt:lpstr>Permutation – Example 5</vt:lpstr>
      <vt:lpstr>Permutation – Example 5</vt:lpstr>
      <vt:lpstr>Permutation – Example 6</vt:lpstr>
      <vt:lpstr>Permutation – Example 6</vt:lpstr>
      <vt:lpstr>Permutation – Example 6</vt:lpstr>
      <vt:lpstr>Permutation – Example 7</vt:lpstr>
      <vt:lpstr>Permutation – Example 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1176</cp:revision>
  <dcterms:created xsi:type="dcterms:W3CDTF">2020-12-04T05:20:56Z</dcterms:created>
  <dcterms:modified xsi:type="dcterms:W3CDTF">2021-01-04T08:03:19Z</dcterms:modified>
</cp:coreProperties>
</file>