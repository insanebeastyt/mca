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7"/>
  </p:handoutMasterIdLst>
  <p:sldIdLst>
    <p:sldId id="256" r:id="rId2"/>
    <p:sldId id="257" r:id="rId3"/>
    <p:sldId id="260" r:id="rId4"/>
    <p:sldId id="266" r:id="rId5"/>
    <p:sldId id="261" r:id="rId6"/>
    <p:sldId id="262" r:id="rId7"/>
    <p:sldId id="263" r:id="rId8"/>
    <p:sldId id="264" r:id="rId9"/>
    <p:sldId id="265" r:id="rId10"/>
    <p:sldId id="276" r:id="rId11"/>
    <p:sldId id="267" r:id="rId12"/>
    <p:sldId id="279" r:id="rId13"/>
    <p:sldId id="280" r:id="rId14"/>
    <p:sldId id="281" r:id="rId15"/>
    <p:sldId id="288" r:id="rId16"/>
    <p:sldId id="282" r:id="rId17"/>
    <p:sldId id="283" r:id="rId18"/>
    <p:sldId id="289" r:id="rId19"/>
    <p:sldId id="290" r:id="rId20"/>
    <p:sldId id="291" r:id="rId21"/>
    <p:sldId id="292" r:id="rId22"/>
    <p:sldId id="293" r:id="rId23"/>
    <p:sldId id="294" r:id="rId24"/>
    <p:sldId id="310" r:id="rId25"/>
    <p:sldId id="25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60"/>
            <p14:sldId id="266"/>
            <p14:sldId id="261"/>
            <p14:sldId id="262"/>
            <p14:sldId id="263"/>
            <p14:sldId id="264"/>
            <p14:sldId id="265"/>
            <p14:sldId id="276"/>
            <p14:sldId id="267"/>
            <p14:sldId id="279"/>
            <p14:sldId id="280"/>
            <p14:sldId id="281"/>
            <p14:sldId id="288"/>
            <p14:sldId id="282"/>
            <p14:sldId id="283"/>
            <p14:sldId id="289"/>
            <p14:sldId id="290"/>
            <p14:sldId id="291"/>
            <p14:sldId id="292"/>
            <p14:sldId id="293"/>
            <p14:sldId id="294"/>
            <p14:sldId id="310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B8"/>
    <a:srgbClr val="89E2EB"/>
    <a:srgbClr val="00B6CC"/>
    <a:srgbClr val="4472C4"/>
    <a:srgbClr val="DDDDDD"/>
    <a:srgbClr val="BBBBBB"/>
    <a:srgbClr val="00B451"/>
    <a:srgbClr val="BA202B"/>
    <a:srgbClr val="CA628C"/>
    <a:srgbClr val="71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1" y="2883188"/>
            <a:ext cx="7415330" cy="3500283"/>
          </a:xfrm>
        </p:spPr>
        <p:txBody>
          <a:bodyPr>
            <a:normAutofit/>
          </a:bodyPr>
          <a:lstStyle/>
          <a:p>
            <a:r>
              <a:rPr lang="en-US" dirty="0"/>
              <a:t>understand what are relations</a:t>
            </a:r>
            <a:endParaRPr lang="en-IN" dirty="0"/>
          </a:p>
          <a:p>
            <a:r>
              <a:rPr lang="en-US" dirty="0"/>
              <a:t>understand what are the different properties of relation </a:t>
            </a:r>
          </a:p>
          <a:p>
            <a:r>
              <a:rPr lang="en-US" dirty="0"/>
              <a:t>understand what is reflexive, symmetric, </a:t>
            </a:r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Prerequisite:- Conditional Statement</a:t>
            </a:r>
          </a:p>
          <a:p>
            <a:pPr marL="0" indent="0">
              <a:buNone/>
            </a:pPr>
            <a:r>
              <a:rPr lang="en-US" dirty="0"/>
              <a:t>Let A and B be sets. A binary relation from A to B is a subset of A × B.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655B5D-7437-48DF-BC59-7E21ED22B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440" y="3567545"/>
            <a:ext cx="3283119" cy="2681535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59253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/>
          <a:lstStyle/>
          <a:p>
            <a:r>
              <a:rPr lang="en-IN" dirty="0"/>
              <a:t>Relation – Example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04AAC4-7056-4155-8543-30C9A012F0B5}"/>
              </a:ext>
            </a:extLst>
          </p:cNvPr>
          <p:cNvSpPr/>
          <p:nvPr/>
        </p:nvSpPr>
        <p:spPr>
          <a:xfrm>
            <a:off x="911090" y="2100473"/>
            <a:ext cx="2594113" cy="317511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084A28-D4D6-4FAB-865E-234C05286980}"/>
              </a:ext>
            </a:extLst>
          </p:cNvPr>
          <p:cNvSpPr/>
          <p:nvPr/>
        </p:nvSpPr>
        <p:spPr>
          <a:xfrm>
            <a:off x="6066176" y="2100473"/>
            <a:ext cx="2594113" cy="334154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C9814-FBC2-4B7B-8E78-E404E39D8EE9}"/>
              </a:ext>
            </a:extLst>
          </p:cNvPr>
          <p:cNvSpPr txBox="1"/>
          <p:nvPr/>
        </p:nvSpPr>
        <p:spPr>
          <a:xfrm>
            <a:off x="1577012" y="2564452"/>
            <a:ext cx="12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00A2B8"/>
                </a:solidFill>
              </a:rPr>
              <a:t>Daughters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CB6CD-E19B-494E-ADB5-C9489F74AAA4}"/>
              </a:ext>
            </a:extLst>
          </p:cNvPr>
          <p:cNvSpPr txBox="1"/>
          <p:nvPr/>
        </p:nvSpPr>
        <p:spPr>
          <a:xfrm>
            <a:off x="1543880" y="2955233"/>
            <a:ext cx="12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Srishti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0CA851-0E23-4208-9C1C-F9F2D3CCD33B}"/>
              </a:ext>
            </a:extLst>
          </p:cNvPr>
          <p:cNvSpPr txBox="1"/>
          <p:nvPr/>
        </p:nvSpPr>
        <p:spPr>
          <a:xfrm>
            <a:off x="1533941" y="3493262"/>
            <a:ext cx="12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Manu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78D87-BDB5-412B-9FDA-1A57F1CF0BD6}"/>
              </a:ext>
            </a:extLst>
          </p:cNvPr>
          <p:cNvSpPr txBox="1"/>
          <p:nvPr/>
        </p:nvSpPr>
        <p:spPr>
          <a:xfrm>
            <a:off x="1543880" y="3998297"/>
            <a:ext cx="12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Joe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28FD7-4D24-4C28-8EF9-B49D5417027C}"/>
              </a:ext>
            </a:extLst>
          </p:cNvPr>
          <p:cNvSpPr txBox="1"/>
          <p:nvPr/>
        </p:nvSpPr>
        <p:spPr>
          <a:xfrm>
            <a:off x="1577012" y="4649515"/>
            <a:ext cx="12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Prachi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16A83-2B51-4BDD-88D6-64696F79A2CF}"/>
              </a:ext>
            </a:extLst>
          </p:cNvPr>
          <p:cNvSpPr txBox="1"/>
          <p:nvPr/>
        </p:nvSpPr>
        <p:spPr>
          <a:xfrm>
            <a:off x="6655897" y="2601282"/>
            <a:ext cx="134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00A2B8"/>
                </a:solidFill>
              </a:rPr>
              <a:t>Mothers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7A69DE-27D9-492B-9A37-0B60A3F1C9E9}"/>
              </a:ext>
            </a:extLst>
          </p:cNvPr>
          <p:cNvSpPr txBox="1"/>
          <p:nvPr/>
        </p:nvSpPr>
        <p:spPr>
          <a:xfrm>
            <a:off x="6655897" y="3107633"/>
            <a:ext cx="12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Ar. Sakshi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748605-0946-48C2-B8B5-447612A92272}"/>
              </a:ext>
            </a:extLst>
          </p:cNvPr>
          <p:cNvSpPr txBox="1"/>
          <p:nvPr/>
        </p:nvSpPr>
        <p:spPr>
          <a:xfrm>
            <a:off x="6655897" y="3645662"/>
            <a:ext cx="12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Dr. Seema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436A68-8D99-4B35-BD47-CBC79335F2C2}"/>
              </a:ext>
            </a:extLst>
          </p:cNvPr>
          <p:cNvSpPr txBox="1"/>
          <p:nvPr/>
        </p:nvSpPr>
        <p:spPr>
          <a:xfrm>
            <a:off x="6698968" y="4801915"/>
            <a:ext cx="12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Er. Diljeet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4267B6-A63E-4322-9256-92018875C30B}"/>
              </a:ext>
            </a:extLst>
          </p:cNvPr>
          <p:cNvCxnSpPr>
            <a:cxnSpLocks/>
          </p:cNvCxnSpPr>
          <p:nvPr/>
        </p:nvCxnSpPr>
        <p:spPr>
          <a:xfrm>
            <a:off x="2625221" y="3166954"/>
            <a:ext cx="4085795" cy="6541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C01241-5922-4783-A842-7C2782192214}"/>
              </a:ext>
            </a:extLst>
          </p:cNvPr>
          <p:cNvCxnSpPr>
            <a:cxnSpLocks/>
          </p:cNvCxnSpPr>
          <p:nvPr/>
        </p:nvCxnSpPr>
        <p:spPr>
          <a:xfrm>
            <a:off x="2570102" y="3686225"/>
            <a:ext cx="4167793" cy="23839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77D443-406B-4C75-9B20-00C150D4998D}"/>
              </a:ext>
            </a:extLst>
          </p:cNvPr>
          <p:cNvCxnSpPr>
            <a:cxnSpLocks/>
          </p:cNvCxnSpPr>
          <p:nvPr/>
        </p:nvCxnSpPr>
        <p:spPr>
          <a:xfrm flipV="1">
            <a:off x="2570102" y="3290362"/>
            <a:ext cx="4196034" cy="8575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27F6DCF-C774-49FF-B845-5A4C16739F41}"/>
              </a:ext>
            </a:extLst>
          </p:cNvPr>
          <p:cNvCxnSpPr>
            <a:cxnSpLocks/>
          </p:cNvCxnSpPr>
          <p:nvPr/>
        </p:nvCxnSpPr>
        <p:spPr>
          <a:xfrm>
            <a:off x="2667080" y="4833965"/>
            <a:ext cx="4128866" cy="1524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F7FB66D-CC50-488F-8FB3-0E2EAE421378}"/>
              </a:ext>
            </a:extLst>
          </p:cNvPr>
          <p:cNvSpPr txBox="1"/>
          <p:nvPr/>
        </p:nvSpPr>
        <p:spPr>
          <a:xfrm>
            <a:off x="393290" y="5739026"/>
            <a:ext cx="8504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Relation={(Srishti, Dr. Seema), (Manu, Dr. Seema), (Joe, Ar. Sakshi), (Prachi, Er. Diljeet)}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4FB5218-29C3-4530-BF18-77C127F0A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190" y="1159325"/>
            <a:ext cx="723912" cy="8137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834B650-309A-4699-A18E-A8859E885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220" y="1159599"/>
            <a:ext cx="723912" cy="81346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BD68A6-3D3A-4BB5-8F1A-117D8C22ABDE}"/>
              </a:ext>
            </a:extLst>
          </p:cNvPr>
          <p:cNvSpPr txBox="1"/>
          <p:nvPr/>
        </p:nvSpPr>
        <p:spPr>
          <a:xfrm>
            <a:off x="2030630" y="2180072"/>
            <a:ext cx="5444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											 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819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Relation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5F79A-8553-467A-8AE8-00782244DF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733" b="9530"/>
          <a:stretch/>
        </p:blipFill>
        <p:spPr>
          <a:xfrm>
            <a:off x="7225938" y="2771103"/>
            <a:ext cx="323126" cy="3955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830DF3-0CBE-4C6D-B8EC-0FF1E774B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955" y="3468616"/>
            <a:ext cx="2028530" cy="279414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B8DC91-8351-49AA-9170-3D47463EA10C}"/>
              </a:ext>
            </a:extLst>
          </p:cNvPr>
          <p:cNvSpPr txBox="1"/>
          <p:nvPr/>
        </p:nvSpPr>
        <p:spPr>
          <a:xfrm>
            <a:off x="464457" y="3737113"/>
            <a:ext cx="5611034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Relations can be represented graphically, as shown in Figure 1, using arrows to represent ordered pairs.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D317F4A-35A1-4B76-BD08-44F057B68B45}"/>
              </a:ext>
            </a:extLst>
          </p:cNvPr>
          <p:cNvSpPr txBox="1">
            <a:spLocks/>
          </p:cNvSpPr>
          <p:nvPr/>
        </p:nvSpPr>
        <p:spPr>
          <a:xfrm>
            <a:off x="415637" y="1288474"/>
            <a:ext cx="8130008" cy="19716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Let A = {0, 1, 2} and B = {a, b}. Then {(0, a), (0, b), (1, a), (2, b)} is a relation from A to B.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This means, for instance, that 0R a, but that 1        b. </a:t>
            </a:r>
          </a:p>
        </p:txBody>
      </p:sp>
    </p:spTree>
    <p:extLst>
      <p:ext uri="{BB962C8B-B14F-4D97-AF65-F5344CB8AC3E}">
        <p14:creationId xmlns:p14="http://schemas.microsoft.com/office/powerpoint/2010/main" val="67192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Another way to represent this relation is to use a table, given below.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C3C8F-0650-4C8B-BECE-EA4B54E82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776" y="2714769"/>
            <a:ext cx="2730640" cy="240677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158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relation on a set A is a relation from A to 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other words, a relation on a set A is a subset of	 A × 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573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6CC"/>
                </a:solidFill>
              </a:rPr>
              <a:t>Ques:- </a:t>
            </a:r>
            <a:r>
              <a:rPr lang="en-US" dirty="0"/>
              <a:t>Let A be the set {1, 2, 3, 4}. Which ordered pairs are in the relation R = {(a, b) | </a:t>
            </a:r>
            <a:r>
              <a:rPr lang="en-US" dirty="0">
                <a:solidFill>
                  <a:srgbClr val="C00000"/>
                </a:solidFill>
              </a:rPr>
              <a:t>a divides b</a:t>
            </a:r>
            <a:r>
              <a:rPr lang="en-US" dirty="0"/>
              <a:t>}?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6CC"/>
                </a:solidFill>
              </a:rPr>
              <a:t>Ans:- </a:t>
            </a:r>
            <a:r>
              <a:rPr lang="en-US" dirty="0"/>
              <a:t>Because (a, b) is in R if and only if a and b are positive integers not exceeding 4 such that a divides b, we see that</a:t>
            </a:r>
          </a:p>
          <a:p>
            <a:pPr marL="0" indent="0">
              <a:buNone/>
            </a:pPr>
            <a:r>
              <a:rPr lang="en-US" dirty="0"/>
              <a:t>R = {(1, 1), (1, 2), (1, 3), (1, 4), (2, 2), (2, 4), (3, 3), (4, 4)}.</a:t>
            </a:r>
          </a:p>
        </p:txBody>
      </p:sp>
    </p:spTree>
    <p:extLst>
      <p:ext uri="{BB962C8B-B14F-4D97-AF65-F5344CB8AC3E}">
        <p14:creationId xmlns:p14="http://schemas.microsoft.com/office/powerpoint/2010/main" val="3980502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pairs in this relation are displayed in </a:t>
            </a:r>
            <a:r>
              <a:rPr lang="en-US" dirty="0">
                <a:solidFill>
                  <a:srgbClr val="C00000"/>
                </a:solidFill>
              </a:rPr>
              <a:t>graphically </a:t>
            </a:r>
            <a:r>
              <a:rPr lang="en-US" dirty="0"/>
              <a:t>form. R = {(1, 1), (1, 2), (1, 3), (1, 4), (2, 2), (2, 4), (3, 3), (4, 4)}.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437732-6FF7-48DB-9E3B-A0501B04F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65" y="3345025"/>
            <a:ext cx="2692979" cy="31586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856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pairs in this relation are displayed both in </a:t>
            </a:r>
            <a:r>
              <a:rPr lang="en-US" dirty="0">
                <a:solidFill>
                  <a:srgbClr val="C00000"/>
                </a:solidFill>
              </a:rPr>
              <a:t>tabular</a:t>
            </a:r>
            <a:r>
              <a:rPr lang="en-US" dirty="0"/>
              <a:t> form. R = {(1, 1), (1, 2), (1, 3), (1, 4), (2, 2), (2, 4), (3, 3), (4, 4)}.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FCE7DE-E0A1-4AD4-ADDE-CB3692F03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080" y="3307603"/>
            <a:ext cx="3657788" cy="31053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3988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Reflexive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Symmetric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Antisymmetric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Transitive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24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Reflexive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relation R on a set A is called reflexive </a:t>
            </a:r>
            <a:r>
              <a:rPr lang="en-US" dirty="0">
                <a:solidFill>
                  <a:srgbClr val="C00000"/>
                </a:solidFill>
              </a:rPr>
              <a:t>if (a, a) ∈ R </a:t>
            </a:r>
            <a:r>
              <a:rPr lang="en-US" dirty="0"/>
              <a:t>for every element a ∈ 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Remark: Using quantifiers we see that the relation R on the set A is reflexive if ∀a((a, a) ∈ R), where the universe of discourse is the set of all elements in 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609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Reflexive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see that a relation on A is reflexive if every element of A is related to itself.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5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Reflexive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Ques:- </a:t>
            </a:r>
            <a:r>
              <a:rPr lang="en-US" dirty="0"/>
              <a:t>Consider the following relations on {1, 2, 3, 4}. Which of these relations are reflexive?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R1 = {(1, 1), (1, 2), (2, 1), (2, 2), (3, 4), (4, 1), (4, 4)}.</a:t>
            </a:r>
          </a:p>
          <a:p>
            <a:pPr marL="0" indent="0">
              <a:buNone/>
            </a:pPr>
            <a:r>
              <a:rPr lang="en-US" dirty="0"/>
              <a:t>R2 = {(1, 1), (1, 2), (2, 1)}.</a:t>
            </a:r>
          </a:p>
          <a:p>
            <a:pPr marL="0" indent="0">
              <a:buNone/>
            </a:pPr>
            <a:r>
              <a:rPr lang="en-US" dirty="0"/>
              <a:t>R3 = {(1, 1), (1, 2), (1, 4), (2, 1), (2, 2), (3, 3), (4, 1), (4, 4)}.</a:t>
            </a:r>
          </a:p>
          <a:p>
            <a:pPr marL="0" indent="0">
              <a:buNone/>
            </a:pPr>
            <a:r>
              <a:rPr lang="en-US" dirty="0"/>
              <a:t>R4 = {(2, 1), (3, 1), (3, 2), (4, 1), (4, 2), (4, 3)}.</a:t>
            </a:r>
          </a:p>
          <a:p>
            <a:pPr marL="0" indent="0">
              <a:buNone/>
            </a:pPr>
            <a:r>
              <a:rPr lang="en-US" dirty="0"/>
              <a:t>R5 = {(1, 1), (1, 2), (1, 3), (1, 4), (2, 2), (2, 3), (2, 4), (3, 3), (3, 4), (4, 4)}.</a:t>
            </a:r>
          </a:p>
          <a:p>
            <a:pPr marL="0" indent="0">
              <a:buNone/>
            </a:pPr>
            <a:r>
              <a:rPr lang="en-US" dirty="0"/>
              <a:t>R6 = {(3, 4)}.</a:t>
            </a:r>
          </a:p>
        </p:txBody>
      </p:sp>
    </p:spTree>
    <p:extLst>
      <p:ext uri="{BB962C8B-B14F-4D97-AF65-F5344CB8AC3E}">
        <p14:creationId xmlns:p14="http://schemas.microsoft.com/office/powerpoint/2010/main" val="1792551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Reflexive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dirty="0"/>
              <a:t>R1 = {(1, 1), (1, 2), (2, 1), (2, 2), (3, 4), (4, 1), (4, 4)}.</a:t>
            </a:r>
          </a:p>
          <a:p>
            <a:pPr marL="0" indent="0">
              <a:buNone/>
            </a:pPr>
            <a:r>
              <a:rPr lang="en-US" sz="2400" dirty="0"/>
              <a:t>R2 = {(1, 1), (1, 2), (2, 1)}.</a:t>
            </a:r>
          </a:p>
          <a:p>
            <a:pPr marL="0" indent="0">
              <a:buNone/>
            </a:pPr>
            <a:r>
              <a:rPr lang="en-US" sz="2400" dirty="0"/>
              <a:t>R3 = {(1, 1), (1, 2), (1, 4), (2, 1), (2, 2), (3, 3), (4, 1), (4, 4)}.</a:t>
            </a:r>
          </a:p>
          <a:p>
            <a:pPr marL="0" indent="0">
              <a:buNone/>
            </a:pPr>
            <a:r>
              <a:rPr lang="en-US" sz="2400" dirty="0"/>
              <a:t>R4 = {(2, 1), (3, 1), (3, 2), (4, 1), (4, 2), (4, 3)}.</a:t>
            </a:r>
          </a:p>
          <a:p>
            <a:pPr marL="0" indent="0">
              <a:buNone/>
            </a:pPr>
            <a:r>
              <a:rPr lang="en-US" sz="2400" dirty="0"/>
              <a:t>R5 = {(1, 1), (1, 2), (1, 3), (1, 4), (2, 2), (2, 3), (2, 4), (3, 3), (3, 4), (4, 4)}.</a:t>
            </a:r>
          </a:p>
          <a:p>
            <a:pPr marL="0" indent="0">
              <a:buNone/>
            </a:pPr>
            <a:r>
              <a:rPr lang="en-US" sz="2400" dirty="0"/>
              <a:t>R6 = {(3, 4)}.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relations R3 and R5 are reflexive because they both contain all pairs of the form (a, a), namely, </a:t>
            </a:r>
            <a:r>
              <a:rPr lang="en-US" sz="2400" dirty="0">
                <a:solidFill>
                  <a:srgbClr val="C00000"/>
                </a:solidFill>
              </a:rPr>
              <a:t>(1, 1), (2, 2), (3, 3), and (4, 4).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The other relations are not reflexive.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7717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Reflexive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Ques:- </a:t>
            </a:r>
            <a:r>
              <a:rPr lang="en-US" dirty="0"/>
              <a:t>Is the “divides” relation on the set of positive integers reflexive?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Ans:- </a:t>
            </a:r>
            <a:r>
              <a:rPr lang="en-US" dirty="0"/>
              <a:t>Because a | a whenever a is a positive integer, the “divides” relation is reflexive.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18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- Symmetric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relation R on a set A is called symmetric if (b, a) ∈ R whenever (a, b) ∈ R, for all a, b ∈ 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Remark: Using quantifiers, we see that the relation R on the set A is symmetric if</a:t>
            </a:r>
            <a:br>
              <a:rPr lang="en-US" dirty="0"/>
            </a:br>
            <a:r>
              <a:rPr lang="en-US" dirty="0"/>
              <a:t> ∀a∀b((a, b) ∈ R → (b, a) ∈ R).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84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Symmetric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Ques:- </a:t>
            </a:r>
            <a:r>
              <a:rPr lang="en-IN" dirty="0"/>
              <a:t>Consider the following relations on {1, 2, 3, 4}:</a:t>
            </a:r>
          </a:p>
          <a:p>
            <a:pPr marL="0" indent="0">
              <a:buNone/>
            </a:pPr>
            <a:r>
              <a:rPr lang="en-IN" dirty="0"/>
              <a:t>R1 = {(1, 1), (1, 2), (2, 1), (2, 2), (3, 4), (4, 1), (4, 4)}. </a:t>
            </a:r>
            <a:r>
              <a:rPr lang="en-US" dirty="0"/>
              <a:t>Is it symmetric?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Ans:- </a:t>
            </a:r>
            <a:r>
              <a:rPr lang="en-US" dirty="0"/>
              <a:t>R1 is not symmetric, because a pair (a, b) belongs to R1 but (b, a) is not.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8122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Symmetric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Ques:- </a:t>
            </a:r>
            <a:r>
              <a:rPr lang="en-IN" dirty="0"/>
              <a:t>Consider the following relations on {1, 2, 3, 4}:</a:t>
            </a:r>
          </a:p>
          <a:p>
            <a:pPr marL="0" indent="0">
              <a:buNone/>
            </a:pPr>
            <a:r>
              <a:rPr lang="en-IN" dirty="0"/>
              <a:t>R2 = {(1, 1), (1, 2), (2, 1)}. </a:t>
            </a:r>
            <a:r>
              <a:rPr lang="en-US" dirty="0"/>
              <a:t>Is it symmetric?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Ans:- </a:t>
            </a:r>
            <a:r>
              <a:rPr lang="en-US" dirty="0"/>
              <a:t>R2 is symmetric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663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Symmetric 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35446"/>
            <a:ext cx="8504904" cy="533891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>
                <a:solidFill>
                  <a:srgbClr val="00A2B8"/>
                </a:solidFill>
              </a:rPr>
              <a:t>Ques:- </a:t>
            </a:r>
            <a:r>
              <a:rPr lang="en-IN" dirty="0"/>
              <a:t>Consider the following relations on {1, 2, 3, 4}: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dirty="0"/>
              <a:t>R3 = {(1, 1), (1, 2), (1, 4), (2, 1), (2, 2), (3, 3), (4, 1), (4, 4)}. </a:t>
            </a:r>
            <a:r>
              <a:rPr lang="en-US" dirty="0"/>
              <a:t>Is it symmetric?</a:t>
            </a:r>
            <a:endParaRPr lang="en-IN" dirty="0"/>
          </a:p>
          <a:p>
            <a:pPr marL="0" indent="0">
              <a:lnSpc>
                <a:spcPct val="170000"/>
              </a:lnSpc>
              <a:buNone/>
            </a:pPr>
            <a:endParaRPr lang="en-IN" dirty="0"/>
          </a:p>
          <a:p>
            <a:pPr marL="0" indent="0">
              <a:lnSpc>
                <a:spcPct val="170000"/>
              </a:lnSpc>
              <a:buNone/>
            </a:pPr>
            <a:endParaRPr lang="en-IN" dirty="0"/>
          </a:p>
          <a:p>
            <a:pPr marL="0" indent="0">
              <a:lnSpc>
                <a:spcPct val="170000"/>
              </a:lnSpc>
              <a:buNone/>
            </a:pPr>
            <a:endParaRPr lang="en-IN" dirty="0"/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solidFill>
                  <a:srgbClr val="00A2B8"/>
                </a:solidFill>
              </a:rPr>
              <a:t>Ans:-  </a:t>
            </a:r>
            <a:r>
              <a:rPr lang="en-US" dirty="0"/>
              <a:t>For R3, it is necessary to check that both (1, 2) and (2, 1) belong to the relation, and (1, 4) and (4, 1) belong to the relation.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1113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Symmetric 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Ques:- </a:t>
            </a:r>
            <a:r>
              <a:rPr lang="en-IN" dirty="0"/>
              <a:t>Consider the following relations on {1, 2, 3, 4}:</a:t>
            </a:r>
          </a:p>
          <a:p>
            <a:pPr marL="0" indent="0">
              <a:buNone/>
            </a:pPr>
            <a:r>
              <a:rPr lang="en-IN" dirty="0"/>
              <a:t>R4 = {(2, 1), (3, 1), (3, 2), (4, 1), (4, 2), (4, 3)}. </a:t>
            </a:r>
            <a:r>
              <a:rPr lang="en-US" dirty="0"/>
              <a:t>Is it symmetric?</a:t>
            </a:r>
            <a:r>
              <a:rPr lang="en-IN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Ans:- </a:t>
            </a:r>
            <a:r>
              <a:rPr lang="en-US" dirty="0"/>
              <a:t>One should verify that the relation is not symmetric. This is done by finding a pair (a, b) such that it is in the relation but </a:t>
            </a:r>
            <a:r>
              <a:rPr lang="en-US" dirty="0">
                <a:solidFill>
                  <a:srgbClr val="C00000"/>
                </a:solidFill>
              </a:rPr>
              <a:t>(b, a) is not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831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Symmetric Example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Ques:- </a:t>
            </a:r>
            <a:r>
              <a:rPr lang="en-IN" dirty="0"/>
              <a:t>Consider the following relations on {1, 2, 3, 4}:</a:t>
            </a:r>
          </a:p>
          <a:p>
            <a:pPr marL="0" indent="0">
              <a:buNone/>
            </a:pPr>
            <a:r>
              <a:rPr lang="en-IN" dirty="0"/>
              <a:t>R5 = {(1, 1), (1, 2), (1, 3), (1, 4), (2, 2), (2, 3), (2, 4), (3, 3), (3, 4), (4, 4)}. </a:t>
            </a:r>
            <a:r>
              <a:rPr lang="en-US" dirty="0"/>
              <a:t>Is it symmetric?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Ans:- </a:t>
            </a:r>
            <a:r>
              <a:rPr lang="en-US" dirty="0"/>
              <a:t>One should verify that the relation is not symmetric. This is done by finding a pair (a, b) such that it is in the relation but </a:t>
            </a:r>
            <a:r>
              <a:rPr lang="en-US" dirty="0">
                <a:solidFill>
                  <a:srgbClr val="C00000"/>
                </a:solidFill>
              </a:rPr>
              <a:t>(b, a) is not.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423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Symmetric Example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Ques:- </a:t>
            </a:r>
            <a:r>
              <a:rPr lang="en-IN" dirty="0"/>
              <a:t>Consider the following relations on {1, 2, 3, 4}:</a:t>
            </a:r>
          </a:p>
          <a:p>
            <a:pPr marL="0" indent="0">
              <a:buNone/>
            </a:pPr>
            <a:r>
              <a:rPr lang="en-IN" dirty="0"/>
              <a:t>R6 = {(3, 4)}. </a:t>
            </a:r>
            <a:r>
              <a:rPr lang="en-US" dirty="0"/>
              <a:t>Is it symmetric?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Ans:- </a:t>
            </a:r>
            <a:r>
              <a:rPr lang="en-US" dirty="0"/>
              <a:t>One should verify that the relation is not symmetric. This is done by finding a pair (a, b) such that it is in the relation but </a:t>
            </a:r>
            <a:r>
              <a:rPr lang="en-US" dirty="0">
                <a:solidFill>
                  <a:srgbClr val="C00000"/>
                </a:solidFill>
              </a:rPr>
              <a:t>(b, a) is not.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044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D5BF-CA5F-4068-8BD2-280DE8B4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Relations – Symmetric Example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27B6-6C67-426C-ACE7-C812D2ED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Ques:- </a:t>
            </a:r>
            <a:r>
              <a:rPr lang="en-US" dirty="0"/>
              <a:t>Is the </a:t>
            </a:r>
            <a:r>
              <a:rPr lang="en-US" dirty="0">
                <a:solidFill>
                  <a:srgbClr val="C00000"/>
                </a:solidFill>
              </a:rPr>
              <a:t>“divides” </a:t>
            </a:r>
            <a:r>
              <a:rPr lang="en-US" dirty="0"/>
              <a:t>relation on the set of positive integers symmetric?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00A2B8"/>
                </a:solidFill>
              </a:rPr>
              <a:t>Ans:- </a:t>
            </a:r>
          </a:p>
          <a:p>
            <a:pPr marL="0" indent="0">
              <a:buNone/>
            </a:pPr>
            <a:r>
              <a:rPr lang="en-US" dirty="0"/>
              <a:t>This relation is not symmetric because 1| 2, but 2 | 1. 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0F3B97-FA1E-4C56-8BBA-3245968F1059}"/>
              </a:ext>
            </a:extLst>
          </p:cNvPr>
          <p:cNvCxnSpPr/>
          <p:nvPr/>
        </p:nvCxnSpPr>
        <p:spPr>
          <a:xfrm flipV="1">
            <a:off x="8140822" y="5948039"/>
            <a:ext cx="360000" cy="36000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138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3435</TotalTime>
  <Words>1742</Words>
  <Application>Microsoft Office PowerPoint</Application>
  <PresentationFormat>On-screen Show (4:3)</PresentationFormat>
  <Paragraphs>133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</vt:lpstr>
      <vt:lpstr>Bahnschrift</vt:lpstr>
      <vt:lpstr>Bahnschrift SemiBold</vt:lpstr>
      <vt:lpstr>Calibri</vt:lpstr>
      <vt:lpstr>Office Theme</vt:lpstr>
      <vt:lpstr>EMTH403</vt:lpstr>
      <vt:lpstr>Lecture Outcomes</vt:lpstr>
      <vt:lpstr>Binary Relation</vt:lpstr>
      <vt:lpstr>Relation – Example </vt:lpstr>
      <vt:lpstr>Binary Relation</vt:lpstr>
      <vt:lpstr>Binary Relation</vt:lpstr>
      <vt:lpstr>Relation</vt:lpstr>
      <vt:lpstr>Relation</vt:lpstr>
      <vt:lpstr>Relation</vt:lpstr>
      <vt:lpstr>Relation</vt:lpstr>
      <vt:lpstr>Properties of Relations</vt:lpstr>
      <vt:lpstr>Properties of Relations – Reflexive</vt:lpstr>
      <vt:lpstr>Properties of Relations – Reflexive</vt:lpstr>
      <vt:lpstr>Properties of Relations – Reflexive Example</vt:lpstr>
      <vt:lpstr>Properties of Relations – Reflexive Example</vt:lpstr>
      <vt:lpstr>Properties of Relations – Reflexive Example 2</vt:lpstr>
      <vt:lpstr>Properties of Relations - Symmetric</vt:lpstr>
      <vt:lpstr>Properties of Relations – Symmetric Example 1</vt:lpstr>
      <vt:lpstr>Properties of Relations – Symmetric Example 2</vt:lpstr>
      <vt:lpstr>Properties of Relations – Symmetric Example 3</vt:lpstr>
      <vt:lpstr>Properties of Relations – Symmetric Example 4</vt:lpstr>
      <vt:lpstr>Properties of Relations – Symmetric Example 5</vt:lpstr>
      <vt:lpstr>Properties of Relations – Symmetric Example 6</vt:lpstr>
      <vt:lpstr>Properties of Relations – Symmetric Example 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680</cp:revision>
  <dcterms:created xsi:type="dcterms:W3CDTF">2020-12-04T05:20:56Z</dcterms:created>
  <dcterms:modified xsi:type="dcterms:W3CDTF">2020-12-19T04:59:18Z</dcterms:modified>
</cp:coreProperties>
</file>