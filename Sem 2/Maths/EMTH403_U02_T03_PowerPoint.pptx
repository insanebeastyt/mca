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3"/>
  </p:handoutMasterIdLst>
  <p:sldIdLst>
    <p:sldId id="256" r:id="rId2"/>
    <p:sldId id="257" r:id="rId3"/>
    <p:sldId id="261" r:id="rId4"/>
    <p:sldId id="264" r:id="rId5"/>
    <p:sldId id="265" r:id="rId6"/>
    <p:sldId id="302" r:id="rId7"/>
    <p:sldId id="304" r:id="rId8"/>
    <p:sldId id="267" r:id="rId9"/>
    <p:sldId id="305" r:id="rId10"/>
    <p:sldId id="275" r:id="rId11"/>
    <p:sldId id="308" r:id="rId12"/>
    <p:sldId id="306" r:id="rId13"/>
    <p:sldId id="307" r:id="rId14"/>
    <p:sldId id="276" r:id="rId15"/>
    <p:sldId id="289" r:id="rId16"/>
    <p:sldId id="290" r:id="rId17"/>
    <p:sldId id="291" r:id="rId18"/>
    <p:sldId id="287" r:id="rId19"/>
    <p:sldId id="292" r:id="rId20"/>
    <p:sldId id="269" r:id="rId21"/>
    <p:sldId id="280" r:id="rId22"/>
    <p:sldId id="281" r:id="rId23"/>
    <p:sldId id="282" r:id="rId24"/>
    <p:sldId id="283" r:id="rId25"/>
    <p:sldId id="285" r:id="rId26"/>
    <p:sldId id="293" r:id="rId27"/>
    <p:sldId id="294" r:id="rId28"/>
    <p:sldId id="296" r:id="rId29"/>
    <p:sldId id="295" r:id="rId30"/>
    <p:sldId id="297" r:id="rId31"/>
    <p:sldId id="259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61"/>
            <p14:sldId id="264"/>
            <p14:sldId id="265"/>
            <p14:sldId id="302"/>
            <p14:sldId id="304"/>
          </p14:sldIdLst>
        </p14:section>
        <p14:section name="Truth Value" id="{023D06BB-6070-4AF4-B442-3A1EA0A7AD9C}">
          <p14:sldIdLst>
            <p14:sldId id="267"/>
            <p14:sldId id="305"/>
            <p14:sldId id="275"/>
            <p14:sldId id="308"/>
            <p14:sldId id="306"/>
            <p14:sldId id="307"/>
            <p14:sldId id="276"/>
            <p14:sldId id="289"/>
            <p14:sldId id="290"/>
            <p14:sldId id="291"/>
            <p14:sldId id="287"/>
            <p14:sldId id="292"/>
          </p14:sldIdLst>
        </p14:section>
        <p14:section name="Express in English" id="{01325309-78A8-4425-83A8-271951970BD0}">
          <p14:sldIdLst>
            <p14:sldId id="269"/>
            <p14:sldId id="280"/>
            <p14:sldId id="281"/>
            <p14:sldId id="282"/>
          </p14:sldIdLst>
        </p14:section>
        <p14:section name="in terms of P(x), Q(x), quantifiers, and logical connectives." id="{ABBD3DE9-DF1F-4C52-A4F1-BADCB55E8E2A}">
          <p14:sldIdLst>
            <p14:sldId id="283"/>
            <p14:sldId id="285"/>
            <p14:sldId id="293"/>
            <p14:sldId id="294"/>
            <p14:sldId id="296"/>
            <p14:sldId id="295"/>
            <p14:sldId id="29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4472C4"/>
    <a:srgbClr val="DDDDDD"/>
    <a:srgbClr val="BBBBBB"/>
    <a:srgbClr val="00A2B8"/>
    <a:srgbClr val="00B451"/>
    <a:srgbClr val="BA202B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15-12-2020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understand what truth value of the </a:t>
            </a:r>
            <a:r>
              <a:rPr lang="en-IN" dirty="0"/>
              <a:t>existential</a:t>
            </a:r>
            <a:r>
              <a:rPr lang="en-US" dirty="0"/>
              <a:t> quantification.</a:t>
            </a:r>
            <a:endParaRPr lang="en-IN" dirty="0"/>
          </a:p>
          <a:p>
            <a:r>
              <a:rPr lang="en-US" dirty="0"/>
              <a:t>express the compound proposition with </a:t>
            </a:r>
            <a:r>
              <a:rPr lang="en-IN" dirty="0"/>
              <a:t>existential</a:t>
            </a:r>
            <a:r>
              <a:rPr lang="en-US" dirty="0"/>
              <a:t> quantification in English.</a:t>
            </a:r>
          </a:p>
          <a:p>
            <a:r>
              <a:rPr lang="en-IN" dirty="0"/>
              <a:t>understand how to write compound </a:t>
            </a:r>
            <a:r>
              <a:rPr lang="en-US" dirty="0"/>
              <a:t>proposition with </a:t>
            </a:r>
            <a:r>
              <a:rPr lang="en-IN"/>
              <a:t>existential </a:t>
            </a:r>
            <a:r>
              <a:rPr lang="en-IN" dirty="0"/>
              <a:t>quantification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using disjunctions, conjunctions, and negations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Many mathematical statements </a:t>
            </a:r>
            <a:r>
              <a:rPr lang="en-US" b="1" dirty="0"/>
              <a:t>assert</a:t>
            </a:r>
            <a:r>
              <a:rPr lang="en-US" dirty="0"/>
              <a:t> that there </a:t>
            </a:r>
            <a:r>
              <a:rPr lang="en-US" b="1" dirty="0"/>
              <a:t>is an element with a certain property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Such statements are expressed using </a:t>
            </a:r>
            <a:r>
              <a:rPr lang="en-US" dirty="0">
                <a:solidFill>
                  <a:srgbClr val="FF0000"/>
                </a:solidFill>
              </a:rPr>
              <a:t>existential quantification.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existential quantification, we form a proposition that is true if and only if P(x) is true for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least one value</a:t>
            </a:r>
            <a:r>
              <a:rPr lang="en-US" dirty="0"/>
              <a:t> of x in the domain.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02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existential quantification of P(x) is the proposition. “</a:t>
            </a:r>
            <a:r>
              <a:rPr lang="en-US" b="1" dirty="0"/>
              <a:t>There exists an element </a:t>
            </a:r>
            <a:r>
              <a:rPr lang="en-US" dirty="0"/>
              <a:t>x in the domain such that P(x).”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use the notation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∃xP(x) </a:t>
            </a:r>
            <a:r>
              <a:rPr lang="en-US" dirty="0"/>
              <a:t>for the existential quantification of P(x). Here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∃</a:t>
            </a:r>
            <a:r>
              <a:rPr lang="en-US" dirty="0"/>
              <a:t> is called the existential quantifier.</a:t>
            </a:r>
          </a:p>
        </p:txBody>
      </p:sp>
    </p:spTree>
    <p:extLst>
      <p:ext uri="{BB962C8B-B14F-4D97-AF65-F5344CB8AC3E}">
        <p14:creationId xmlns:p14="http://schemas.microsoft.com/office/powerpoint/2010/main" val="54331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domain</a:t>
            </a:r>
            <a:r>
              <a:rPr lang="en-US" dirty="0"/>
              <a:t> must always be </a:t>
            </a:r>
            <a:r>
              <a:rPr lang="en-US" b="1" dirty="0"/>
              <a:t>specified</a:t>
            </a:r>
            <a:r>
              <a:rPr lang="en-US" dirty="0"/>
              <a:t> when a statement </a:t>
            </a:r>
            <a:r>
              <a:rPr lang="en-US" dirty="0">
                <a:solidFill>
                  <a:srgbClr val="FF0000"/>
                </a:solidFill>
              </a:rPr>
              <a:t>∃xP(x) </a:t>
            </a:r>
            <a:r>
              <a:rPr lang="en-US" dirty="0"/>
              <a:t>is used. </a:t>
            </a:r>
          </a:p>
          <a:p>
            <a:r>
              <a:rPr lang="en-US" dirty="0"/>
              <a:t>Furthermore, the </a:t>
            </a:r>
            <a:r>
              <a:rPr lang="en-US" b="1" dirty="0"/>
              <a:t>meaning</a:t>
            </a:r>
            <a:r>
              <a:rPr lang="en-US" dirty="0"/>
              <a:t> of ∃xP(x) </a:t>
            </a:r>
            <a:r>
              <a:rPr lang="en-US" b="1" dirty="0"/>
              <a:t>changes</a:t>
            </a:r>
            <a:r>
              <a:rPr lang="en-US" dirty="0"/>
              <a:t> when the </a:t>
            </a:r>
            <a:r>
              <a:rPr lang="en-US" b="1" dirty="0"/>
              <a:t>domain changes. 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Without </a:t>
            </a:r>
            <a:r>
              <a:rPr lang="en-US" dirty="0"/>
              <a:t>specifying the </a:t>
            </a:r>
            <a:r>
              <a:rPr lang="en-US" b="1" dirty="0"/>
              <a:t>domain, </a:t>
            </a:r>
            <a:r>
              <a:rPr lang="en-US" dirty="0"/>
              <a:t>the statement ∃xP(x) has </a:t>
            </a:r>
            <a:r>
              <a:rPr lang="en-US" b="1" dirty="0">
                <a:solidFill>
                  <a:srgbClr val="FF0000"/>
                </a:solidFill>
              </a:rPr>
              <a:t>no meaning.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4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Besides the phrase “there exists,” </a:t>
            </a:r>
            <a:r>
              <a:rPr lang="en-US" b="1" dirty="0"/>
              <a:t>we can also express </a:t>
            </a:r>
            <a:r>
              <a:rPr lang="en-US" dirty="0"/>
              <a:t>existential quantification in many other ways, such as by using the words </a:t>
            </a:r>
            <a:r>
              <a:rPr lang="en-US" dirty="0">
                <a:solidFill>
                  <a:srgbClr val="FF0000"/>
                </a:solidFill>
              </a:rPr>
              <a:t>“for some,” “for at least one,” or “there is.”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existential quantification ∃xP(x) is read as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“There is an x such that P(x),”</a:t>
            </a:r>
          </a:p>
          <a:p>
            <a:pPr marL="457200" lvl="1" indent="0">
              <a:buNone/>
            </a:pPr>
            <a:r>
              <a:rPr lang="en-US" dirty="0"/>
              <a:t>“There is at least one x such that P(x),”</a:t>
            </a:r>
          </a:p>
          <a:p>
            <a:pPr marL="457200" lvl="1" indent="0">
              <a:buNone/>
            </a:pPr>
            <a:r>
              <a:rPr lang="en-US" dirty="0"/>
              <a:t>or</a:t>
            </a:r>
          </a:p>
          <a:p>
            <a:pPr marL="457200" lvl="1" indent="0">
              <a:buNone/>
            </a:pPr>
            <a:r>
              <a:rPr lang="en-US" dirty="0"/>
              <a:t>“For some xP(x).”</a:t>
            </a:r>
          </a:p>
        </p:txBody>
      </p:sp>
    </p:spTree>
    <p:extLst>
      <p:ext uri="{BB962C8B-B14F-4D97-AF65-F5344CB8AC3E}">
        <p14:creationId xmlns:p14="http://schemas.microsoft.com/office/powerpoint/2010/main" val="230814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meaning of the existential quantifier is summarized in the second row of Table. We illustrate the use of the existential quantifier in following examples.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5E1291-637A-40EC-9A08-4A190FB6B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80" y="4515648"/>
            <a:ext cx="8238930" cy="1093654"/>
          </a:xfrm>
          <a:prstGeom prst="rect">
            <a:avLst/>
          </a:prstGeom>
          <a:ln w="28575">
            <a:solidFill>
              <a:srgbClr val="00B6CC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722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Ques:-</a:t>
            </a:r>
            <a:r>
              <a:rPr lang="en-US" dirty="0"/>
              <a:t> Let P(x) denote the statement “x &gt; 3.” What is the </a:t>
            </a:r>
            <a:r>
              <a:rPr lang="en-US" b="1" dirty="0"/>
              <a:t>truth value </a:t>
            </a:r>
            <a:r>
              <a:rPr lang="en-US" dirty="0"/>
              <a:t>of the quantification ∃xP(x), where the domain consists of all real numbers?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</a:t>
            </a:r>
            <a:r>
              <a:rPr lang="en-US" dirty="0"/>
              <a:t> Because “x &gt; 3” is sometimes true—for instance, when x = 4—the existential quantification of P(x), which is ∃xP(x), is </a:t>
            </a:r>
            <a:r>
              <a:rPr lang="en-US" dirty="0">
                <a:solidFill>
                  <a:srgbClr val="FF0000"/>
                </a:solidFill>
              </a:rPr>
              <a:t>true.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791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Observe that the statement ∃xP(x) is false if and only if there is no element x in the domain for which P(x) is true. </a:t>
            </a:r>
          </a:p>
          <a:p>
            <a:r>
              <a:rPr lang="en-US" dirty="0"/>
              <a:t>That is, ∃xP(x) is false if and only if P(x) is false for every element of the domain.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91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Ques:-</a:t>
            </a:r>
            <a:r>
              <a:rPr lang="en-US" dirty="0"/>
              <a:t> Let Q(x) denote the statement “x = x + 1.”What is the </a:t>
            </a:r>
            <a:r>
              <a:rPr lang="en-US" b="1" dirty="0"/>
              <a:t>truth value </a:t>
            </a:r>
            <a:r>
              <a:rPr lang="en-US" dirty="0"/>
              <a:t>of the quantification ∃xQ(x), where the domain consists of all real numbers?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Ans:-</a:t>
            </a:r>
            <a:r>
              <a:rPr lang="en-US" dirty="0"/>
              <a:t> Because Q(x) is false for every real number x, the existential quantification of Q(x), which is ∃xQ(x), is </a:t>
            </a:r>
            <a:r>
              <a:rPr lang="en-US" b="1" dirty="0">
                <a:solidFill>
                  <a:srgbClr val="FF0000"/>
                </a:solidFill>
              </a:rPr>
              <a:t>false.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10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771212"/>
            <a:ext cx="8504904" cy="5338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Remark: </a:t>
            </a:r>
          </a:p>
          <a:p>
            <a:pPr marL="457200" lvl="1" indent="0">
              <a:buNone/>
            </a:pPr>
            <a:r>
              <a:rPr lang="en-US" dirty="0"/>
              <a:t>Generally, an implicit assumption is made that </a:t>
            </a:r>
            <a:r>
              <a:rPr lang="en-US" b="1" dirty="0"/>
              <a:t>all domains </a:t>
            </a:r>
            <a:r>
              <a:rPr lang="en-US" dirty="0"/>
              <a:t>of discourse for quantifiers are </a:t>
            </a:r>
            <a:r>
              <a:rPr lang="en-US" b="1" dirty="0"/>
              <a:t>non-empty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079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the domain is </a:t>
            </a:r>
            <a:r>
              <a:rPr lang="en-US" b="1" dirty="0"/>
              <a:t>empty</a:t>
            </a:r>
            <a:r>
              <a:rPr lang="en-US" dirty="0"/>
              <a:t>, then ∃xQ(x) is false whenever Q(x) is a propositional function because when the domain is empty, </a:t>
            </a:r>
            <a:r>
              <a:rPr lang="en-US" b="1" dirty="0">
                <a:solidFill>
                  <a:srgbClr val="FF0000"/>
                </a:solidFill>
              </a:rPr>
              <a:t>there can be no element x </a:t>
            </a:r>
            <a:r>
              <a:rPr lang="en-US" dirty="0"/>
              <a:t>in the domain for which Q(x) is true.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763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Remark: </a:t>
            </a:r>
            <a:r>
              <a:rPr lang="en-US" dirty="0"/>
              <a:t>When all elements in the domain can be listed—say, 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 . . , x</a:t>
            </a:r>
            <a:r>
              <a:rPr lang="en-US" baseline="-25000" dirty="0"/>
              <a:t>n</a:t>
            </a:r>
            <a:r>
              <a:rPr lang="en-US" dirty="0"/>
              <a:t>—the existential quantification ∃xP(x) is the same as the disjunction</a:t>
            </a:r>
          </a:p>
          <a:p>
            <a:pPr marL="0" indent="0">
              <a:buNone/>
            </a:pPr>
            <a:r>
              <a:rPr lang="en-US" b="1" dirty="0"/>
              <a:t>P(x</a:t>
            </a:r>
            <a:r>
              <a:rPr lang="en-US" b="1" baseline="-25000" dirty="0"/>
              <a:t>1</a:t>
            </a:r>
            <a:r>
              <a:rPr lang="en-US" b="1" dirty="0"/>
              <a:t>) </a:t>
            </a:r>
            <a:r>
              <a:rPr lang="en-US" b="1" dirty="0">
                <a:solidFill>
                  <a:srgbClr val="FF0000"/>
                </a:solidFill>
              </a:rPr>
              <a:t>∨</a:t>
            </a:r>
            <a:r>
              <a:rPr lang="en-US" b="1" dirty="0"/>
              <a:t> P(x</a:t>
            </a:r>
            <a:r>
              <a:rPr lang="en-US" b="1" baseline="-25000" dirty="0"/>
              <a:t>2</a:t>
            </a:r>
            <a:r>
              <a:rPr lang="en-US" b="1" dirty="0"/>
              <a:t>) </a:t>
            </a:r>
            <a:r>
              <a:rPr lang="en-US" b="1" dirty="0">
                <a:solidFill>
                  <a:srgbClr val="FF0000"/>
                </a:solidFill>
              </a:rPr>
              <a:t>∨ · · · ∨ </a:t>
            </a:r>
            <a:r>
              <a:rPr lang="en-US" b="1" dirty="0"/>
              <a:t>P(x</a:t>
            </a:r>
            <a:r>
              <a:rPr lang="en-US" b="1" baseline="-25000" dirty="0"/>
              <a:t>n</a:t>
            </a:r>
            <a:r>
              <a:rPr lang="en-US" b="1" dirty="0"/>
              <a:t>),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because this disjunction is true if and only if </a:t>
            </a:r>
            <a:r>
              <a:rPr lang="en-US" b="1" dirty="0">
                <a:solidFill>
                  <a:srgbClr val="FF0000"/>
                </a:solidFill>
              </a:rPr>
              <a:t>at least one</a:t>
            </a:r>
            <a:r>
              <a:rPr lang="en-US" dirty="0"/>
              <a:t> of P(x</a:t>
            </a:r>
            <a:r>
              <a:rPr lang="en-US" baseline="-25000" dirty="0"/>
              <a:t>1</a:t>
            </a:r>
            <a:r>
              <a:rPr lang="en-US" dirty="0"/>
              <a:t>), P(x</a:t>
            </a:r>
            <a:r>
              <a:rPr lang="en-US" baseline="-25000" dirty="0"/>
              <a:t>2</a:t>
            </a:r>
            <a:r>
              <a:rPr lang="en-US" dirty="0"/>
              <a:t>), . . . , P (x</a:t>
            </a:r>
            <a:r>
              <a:rPr lang="en-US" baseline="-25000" dirty="0"/>
              <a:t>n</a:t>
            </a:r>
            <a:r>
              <a:rPr lang="en-US" dirty="0"/>
              <a:t>) is true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4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Ques:-</a:t>
            </a:r>
            <a:r>
              <a:rPr lang="en-US" dirty="0"/>
              <a:t> What is the truth value of ∃xP(x), where P(x) is the statement “x</a:t>
            </a:r>
            <a:r>
              <a:rPr lang="en-US" baseline="30000" dirty="0"/>
              <a:t>2</a:t>
            </a:r>
            <a:r>
              <a:rPr lang="en-US" dirty="0"/>
              <a:t> &gt; 10” and the universe of discourse consists of the positive integers not exceeding 4?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</a:t>
            </a:r>
            <a:r>
              <a:rPr lang="en-US" dirty="0"/>
              <a:t> Because the domain is {1, 2, 3, 4}, the proposition ∃xP(x) is the same as the disjunction 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P(1) ∨ P(2) ∨ P(3) ∨ P(4).</a:t>
            </a:r>
          </a:p>
          <a:p>
            <a:pPr marL="0" indent="0">
              <a:buNone/>
            </a:pPr>
            <a:r>
              <a:rPr lang="en-US" dirty="0"/>
              <a:t>Because P(4), which is the statement “4</a:t>
            </a:r>
            <a:r>
              <a:rPr lang="en-US" baseline="30000" dirty="0"/>
              <a:t>2</a:t>
            </a:r>
            <a:r>
              <a:rPr lang="en-US" dirty="0"/>
              <a:t> &gt; 10,” is true, it follows that ∃xP(x) is true.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34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Determine the truth value of each of the statement </a:t>
            </a:r>
            <a:r>
              <a:rPr lang="en-US" b="1" dirty="0"/>
              <a:t>∃n(n = −n) </a:t>
            </a:r>
            <a:r>
              <a:rPr lang="en-US" dirty="0"/>
              <a:t>if the domain consists of all integers.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This statement is true, since </a:t>
            </a:r>
            <a:r>
              <a:rPr lang="en-US" b="1" dirty="0">
                <a:solidFill>
                  <a:srgbClr val="FF0000"/>
                </a:solidFill>
              </a:rPr>
              <a:t>0 = -0.</a:t>
            </a:r>
          </a:p>
        </p:txBody>
      </p:sp>
    </p:spTree>
    <p:extLst>
      <p:ext uri="{BB962C8B-B14F-4D97-AF65-F5344CB8AC3E}">
        <p14:creationId xmlns:p14="http://schemas.microsoft.com/office/powerpoint/2010/main" val="1617868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Determine the truth value of the statement</a:t>
            </a:r>
            <a:r>
              <a:rPr lang="en-US" b="1" dirty="0"/>
              <a:t> ∃n(2n = 3n) </a:t>
            </a:r>
            <a:r>
              <a:rPr lang="en-US" dirty="0"/>
              <a:t>if the domain consists of all integers.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Since 2 · 0 = 3 · 0, this is </a:t>
            </a:r>
            <a:r>
              <a:rPr lang="en-US" b="1" dirty="0">
                <a:solidFill>
                  <a:srgbClr val="FF0000"/>
                </a:solidFill>
              </a:rPr>
              <a:t>true.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232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FB61-5199-4C9E-9EAD-A9160FFD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EB351-1881-4C95-849E-C575C904E6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>
                    <a:effectLst/>
                  </a:rPr>
                  <a:t>Ques:- </a:t>
                </a:r>
                <a:r>
                  <a:rPr lang="en-US" dirty="0">
                    <a:effectLst/>
                  </a:rPr>
                  <a:t>Determine the truth value of statement </a:t>
                </a:r>
                <a:r>
                  <a:rPr lang="en-US" b="1" dirty="0">
                    <a:effectLst/>
                  </a:rPr>
                  <a:t>∃n(n</a:t>
                </a:r>
                <a:r>
                  <a:rPr lang="en-US" b="1" baseline="30000" dirty="0">
                    <a:effectLst/>
                  </a:rPr>
                  <a:t>2</a:t>
                </a:r>
                <a:r>
                  <a:rPr lang="en-US" b="1" dirty="0">
                    <a:effectLst/>
                  </a:rPr>
                  <a:t> = 2) </a:t>
                </a:r>
                <a:r>
                  <a:rPr lang="en-US" dirty="0">
                    <a:effectLst/>
                  </a:rPr>
                  <a:t>if the domain for all variables consists of all integers.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514350" indent="-514350">
                  <a:buAutoNum type="alphaLcParenR"/>
                </a:pPr>
                <a:endParaRPr lang="en-US" dirty="0">
                  <a:effectLst/>
                </a:endParaRPr>
              </a:p>
              <a:p>
                <a:pPr marL="514350" indent="-514350">
                  <a:buAutoNum type="alphaLcParenR"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b="1" dirty="0">
                    <a:effectLst/>
                  </a:rPr>
                  <a:t>Ans:- </a:t>
                </a:r>
                <a:r>
                  <a:rPr lang="en-US" dirty="0">
                    <a:effectLst/>
                  </a:rPr>
                  <a:t>There are two real numbers that satisfy n</a:t>
                </a:r>
                <a:r>
                  <a:rPr lang="en-US" baseline="30000" dirty="0">
                    <a:effectLst/>
                  </a:rPr>
                  <a:t>2</a:t>
                </a:r>
                <a:r>
                  <a:rPr lang="en-US" dirty="0">
                    <a:effectLst/>
                  </a:rPr>
                  <a:t> = 2, namely ±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US" dirty="0">
                    <a:effectLst/>
                  </a:rPr>
                  <a:t>2, but there do not exist any integers with this property, so the statement is </a:t>
                </a:r>
                <a:r>
                  <a:rPr lang="en-US" b="1" dirty="0">
                    <a:solidFill>
                      <a:srgbClr val="FF0000"/>
                    </a:solidFill>
                    <a:effectLst/>
                  </a:rPr>
                  <a:t>false.</a:t>
                </a:r>
                <a:endParaRPr lang="en-IN" b="1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EB351-1881-4C95-849E-C575C904E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90" r="-1290" b="-23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541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Let P(x) be the statement </a:t>
            </a:r>
            <a:r>
              <a:rPr lang="en-US" b="1" dirty="0"/>
              <a:t>“x = x</a:t>
            </a:r>
            <a:r>
              <a:rPr lang="en-US" b="1" baseline="30000" dirty="0"/>
              <a:t>2</a:t>
            </a:r>
            <a:r>
              <a:rPr lang="en-US" b="1" dirty="0"/>
              <a:t>.” </a:t>
            </a:r>
            <a:r>
              <a:rPr lang="en-US" dirty="0"/>
              <a:t>If the domain consists of the integers, what is the truth value of </a:t>
            </a:r>
            <a:r>
              <a:rPr lang="en-US" b="1" dirty="0"/>
              <a:t>∃xP(x)?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de-DE" dirty="0">
                <a:solidFill>
                  <a:srgbClr val="FF0000"/>
                </a:solidFill>
              </a:rPr>
              <a:t>T (let x = 1)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441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FB61-5199-4C9E-9EAD-A9160FFD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B351-1881-4C95-849E-C575C904E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Determine the truth value of the statement </a:t>
            </a:r>
            <a:r>
              <a:rPr lang="en-US" b="1" dirty="0"/>
              <a:t>∃n(n</a:t>
            </a:r>
            <a:r>
              <a:rPr lang="en-US" b="1" baseline="30000" dirty="0"/>
              <a:t>2</a:t>
            </a:r>
            <a:r>
              <a:rPr lang="en-US" b="1" dirty="0"/>
              <a:t> &lt; 0)</a:t>
            </a:r>
            <a:r>
              <a:rPr lang="en-US" dirty="0"/>
              <a:t> if the domain for all variables consists of all integers.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Squares can never be negative; therefore this statement is false.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461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Let P(x) be the statement </a:t>
            </a:r>
            <a:r>
              <a:rPr lang="en-US" b="1" dirty="0"/>
              <a:t>“x spends more than five hours every weekday in class,” </a:t>
            </a:r>
            <a:r>
              <a:rPr lang="en-US" dirty="0"/>
              <a:t>where the domain for x consists of all students. Express the quantification </a:t>
            </a:r>
            <a:r>
              <a:rPr lang="en-US" dirty="0">
                <a:solidFill>
                  <a:srgbClr val="FF0000"/>
                </a:solidFill>
              </a:rPr>
              <a:t>∃xP(x) </a:t>
            </a:r>
            <a:r>
              <a:rPr lang="en-US" dirty="0"/>
              <a:t>in English.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There is a student who spends more than five hours every weekday in class.</a:t>
            </a:r>
          </a:p>
        </p:txBody>
      </p:sp>
    </p:spTree>
    <p:extLst>
      <p:ext uri="{BB962C8B-B14F-4D97-AF65-F5344CB8AC3E}">
        <p14:creationId xmlns:p14="http://schemas.microsoft.com/office/powerpoint/2010/main" val="3640896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Let P(x) be the statement </a:t>
            </a:r>
            <a:r>
              <a:rPr lang="en-US" b="1" dirty="0"/>
              <a:t>“x spends more than five hours every weekday in class,”</a:t>
            </a:r>
            <a:r>
              <a:rPr lang="en-US" dirty="0"/>
              <a:t> where the domain for x consists of all students. Express the quantifications  </a:t>
            </a:r>
            <a:r>
              <a:rPr lang="en-US" dirty="0">
                <a:solidFill>
                  <a:srgbClr val="FF0000"/>
                </a:solidFill>
              </a:rPr>
              <a:t>∃x ¬P(x) </a:t>
            </a:r>
            <a:r>
              <a:rPr lang="en-US" dirty="0"/>
              <a:t>in English.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There is a student who does not spend more than five hours every weekday in class.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1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Translate the statement </a:t>
            </a:r>
            <a:r>
              <a:rPr lang="en-US" b="1" dirty="0"/>
              <a:t>∃x(C(x) → F(x)) </a:t>
            </a:r>
            <a:r>
              <a:rPr lang="en-US" dirty="0"/>
              <a:t>into English, where C(x) is “x is a comedian” and F(x) is “x is funny” and the domain consists of all people.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This statement is that there exists an x in the domain such that if x is a comedian then x is funny. In English, this might be rendered, </a:t>
            </a:r>
            <a:r>
              <a:rPr lang="en-US" dirty="0">
                <a:solidFill>
                  <a:srgbClr val="FF0000"/>
                </a:solidFill>
              </a:rPr>
              <a:t>"There exists a person such that ifs/he is a comedian, then s/he is funny.“</a:t>
            </a:r>
          </a:p>
        </p:txBody>
      </p:sp>
    </p:spTree>
    <p:extLst>
      <p:ext uri="{BB962C8B-B14F-4D97-AF65-F5344CB8AC3E}">
        <p14:creationId xmlns:p14="http://schemas.microsoft.com/office/powerpoint/2010/main" val="3759518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Translate the statement </a:t>
            </a:r>
            <a:r>
              <a:rPr lang="en-US" b="1" dirty="0"/>
              <a:t>∃x(C(x) ∧ F(x)) </a:t>
            </a:r>
            <a:r>
              <a:rPr lang="en-US" dirty="0"/>
              <a:t>into English, where C(x) is “x is a comedian” and F(x) is “x is funny” and the domain consists of all people.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This statement is that there exists an x in the domain such that x is a comedian and x is funny. In English, this might be rendered, </a:t>
            </a:r>
            <a:r>
              <a:rPr lang="en-US" dirty="0">
                <a:solidFill>
                  <a:srgbClr val="FF0000"/>
                </a:solidFill>
              </a:rPr>
              <a:t>''There exists a funny comedian"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"Some comedians are funny"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"Some funny people are comedians."</a:t>
            </a:r>
          </a:p>
        </p:txBody>
      </p:sp>
    </p:spTree>
    <p:extLst>
      <p:ext uri="{BB962C8B-B14F-4D97-AF65-F5344CB8AC3E}">
        <p14:creationId xmlns:p14="http://schemas.microsoft.com/office/powerpoint/2010/main" val="222591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Ques:- </a:t>
            </a:r>
            <a:r>
              <a:rPr lang="en-US" sz="2200" dirty="0"/>
              <a:t>Let P(x) be the statement </a:t>
            </a:r>
            <a:r>
              <a:rPr lang="en-US" sz="2200" b="1" dirty="0"/>
              <a:t>“x can speak Russian” </a:t>
            </a:r>
            <a:r>
              <a:rPr lang="en-US" sz="2200" dirty="0"/>
              <a:t>and let Q(x) be the statement </a:t>
            </a:r>
            <a:r>
              <a:rPr lang="en-US" sz="2200" b="1" dirty="0"/>
              <a:t>“x knows the computer language C++.” </a:t>
            </a:r>
            <a:r>
              <a:rPr lang="en-US" sz="2200" dirty="0"/>
              <a:t>Express the sentence “</a:t>
            </a:r>
            <a:r>
              <a:rPr lang="en-US" sz="2200" b="1" dirty="0"/>
              <a:t>There is a student at your school who can speak Russian and who knows C++.” </a:t>
            </a:r>
            <a:r>
              <a:rPr lang="en-US" sz="2200" dirty="0"/>
              <a:t>in terms of P(x), Q(x), quantifiers, and logical connectives. The domain for quantifiers consists of all students at your school.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Ans:- </a:t>
            </a:r>
            <a:r>
              <a:rPr lang="en-US" sz="2200" dirty="0"/>
              <a:t>We assume that this sentence is asserting that the same person has both talents. Therefore, we can write </a:t>
            </a:r>
            <a:r>
              <a:rPr lang="en-US" sz="2200" dirty="0">
                <a:solidFill>
                  <a:srgbClr val="FF0000"/>
                </a:solidFill>
              </a:rPr>
              <a:t>∃x(P(x) /\ Q(x)).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547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Let P(x) be the statement “x can speak Russian” and let Q(x) be the statement “x knows the computer language C++.” “</a:t>
            </a:r>
            <a:r>
              <a:rPr lang="en-US" b="1" dirty="0"/>
              <a:t>There is a student at your school who can speak Russian but who doesn’t know C++.” </a:t>
            </a:r>
            <a:r>
              <a:rPr lang="en-US" dirty="0"/>
              <a:t>in terms of P(x), Q(x), quantifiers, and logical connectives. The </a:t>
            </a:r>
            <a:r>
              <a:rPr lang="en-US" b="1" dirty="0"/>
              <a:t>domain</a:t>
            </a:r>
            <a:r>
              <a:rPr lang="en-US" dirty="0"/>
              <a:t> for quantifiers consists of all students at your school.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>
                <a:solidFill>
                  <a:srgbClr val="FF0000"/>
                </a:solidFill>
              </a:rPr>
              <a:t>Since "but" really means the same thing as "and" logically, this is ∃x(P(x) /\ </a:t>
            </a:r>
            <a:r>
              <a:rPr lang="en-US" sz="3300" dirty="0">
                <a:solidFill>
                  <a:srgbClr val="FF0000"/>
                </a:solidFill>
              </a:rPr>
              <a:t>¬</a:t>
            </a:r>
            <a:r>
              <a:rPr lang="en-US" dirty="0">
                <a:solidFill>
                  <a:srgbClr val="FF0000"/>
                </a:solidFill>
              </a:rPr>
              <a:t>Q(x))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837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FA2-6FD3-49F5-A763-D2CE1064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6D29-9AAE-40F7-92ED-4D4966D5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0, 1, 2, 3, and 4. Write out each of the proposition </a:t>
            </a:r>
            <a:r>
              <a:rPr lang="en-US" b="1" dirty="0"/>
              <a:t>∃xP(x) </a:t>
            </a:r>
            <a:r>
              <a:rPr lang="en-US" dirty="0"/>
              <a:t>using disjunctions, conjunctions, and negations.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We want to assert that P(x) is true for some x in the universe, so either P(O) is true or P(1) is true or P(2) is true or P(3) is true or P(4) is true. Thus the answer is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P(O) V P(1) V P(2) V P(3) V P(4).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966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FA2-6FD3-49F5-A763-D2CE1064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6D29-9AAE-40F7-92ED-4D4966D5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0, 1, 2, 3, and 4. Write out the proposition </a:t>
            </a:r>
            <a:r>
              <a:rPr lang="en-US" b="1" dirty="0"/>
              <a:t>∃x¬P(x) </a:t>
            </a:r>
            <a:r>
              <a:rPr lang="en-US" dirty="0"/>
              <a:t>using disjunctions, conjunctions, and negations.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¬P(O) V ¬P(1) V ¬P(2) V ¬P(3) V ¬P(4)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797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91DA-6089-48FF-90B3-EB07B683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5A9A-C8EB-4C0A-8DD0-53A5F886F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1, 2, 3, 4, and 5. Express the statement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∃xP(x) </a:t>
            </a:r>
            <a:r>
              <a:rPr lang="en-US" dirty="0"/>
              <a:t>without using quantifiers, instead using only negations, disjunctions, and conjunctions.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We want to assert that P(x) is true for some x in the universe, so either P(1) is true, or P(2) is true, or P(3) is true, or P(4) is true, or P(5) is true. Thus, the answer is</a:t>
            </a:r>
            <a:br>
              <a:rPr lang="en-US" dirty="0"/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P(1) V P(2) V P(3) V P(4) V P(5).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4184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FA2-6FD3-49F5-A763-D2CE1064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6D29-9AAE-40F7-92ED-4D4966D5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0, 1, 2, 3, and 4. Write out the proposition </a:t>
            </a:r>
            <a:r>
              <a:rPr lang="en-US" b="1" dirty="0"/>
              <a:t>¬∀xP(x) </a:t>
            </a:r>
            <a:r>
              <a:rPr lang="en-US" dirty="0"/>
              <a:t>using disjunctions, conjunctions, and negations.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¬</a:t>
            </a:r>
            <a:r>
              <a:rPr lang="en-IN" b="1" dirty="0"/>
              <a:t>(P(O) ∧ P(1) ∧ P(2) ∧ P(3) ∧ P(4))</a:t>
            </a:r>
          </a:p>
        </p:txBody>
      </p:sp>
    </p:spTree>
    <p:extLst>
      <p:ext uri="{BB962C8B-B14F-4D97-AF65-F5344CB8AC3E}">
        <p14:creationId xmlns:p14="http://schemas.microsoft.com/office/powerpoint/2010/main" val="1409667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91DA-6089-48FF-90B3-EB07B683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Existential Quantifier – Example - 7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5A9A-C8EB-4C0A-8DD0-53A5F886F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1, 2, 3, 4, and 5. Express the statement </a:t>
            </a:r>
            <a:r>
              <a:rPr lang="en-US" b="1" dirty="0"/>
              <a:t>¬∃xP(x) </a:t>
            </a:r>
            <a:r>
              <a:rPr lang="en-US" dirty="0"/>
              <a:t>without using quantifiers, instead using only negations, disjunctions, and conjunctions.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This is just the negation of part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¬(P(1) V P(2) V P(3) V P(4) V P(5))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18410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2728</TotalTime>
  <Words>2220</Words>
  <Application>Microsoft Office PowerPoint</Application>
  <PresentationFormat>On-screen Show (4:3)</PresentationFormat>
  <Paragraphs>145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</vt:lpstr>
      <vt:lpstr>Bahnschrift</vt:lpstr>
      <vt:lpstr>Bahnschrift SemiBold</vt:lpstr>
      <vt:lpstr>Calibri</vt:lpstr>
      <vt:lpstr>Cambria Math</vt:lpstr>
      <vt:lpstr>Office Theme</vt:lpstr>
      <vt:lpstr>EMTH403</vt:lpstr>
      <vt:lpstr>Lecture Outcomes</vt:lpstr>
      <vt:lpstr>Quantifiers</vt:lpstr>
      <vt:lpstr>Existential Quantifier</vt:lpstr>
      <vt:lpstr>Quantifiers</vt:lpstr>
      <vt:lpstr>Existential Quantifier</vt:lpstr>
      <vt:lpstr>Existential Quantifier</vt:lpstr>
      <vt:lpstr>Existential Quantifier – Example - 1</vt:lpstr>
      <vt:lpstr>Existential Quantifier</vt:lpstr>
      <vt:lpstr>Existential Quantifier – Example - 2</vt:lpstr>
      <vt:lpstr>Existential Quantifier</vt:lpstr>
      <vt:lpstr>Existential Quantifier</vt:lpstr>
      <vt:lpstr>Existential Quantifier</vt:lpstr>
      <vt:lpstr>Existential Quantifier – Example - 3</vt:lpstr>
      <vt:lpstr>Existential Quantifier – Example - 4</vt:lpstr>
      <vt:lpstr>Existential Quantifier – Example - 5</vt:lpstr>
      <vt:lpstr>Existential Quantifier – Example - 6</vt:lpstr>
      <vt:lpstr>Existential Quantifier – Example - 7</vt:lpstr>
      <vt:lpstr>Existential Quantifier – Example - 8</vt:lpstr>
      <vt:lpstr>Existential Quantifier – Example - 1</vt:lpstr>
      <vt:lpstr>Existential Quantifier – Example - 2</vt:lpstr>
      <vt:lpstr>Existential Quantifier – Example - 3</vt:lpstr>
      <vt:lpstr>Existential Quantifier – Example - 4</vt:lpstr>
      <vt:lpstr>Existential Quantifier – Example - 1</vt:lpstr>
      <vt:lpstr>Existential Quantifier – Example - 2</vt:lpstr>
      <vt:lpstr>Existential Quantifier – Example - 3</vt:lpstr>
      <vt:lpstr>Existential Quantifier – Example - 4</vt:lpstr>
      <vt:lpstr>Existential Quantifier – Example - 5</vt:lpstr>
      <vt:lpstr>Existential Quantifier – Example - 6</vt:lpstr>
      <vt:lpstr>Existential Quantifier – Example - 7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514</cp:revision>
  <dcterms:created xsi:type="dcterms:W3CDTF">2020-12-04T05:20:56Z</dcterms:created>
  <dcterms:modified xsi:type="dcterms:W3CDTF">2020-12-14T19:12:41Z</dcterms:modified>
</cp:coreProperties>
</file>