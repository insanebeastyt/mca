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27" r:id="rId4"/>
    <p:sldId id="328" r:id="rId5"/>
    <p:sldId id="329" r:id="rId6"/>
    <p:sldId id="330" r:id="rId7"/>
    <p:sldId id="331" r:id="rId8"/>
    <p:sldId id="336" r:id="rId9"/>
    <p:sldId id="337" r:id="rId10"/>
    <p:sldId id="338" r:id="rId11"/>
    <p:sldId id="339" r:id="rId12"/>
    <p:sldId id="340" r:id="rId13"/>
    <p:sldId id="332" r:id="rId14"/>
    <p:sldId id="333" r:id="rId15"/>
    <p:sldId id="334" r:id="rId16"/>
    <p:sldId id="335" r:id="rId17"/>
    <p:sldId id="342" r:id="rId18"/>
    <p:sldId id="343" r:id="rId19"/>
    <p:sldId id="341" r:id="rId20"/>
    <p:sldId id="344" r:id="rId21"/>
    <p:sldId id="25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327"/>
            <p14:sldId id="328"/>
            <p14:sldId id="329"/>
            <p14:sldId id="330"/>
            <p14:sldId id="331"/>
            <p14:sldId id="336"/>
            <p14:sldId id="337"/>
            <p14:sldId id="338"/>
            <p14:sldId id="339"/>
            <p14:sldId id="340"/>
            <p14:sldId id="332"/>
            <p14:sldId id="333"/>
            <p14:sldId id="334"/>
            <p14:sldId id="335"/>
            <p14:sldId id="342"/>
            <p14:sldId id="343"/>
            <p14:sldId id="341"/>
            <p14:sldId id="344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degree of vertex in a graph.</a:t>
            </a:r>
          </a:p>
          <a:p>
            <a:r>
              <a:rPr lang="en-US" dirty="0"/>
              <a:t>understand what is </a:t>
            </a:r>
            <a:r>
              <a:rPr lang="en-IN" dirty="0"/>
              <a:t>Handshaking theorem</a:t>
            </a:r>
          </a:p>
          <a:p>
            <a:r>
              <a:rPr lang="en-IN" dirty="0"/>
              <a:t>understand some special simple graphs.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vertex -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93945-AA96-4121-8205-E3E3EE34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25381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degree of a vertex in an undirected graph is the number of edges incident with it, except that a loop at a vertex contributes twice to the degree of that vertex.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168B9BD7-ED76-4E4E-BDE7-A56B4A106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184" y="4572002"/>
            <a:ext cx="0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5" name="Line 14">
            <a:extLst>
              <a:ext uri="{FF2B5EF4-FFF2-40B4-BE49-F238E27FC236}">
                <a16:creationId xmlns:a16="http://schemas.microsoft.com/office/drawing/2014/main" id="{CCDBF5C0-F84D-44A3-9312-05C2EE696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3384" y="4495802"/>
            <a:ext cx="762000" cy="914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6" name="Line 21">
            <a:extLst>
              <a:ext uri="{FF2B5EF4-FFF2-40B4-BE49-F238E27FC236}">
                <a16:creationId xmlns:a16="http://schemas.microsoft.com/office/drawing/2014/main" id="{A5F5CD36-4045-4536-A987-5A3A91C9E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184" y="4419602"/>
            <a:ext cx="9144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7" name="Oval 23">
            <a:extLst>
              <a:ext uri="{FF2B5EF4-FFF2-40B4-BE49-F238E27FC236}">
                <a16:creationId xmlns:a16="http://schemas.microsoft.com/office/drawing/2014/main" id="{492D2B68-3E35-41E4-94D3-5CEA7F4EC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576" y="3939208"/>
            <a:ext cx="457200" cy="457200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8" name="Line 27">
            <a:extLst>
              <a:ext uri="{FF2B5EF4-FFF2-40B4-BE49-F238E27FC236}">
                <a16:creationId xmlns:a16="http://schemas.microsoft.com/office/drawing/2014/main" id="{D07CA06A-879B-41E1-BD92-091DF4D28C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72784" y="4495802"/>
            <a:ext cx="914400" cy="914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9" name="Oval 3">
            <a:extLst>
              <a:ext uri="{FF2B5EF4-FFF2-40B4-BE49-F238E27FC236}">
                <a16:creationId xmlns:a16="http://schemas.microsoft.com/office/drawing/2014/main" id="{07E6532F-A4D8-42D2-AD39-41B5A38FD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984" y="4343402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A636EE57-AB49-452E-BC5C-269893AC7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984" y="5334002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grpSp>
        <p:nvGrpSpPr>
          <p:cNvPr id="11" name="Group 6">
            <a:extLst>
              <a:ext uri="{FF2B5EF4-FFF2-40B4-BE49-F238E27FC236}">
                <a16:creationId xmlns:a16="http://schemas.microsoft.com/office/drawing/2014/main" id="{EE4EE26F-A99B-4FFE-8BDE-9158735A7CDF}"/>
              </a:ext>
            </a:extLst>
          </p:cNvPr>
          <p:cNvGrpSpPr>
            <a:grpSpLocks/>
          </p:cNvGrpSpPr>
          <p:nvPr/>
        </p:nvGrpSpPr>
        <p:grpSpPr bwMode="auto">
          <a:xfrm>
            <a:off x="5425384" y="4343402"/>
            <a:ext cx="228600" cy="1219200"/>
            <a:chOff x="576" y="1248"/>
            <a:chExt cx="144" cy="768"/>
          </a:xfrm>
        </p:grpSpPr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59F562E7-88BD-4D1C-BE67-967D8C970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C9A9D653-4E10-4DFC-9822-355D19AB0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400"/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id="{40D744F4-3BEC-43C7-AD73-951AF0271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</p:grpSp>
      <p:sp>
        <p:nvSpPr>
          <p:cNvPr id="15" name="Oval 11">
            <a:extLst>
              <a:ext uri="{FF2B5EF4-FFF2-40B4-BE49-F238E27FC236}">
                <a16:creationId xmlns:a16="http://schemas.microsoft.com/office/drawing/2014/main" id="{2FA07ED9-F757-485A-ABE5-9BC532B31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584" y="4343402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B2EAABFC-A6D7-4B03-8816-D75BC0F0B93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082484" y="5067302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26F45CB3-89B0-48D6-B301-B4A7A2EBE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584" y="5334002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B73E5454-7640-4578-8DB9-7E2AF6E5A3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3384" y="4495802"/>
            <a:ext cx="8382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9AF8579C-D059-4215-9C3A-A27A80025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7984" y="5546727"/>
            <a:ext cx="4315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/>
              <a:t> a</a:t>
            </a:r>
            <a:endParaRPr lang="en-US" altLang="en-US" sz="2400"/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010503FC-30C8-42AE-8A9B-7465D44A7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434" y="4038603"/>
            <a:ext cx="16914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rgbClr val="CC0000"/>
                </a:solidFill>
              </a:rPr>
              <a:t>deg( </a:t>
            </a:r>
            <a:r>
              <a:rPr lang="en-US" altLang="en-US" sz="2400" i="1">
                <a:solidFill>
                  <a:srgbClr val="CC0000"/>
                </a:solidFill>
              </a:rPr>
              <a:t>b </a:t>
            </a:r>
            <a:r>
              <a:rPr lang="en-US" altLang="en-US" sz="2400">
                <a:solidFill>
                  <a:srgbClr val="CC0000"/>
                </a:solidFill>
              </a:rPr>
              <a:t>) = 6</a:t>
            </a:r>
            <a:endParaRPr lang="en-US" altLang="en-US" sz="2400"/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7CCE2CCC-BD3A-4AF2-A3AF-F5E5D49B80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1584" y="4419602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2" name="Line 25">
            <a:extLst>
              <a:ext uri="{FF2B5EF4-FFF2-40B4-BE49-F238E27FC236}">
                <a16:creationId xmlns:a16="http://schemas.microsoft.com/office/drawing/2014/main" id="{B9D372E8-AB9D-4B5E-9335-60F9FFB113C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168084" y="5067302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CDACDB00-4FC1-4D28-8749-56398BBC9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0384" y="5334002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E32D977B-A201-4363-A8A7-450168E0E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1384" y="4267202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 dirty="0"/>
              <a:t> b</a:t>
            </a:r>
            <a:endParaRPr lang="en-US" altLang="en-US" sz="2400" dirty="0"/>
          </a:p>
        </p:txBody>
      </p:sp>
      <p:sp>
        <p:nvSpPr>
          <p:cNvPr id="25" name="Text Box 29">
            <a:extLst>
              <a:ext uri="{FF2B5EF4-FFF2-40B4-BE49-F238E27FC236}">
                <a16:creationId xmlns:a16="http://schemas.microsoft.com/office/drawing/2014/main" id="{654590A6-E43D-49C4-AF41-501BEED90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4784" y="5546727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/>
              <a:t> g</a:t>
            </a:r>
            <a:endParaRPr lang="en-US" altLang="en-US" sz="2400"/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C9E63DBC-BE89-4606-8992-A316D88C2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897" y="5546727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/>
              <a:t> f</a:t>
            </a:r>
            <a:endParaRPr lang="en-US" altLang="en-US" sz="2400"/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42A8BAC6-9D2A-482A-8363-3A0E22389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897" y="5546727"/>
            <a:ext cx="4331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/>
              <a:t> e</a:t>
            </a:r>
            <a:endParaRPr lang="en-US" altLang="en-US" sz="2400"/>
          </a:p>
        </p:txBody>
      </p:sp>
      <p:sp>
        <p:nvSpPr>
          <p:cNvPr id="28" name="Text Box 36">
            <a:extLst>
              <a:ext uri="{FF2B5EF4-FFF2-40B4-BE49-F238E27FC236}">
                <a16:creationId xmlns:a16="http://schemas.microsoft.com/office/drawing/2014/main" id="{FEC01A2B-4ECF-4C6C-AEEC-5E9E723B1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7434" y="3870327"/>
            <a:ext cx="421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/>
              <a:t> c</a:t>
            </a:r>
            <a:endParaRPr lang="en-US" altLang="en-US" sz="2400"/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id="{104600F2-81B6-4831-B7DF-1A5C47CEA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097" y="3870327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/>
              <a:t> d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95826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vertex -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93945-AA96-4121-8205-E3E3EE34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2538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 the degree of all the other vertices. </a:t>
            </a:r>
          </a:p>
          <a:p>
            <a:pPr marL="0" indent="0">
              <a:buNone/>
            </a:pPr>
            <a:r>
              <a:rPr lang="en-US" dirty="0"/>
              <a:t>deg( a )	deg( c )	deg( f )	deg( g )</a:t>
            </a:r>
          </a:p>
        </p:txBody>
      </p:sp>
      <p:sp>
        <p:nvSpPr>
          <p:cNvPr id="44" name="Text Box 16">
            <a:extLst>
              <a:ext uri="{FF2B5EF4-FFF2-40B4-BE49-F238E27FC236}">
                <a16:creationId xmlns:a16="http://schemas.microsoft.com/office/drawing/2014/main" id="{26080742-9879-4030-BDF2-B0FFFAF02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61" y="3959089"/>
            <a:ext cx="19383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b </a:t>
            </a:r>
            <a:r>
              <a:rPr lang="en-US" altLang="en-US" sz="2800" dirty="0">
                <a:solidFill>
                  <a:srgbClr val="CC0000"/>
                </a:solidFill>
              </a:rPr>
              <a:t>) = 6</a:t>
            </a:r>
            <a:endParaRPr lang="en-US" altLang="en-US" sz="28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53D9819-44E0-43C7-BE51-807CFA1F90CC}"/>
              </a:ext>
            </a:extLst>
          </p:cNvPr>
          <p:cNvGrpSpPr/>
          <p:nvPr/>
        </p:nvGrpSpPr>
        <p:grpSpPr>
          <a:xfrm>
            <a:off x="2513219" y="3790813"/>
            <a:ext cx="3339559" cy="2120108"/>
            <a:chOff x="2513219" y="3790813"/>
            <a:chExt cx="3339559" cy="2120108"/>
          </a:xfrm>
        </p:grpSpPr>
        <p:grpSp>
          <p:nvGrpSpPr>
            <p:cNvPr id="30" name="Group 2">
              <a:extLst>
                <a:ext uri="{FF2B5EF4-FFF2-40B4-BE49-F238E27FC236}">
                  <a16:creationId xmlns:a16="http://schemas.microsoft.com/office/drawing/2014/main" id="{93C43096-91FB-433B-BF7E-1F4F2F804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5611" y="4263888"/>
              <a:ext cx="228600" cy="1219200"/>
              <a:chOff x="576" y="1248"/>
              <a:chExt cx="144" cy="768"/>
            </a:xfrm>
          </p:grpSpPr>
          <p:sp>
            <p:nvSpPr>
              <p:cNvPr id="31" name="Oval 3">
                <a:extLst>
                  <a:ext uri="{FF2B5EF4-FFF2-40B4-BE49-F238E27FC236}">
                    <a16:creationId xmlns:a16="http://schemas.microsoft.com/office/drawing/2014/main" id="{A2E08869-A7AC-4ADB-82A7-EDA32554E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32" name="Line 4">
                <a:extLst>
                  <a:ext uri="{FF2B5EF4-FFF2-40B4-BE49-F238E27FC236}">
                    <a16:creationId xmlns:a16="http://schemas.microsoft.com/office/drawing/2014/main" id="{91D7B7CE-F92B-4397-8D52-F70F4E4D3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33" name="Oval 5">
                <a:extLst>
                  <a:ext uri="{FF2B5EF4-FFF2-40B4-BE49-F238E27FC236}">
                    <a16:creationId xmlns:a16="http://schemas.microsoft.com/office/drawing/2014/main" id="{69112FAA-644F-4266-8B8D-F7FC494A0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1C0D74B4-DD7A-44A7-84BE-39774CDB39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0011" y="4263888"/>
              <a:ext cx="228600" cy="1219200"/>
              <a:chOff x="576" y="1248"/>
              <a:chExt cx="144" cy="768"/>
            </a:xfrm>
          </p:grpSpPr>
          <p:sp>
            <p:nvSpPr>
              <p:cNvPr id="35" name="Oval 7">
                <a:extLst>
                  <a:ext uri="{FF2B5EF4-FFF2-40B4-BE49-F238E27FC236}">
                    <a16:creationId xmlns:a16="http://schemas.microsoft.com/office/drawing/2014/main" id="{E4148122-30C8-4481-9EF3-003F26F88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36" name="Line 8">
                <a:extLst>
                  <a:ext uri="{FF2B5EF4-FFF2-40B4-BE49-F238E27FC236}">
                    <a16:creationId xmlns:a16="http://schemas.microsoft.com/office/drawing/2014/main" id="{88C56B34-3151-483F-BA22-91ADDF6C2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37" name="Oval 9">
                <a:extLst>
                  <a:ext uri="{FF2B5EF4-FFF2-40B4-BE49-F238E27FC236}">
                    <a16:creationId xmlns:a16="http://schemas.microsoft.com/office/drawing/2014/main" id="{42E6A283-3F16-403E-AD52-B0DFFB3EE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38" name="Oval 10">
              <a:extLst>
                <a:ext uri="{FF2B5EF4-FFF2-40B4-BE49-F238E27FC236}">
                  <a16:creationId xmlns:a16="http://schemas.microsoft.com/office/drawing/2014/main" id="{35E80254-3890-42EC-A843-82054B401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8455" y="426388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EE482787-9C47-4011-B287-3858F23D7B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227719" y="4908276"/>
              <a:ext cx="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0" name="Oval 12">
              <a:extLst>
                <a:ext uri="{FF2B5EF4-FFF2-40B4-BE49-F238E27FC236}">
                  <a16:creationId xmlns:a16="http://schemas.microsoft.com/office/drawing/2014/main" id="{55E411DD-770A-4478-AB10-ACFDDF6BD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211" y="525448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1" name="Line 13">
              <a:extLst>
                <a:ext uri="{FF2B5EF4-FFF2-40B4-BE49-F238E27FC236}">
                  <a16:creationId xmlns:a16="http://schemas.microsoft.com/office/drawing/2014/main" id="{4ECEA0C4-7EC5-4159-8B24-B52ACA4A9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8011" y="4416288"/>
              <a:ext cx="76200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2" name="Line 14">
              <a:extLst>
                <a:ext uri="{FF2B5EF4-FFF2-40B4-BE49-F238E27FC236}">
                  <a16:creationId xmlns:a16="http://schemas.microsoft.com/office/drawing/2014/main" id="{27A203CB-3A19-4F58-BA08-7E9B6A3D67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1437" y="4416288"/>
              <a:ext cx="924774" cy="9714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3" name="Text Box 15">
              <a:extLst>
                <a:ext uri="{FF2B5EF4-FFF2-40B4-BE49-F238E27FC236}">
                  <a16:creationId xmlns:a16="http://schemas.microsoft.com/office/drawing/2014/main" id="{E8F0B751-67D2-47A1-824F-76506FFFC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3219" y="5387701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a</a:t>
              </a:r>
              <a:endParaRPr lang="en-US" altLang="en-US" sz="2800"/>
            </a:p>
          </p:txBody>
        </p:sp>
        <p:sp>
          <p:nvSpPr>
            <p:cNvPr id="45" name="Line 19">
              <a:extLst>
                <a:ext uri="{FF2B5EF4-FFF2-40B4-BE49-F238E27FC236}">
                  <a16:creationId xmlns:a16="http://schemas.microsoft.com/office/drawing/2014/main" id="{7198049A-3A80-4132-8F81-9EABCB7E0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055" y="4340088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6" name="Line 20">
              <a:extLst>
                <a:ext uri="{FF2B5EF4-FFF2-40B4-BE49-F238E27FC236}">
                  <a16:creationId xmlns:a16="http://schemas.microsoft.com/office/drawing/2014/main" id="{37B265B9-5871-45B7-B96D-8D569D696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6455" y="4340088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7" name="Oval 21">
              <a:extLst>
                <a:ext uri="{FF2B5EF4-FFF2-40B4-BE49-F238E27FC236}">
                  <a16:creationId xmlns:a16="http://schemas.microsoft.com/office/drawing/2014/main" id="{A2667D9E-636E-4F94-B96E-F5ABB715D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455" y="3882888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8" name="Line 22">
              <a:extLst>
                <a:ext uri="{FF2B5EF4-FFF2-40B4-BE49-F238E27FC236}">
                  <a16:creationId xmlns:a16="http://schemas.microsoft.com/office/drawing/2014/main" id="{127427D0-F3E1-4028-BA41-0C927970E0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313319" y="4908276"/>
              <a:ext cx="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9" name="Oval 23">
              <a:extLst>
                <a:ext uri="{FF2B5EF4-FFF2-40B4-BE49-F238E27FC236}">
                  <a16:creationId xmlns:a16="http://schemas.microsoft.com/office/drawing/2014/main" id="{0F43671D-888A-4376-B385-1DD588116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011" y="525448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0" name="Line 24">
              <a:extLst>
                <a:ext uri="{FF2B5EF4-FFF2-40B4-BE49-F238E27FC236}">
                  <a16:creationId xmlns:a16="http://schemas.microsoft.com/office/drawing/2014/main" id="{E1EC18AE-F26A-42A2-96F7-DAE24C2DC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7411" y="4416288"/>
              <a:ext cx="91440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51" name="Text Box 25">
              <a:extLst>
                <a:ext uri="{FF2B5EF4-FFF2-40B4-BE49-F238E27FC236}">
                  <a16:creationId xmlns:a16="http://schemas.microsoft.com/office/drawing/2014/main" id="{A885319B-0E72-439F-A66A-2EDB600279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255" y="4187688"/>
              <a:ext cx="4764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b</a:t>
              </a:r>
              <a:endParaRPr lang="en-US" altLang="en-US" sz="2800" dirty="0"/>
            </a:p>
          </p:txBody>
        </p:sp>
        <p:sp>
          <p:nvSpPr>
            <p:cNvPr id="52" name="Text Box 26">
              <a:extLst>
                <a:ext uri="{FF2B5EF4-FFF2-40B4-BE49-F238E27FC236}">
                  <a16:creationId xmlns:a16="http://schemas.microsoft.com/office/drawing/2014/main" id="{7E782863-4F9F-45B9-B00B-CF036AD4A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0019" y="5387701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g</a:t>
              </a:r>
              <a:endParaRPr lang="en-US" altLang="en-US" sz="2800"/>
            </a:p>
          </p:txBody>
        </p:sp>
        <p:sp>
          <p:nvSpPr>
            <p:cNvPr id="53" name="Text Box 27">
              <a:extLst>
                <a:ext uri="{FF2B5EF4-FFF2-40B4-BE49-F238E27FC236}">
                  <a16:creationId xmlns:a16="http://schemas.microsoft.com/office/drawing/2014/main" id="{274B00E5-98D1-4208-AA0D-4A0F6EF61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0132" y="5387701"/>
              <a:ext cx="3946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f</a:t>
              </a:r>
              <a:endParaRPr lang="en-US" altLang="en-US" sz="2800"/>
            </a:p>
          </p:txBody>
        </p:sp>
        <p:sp>
          <p:nvSpPr>
            <p:cNvPr id="54" name="Text Box 28">
              <a:extLst>
                <a:ext uri="{FF2B5EF4-FFF2-40B4-BE49-F238E27FC236}">
                  <a16:creationId xmlns:a16="http://schemas.microsoft.com/office/drawing/2014/main" id="{0B626343-A2E9-4657-AA34-F3EA48F40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2132" y="5387701"/>
              <a:ext cx="47320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e</a:t>
              </a:r>
              <a:endParaRPr lang="en-US" altLang="en-US" sz="2800"/>
            </a:p>
          </p:txBody>
        </p:sp>
        <p:sp>
          <p:nvSpPr>
            <p:cNvPr id="55" name="Text Box 29">
              <a:extLst>
                <a:ext uri="{FF2B5EF4-FFF2-40B4-BE49-F238E27FC236}">
                  <a16:creationId xmlns:a16="http://schemas.microsoft.com/office/drawing/2014/main" id="{BEA05FB3-9F64-4659-88B5-04FC27ADD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305" y="3790813"/>
              <a:ext cx="4603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c</a:t>
              </a:r>
              <a:endParaRPr lang="en-US" altLang="en-US" sz="2800" dirty="0"/>
            </a:p>
          </p:txBody>
        </p:sp>
        <p:sp>
          <p:nvSpPr>
            <p:cNvPr id="56" name="Text Box 30">
              <a:extLst>
                <a:ext uri="{FF2B5EF4-FFF2-40B4-BE49-F238E27FC236}">
                  <a16:creationId xmlns:a16="http://schemas.microsoft.com/office/drawing/2014/main" id="{75841CFA-8E38-4EE7-83B6-F75C5A44E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968" y="3790813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d</a:t>
              </a:r>
              <a:endParaRPr lang="en-US" altLang="en-US" sz="2800"/>
            </a:p>
          </p:txBody>
        </p:sp>
      </p:grpSp>
      <p:sp>
        <p:nvSpPr>
          <p:cNvPr id="57" name="Text Box 31">
            <a:extLst>
              <a:ext uri="{FF2B5EF4-FFF2-40B4-BE49-F238E27FC236}">
                <a16:creationId xmlns:a16="http://schemas.microsoft.com/office/drawing/2014/main" id="{6C18071C-8875-44C8-A0DD-AD745320B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424" y="3959089"/>
            <a:ext cx="18710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d </a:t>
            </a:r>
            <a:r>
              <a:rPr lang="en-US" altLang="en-US" sz="2800" dirty="0">
                <a:solidFill>
                  <a:srgbClr val="CC0000"/>
                </a:solidFill>
              </a:rPr>
              <a:t>) = 1</a:t>
            </a:r>
            <a:endParaRPr lang="en-US" altLang="en-US" sz="2800" dirty="0"/>
          </a:p>
        </p:txBody>
      </p:sp>
      <p:sp>
        <p:nvSpPr>
          <p:cNvPr id="58" name="Text Box 32">
            <a:extLst>
              <a:ext uri="{FF2B5EF4-FFF2-40B4-BE49-F238E27FC236}">
                <a16:creationId xmlns:a16="http://schemas.microsoft.com/office/drawing/2014/main" id="{8FF3F240-5F48-4632-A2F0-F6D3E8994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425" y="5102089"/>
            <a:ext cx="19495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e </a:t>
            </a:r>
            <a:r>
              <a:rPr lang="en-US" altLang="en-US" sz="2800" dirty="0">
                <a:solidFill>
                  <a:srgbClr val="CC0000"/>
                </a:solidFill>
              </a:rPr>
              <a:t>) = 0</a:t>
            </a:r>
            <a:endParaRPr lang="en-US" altLang="en-US" sz="2800" dirty="0"/>
          </a:p>
        </p:txBody>
      </p:sp>
      <p:sp>
        <p:nvSpPr>
          <p:cNvPr id="59" name="Text Box 16">
            <a:extLst>
              <a:ext uri="{FF2B5EF4-FFF2-40B4-BE49-F238E27FC236}">
                <a16:creationId xmlns:a16="http://schemas.microsoft.com/office/drawing/2014/main" id="{51659D8C-01A6-419F-99A7-1106850B5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349" y="5055706"/>
            <a:ext cx="19351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a </a:t>
            </a:r>
            <a:r>
              <a:rPr lang="en-US" altLang="en-US" sz="2800" dirty="0">
                <a:solidFill>
                  <a:srgbClr val="CC0000"/>
                </a:solidFill>
              </a:rPr>
              <a:t>) = 2</a:t>
            </a:r>
            <a:endParaRPr lang="en-US" altLang="en-US" sz="2800" dirty="0"/>
          </a:p>
        </p:txBody>
      </p:sp>
      <p:sp>
        <p:nvSpPr>
          <p:cNvPr id="60" name="Text Box 31">
            <a:extLst>
              <a:ext uri="{FF2B5EF4-FFF2-40B4-BE49-F238E27FC236}">
                <a16:creationId xmlns:a16="http://schemas.microsoft.com/office/drawing/2014/main" id="{C59D11B0-3A28-4D1D-B471-46A1FAC9A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829" y="3382979"/>
            <a:ext cx="19415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c </a:t>
            </a:r>
            <a:r>
              <a:rPr lang="en-US" altLang="en-US" sz="2800" dirty="0">
                <a:solidFill>
                  <a:srgbClr val="CC0000"/>
                </a:solidFill>
              </a:rPr>
              <a:t>) = 4</a:t>
            </a:r>
            <a:endParaRPr lang="en-US" altLang="en-US" sz="2800" dirty="0"/>
          </a:p>
        </p:txBody>
      </p:sp>
      <p:sp>
        <p:nvSpPr>
          <p:cNvPr id="61" name="Text Box 32">
            <a:extLst>
              <a:ext uri="{FF2B5EF4-FFF2-40B4-BE49-F238E27FC236}">
                <a16:creationId xmlns:a16="http://schemas.microsoft.com/office/drawing/2014/main" id="{0FFCD56D-4249-4D74-BAF3-666128B90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629" y="5999926"/>
            <a:ext cx="18614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f </a:t>
            </a:r>
            <a:r>
              <a:rPr lang="en-US" altLang="en-US" sz="2800" dirty="0">
                <a:solidFill>
                  <a:srgbClr val="CC0000"/>
                </a:solidFill>
              </a:rPr>
              <a:t>) = 3</a:t>
            </a:r>
            <a:endParaRPr lang="en-US" altLang="en-US" sz="2800" dirty="0"/>
          </a:p>
        </p:txBody>
      </p:sp>
      <p:sp>
        <p:nvSpPr>
          <p:cNvPr id="62" name="Text Box 32">
            <a:extLst>
              <a:ext uri="{FF2B5EF4-FFF2-40B4-BE49-F238E27FC236}">
                <a16:creationId xmlns:a16="http://schemas.microsoft.com/office/drawing/2014/main" id="{A2194374-5565-4D4D-900E-2F5FD0F59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13" y="6062875"/>
            <a:ext cx="19559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g </a:t>
            </a:r>
            <a:r>
              <a:rPr lang="en-US" altLang="en-US" sz="2800" dirty="0">
                <a:solidFill>
                  <a:srgbClr val="CC0000"/>
                </a:solidFill>
              </a:rPr>
              <a:t>) = 4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3935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C4B-D209-4E0F-90BF-18F5A54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vertex -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93945-AA96-4121-8205-E3E3EE34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2538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 the degree of all the other vertices. </a:t>
            </a:r>
          </a:p>
          <a:p>
            <a:pPr marL="0" indent="0">
              <a:buNone/>
            </a:pPr>
            <a:r>
              <a:rPr lang="en-US" dirty="0"/>
              <a:t>deg( a ) = 2,	deg( c ) = 4,	deg( f ) = 3,	deg( g ) = 4</a:t>
            </a:r>
          </a:p>
          <a:p>
            <a:pPr marL="0" indent="0">
              <a:buNone/>
            </a:pPr>
            <a:r>
              <a:rPr lang="en-US" dirty="0"/>
              <a:t>TOTAL of degrees = 2 + 4 + 3 + 4 + 6 + 1 + 0 = 20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4" name="Text Box 16">
            <a:extLst>
              <a:ext uri="{FF2B5EF4-FFF2-40B4-BE49-F238E27FC236}">
                <a16:creationId xmlns:a16="http://schemas.microsoft.com/office/drawing/2014/main" id="{26080742-9879-4030-BDF2-B0FFFAF02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61" y="3959089"/>
            <a:ext cx="19383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b </a:t>
            </a:r>
            <a:r>
              <a:rPr lang="en-US" altLang="en-US" sz="2800" dirty="0">
                <a:solidFill>
                  <a:srgbClr val="CC0000"/>
                </a:solidFill>
              </a:rPr>
              <a:t>) = 6</a:t>
            </a:r>
            <a:endParaRPr lang="en-US" altLang="en-US" sz="28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53D9819-44E0-43C7-BE51-807CFA1F90CC}"/>
              </a:ext>
            </a:extLst>
          </p:cNvPr>
          <p:cNvGrpSpPr/>
          <p:nvPr/>
        </p:nvGrpSpPr>
        <p:grpSpPr>
          <a:xfrm>
            <a:off x="2513219" y="3790813"/>
            <a:ext cx="3339559" cy="2120108"/>
            <a:chOff x="2513219" y="3790813"/>
            <a:chExt cx="3339559" cy="2120108"/>
          </a:xfrm>
        </p:grpSpPr>
        <p:grpSp>
          <p:nvGrpSpPr>
            <p:cNvPr id="30" name="Group 2">
              <a:extLst>
                <a:ext uri="{FF2B5EF4-FFF2-40B4-BE49-F238E27FC236}">
                  <a16:creationId xmlns:a16="http://schemas.microsoft.com/office/drawing/2014/main" id="{93C43096-91FB-433B-BF7E-1F4F2F804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5611" y="4263888"/>
              <a:ext cx="228600" cy="1219200"/>
              <a:chOff x="576" y="1248"/>
              <a:chExt cx="144" cy="768"/>
            </a:xfrm>
          </p:grpSpPr>
          <p:sp>
            <p:nvSpPr>
              <p:cNvPr id="31" name="Oval 3">
                <a:extLst>
                  <a:ext uri="{FF2B5EF4-FFF2-40B4-BE49-F238E27FC236}">
                    <a16:creationId xmlns:a16="http://schemas.microsoft.com/office/drawing/2014/main" id="{A2E08869-A7AC-4ADB-82A7-EDA32554E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32" name="Line 4">
                <a:extLst>
                  <a:ext uri="{FF2B5EF4-FFF2-40B4-BE49-F238E27FC236}">
                    <a16:creationId xmlns:a16="http://schemas.microsoft.com/office/drawing/2014/main" id="{91D7B7CE-F92B-4397-8D52-F70F4E4D3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33" name="Oval 5">
                <a:extLst>
                  <a:ext uri="{FF2B5EF4-FFF2-40B4-BE49-F238E27FC236}">
                    <a16:creationId xmlns:a16="http://schemas.microsoft.com/office/drawing/2014/main" id="{69112FAA-644F-4266-8B8D-F7FC494A0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1C0D74B4-DD7A-44A7-84BE-39774CDB39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0011" y="4263888"/>
              <a:ext cx="228600" cy="1219200"/>
              <a:chOff x="576" y="1248"/>
              <a:chExt cx="144" cy="768"/>
            </a:xfrm>
          </p:grpSpPr>
          <p:sp>
            <p:nvSpPr>
              <p:cNvPr id="35" name="Oval 7">
                <a:extLst>
                  <a:ext uri="{FF2B5EF4-FFF2-40B4-BE49-F238E27FC236}">
                    <a16:creationId xmlns:a16="http://schemas.microsoft.com/office/drawing/2014/main" id="{E4148122-30C8-4481-9EF3-003F26F88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36" name="Line 8">
                <a:extLst>
                  <a:ext uri="{FF2B5EF4-FFF2-40B4-BE49-F238E27FC236}">
                    <a16:creationId xmlns:a16="http://schemas.microsoft.com/office/drawing/2014/main" id="{88C56B34-3151-483F-BA22-91ADDF6C2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37" name="Oval 9">
                <a:extLst>
                  <a:ext uri="{FF2B5EF4-FFF2-40B4-BE49-F238E27FC236}">
                    <a16:creationId xmlns:a16="http://schemas.microsoft.com/office/drawing/2014/main" id="{42E6A283-3F16-403E-AD52-B0DFFB3EE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38" name="Oval 10">
              <a:extLst>
                <a:ext uri="{FF2B5EF4-FFF2-40B4-BE49-F238E27FC236}">
                  <a16:creationId xmlns:a16="http://schemas.microsoft.com/office/drawing/2014/main" id="{35E80254-3890-42EC-A843-82054B401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8455" y="426388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EE482787-9C47-4011-B287-3858F23D7B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227719" y="4908276"/>
              <a:ext cx="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0" name="Oval 12">
              <a:extLst>
                <a:ext uri="{FF2B5EF4-FFF2-40B4-BE49-F238E27FC236}">
                  <a16:creationId xmlns:a16="http://schemas.microsoft.com/office/drawing/2014/main" id="{55E411DD-770A-4478-AB10-ACFDDF6BD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211" y="525448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1" name="Line 13">
              <a:extLst>
                <a:ext uri="{FF2B5EF4-FFF2-40B4-BE49-F238E27FC236}">
                  <a16:creationId xmlns:a16="http://schemas.microsoft.com/office/drawing/2014/main" id="{4ECEA0C4-7EC5-4159-8B24-B52ACA4A9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8011" y="4416288"/>
              <a:ext cx="76200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2" name="Line 14">
              <a:extLst>
                <a:ext uri="{FF2B5EF4-FFF2-40B4-BE49-F238E27FC236}">
                  <a16:creationId xmlns:a16="http://schemas.microsoft.com/office/drawing/2014/main" id="{27A203CB-3A19-4F58-BA08-7E9B6A3D67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1437" y="4416288"/>
              <a:ext cx="924774" cy="9714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3" name="Text Box 15">
              <a:extLst>
                <a:ext uri="{FF2B5EF4-FFF2-40B4-BE49-F238E27FC236}">
                  <a16:creationId xmlns:a16="http://schemas.microsoft.com/office/drawing/2014/main" id="{E8F0B751-67D2-47A1-824F-76506FFFC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3219" y="5387701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a</a:t>
              </a:r>
              <a:endParaRPr lang="en-US" altLang="en-US" sz="2800"/>
            </a:p>
          </p:txBody>
        </p:sp>
        <p:sp>
          <p:nvSpPr>
            <p:cNvPr id="45" name="Line 19">
              <a:extLst>
                <a:ext uri="{FF2B5EF4-FFF2-40B4-BE49-F238E27FC236}">
                  <a16:creationId xmlns:a16="http://schemas.microsoft.com/office/drawing/2014/main" id="{7198049A-3A80-4132-8F81-9EABCB7E0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055" y="4340088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6" name="Line 20">
              <a:extLst>
                <a:ext uri="{FF2B5EF4-FFF2-40B4-BE49-F238E27FC236}">
                  <a16:creationId xmlns:a16="http://schemas.microsoft.com/office/drawing/2014/main" id="{37B265B9-5871-45B7-B96D-8D569D696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6455" y="4340088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7" name="Oval 21">
              <a:extLst>
                <a:ext uri="{FF2B5EF4-FFF2-40B4-BE49-F238E27FC236}">
                  <a16:creationId xmlns:a16="http://schemas.microsoft.com/office/drawing/2014/main" id="{A2667D9E-636E-4F94-B96E-F5ABB715D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455" y="3882888"/>
              <a:ext cx="45720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8" name="Line 22">
              <a:extLst>
                <a:ext uri="{FF2B5EF4-FFF2-40B4-BE49-F238E27FC236}">
                  <a16:creationId xmlns:a16="http://schemas.microsoft.com/office/drawing/2014/main" id="{127427D0-F3E1-4028-BA41-0C927970E0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313319" y="4908276"/>
              <a:ext cx="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9" name="Oval 23">
              <a:extLst>
                <a:ext uri="{FF2B5EF4-FFF2-40B4-BE49-F238E27FC236}">
                  <a16:creationId xmlns:a16="http://schemas.microsoft.com/office/drawing/2014/main" id="{0F43671D-888A-4376-B385-1DD588116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011" y="525448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0" name="Line 24">
              <a:extLst>
                <a:ext uri="{FF2B5EF4-FFF2-40B4-BE49-F238E27FC236}">
                  <a16:creationId xmlns:a16="http://schemas.microsoft.com/office/drawing/2014/main" id="{E1EC18AE-F26A-42A2-96F7-DAE24C2DC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7411" y="4416288"/>
              <a:ext cx="91440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51" name="Text Box 25">
              <a:extLst>
                <a:ext uri="{FF2B5EF4-FFF2-40B4-BE49-F238E27FC236}">
                  <a16:creationId xmlns:a16="http://schemas.microsoft.com/office/drawing/2014/main" id="{A885319B-0E72-439F-A66A-2EDB600279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255" y="4187688"/>
              <a:ext cx="4764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b</a:t>
              </a:r>
              <a:endParaRPr lang="en-US" altLang="en-US" sz="2800" dirty="0"/>
            </a:p>
          </p:txBody>
        </p:sp>
        <p:sp>
          <p:nvSpPr>
            <p:cNvPr id="52" name="Text Box 26">
              <a:extLst>
                <a:ext uri="{FF2B5EF4-FFF2-40B4-BE49-F238E27FC236}">
                  <a16:creationId xmlns:a16="http://schemas.microsoft.com/office/drawing/2014/main" id="{7E782863-4F9F-45B9-B00B-CF036AD4A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0019" y="5387701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g</a:t>
              </a:r>
              <a:endParaRPr lang="en-US" altLang="en-US" sz="2800"/>
            </a:p>
          </p:txBody>
        </p:sp>
        <p:sp>
          <p:nvSpPr>
            <p:cNvPr id="53" name="Text Box 27">
              <a:extLst>
                <a:ext uri="{FF2B5EF4-FFF2-40B4-BE49-F238E27FC236}">
                  <a16:creationId xmlns:a16="http://schemas.microsoft.com/office/drawing/2014/main" id="{274B00E5-98D1-4208-AA0D-4A0F6EF61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0132" y="5387701"/>
              <a:ext cx="3946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f</a:t>
              </a:r>
              <a:endParaRPr lang="en-US" altLang="en-US" sz="2800"/>
            </a:p>
          </p:txBody>
        </p:sp>
        <p:sp>
          <p:nvSpPr>
            <p:cNvPr id="54" name="Text Box 28">
              <a:extLst>
                <a:ext uri="{FF2B5EF4-FFF2-40B4-BE49-F238E27FC236}">
                  <a16:creationId xmlns:a16="http://schemas.microsoft.com/office/drawing/2014/main" id="{0B626343-A2E9-4657-AA34-F3EA48F40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2132" y="5387701"/>
              <a:ext cx="47320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e</a:t>
              </a:r>
              <a:endParaRPr lang="en-US" altLang="en-US" sz="2800"/>
            </a:p>
          </p:txBody>
        </p:sp>
        <p:sp>
          <p:nvSpPr>
            <p:cNvPr id="55" name="Text Box 29">
              <a:extLst>
                <a:ext uri="{FF2B5EF4-FFF2-40B4-BE49-F238E27FC236}">
                  <a16:creationId xmlns:a16="http://schemas.microsoft.com/office/drawing/2014/main" id="{BEA05FB3-9F64-4659-88B5-04FC27ADD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305" y="3790813"/>
              <a:ext cx="4603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c</a:t>
              </a:r>
              <a:endParaRPr lang="en-US" altLang="en-US" sz="2800" dirty="0"/>
            </a:p>
          </p:txBody>
        </p:sp>
        <p:sp>
          <p:nvSpPr>
            <p:cNvPr id="56" name="Text Box 30">
              <a:extLst>
                <a:ext uri="{FF2B5EF4-FFF2-40B4-BE49-F238E27FC236}">
                  <a16:creationId xmlns:a16="http://schemas.microsoft.com/office/drawing/2014/main" id="{75841CFA-8E38-4EE7-83B6-F75C5A44E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968" y="3790813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d</a:t>
              </a:r>
              <a:endParaRPr lang="en-US" altLang="en-US" sz="2800"/>
            </a:p>
          </p:txBody>
        </p:sp>
      </p:grpSp>
      <p:sp>
        <p:nvSpPr>
          <p:cNvPr id="57" name="Text Box 31">
            <a:extLst>
              <a:ext uri="{FF2B5EF4-FFF2-40B4-BE49-F238E27FC236}">
                <a16:creationId xmlns:a16="http://schemas.microsoft.com/office/drawing/2014/main" id="{6C18071C-8875-44C8-A0DD-AD745320B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424" y="3959089"/>
            <a:ext cx="18710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d </a:t>
            </a:r>
            <a:r>
              <a:rPr lang="en-US" altLang="en-US" sz="2800" dirty="0">
                <a:solidFill>
                  <a:srgbClr val="CC0000"/>
                </a:solidFill>
              </a:rPr>
              <a:t>) = 1</a:t>
            </a:r>
            <a:endParaRPr lang="en-US" altLang="en-US" sz="2800" dirty="0"/>
          </a:p>
        </p:txBody>
      </p:sp>
      <p:sp>
        <p:nvSpPr>
          <p:cNvPr id="58" name="Text Box 32">
            <a:extLst>
              <a:ext uri="{FF2B5EF4-FFF2-40B4-BE49-F238E27FC236}">
                <a16:creationId xmlns:a16="http://schemas.microsoft.com/office/drawing/2014/main" id="{8FF3F240-5F48-4632-A2F0-F6D3E8994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425" y="5102089"/>
            <a:ext cx="19495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e </a:t>
            </a:r>
            <a:r>
              <a:rPr lang="en-US" altLang="en-US" sz="2800" dirty="0">
                <a:solidFill>
                  <a:srgbClr val="CC0000"/>
                </a:solidFill>
              </a:rPr>
              <a:t>) = 0</a:t>
            </a:r>
            <a:endParaRPr lang="en-US" altLang="en-US" sz="2800" dirty="0"/>
          </a:p>
        </p:txBody>
      </p:sp>
      <p:sp>
        <p:nvSpPr>
          <p:cNvPr id="59" name="Text Box 16">
            <a:extLst>
              <a:ext uri="{FF2B5EF4-FFF2-40B4-BE49-F238E27FC236}">
                <a16:creationId xmlns:a16="http://schemas.microsoft.com/office/drawing/2014/main" id="{51659D8C-01A6-419F-99A7-1106850B5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349" y="5055706"/>
            <a:ext cx="19351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a </a:t>
            </a:r>
            <a:r>
              <a:rPr lang="en-US" altLang="en-US" sz="2800" dirty="0">
                <a:solidFill>
                  <a:srgbClr val="CC0000"/>
                </a:solidFill>
              </a:rPr>
              <a:t>) = 2</a:t>
            </a:r>
            <a:endParaRPr lang="en-US" altLang="en-US" sz="2800" dirty="0"/>
          </a:p>
        </p:txBody>
      </p:sp>
      <p:sp>
        <p:nvSpPr>
          <p:cNvPr id="60" name="Text Box 31">
            <a:extLst>
              <a:ext uri="{FF2B5EF4-FFF2-40B4-BE49-F238E27FC236}">
                <a16:creationId xmlns:a16="http://schemas.microsoft.com/office/drawing/2014/main" id="{C59D11B0-3A28-4D1D-B471-46A1FAC9A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829" y="3382979"/>
            <a:ext cx="19415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c </a:t>
            </a:r>
            <a:r>
              <a:rPr lang="en-US" altLang="en-US" sz="2800" dirty="0">
                <a:solidFill>
                  <a:srgbClr val="CC0000"/>
                </a:solidFill>
              </a:rPr>
              <a:t>) = 4</a:t>
            </a:r>
            <a:endParaRPr lang="en-US" altLang="en-US" sz="2800" dirty="0"/>
          </a:p>
        </p:txBody>
      </p:sp>
      <p:sp>
        <p:nvSpPr>
          <p:cNvPr id="61" name="Text Box 32">
            <a:extLst>
              <a:ext uri="{FF2B5EF4-FFF2-40B4-BE49-F238E27FC236}">
                <a16:creationId xmlns:a16="http://schemas.microsoft.com/office/drawing/2014/main" id="{0FFCD56D-4249-4D74-BAF3-666128B90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629" y="5999926"/>
            <a:ext cx="18614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f </a:t>
            </a:r>
            <a:r>
              <a:rPr lang="en-US" altLang="en-US" sz="2800" dirty="0">
                <a:solidFill>
                  <a:srgbClr val="CC0000"/>
                </a:solidFill>
              </a:rPr>
              <a:t>) = 3</a:t>
            </a:r>
            <a:endParaRPr lang="en-US" altLang="en-US" sz="2800" dirty="0"/>
          </a:p>
        </p:txBody>
      </p:sp>
      <p:sp>
        <p:nvSpPr>
          <p:cNvPr id="62" name="Text Box 32">
            <a:extLst>
              <a:ext uri="{FF2B5EF4-FFF2-40B4-BE49-F238E27FC236}">
                <a16:creationId xmlns:a16="http://schemas.microsoft.com/office/drawing/2014/main" id="{A2194374-5565-4D4D-900E-2F5FD0F59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13" y="6062875"/>
            <a:ext cx="19559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C0000"/>
                </a:solidFill>
              </a:rPr>
              <a:t>deg( </a:t>
            </a:r>
            <a:r>
              <a:rPr lang="en-US" altLang="en-US" sz="2800" i="1" dirty="0">
                <a:solidFill>
                  <a:srgbClr val="CC0000"/>
                </a:solidFill>
              </a:rPr>
              <a:t>g </a:t>
            </a:r>
            <a:r>
              <a:rPr lang="en-US" altLang="en-US" sz="2800" dirty="0">
                <a:solidFill>
                  <a:srgbClr val="CC0000"/>
                </a:solidFill>
              </a:rPr>
              <a:t>) = 4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21670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D3CC-52D1-490D-AFA2-508FDD98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Handshaking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6F63-9E20-4FD0-A4A1-C84B5E6B3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800" dirty="0"/>
              <a:t>Let G = (V, E) be an undirected graph G with e edges.  Then</a:t>
            </a:r>
          </a:p>
          <a:p>
            <a:pPr>
              <a:buFont typeface="Monotype Sorts" pitchFamily="2" charset="2"/>
              <a:buNone/>
            </a:pPr>
            <a:endParaRPr lang="en-US" altLang="en-US" sz="1200" dirty="0"/>
          </a:p>
          <a:p>
            <a:pPr>
              <a:buFont typeface="Monotype Sorts" pitchFamily="2" charset="2"/>
              <a:buNone/>
            </a:pPr>
            <a:r>
              <a:rPr lang="en-US" altLang="en-US" sz="2800" dirty="0">
                <a:solidFill>
                  <a:srgbClr val="990033"/>
                </a:solidFill>
                <a:sym typeface="Symbol" panose="05050102010706020507" pitchFamily="18" charset="2"/>
              </a:rPr>
              <a:t>		</a:t>
            </a:r>
            <a:r>
              <a:rPr lang="en-US" altLang="en-US" sz="3000" dirty="0">
                <a:solidFill>
                  <a:srgbClr val="7030A0"/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sz="3000" dirty="0">
                <a:solidFill>
                  <a:srgbClr val="FF0000"/>
                </a:solidFill>
                <a:sym typeface="Symbol" panose="05050102010706020507" pitchFamily="18" charset="2"/>
              </a:rPr>
              <a:t></a:t>
            </a:r>
            <a:r>
              <a:rPr lang="en-US" altLang="en-US" sz="3000" dirty="0">
                <a:solidFill>
                  <a:srgbClr val="FF0000"/>
                </a:solidFill>
              </a:rPr>
              <a:t>  deg( v )  =  2 e</a:t>
            </a:r>
          </a:p>
          <a:p>
            <a:pPr>
              <a:buFont typeface="Monotype Sorts" pitchFamily="2" charset="2"/>
              <a:buNone/>
            </a:pPr>
            <a:r>
              <a:rPr lang="en-US" altLang="en-US" sz="2200" dirty="0">
                <a:solidFill>
                  <a:srgbClr val="FF0000"/>
                </a:solidFill>
                <a:sym typeface="Symbol" panose="05050102010706020507" pitchFamily="18" charset="2"/>
              </a:rPr>
              <a:t>                           v</a:t>
            </a:r>
            <a:r>
              <a:rPr lang="en-US" altLang="en-US" sz="3000" dirty="0">
                <a:solidFill>
                  <a:srgbClr val="FF0000"/>
                </a:solidFill>
                <a:sym typeface="Symbol" panose="05050102010706020507" pitchFamily="18" charset="2"/>
              </a:rPr>
              <a:t> </a:t>
            </a:r>
            <a:r>
              <a:rPr lang="en-US" altLang="en-US" sz="3000" dirty="0">
                <a:solidFill>
                  <a:srgbClr val="FF0000"/>
                </a:solidFill>
              </a:rPr>
              <a:t> </a:t>
            </a:r>
            <a:r>
              <a:rPr lang="en-US" altLang="en-US" sz="2200" dirty="0">
                <a:solidFill>
                  <a:srgbClr val="FF0000"/>
                </a:solidFill>
              </a:rPr>
              <a:t>V</a:t>
            </a:r>
          </a:p>
          <a:p>
            <a:pPr>
              <a:buFont typeface="Monotype Sorts" pitchFamily="2" charset="2"/>
              <a:buNone/>
            </a:pPr>
            <a:endParaRPr lang="en-US" altLang="en-US" sz="1200" dirty="0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600" dirty="0">
                <a:solidFill>
                  <a:srgbClr val="FF0000"/>
                </a:solidFill>
              </a:rPr>
              <a:t>“The sum of the degrees over all the vertices equals twice the number of edges.”</a:t>
            </a:r>
          </a:p>
          <a:p>
            <a:pPr>
              <a:buFont typeface="Monotype Sorts" pitchFamily="2" charset="2"/>
              <a:buNone/>
            </a:pPr>
            <a:endParaRPr lang="en-US" altLang="en-US" sz="1000" dirty="0"/>
          </a:p>
          <a:p>
            <a:pPr>
              <a:buFont typeface="Monotype Sorts" pitchFamily="2" charset="2"/>
              <a:buNone/>
            </a:pPr>
            <a:endParaRPr lang="en-US" altLang="en-US" sz="1000" dirty="0"/>
          </a:p>
          <a:p>
            <a:pPr>
              <a:buFont typeface="Monotype Sorts" pitchFamily="2" charset="2"/>
              <a:buNone/>
            </a:pPr>
            <a:r>
              <a:rPr lang="en-US" altLang="en-US" sz="2000" dirty="0"/>
              <a:t>NOTE:  This applies even if multiple edges and loops are present.</a:t>
            </a:r>
            <a:r>
              <a:rPr lang="en-US" altLang="en-US" sz="2800" dirty="0"/>
              <a:t> </a:t>
            </a:r>
            <a:endParaRPr lang="en-US" altLang="en-US" sz="2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34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Handshaking Theorem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630A2-F632-4850-9976-E60E7A5A2A36}"/>
              </a:ext>
            </a:extLst>
          </p:cNvPr>
          <p:cNvSpPr txBox="1"/>
          <p:nvPr/>
        </p:nvSpPr>
        <p:spPr>
          <a:xfrm>
            <a:off x="409862" y="3111255"/>
            <a:ext cx="5282281" cy="278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Vertices = 6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Edges = 6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The degree of each vertex is the number of edges incident to it.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deg(a) = 2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B673C5-BCB4-4380-A629-422B26A0C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73" y="1174835"/>
            <a:ext cx="8564538" cy="193642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/>
              <a:t>Find the number of vertices, the number of edges, and the degree of each vertex in the given undirected graph. Identify all isolated and pendant vertices.</a:t>
            </a:r>
            <a:endParaRPr lang="en-IN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48E8D52-BA0A-4A02-AC35-E2898669049B}"/>
              </a:ext>
            </a:extLst>
          </p:cNvPr>
          <p:cNvGrpSpPr/>
          <p:nvPr/>
        </p:nvGrpSpPr>
        <p:grpSpPr>
          <a:xfrm>
            <a:off x="6092998" y="3353815"/>
            <a:ext cx="2299710" cy="2132153"/>
            <a:chOff x="5268050" y="3721436"/>
            <a:chExt cx="2299710" cy="213215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8772FDB-1733-4BF0-A42A-0BFA6306F2C4}"/>
                </a:ext>
              </a:extLst>
            </p:cNvPr>
            <p:cNvGrpSpPr/>
            <p:nvPr/>
          </p:nvGrpSpPr>
          <p:grpSpPr>
            <a:xfrm>
              <a:off x="5309429" y="3733481"/>
              <a:ext cx="2258331" cy="2120108"/>
              <a:chOff x="3580019" y="3790813"/>
              <a:chExt cx="2258331" cy="2120108"/>
            </a:xfrm>
          </p:grpSpPr>
          <p:grpSp>
            <p:nvGrpSpPr>
              <p:cNvPr id="10" name="Group 2">
                <a:extLst>
                  <a:ext uri="{FF2B5EF4-FFF2-40B4-BE49-F238E27FC236}">
                    <a16:creationId xmlns:a16="http://schemas.microsoft.com/office/drawing/2014/main" id="{7D6B4BB4-EB58-465D-8675-B9DDCF7FE1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55611" y="4263888"/>
                <a:ext cx="228600" cy="1219200"/>
                <a:chOff x="576" y="1248"/>
                <a:chExt cx="144" cy="768"/>
              </a:xfrm>
            </p:grpSpPr>
            <p:sp>
              <p:nvSpPr>
                <p:cNvPr id="33" name="Oval 3">
                  <a:extLst>
                    <a:ext uri="{FF2B5EF4-FFF2-40B4-BE49-F238E27FC236}">
                      <a16:creationId xmlns:a16="http://schemas.microsoft.com/office/drawing/2014/main" id="{A8DDBC42-E83E-4053-88EA-42BD148C7A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248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  <p:sp>
              <p:nvSpPr>
                <p:cNvPr id="34" name="Line 4">
                  <a:extLst>
                    <a:ext uri="{FF2B5EF4-FFF2-40B4-BE49-F238E27FC236}">
                      <a16:creationId xmlns:a16="http://schemas.microsoft.com/office/drawing/2014/main" id="{D7404965-83D4-446E-A9C8-84376B4157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1392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2800"/>
                </a:p>
              </p:txBody>
            </p:sp>
            <p:sp>
              <p:nvSpPr>
                <p:cNvPr id="35" name="Oval 5">
                  <a:extLst>
                    <a:ext uri="{FF2B5EF4-FFF2-40B4-BE49-F238E27FC236}">
                      <a16:creationId xmlns:a16="http://schemas.microsoft.com/office/drawing/2014/main" id="{15885AE9-44EE-4A12-81F4-4BC679569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</p:grpSp>
          <p:grpSp>
            <p:nvGrpSpPr>
              <p:cNvPr id="11" name="Group 6">
                <a:extLst>
                  <a:ext uri="{FF2B5EF4-FFF2-40B4-BE49-F238E27FC236}">
                    <a16:creationId xmlns:a16="http://schemas.microsoft.com/office/drawing/2014/main" id="{2151D429-0219-49D9-8497-53117A3657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0011" y="4263888"/>
                <a:ext cx="228600" cy="1219200"/>
                <a:chOff x="576" y="1248"/>
                <a:chExt cx="144" cy="768"/>
              </a:xfrm>
            </p:grpSpPr>
            <p:sp>
              <p:nvSpPr>
                <p:cNvPr id="30" name="Oval 7">
                  <a:extLst>
                    <a:ext uri="{FF2B5EF4-FFF2-40B4-BE49-F238E27FC236}">
                      <a16:creationId xmlns:a16="http://schemas.microsoft.com/office/drawing/2014/main" id="{C4406E8F-28D4-4884-9D9A-6AE1FC0A28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248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  <p:sp>
              <p:nvSpPr>
                <p:cNvPr id="31" name="Line 8">
                  <a:extLst>
                    <a:ext uri="{FF2B5EF4-FFF2-40B4-BE49-F238E27FC236}">
                      <a16:creationId xmlns:a16="http://schemas.microsoft.com/office/drawing/2014/main" id="{E2F1B754-5954-48C1-B8B5-247FB31615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1392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2800"/>
                </a:p>
              </p:txBody>
            </p:sp>
            <p:sp>
              <p:nvSpPr>
                <p:cNvPr id="32" name="Oval 9">
                  <a:extLst>
                    <a:ext uri="{FF2B5EF4-FFF2-40B4-BE49-F238E27FC236}">
                      <a16:creationId xmlns:a16="http://schemas.microsoft.com/office/drawing/2014/main" id="{8BC290EC-9C1E-4F9B-9E5B-F52BF579F7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</p:grpSp>
          <p:sp>
            <p:nvSpPr>
              <p:cNvPr id="12" name="Oval 10">
                <a:extLst>
                  <a:ext uri="{FF2B5EF4-FFF2-40B4-BE49-F238E27FC236}">
                    <a16:creationId xmlns:a16="http://schemas.microsoft.com/office/drawing/2014/main" id="{A35E9BB7-5591-4773-BDF8-C60BCC47B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8455" y="4263888"/>
                <a:ext cx="228600" cy="2286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13" name="Line 11">
                <a:extLst>
                  <a:ext uri="{FF2B5EF4-FFF2-40B4-BE49-F238E27FC236}">
                    <a16:creationId xmlns:a16="http://schemas.microsoft.com/office/drawing/2014/main" id="{9FB61C9B-AF3E-441D-951E-B01AFB47A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4227719" y="4908276"/>
                <a:ext cx="0" cy="838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4" name="Oval 12">
                <a:extLst>
                  <a:ext uri="{FF2B5EF4-FFF2-40B4-BE49-F238E27FC236}">
                    <a16:creationId xmlns:a16="http://schemas.microsoft.com/office/drawing/2014/main" id="{AEB05149-B682-47B6-A875-F18275DCA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8211" y="5254488"/>
                <a:ext cx="228600" cy="2286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16" name="Line 14">
                <a:extLst>
                  <a:ext uri="{FF2B5EF4-FFF2-40B4-BE49-F238E27FC236}">
                    <a16:creationId xmlns:a16="http://schemas.microsoft.com/office/drawing/2014/main" id="{98F8D881-9695-4532-A4FC-B088B61B6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21437" y="4416288"/>
                <a:ext cx="924774" cy="9714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8" name="Line 19">
                <a:extLst>
                  <a:ext uri="{FF2B5EF4-FFF2-40B4-BE49-F238E27FC236}">
                    <a16:creationId xmlns:a16="http://schemas.microsoft.com/office/drawing/2014/main" id="{C7CFCC19-D356-4AE1-9F8F-F50E285F5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055" y="4340088"/>
                <a:ext cx="914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9" name="Line 20">
                <a:extLst>
                  <a:ext uri="{FF2B5EF4-FFF2-40B4-BE49-F238E27FC236}">
                    <a16:creationId xmlns:a16="http://schemas.microsoft.com/office/drawing/2014/main" id="{B763AB59-0AA1-4B9B-8D6A-A4C246110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6455" y="4340088"/>
                <a:ext cx="838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25" name="Text Box 26">
                <a:extLst>
                  <a:ext uri="{FF2B5EF4-FFF2-40B4-BE49-F238E27FC236}">
                    <a16:creationId xmlns:a16="http://schemas.microsoft.com/office/drawing/2014/main" id="{FE3ACD08-B938-4C40-85AD-E444DCE1E1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0019" y="5387701"/>
                <a:ext cx="39466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f</a:t>
                </a:r>
                <a:endParaRPr lang="en-US" altLang="en-US" sz="2800" dirty="0"/>
              </a:p>
            </p:txBody>
          </p:sp>
          <p:sp>
            <p:nvSpPr>
              <p:cNvPr id="26" name="Text Box 27">
                <a:extLst>
                  <a:ext uri="{FF2B5EF4-FFF2-40B4-BE49-F238E27FC236}">
                    <a16:creationId xmlns:a16="http://schemas.microsoft.com/office/drawing/2014/main" id="{5A59B8F1-B258-4A34-AB32-1B9A4D4D05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0132" y="5387701"/>
                <a:ext cx="47320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e</a:t>
                </a:r>
                <a:endParaRPr lang="en-US" altLang="en-US" sz="2800" dirty="0"/>
              </a:p>
            </p:txBody>
          </p:sp>
          <p:sp>
            <p:nvSpPr>
              <p:cNvPr id="27" name="Text Box 28">
                <a:extLst>
                  <a:ext uri="{FF2B5EF4-FFF2-40B4-BE49-F238E27FC236}">
                    <a16:creationId xmlns:a16="http://schemas.microsoft.com/office/drawing/2014/main" id="{82C8AF06-858B-4D3C-88B0-27BFB6C019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2132" y="5387701"/>
                <a:ext cx="47481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d</a:t>
                </a:r>
                <a:endParaRPr lang="en-US" altLang="en-US" sz="2800" dirty="0"/>
              </a:p>
            </p:txBody>
          </p:sp>
          <p:sp>
            <p:nvSpPr>
              <p:cNvPr id="28" name="Text Box 29">
                <a:extLst>
                  <a:ext uri="{FF2B5EF4-FFF2-40B4-BE49-F238E27FC236}">
                    <a16:creationId xmlns:a16="http://schemas.microsoft.com/office/drawing/2014/main" id="{D6BF2F0E-43C7-47E8-9666-BAFA154798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22305" y="3790813"/>
                <a:ext cx="47641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b</a:t>
                </a:r>
                <a:endParaRPr lang="en-US" altLang="en-US" sz="2800" dirty="0"/>
              </a:p>
            </p:txBody>
          </p:sp>
          <p:sp>
            <p:nvSpPr>
              <p:cNvPr id="29" name="Text Box 30">
                <a:extLst>
                  <a:ext uri="{FF2B5EF4-FFF2-40B4-BE49-F238E27FC236}">
                    <a16:creationId xmlns:a16="http://schemas.microsoft.com/office/drawing/2014/main" id="{44647EEB-4388-4AE8-93A4-1E7FB14B1D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77968" y="3790813"/>
                <a:ext cx="4603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c</a:t>
                </a:r>
                <a:endParaRPr lang="en-US" altLang="en-US" sz="2800" dirty="0"/>
              </a:p>
            </p:txBody>
          </p:sp>
        </p:grpSp>
        <p:sp>
          <p:nvSpPr>
            <p:cNvPr id="36" name="Text Box 29">
              <a:extLst>
                <a:ext uri="{FF2B5EF4-FFF2-40B4-BE49-F238E27FC236}">
                  <a16:creationId xmlns:a16="http://schemas.microsoft.com/office/drawing/2014/main" id="{92DE3A34-71FB-4BC1-AB04-9436B3ECE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8050" y="3721436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a</a:t>
              </a:r>
              <a:endParaRPr lang="en-US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9033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Handshaking Theorem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630A2-F632-4850-9976-E60E7A5A2A36}"/>
              </a:ext>
            </a:extLst>
          </p:cNvPr>
          <p:cNvSpPr txBox="1"/>
          <p:nvPr/>
        </p:nvSpPr>
        <p:spPr>
          <a:xfrm>
            <a:off x="425738" y="3177075"/>
            <a:ext cx="5178128" cy="223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deg(b) = 4,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deg(c) = 1 (and hence c is pendant),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deg(d) = 0 (and hence d is isolated),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deg(e) = 2,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E9D280-57F0-48DA-A76C-95373BED3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64538" cy="16342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Find the number of vertices, the number of edges, and the degree of each vertex in the given undirected graph. Identify all isolated and pendant vertices.</a:t>
            </a:r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136D897-494A-4531-8525-FF523B6EC21A}"/>
              </a:ext>
            </a:extLst>
          </p:cNvPr>
          <p:cNvGrpSpPr/>
          <p:nvPr/>
        </p:nvGrpSpPr>
        <p:grpSpPr>
          <a:xfrm>
            <a:off x="5715919" y="3656175"/>
            <a:ext cx="2299710" cy="2132153"/>
            <a:chOff x="5268050" y="3721436"/>
            <a:chExt cx="2299710" cy="213215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38CBD5C-BA4F-4B64-A849-D66FFB1221A8}"/>
                </a:ext>
              </a:extLst>
            </p:cNvPr>
            <p:cNvGrpSpPr/>
            <p:nvPr/>
          </p:nvGrpSpPr>
          <p:grpSpPr>
            <a:xfrm>
              <a:off x="5309429" y="3733481"/>
              <a:ext cx="2258331" cy="2120108"/>
              <a:chOff x="3580019" y="3790813"/>
              <a:chExt cx="2258331" cy="2120108"/>
            </a:xfrm>
          </p:grpSpPr>
          <p:grpSp>
            <p:nvGrpSpPr>
              <p:cNvPr id="12" name="Group 2">
                <a:extLst>
                  <a:ext uri="{FF2B5EF4-FFF2-40B4-BE49-F238E27FC236}">
                    <a16:creationId xmlns:a16="http://schemas.microsoft.com/office/drawing/2014/main" id="{742DE280-084E-432B-8000-0C9A6D04D7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55611" y="4263888"/>
                <a:ext cx="228600" cy="1219200"/>
                <a:chOff x="576" y="1248"/>
                <a:chExt cx="144" cy="768"/>
              </a:xfrm>
            </p:grpSpPr>
            <p:sp>
              <p:nvSpPr>
                <p:cNvPr id="28" name="Oval 3">
                  <a:extLst>
                    <a:ext uri="{FF2B5EF4-FFF2-40B4-BE49-F238E27FC236}">
                      <a16:creationId xmlns:a16="http://schemas.microsoft.com/office/drawing/2014/main" id="{1D84CF8E-0437-406F-816B-CD3DB20486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248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  <p:sp>
              <p:nvSpPr>
                <p:cNvPr id="29" name="Line 4">
                  <a:extLst>
                    <a:ext uri="{FF2B5EF4-FFF2-40B4-BE49-F238E27FC236}">
                      <a16:creationId xmlns:a16="http://schemas.microsoft.com/office/drawing/2014/main" id="{E2C40579-C4CD-42C0-9044-EE2DB2C6D9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1392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2800"/>
                </a:p>
              </p:txBody>
            </p:sp>
            <p:sp>
              <p:nvSpPr>
                <p:cNvPr id="30" name="Oval 5">
                  <a:extLst>
                    <a:ext uri="{FF2B5EF4-FFF2-40B4-BE49-F238E27FC236}">
                      <a16:creationId xmlns:a16="http://schemas.microsoft.com/office/drawing/2014/main" id="{07648E73-9CA8-4C15-8038-35582D57AF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</p:grpSp>
          <p:grpSp>
            <p:nvGrpSpPr>
              <p:cNvPr id="13" name="Group 6">
                <a:extLst>
                  <a:ext uri="{FF2B5EF4-FFF2-40B4-BE49-F238E27FC236}">
                    <a16:creationId xmlns:a16="http://schemas.microsoft.com/office/drawing/2014/main" id="{8A4E76DD-9FCA-4C12-BFB1-0BADC58848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0011" y="4263888"/>
                <a:ext cx="228600" cy="1219200"/>
                <a:chOff x="576" y="1248"/>
                <a:chExt cx="144" cy="768"/>
              </a:xfrm>
            </p:grpSpPr>
            <p:sp>
              <p:nvSpPr>
                <p:cNvPr id="25" name="Oval 7">
                  <a:extLst>
                    <a:ext uri="{FF2B5EF4-FFF2-40B4-BE49-F238E27FC236}">
                      <a16:creationId xmlns:a16="http://schemas.microsoft.com/office/drawing/2014/main" id="{D943F4A5-9F5F-4063-9BB7-A7D0DE2D0C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248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  <p:sp>
              <p:nvSpPr>
                <p:cNvPr id="26" name="Line 8">
                  <a:extLst>
                    <a:ext uri="{FF2B5EF4-FFF2-40B4-BE49-F238E27FC236}">
                      <a16:creationId xmlns:a16="http://schemas.microsoft.com/office/drawing/2014/main" id="{CD5F51D6-B38B-4D99-913F-FEC7E2E8AB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1392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2800"/>
                </a:p>
              </p:txBody>
            </p:sp>
            <p:sp>
              <p:nvSpPr>
                <p:cNvPr id="27" name="Oval 9">
                  <a:extLst>
                    <a:ext uri="{FF2B5EF4-FFF2-40B4-BE49-F238E27FC236}">
                      <a16:creationId xmlns:a16="http://schemas.microsoft.com/office/drawing/2014/main" id="{0D58EDE2-F80F-44A4-B2A1-ACC3B3FD85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</p:grpSp>
          <p:sp>
            <p:nvSpPr>
              <p:cNvPr id="14" name="Oval 10">
                <a:extLst>
                  <a:ext uri="{FF2B5EF4-FFF2-40B4-BE49-F238E27FC236}">
                    <a16:creationId xmlns:a16="http://schemas.microsoft.com/office/drawing/2014/main" id="{CD9408AD-1DBF-4956-B9F3-245D74E79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8455" y="4263888"/>
                <a:ext cx="228600" cy="2286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15" name="Line 11">
                <a:extLst>
                  <a:ext uri="{FF2B5EF4-FFF2-40B4-BE49-F238E27FC236}">
                    <a16:creationId xmlns:a16="http://schemas.microsoft.com/office/drawing/2014/main" id="{A4706CDD-DF41-458C-877D-28FA43A8A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4227719" y="4908276"/>
                <a:ext cx="0" cy="838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6" name="Oval 12">
                <a:extLst>
                  <a:ext uri="{FF2B5EF4-FFF2-40B4-BE49-F238E27FC236}">
                    <a16:creationId xmlns:a16="http://schemas.microsoft.com/office/drawing/2014/main" id="{E3E7197C-5772-4946-A9BD-75CA4C2EC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8211" y="5254488"/>
                <a:ext cx="228600" cy="2286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8F18A553-16DF-4019-8B98-F89CFCE65D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21437" y="4416288"/>
                <a:ext cx="924774" cy="9714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8" name="Line 19">
                <a:extLst>
                  <a:ext uri="{FF2B5EF4-FFF2-40B4-BE49-F238E27FC236}">
                    <a16:creationId xmlns:a16="http://schemas.microsoft.com/office/drawing/2014/main" id="{E759D0BF-FBF5-445B-8808-22FC53AC3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055" y="4340088"/>
                <a:ext cx="914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9" name="Line 20">
                <a:extLst>
                  <a:ext uri="{FF2B5EF4-FFF2-40B4-BE49-F238E27FC236}">
                    <a16:creationId xmlns:a16="http://schemas.microsoft.com/office/drawing/2014/main" id="{A61C17D3-3484-4457-B076-7E2EE19F7D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6455" y="4340088"/>
                <a:ext cx="838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20" name="Text Box 26">
                <a:extLst>
                  <a:ext uri="{FF2B5EF4-FFF2-40B4-BE49-F238E27FC236}">
                    <a16:creationId xmlns:a16="http://schemas.microsoft.com/office/drawing/2014/main" id="{CE0EB538-4C28-4DB7-9AAE-062E241E5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0019" y="5387701"/>
                <a:ext cx="39466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f</a:t>
                </a:r>
                <a:endParaRPr lang="en-US" altLang="en-US" sz="2800" dirty="0"/>
              </a:p>
            </p:txBody>
          </p:sp>
          <p:sp>
            <p:nvSpPr>
              <p:cNvPr id="21" name="Text Box 27">
                <a:extLst>
                  <a:ext uri="{FF2B5EF4-FFF2-40B4-BE49-F238E27FC236}">
                    <a16:creationId xmlns:a16="http://schemas.microsoft.com/office/drawing/2014/main" id="{697EC10C-B923-4361-809D-49CFFA12C9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0132" y="5387701"/>
                <a:ext cx="47320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e</a:t>
                </a:r>
                <a:endParaRPr lang="en-US" altLang="en-US" sz="2800" dirty="0"/>
              </a:p>
            </p:txBody>
          </p:sp>
          <p:sp>
            <p:nvSpPr>
              <p:cNvPr id="22" name="Text Box 28">
                <a:extLst>
                  <a:ext uri="{FF2B5EF4-FFF2-40B4-BE49-F238E27FC236}">
                    <a16:creationId xmlns:a16="http://schemas.microsoft.com/office/drawing/2014/main" id="{1460E816-223A-451E-B467-8F6B0156C8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2132" y="5387701"/>
                <a:ext cx="47481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d</a:t>
                </a:r>
                <a:endParaRPr lang="en-US" altLang="en-US" sz="2800" dirty="0"/>
              </a:p>
            </p:txBody>
          </p:sp>
          <p:sp>
            <p:nvSpPr>
              <p:cNvPr id="23" name="Text Box 29">
                <a:extLst>
                  <a:ext uri="{FF2B5EF4-FFF2-40B4-BE49-F238E27FC236}">
                    <a16:creationId xmlns:a16="http://schemas.microsoft.com/office/drawing/2014/main" id="{321BA1BE-1DEE-48CB-AA6D-42BB956FED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22305" y="3790813"/>
                <a:ext cx="47641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b</a:t>
                </a:r>
                <a:endParaRPr lang="en-US" altLang="en-US" sz="2800" dirty="0"/>
              </a:p>
            </p:txBody>
          </p:sp>
          <p:sp>
            <p:nvSpPr>
              <p:cNvPr id="24" name="Text Box 30">
                <a:extLst>
                  <a:ext uri="{FF2B5EF4-FFF2-40B4-BE49-F238E27FC236}">
                    <a16:creationId xmlns:a16="http://schemas.microsoft.com/office/drawing/2014/main" id="{F5C69248-F95F-46C3-848B-F845C52830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77968" y="3790813"/>
                <a:ext cx="4603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c</a:t>
                </a:r>
                <a:endParaRPr lang="en-US" altLang="en-US" sz="2800" dirty="0"/>
              </a:p>
            </p:txBody>
          </p:sp>
        </p:grpSp>
        <p:sp>
          <p:nvSpPr>
            <p:cNvPr id="11" name="Text Box 29">
              <a:extLst>
                <a:ext uri="{FF2B5EF4-FFF2-40B4-BE49-F238E27FC236}">
                  <a16:creationId xmlns:a16="http://schemas.microsoft.com/office/drawing/2014/main" id="{0DECD244-4F21-4F6D-9A13-6CE78C12A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8050" y="3721436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a</a:t>
              </a:r>
              <a:endParaRPr lang="en-US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74224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Handshaking Theorem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630A2-F632-4850-9976-E60E7A5A2A36}"/>
              </a:ext>
            </a:extLst>
          </p:cNvPr>
          <p:cNvSpPr txBox="1"/>
          <p:nvPr/>
        </p:nvSpPr>
        <p:spPr>
          <a:xfrm>
            <a:off x="388360" y="3257507"/>
            <a:ext cx="5084355" cy="278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deg(f)= 3.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Note that the sum of the degrees is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2 + 4 + 1+0 + 2 + 3 = 12,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which is twice the number of edges.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E9D280-57F0-48DA-A76C-95373BED3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26836"/>
            <a:ext cx="8564538" cy="1986446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/>
              <a:t>Find the number of vertices, the number of edges, and the degree of each vertex in the given undirected graph. Identify all isolated and pendant vertices.</a:t>
            </a:r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D1C8DA3-0876-4568-8C77-CAAF61AD9881}"/>
              </a:ext>
            </a:extLst>
          </p:cNvPr>
          <p:cNvGrpSpPr/>
          <p:nvPr/>
        </p:nvGrpSpPr>
        <p:grpSpPr>
          <a:xfrm>
            <a:off x="6117136" y="3556406"/>
            <a:ext cx="2299710" cy="2132153"/>
            <a:chOff x="5268050" y="3721436"/>
            <a:chExt cx="2299710" cy="213215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1CDF5D1-9F73-48B9-8F51-1046A9F594A9}"/>
                </a:ext>
              </a:extLst>
            </p:cNvPr>
            <p:cNvGrpSpPr/>
            <p:nvPr/>
          </p:nvGrpSpPr>
          <p:grpSpPr>
            <a:xfrm>
              <a:off x="5309429" y="3733481"/>
              <a:ext cx="2258331" cy="2120108"/>
              <a:chOff x="3580019" y="3790813"/>
              <a:chExt cx="2258331" cy="2120108"/>
            </a:xfrm>
          </p:grpSpPr>
          <p:grpSp>
            <p:nvGrpSpPr>
              <p:cNvPr id="10" name="Group 2">
                <a:extLst>
                  <a:ext uri="{FF2B5EF4-FFF2-40B4-BE49-F238E27FC236}">
                    <a16:creationId xmlns:a16="http://schemas.microsoft.com/office/drawing/2014/main" id="{5EBCE6EA-0C8F-4D6D-974C-F580A4DDF9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55611" y="4263888"/>
                <a:ext cx="228600" cy="1219200"/>
                <a:chOff x="576" y="1248"/>
                <a:chExt cx="144" cy="768"/>
              </a:xfrm>
            </p:grpSpPr>
            <p:sp>
              <p:nvSpPr>
                <p:cNvPr id="26" name="Oval 3">
                  <a:extLst>
                    <a:ext uri="{FF2B5EF4-FFF2-40B4-BE49-F238E27FC236}">
                      <a16:creationId xmlns:a16="http://schemas.microsoft.com/office/drawing/2014/main" id="{8B7FA643-56FA-42CD-96E8-9F3414EACD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248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  <p:sp>
              <p:nvSpPr>
                <p:cNvPr id="27" name="Line 4">
                  <a:extLst>
                    <a:ext uri="{FF2B5EF4-FFF2-40B4-BE49-F238E27FC236}">
                      <a16:creationId xmlns:a16="http://schemas.microsoft.com/office/drawing/2014/main" id="{8E5018F1-ED45-4D69-8E29-2FCA19C60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1392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2800"/>
                </a:p>
              </p:txBody>
            </p:sp>
            <p:sp>
              <p:nvSpPr>
                <p:cNvPr id="28" name="Oval 5">
                  <a:extLst>
                    <a:ext uri="{FF2B5EF4-FFF2-40B4-BE49-F238E27FC236}">
                      <a16:creationId xmlns:a16="http://schemas.microsoft.com/office/drawing/2014/main" id="{672CACBF-E168-4DAD-992A-B970DFA87F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</p:grpSp>
          <p:grpSp>
            <p:nvGrpSpPr>
              <p:cNvPr id="11" name="Group 6">
                <a:extLst>
                  <a:ext uri="{FF2B5EF4-FFF2-40B4-BE49-F238E27FC236}">
                    <a16:creationId xmlns:a16="http://schemas.microsoft.com/office/drawing/2014/main" id="{E817A88B-AB8F-4FDA-B28A-067B1DB8C4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0011" y="4263888"/>
                <a:ext cx="228600" cy="1219200"/>
                <a:chOff x="576" y="1248"/>
                <a:chExt cx="144" cy="768"/>
              </a:xfrm>
            </p:grpSpPr>
            <p:sp>
              <p:nvSpPr>
                <p:cNvPr id="23" name="Oval 7">
                  <a:extLst>
                    <a:ext uri="{FF2B5EF4-FFF2-40B4-BE49-F238E27FC236}">
                      <a16:creationId xmlns:a16="http://schemas.microsoft.com/office/drawing/2014/main" id="{C0382BBA-0436-47E4-8E32-ABC744C122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248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  <p:sp>
              <p:nvSpPr>
                <p:cNvPr id="24" name="Line 8">
                  <a:extLst>
                    <a:ext uri="{FF2B5EF4-FFF2-40B4-BE49-F238E27FC236}">
                      <a16:creationId xmlns:a16="http://schemas.microsoft.com/office/drawing/2014/main" id="{565AFDCD-E69F-42E2-9F18-926117A819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1392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2800"/>
                </a:p>
              </p:txBody>
            </p:sp>
            <p:sp>
              <p:nvSpPr>
                <p:cNvPr id="25" name="Oval 9">
                  <a:extLst>
                    <a:ext uri="{FF2B5EF4-FFF2-40B4-BE49-F238E27FC236}">
                      <a16:creationId xmlns:a16="http://schemas.microsoft.com/office/drawing/2014/main" id="{691B2783-1F62-427C-B7E2-61FDF9175A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872"/>
                  <a:ext cx="144" cy="144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800"/>
                </a:p>
              </p:txBody>
            </p:sp>
          </p:grpSp>
          <p:sp>
            <p:nvSpPr>
              <p:cNvPr id="12" name="Oval 10">
                <a:extLst>
                  <a:ext uri="{FF2B5EF4-FFF2-40B4-BE49-F238E27FC236}">
                    <a16:creationId xmlns:a16="http://schemas.microsoft.com/office/drawing/2014/main" id="{051D56FD-8A36-4769-8EC2-C7ECBDF51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8455" y="4263888"/>
                <a:ext cx="228600" cy="2286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13" name="Line 11">
                <a:extLst>
                  <a:ext uri="{FF2B5EF4-FFF2-40B4-BE49-F238E27FC236}">
                    <a16:creationId xmlns:a16="http://schemas.microsoft.com/office/drawing/2014/main" id="{15388315-55C8-45A4-81E8-E257788B03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4227719" y="4908276"/>
                <a:ext cx="0" cy="838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4" name="Oval 12">
                <a:extLst>
                  <a:ext uri="{FF2B5EF4-FFF2-40B4-BE49-F238E27FC236}">
                    <a16:creationId xmlns:a16="http://schemas.microsoft.com/office/drawing/2014/main" id="{0D4E02C6-A956-4DD5-AF35-26021EEC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8211" y="5254488"/>
                <a:ext cx="228600" cy="2286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15" name="Line 14">
                <a:extLst>
                  <a:ext uri="{FF2B5EF4-FFF2-40B4-BE49-F238E27FC236}">
                    <a16:creationId xmlns:a16="http://schemas.microsoft.com/office/drawing/2014/main" id="{25457207-EF87-4F7C-9D59-253D9152D6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21437" y="4416288"/>
                <a:ext cx="924774" cy="9714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6" name="Line 19">
                <a:extLst>
                  <a:ext uri="{FF2B5EF4-FFF2-40B4-BE49-F238E27FC236}">
                    <a16:creationId xmlns:a16="http://schemas.microsoft.com/office/drawing/2014/main" id="{501AB49C-6A6A-4C02-8011-7E07025ECA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055" y="4340088"/>
                <a:ext cx="914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7" name="Line 20">
                <a:extLst>
                  <a:ext uri="{FF2B5EF4-FFF2-40B4-BE49-F238E27FC236}">
                    <a16:creationId xmlns:a16="http://schemas.microsoft.com/office/drawing/2014/main" id="{7E849682-98B1-43C1-94D6-C88C63A84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6455" y="4340088"/>
                <a:ext cx="838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8" name="Text Box 26">
                <a:extLst>
                  <a:ext uri="{FF2B5EF4-FFF2-40B4-BE49-F238E27FC236}">
                    <a16:creationId xmlns:a16="http://schemas.microsoft.com/office/drawing/2014/main" id="{8A67D48A-B2EF-44CD-85A0-ED062720DD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0019" y="5387701"/>
                <a:ext cx="39466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f</a:t>
                </a:r>
                <a:endParaRPr lang="en-US" altLang="en-US" sz="2800" dirty="0"/>
              </a:p>
            </p:txBody>
          </p:sp>
          <p:sp>
            <p:nvSpPr>
              <p:cNvPr id="19" name="Text Box 27">
                <a:extLst>
                  <a:ext uri="{FF2B5EF4-FFF2-40B4-BE49-F238E27FC236}">
                    <a16:creationId xmlns:a16="http://schemas.microsoft.com/office/drawing/2014/main" id="{6E91208A-852E-4640-A30E-327857097F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0132" y="5387701"/>
                <a:ext cx="47320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e</a:t>
                </a:r>
                <a:endParaRPr lang="en-US" altLang="en-US" sz="2800" dirty="0"/>
              </a:p>
            </p:txBody>
          </p:sp>
          <p:sp>
            <p:nvSpPr>
              <p:cNvPr id="20" name="Text Box 28">
                <a:extLst>
                  <a:ext uri="{FF2B5EF4-FFF2-40B4-BE49-F238E27FC236}">
                    <a16:creationId xmlns:a16="http://schemas.microsoft.com/office/drawing/2014/main" id="{764879C7-9807-4911-BB28-E3FE3BCA8C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2132" y="5387701"/>
                <a:ext cx="47481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d</a:t>
                </a:r>
                <a:endParaRPr lang="en-US" altLang="en-US" sz="2800" dirty="0"/>
              </a:p>
            </p:txBody>
          </p:sp>
          <p:sp>
            <p:nvSpPr>
              <p:cNvPr id="21" name="Text Box 29">
                <a:extLst>
                  <a:ext uri="{FF2B5EF4-FFF2-40B4-BE49-F238E27FC236}">
                    <a16:creationId xmlns:a16="http://schemas.microsoft.com/office/drawing/2014/main" id="{9E1816E1-7693-4A86-B4BC-DC4C9D0714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22305" y="3790813"/>
                <a:ext cx="47641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b</a:t>
                </a:r>
                <a:endParaRPr lang="en-US" altLang="en-US" sz="2800" dirty="0"/>
              </a:p>
            </p:txBody>
          </p:sp>
          <p:sp>
            <p:nvSpPr>
              <p:cNvPr id="22" name="Text Box 30">
                <a:extLst>
                  <a:ext uri="{FF2B5EF4-FFF2-40B4-BE49-F238E27FC236}">
                    <a16:creationId xmlns:a16="http://schemas.microsoft.com/office/drawing/2014/main" id="{2E968790-6AC7-4377-A48D-71F39B9394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77968" y="3790813"/>
                <a:ext cx="4603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i="1" dirty="0"/>
                  <a:t> c</a:t>
                </a:r>
                <a:endParaRPr lang="en-US" altLang="en-US" sz="2800" dirty="0"/>
              </a:p>
            </p:txBody>
          </p:sp>
        </p:grpSp>
        <p:sp>
          <p:nvSpPr>
            <p:cNvPr id="9" name="Text Box 29">
              <a:extLst>
                <a:ext uri="{FF2B5EF4-FFF2-40B4-BE49-F238E27FC236}">
                  <a16:creationId xmlns:a16="http://schemas.microsoft.com/office/drawing/2014/main" id="{52CAAF18-C6BC-44E4-98B9-8F99B3903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8050" y="3721436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a</a:t>
              </a:r>
              <a:endParaRPr lang="en-US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37018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Handshaking Theorem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630A2-F632-4850-9976-E60E7A5A2A36}"/>
              </a:ext>
            </a:extLst>
          </p:cNvPr>
          <p:cNvSpPr txBox="1"/>
          <p:nvPr/>
        </p:nvSpPr>
        <p:spPr>
          <a:xfrm>
            <a:off x="417522" y="2961310"/>
            <a:ext cx="5135613" cy="3341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Vertices = 9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Edges = 12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The degree of each vertex is the number of edges incident to it.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deg(a) = 3,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deg(b) = 2,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E9D280-57F0-48DA-A76C-95373BED3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44516"/>
            <a:ext cx="8564538" cy="19981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Find the number of vertices, the number of edges, and the degree of each vertex in the given undirected graph. Identify all isolated and pendant vertices.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D37FB0-7497-46E5-94E5-FA85A140766C}"/>
              </a:ext>
            </a:extLst>
          </p:cNvPr>
          <p:cNvGrpSpPr/>
          <p:nvPr/>
        </p:nvGrpSpPr>
        <p:grpSpPr>
          <a:xfrm>
            <a:off x="5000942" y="3690144"/>
            <a:ext cx="3897252" cy="2538555"/>
            <a:chOff x="5000942" y="3975064"/>
            <a:chExt cx="3897252" cy="2538555"/>
          </a:xfrm>
        </p:grpSpPr>
        <p:grpSp>
          <p:nvGrpSpPr>
            <p:cNvPr id="11" name="Group 2">
              <a:extLst>
                <a:ext uri="{FF2B5EF4-FFF2-40B4-BE49-F238E27FC236}">
                  <a16:creationId xmlns:a16="http://schemas.microsoft.com/office/drawing/2014/main" id="{73DAC17B-F42D-4685-B32D-0380DB3A07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8475" y="4843393"/>
              <a:ext cx="228600" cy="1219200"/>
              <a:chOff x="576" y="1248"/>
              <a:chExt cx="144" cy="768"/>
            </a:xfrm>
          </p:grpSpPr>
          <p:sp>
            <p:nvSpPr>
              <p:cNvPr id="27" name="Oval 3">
                <a:extLst>
                  <a:ext uri="{FF2B5EF4-FFF2-40B4-BE49-F238E27FC236}">
                    <a16:creationId xmlns:a16="http://schemas.microsoft.com/office/drawing/2014/main" id="{ABD90EF1-3994-44B5-8BC0-EBF1B00FB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28" name="Line 4">
                <a:extLst>
                  <a:ext uri="{FF2B5EF4-FFF2-40B4-BE49-F238E27FC236}">
                    <a16:creationId xmlns:a16="http://schemas.microsoft.com/office/drawing/2014/main" id="{FBD5A985-5256-401D-9886-CA3335F53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29" name="Oval 5">
                <a:extLst>
                  <a:ext uri="{FF2B5EF4-FFF2-40B4-BE49-F238E27FC236}">
                    <a16:creationId xmlns:a16="http://schemas.microsoft.com/office/drawing/2014/main" id="{F759CA77-0946-48C4-80B1-71E0D39DE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12" name="Group 6">
              <a:extLst>
                <a:ext uri="{FF2B5EF4-FFF2-40B4-BE49-F238E27FC236}">
                  <a16:creationId xmlns:a16="http://schemas.microsoft.com/office/drawing/2014/main" id="{17EF2CB9-08A4-4D22-BDF7-8B62ECE084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62875" y="4843393"/>
              <a:ext cx="228600" cy="1219200"/>
              <a:chOff x="576" y="1248"/>
              <a:chExt cx="144" cy="768"/>
            </a:xfrm>
          </p:grpSpPr>
          <p:sp>
            <p:nvSpPr>
              <p:cNvPr id="24" name="Oval 7">
                <a:extLst>
                  <a:ext uri="{FF2B5EF4-FFF2-40B4-BE49-F238E27FC236}">
                    <a16:creationId xmlns:a16="http://schemas.microsoft.com/office/drawing/2014/main" id="{11FD7CBC-556F-4F88-916E-346B9D1F9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25" name="Line 8">
                <a:extLst>
                  <a:ext uri="{FF2B5EF4-FFF2-40B4-BE49-F238E27FC236}">
                    <a16:creationId xmlns:a16="http://schemas.microsoft.com/office/drawing/2014/main" id="{16647648-937F-47CD-9F51-7E88DE729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26" name="Oval 9">
                <a:extLst>
                  <a:ext uri="{FF2B5EF4-FFF2-40B4-BE49-F238E27FC236}">
                    <a16:creationId xmlns:a16="http://schemas.microsoft.com/office/drawing/2014/main" id="{C3B9A8E9-B589-4AA4-959F-309790D0DE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7B911590-CCB6-4959-B60B-F85125CE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1319" y="484339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96F13C08-4DD8-4C89-8694-DBF18E0387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420583" y="5487781"/>
              <a:ext cx="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0EB0AE91-A0D2-46E2-AF3B-AD86E3E8A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2064" y="588525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5BB5C5F2-DD90-4B0C-A30A-67916842B2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4299" y="4993817"/>
              <a:ext cx="1732539" cy="9733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0CFA518C-0B06-46E9-A2B5-861FC827CD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15375" y="5969824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08924441-1D3B-46CA-AE1B-AE81C9D3B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2883" y="5967206"/>
              <a:ext cx="3706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i</a:t>
              </a:r>
              <a:endParaRPr lang="en-US" altLang="en-US" sz="2800" dirty="0"/>
            </a:p>
          </p:txBody>
        </p:sp>
        <p:sp>
          <p:nvSpPr>
            <p:cNvPr id="20" name="Text Box 27">
              <a:extLst>
                <a:ext uri="{FF2B5EF4-FFF2-40B4-BE49-F238E27FC236}">
                  <a16:creationId xmlns:a16="http://schemas.microsoft.com/office/drawing/2014/main" id="{4D2318AF-2E63-4B83-986E-843943858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2996" y="5967206"/>
              <a:ext cx="4812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h</a:t>
              </a:r>
              <a:endParaRPr lang="en-US" altLang="en-US" sz="2800" dirty="0"/>
            </a:p>
          </p:txBody>
        </p:sp>
        <p:sp>
          <p:nvSpPr>
            <p:cNvPr id="21" name="Text Box 28">
              <a:extLst>
                <a:ext uri="{FF2B5EF4-FFF2-40B4-BE49-F238E27FC236}">
                  <a16:creationId xmlns:a16="http://schemas.microsoft.com/office/drawing/2014/main" id="{AD530FD2-D7DC-4E27-A1F3-F95305E55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4996" y="5967206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g</a:t>
              </a:r>
              <a:endParaRPr lang="en-US" altLang="en-US" sz="2800" dirty="0"/>
            </a:p>
          </p:txBody>
        </p:sp>
        <p:sp>
          <p:nvSpPr>
            <p:cNvPr id="22" name="Text Box 29">
              <a:extLst>
                <a:ext uri="{FF2B5EF4-FFF2-40B4-BE49-F238E27FC236}">
                  <a16:creationId xmlns:a16="http://schemas.microsoft.com/office/drawing/2014/main" id="{CDA02794-2420-4FE2-BC09-566DE9F85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5169" y="4370318"/>
              <a:ext cx="4764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b</a:t>
              </a:r>
              <a:endParaRPr lang="en-US" altLang="en-US" sz="2800" dirty="0"/>
            </a:p>
          </p:txBody>
        </p:sp>
        <p:sp>
          <p:nvSpPr>
            <p:cNvPr id="23" name="Text Box 30">
              <a:extLst>
                <a:ext uri="{FF2B5EF4-FFF2-40B4-BE49-F238E27FC236}">
                  <a16:creationId xmlns:a16="http://schemas.microsoft.com/office/drawing/2014/main" id="{F535E0F7-ABBB-4942-8024-14424CD96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0832" y="4370318"/>
              <a:ext cx="4603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c</a:t>
              </a:r>
              <a:endParaRPr lang="en-US" altLang="en-US" sz="2800" dirty="0"/>
            </a:p>
          </p:txBody>
        </p:sp>
        <p:sp>
          <p:nvSpPr>
            <p:cNvPr id="10" name="Text Box 29">
              <a:extLst>
                <a:ext uri="{FF2B5EF4-FFF2-40B4-BE49-F238E27FC236}">
                  <a16:creationId xmlns:a16="http://schemas.microsoft.com/office/drawing/2014/main" id="{70336035-C402-47E8-A906-4F743006A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2174" y="4394397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a</a:t>
              </a:r>
              <a:endParaRPr lang="en-US" altLang="en-US" sz="2800" dirty="0"/>
            </a:p>
          </p:txBody>
        </p:sp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04F8D0E8-69EB-4D3F-9E0C-9B873848F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1058" y="482944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31" name="Oval 12">
              <a:extLst>
                <a:ext uri="{FF2B5EF4-FFF2-40B4-BE49-F238E27FC236}">
                  <a16:creationId xmlns:a16="http://schemas.microsoft.com/office/drawing/2014/main" id="{5A9AA6D8-A6C0-4E95-B36F-C6502E120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1266" y="585290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9F6DD68A-141E-4BB0-BABE-53610E110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3384" y="4329051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d</a:t>
              </a:r>
              <a:endParaRPr lang="en-US" altLang="en-US" sz="2800" dirty="0"/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C716A725-726B-4665-BCCA-863ED79DE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7591" y="5934512"/>
              <a:ext cx="47320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e</a:t>
              </a:r>
              <a:endParaRPr lang="en-US" altLang="en-US" sz="2800" dirty="0"/>
            </a:p>
          </p:txBody>
        </p:sp>
        <p:sp>
          <p:nvSpPr>
            <p:cNvPr id="3" name="Arc 2">
              <a:extLst>
                <a:ext uri="{FF2B5EF4-FFF2-40B4-BE49-F238E27FC236}">
                  <a16:creationId xmlns:a16="http://schemas.microsoft.com/office/drawing/2014/main" id="{34EC7B05-E987-421D-AC2A-4AF51031ACD6}"/>
                </a:ext>
              </a:extLst>
            </p:cNvPr>
            <p:cNvSpPr/>
            <p:nvPr/>
          </p:nvSpPr>
          <p:spPr>
            <a:xfrm rot="16478960">
              <a:off x="5878896" y="4092381"/>
              <a:ext cx="2056014" cy="1821380"/>
            </a:xfrm>
            <a:prstGeom prst="arc">
              <a:avLst>
                <a:gd name="adj1" fmla="val 16200000"/>
                <a:gd name="adj2" fmla="val 495016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Line 14">
              <a:extLst>
                <a:ext uri="{FF2B5EF4-FFF2-40B4-BE49-F238E27FC236}">
                  <a16:creationId xmlns:a16="http://schemas.microsoft.com/office/drawing/2014/main" id="{22EFC5C5-539C-4E3C-9A2C-BF72C59B3E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823038" y="4993815"/>
              <a:ext cx="884206" cy="9406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D218EFAF-0F29-47A3-B4FC-ED3A4B778E77}"/>
                </a:ext>
              </a:extLst>
            </p:cNvPr>
            <p:cNvSpPr/>
            <p:nvPr/>
          </p:nvSpPr>
          <p:spPr>
            <a:xfrm rot="16478960">
              <a:off x="7922099" y="5601714"/>
              <a:ext cx="626033" cy="925393"/>
            </a:xfrm>
            <a:prstGeom prst="arc">
              <a:avLst>
                <a:gd name="adj1" fmla="val 16200000"/>
                <a:gd name="adj2" fmla="val 495016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4E3BA1EA-EA44-48EB-BBA7-7D149FEB7EEA}"/>
                </a:ext>
              </a:extLst>
            </p:cNvPr>
            <p:cNvSpPr/>
            <p:nvPr/>
          </p:nvSpPr>
          <p:spPr>
            <a:xfrm rot="5248686">
              <a:off x="7934212" y="5505460"/>
              <a:ext cx="626033" cy="925393"/>
            </a:xfrm>
            <a:prstGeom prst="arc">
              <a:avLst>
                <a:gd name="adj1" fmla="val 16200000"/>
                <a:gd name="adj2" fmla="val 495016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Line 14">
              <a:extLst>
                <a:ext uri="{FF2B5EF4-FFF2-40B4-BE49-F238E27FC236}">
                  <a16:creationId xmlns:a16="http://schemas.microsoft.com/office/drawing/2014/main" id="{CAD3BE2A-B8A0-44C3-8AE0-12B8E95549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83244" y="4973374"/>
              <a:ext cx="1724000" cy="9284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8" name="Line 14">
              <a:extLst>
                <a:ext uri="{FF2B5EF4-FFF2-40B4-BE49-F238E27FC236}">
                  <a16:creationId xmlns:a16="http://schemas.microsoft.com/office/drawing/2014/main" id="{548EEB9B-C74C-458B-BCE3-806DD0B493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24675" y="4999228"/>
              <a:ext cx="2628874" cy="9190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9" name="Oval 12">
              <a:extLst>
                <a:ext uri="{FF2B5EF4-FFF2-40B4-BE49-F238E27FC236}">
                  <a16:creationId xmlns:a16="http://schemas.microsoft.com/office/drawing/2014/main" id="{AD06731D-A906-43B6-98A5-8578335B9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374" y="5856486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0" name="Text Box 26">
              <a:extLst>
                <a:ext uri="{FF2B5EF4-FFF2-40B4-BE49-F238E27FC236}">
                  <a16:creationId xmlns:a16="http://schemas.microsoft.com/office/drawing/2014/main" id="{3F37AA44-5D84-44C7-8A7C-B0CA1BBA9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0942" y="5990399"/>
              <a:ext cx="3946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f</a:t>
              </a:r>
              <a:endParaRPr lang="en-US" altLang="en-US" sz="2800" dirty="0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29110B1D-4374-417D-8F8A-57DB3F101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1022" y="5003070"/>
              <a:ext cx="20427" cy="9733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</p:spTree>
    <p:extLst>
      <p:ext uri="{BB962C8B-B14F-4D97-AF65-F5344CB8AC3E}">
        <p14:creationId xmlns:p14="http://schemas.microsoft.com/office/powerpoint/2010/main" val="3445979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Handshaking Theorem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630A2-F632-4850-9976-E60E7A5A2A36}"/>
              </a:ext>
            </a:extLst>
          </p:cNvPr>
          <p:cNvSpPr txBox="1"/>
          <p:nvPr/>
        </p:nvSpPr>
        <p:spPr>
          <a:xfrm>
            <a:off x="412968" y="3205021"/>
            <a:ext cx="5135613" cy="223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deg(c) = 4,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deg(d) = 0 (and hence d is isolated),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deg(e) = 6,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deg(f) = 0(and hence f is isolated),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E9D280-57F0-48DA-A76C-95373BED3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64538" cy="184352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Find the number of vertices, the number of edges, and the degree of each vertex in the given undirected graph. Identify all isolated and pendant vertices.</a:t>
            </a:r>
            <a:endParaRPr lang="en-IN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A41A52B-3304-4AA2-8C1E-AD78496E4CB4}"/>
              </a:ext>
            </a:extLst>
          </p:cNvPr>
          <p:cNvGrpSpPr/>
          <p:nvPr/>
        </p:nvGrpSpPr>
        <p:grpSpPr>
          <a:xfrm>
            <a:off x="5060576" y="3510235"/>
            <a:ext cx="3897252" cy="2538555"/>
            <a:chOff x="5000942" y="3975064"/>
            <a:chExt cx="3897252" cy="2538555"/>
          </a:xfrm>
        </p:grpSpPr>
        <p:grpSp>
          <p:nvGrpSpPr>
            <p:cNvPr id="43" name="Group 2">
              <a:extLst>
                <a:ext uri="{FF2B5EF4-FFF2-40B4-BE49-F238E27FC236}">
                  <a16:creationId xmlns:a16="http://schemas.microsoft.com/office/drawing/2014/main" id="{B7D98960-4434-44C3-9A55-541EAFDC75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8475" y="4843393"/>
              <a:ext cx="228600" cy="1219200"/>
              <a:chOff x="576" y="1248"/>
              <a:chExt cx="144" cy="768"/>
            </a:xfrm>
          </p:grpSpPr>
          <p:sp>
            <p:nvSpPr>
              <p:cNvPr id="72" name="Oval 3">
                <a:extLst>
                  <a:ext uri="{FF2B5EF4-FFF2-40B4-BE49-F238E27FC236}">
                    <a16:creationId xmlns:a16="http://schemas.microsoft.com/office/drawing/2014/main" id="{DDC6FD81-D165-4004-87CD-FA2F6C245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73" name="Line 4">
                <a:extLst>
                  <a:ext uri="{FF2B5EF4-FFF2-40B4-BE49-F238E27FC236}">
                    <a16:creationId xmlns:a16="http://schemas.microsoft.com/office/drawing/2014/main" id="{A29A9415-D327-43B5-96FD-1DFBDBA40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74" name="Oval 5">
                <a:extLst>
                  <a:ext uri="{FF2B5EF4-FFF2-40B4-BE49-F238E27FC236}">
                    <a16:creationId xmlns:a16="http://schemas.microsoft.com/office/drawing/2014/main" id="{A773C755-BF58-43D5-BD43-7E94FE551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44" name="Group 6">
              <a:extLst>
                <a:ext uri="{FF2B5EF4-FFF2-40B4-BE49-F238E27FC236}">
                  <a16:creationId xmlns:a16="http://schemas.microsoft.com/office/drawing/2014/main" id="{BB65BFC3-2579-42A5-BE1D-DECC13A47A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62875" y="4843393"/>
              <a:ext cx="228600" cy="1219200"/>
              <a:chOff x="576" y="1248"/>
              <a:chExt cx="144" cy="768"/>
            </a:xfrm>
          </p:grpSpPr>
          <p:sp>
            <p:nvSpPr>
              <p:cNvPr id="69" name="Oval 7">
                <a:extLst>
                  <a:ext uri="{FF2B5EF4-FFF2-40B4-BE49-F238E27FC236}">
                    <a16:creationId xmlns:a16="http://schemas.microsoft.com/office/drawing/2014/main" id="{1862BFE3-06FD-4F85-B87F-5C54FE6C5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70" name="Line 8">
                <a:extLst>
                  <a:ext uri="{FF2B5EF4-FFF2-40B4-BE49-F238E27FC236}">
                    <a16:creationId xmlns:a16="http://schemas.microsoft.com/office/drawing/2014/main" id="{D66418EC-736A-432F-97FB-8B1893A6B4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71" name="Oval 9">
                <a:extLst>
                  <a:ext uri="{FF2B5EF4-FFF2-40B4-BE49-F238E27FC236}">
                    <a16:creationId xmlns:a16="http://schemas.microsoft.com/office/drawing/2014/main" id="{56B66121-51B9-45DF-B38F-51930964B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45" name="Oval 10">
              <a:extLst>
                <a:ext uri="{FF2B5EF4-FFF2-40B4-BE49-F238E27FC236}">
                  <a16:creationId xmlns:a16="http://schemas.microsoft.com/office/drawing/2014/main" id="{81702ABD-13D3-4E48-8155-F45E0E755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1319" y="484339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6" name="Line 11">
              <a:extLst>
                <a:ext uri="{FF2B5EF4-FFF2-40B4-BE49-F238E27FC236}">
                  <a16:creationId xmlns:a16="http://schemas.microsoft.com/office/drawing/2014/main" id="{1DAD0A8F-D8EF-4BA1-B932-AD3AC27DE8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420583" y="5487781"/>
              <a:ext cx="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7" name="Oval 12">
              <a:extLst>
                <a:ext uri="{FF2B5EF4-FFF2-40B4-BE49-F238E27FC236}">
                  <a16:creationId xmlns:a16="http://schemas.microsoft.com/office/drawing/2014/main" id="{562DAB19-9B7D-4238-AE88-4F565CFA9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2064" y="588525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E9742B26-0C9B-4755-9CCC-0EA3522ADE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4299" y="4993817"/>
              <a:ext cx="1732539" cy="9733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9" name="Line 20">
              <a:extLst>
                <a:ext uri="{FF2B5EF4-FFF2-40B4-BE49-F238E27FC236}">
                  <a16:creationId xmlns:a16="http://schemas.microsoft.com/office/drawing/2014/main" id="{B61004AA-D5DD-4CAE-A68C-6E8C6F83F8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15375" y="5969824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50" name="Text Box 26">
              <a:extLst>
                <a:ext uri="{FF2B5EF4-FFF2-40B4-BE49-F238E27FC236}">
                  <a16:creationId xmlns:a16="http://schemas.microsoft.com/office/drawing/2014/main" id="{B3454F6B-AD52-4898-B431-F87EC159E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2883" y="5967206"/>
              <a:ext cx="3706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i</a:t>
              </a:r>
              <a:endParaRPr lang="en-US" altLang="en-US" sz="2800" dirty="0"/>
            </a:p>
          </p:txBody>
        </p:sp>
        <p:sp>
          <p:nvSpPr>
            <p:cNvPr id="51" name="Text Box 27">
              <a:extLst>
                <a:ext uri="{FF2B5EF4-FFF2-40B4-BE49-F238E27FC236}">
                  <a16:creationId xmlns:a16="http://schemas.microsoft.com/office/drawing/2014/main" id="{A21203C4-5A34-4F1D-8565-FC0735C65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2996" y="5967206"/>
              <a:ext cx="4812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h</a:t>
              </a:r>
              <a:endParaRPr lang="en-US" altLang="en-US" sz="2800" dirty="0"/>
            </a:p>
          </p:txBody>
        </p:sp>
        <p:sp>
          <p:nvSpPr>
            <p:cNvPr id="52" name="Text Box 28">
              <a:extLst>
                <a:ext uri="{FF2B5EF4-FFF2-40B4-BE49-F238E27FC236}">
                  <a16:creationId xmlns:a16="http://schemas.microsoft.com/office/drawing/2014/main" id="{0891E42D-5BFC-42AC-9315-792FBB2895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4996" y="5967206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g</a:t>
              </a:r>
              <a:endParaRPr lang="en-US" altLang="en-US" sz="2800" dirty="0"/>
            </a:p>
          </p:txBody>
        </p:sp>
        <p:sp>
          <p:nvSpPr>
            <p:cNvPr id="53" name="Text Box 29">
              <a:extLst>
                <a:ext uri="{FF2B5EF4-FFF2-40B4-BE49-F238E27FC236}">
                  <a16:creationId xmlns:a16="http://schemas.microsoft.com/office/drawing/2014/main" id="{E9AC44C6-CC73-44EB-9544-A6FD38B09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5169" y="4370318"/>
              <a:ext cx="4764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b</a:t>
              </a:r>
              <a:endParaRPr lang="en-US" altLang="en-US" sz="2800" dirty="0"/>
            </a:p>
          </p:txBody>
        </p:sp>
        <p:sp>
          <p:nvSpPr>
            <p:cNvPr id="54" name="Text Box 30">
              <a:extLst>
                <a:ext uri="{FF2B5EF4-FFF2-40B4-BE49-F238E27FC236}">
                  <a16:creationId xmlns:a16="http://schemas.microsoft.com/office/drawing/2014/main" id="{F40B73B3-FD61-4ACC-9C23-1DC7B2D43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0832" y="4370318"/>
              <a:ext cx="4603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c</a:t>
              </a:r>
              <a:endParaRPr lang="en-US" altLang="en-US" sz="2800" dirty="0"/>
            </a:p>
          </p:txBody>
        </p:sp>
        <p:sp>
          <p:nvSpPr>
            <p:cNvPr id="55" name="Text Box 29">
              <a:extLst>
                <a:ext uri="{FF2B5EF4-FFF2-40B4-BE49-F238E27FC236}">
                  <a16:creationId xmlns:a16="http://schemas.microsoft.com/office/drawing/2014/main" id="{3A6C12F5-FCF3-46B1-B2F1-9E8DAF939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2174" y="4394397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a</a:t>
              </a:r>
              <a:endParaRPr lang="en-US" altLang="en-US" sz="2800" dirty="0"/>
            </a:p>
          </p:txBody>
        </p:sp>
        <p:sp>
          <p:nvSpPr>
            <p:cNvPr id="56" name="Oval 12">
              <a:extLst>
                <a:ext uri="{FF2B5EF4-FFF2-40B4-BE49-F238E27FC236}">
                  <a16:creationId xmlns:a16="http://schemas.microsoft.com/office/drawing/2014/main" id="{1B4A64DA-F0A6-4C51-930A-B67991C5D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1058" y="482944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7" name="Oval 12">
              <a:extLst>
                <a:ext uri="{FF2B5EF4-FFF2-40B4-BE49-F238E27FC236}">
                  <a16:creationId xmlns:a16="http://schemas.microsoft.com/office/drawing/2014/main" id="{9ECBB998-1106-46A4-8D3B-BC6CB3190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1266" y="585290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8" name="Text Box 30">
              <a:extLst>
                <a:ext uri="{FF2B5EF4-FFF2-40B4-BE49-F238E27FC236}">
                  <a16:creationId xmlns:a16="http://schemas.microsoft.com/office/drawing/2014/main" id="{E0C9A71B-77D5-4ED6-A96A-6F4C03976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3384" y="4329051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d</a:t>
              </a:r>
              <a:endParaRPr lang="en-US" altLang="en-US" sz="2800" dirty="0"/>
            </a:p>
          </p:txBody>
        </p:sp>
        <p:sp>
          <p:nvSpPr>
            <p:cNvPr id="59" name="Text Box 30">
              <a:extLst>
                <a:ext uri="{FF2B5EF4-FFF2-40B4-BE49-F238E27FC236}">
                  <a16:creationId xmlns:a16="http://schemas.microsoft.com/office/drawing/2014/main" id="{4E86458F-ED45-4F7E-818A-ABFDFBF7E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7591" y="5934512"/>
              <a:ext cx="47320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e</a:t>
              </a:r>
              <a:endParaRPr lang="en-US" altLang="en-US" sz="2800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11EF0523-8626-49C1-A320-EBAEB60CF3D4}"/>
                </a:ext>
              </a:extLst>
            </p:cNvPr>
            <p:cNvSpPr/>
            <p:nvPr/>
          </p:nvSpPr>
          <p:spPr>
            <a:xfrm rot="16478960">
              <a:off x="5878896" y="4092381"/>
              <a:ext cx="2056014" cy="1821380"/>
            </a:xfrm>
            <a:prstGeom prst="arc">
              <a:avLst>
                <a:gd name="adj1" fmla="val 16200000"/>
                <a:gd name="adj2" fmla="val 495016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11190E17-403F-403D-BEF9-7A78FB242D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823038" y="4993815"/>
              <a:ext cx="884206" cy="9406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F9EF2F93-FF00-4060-9191-DF0D16D04D13}"/>
                </a:ext>
              </a:extLst>
            </p:cNvPr>
            <p:cNvSpPr/>
            <p:nvPr/>
          </p:nvSpPr>
          <p:spPr>
            <a:xfrm rot="16478960">
              <a:off x="7922099" y="5601714"/>
              <a:ext cx="626033" cy="925393"/>
            </a:xfrm>
            <a:prstGeom prst="arc">
              <a:avLst>
                <a:gd name="adj1" fmla="val 16200000"/>
                <a:gd name="adj2" fmla="val 495016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756683FC-F76E-4CF8-8E6E-CC05D560AEAF}"/>
                </a:ext>
              </a:extLst>
            </p:cNvPr>
            <p:cNvSpPr/>
            <p:nvPr/>
          </p:nvSpPr>
          <p:spPr>
            <a:xfrm rot="5248686">
              <a:off x="7934212" y="5505460"/>
              <a:ext cx="626033" cy="925393"/>
            </a:xfrm>
            <a:prstGeom prst="arc">
              <a:avLst>
                <a:gd name="adj1" fmla="val 16200000"/>
                <a:gd name="adj2" fmla="val 495016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Line 14">
              <a:extLst>
                <a:ext uri="{FF2B5EF4-FFF2-40B4-BE49-F238E27FC236}">
                  <a16:creationId xmlns:a16="http://schemas.microsoft.com/office/drawing/2014/main" id="{C051A669-210D-4B6D-B12D-555EF727A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83244" y="4973374"/>
              <a:ext cx="1724000" cy="9284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5" name="Line 14">
              <a:extLst>
                <a:ext uri="{FF2B5EF4-FFF2-40B4-BE49-F238E27FC236}">
                  <a16:creationId xmlns:a16="http://schemas.microsoft.com/office/drawing/2014/main" id="{FBA25794-22FE-436C-B5EB-43AA3AE43B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24675" y="4999228"/>
              <a:ext cx="2628874" cy="9190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6" name="Oval 12">
              <a:extLst>
                <a:ext uri="{FF2B5EF4-FFF2-40B4-BE49-F238E27FC236}">
                  <a16:creationId xmlns:a16="http://schemas.microsoft.com/office/drawing/2014/main" id="{91B36F4B-C9EC-4D0B-B8E6-F47945B05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374" y="5856486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67" name="Text Box 26">
              <a:extLst>
                <a:ext uri="{FF2B5EF4-FFF2-40B4-BE49-F238E27FC236}">
                  <a16:creationId xmlns:a16="http://schemas.microsoft.com/office/drawing/2014/main" id="{57286BEF-6127-4FD0-8E66-3486878D2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0942" y="5990399"/>
              <a:ext cx="3946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f</a:t>
              </a:r>
              <a:endParaRPr lang="en-US" altLang="en-US" sz="2800" dirty="0"/>
            </a:p>
          </p:txBody>
        </p:sp>
        <p:sp>
          <p:nvSpPr>
            <p:cNvPr id="68" name="Line 8">
              <a:extLst>
                <a:ext uri="{FF2B5EF4-FFF2-40B4-BE49-F238E27FC236}">
                  <a16:creationId xmlns:a16="http://schemas.microsoft.com/office/drawing/2014/main" id="{226620BE-5DBB-4164-9214-5D03DCA7C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1022" y="5003070"/>
              <a:ext cx="20427" cy="9733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</p:spTree>
    <p:extLst>
      <p:ext uri="{BB962C8B-B14F-4D97-AF65-F5344CB8AC3E}">
        <p14:creationId xmlns:p14="http://schemas.microsoft.com/office/powerpoint/2010/main" val="425526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Handshaking Theorem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630A2-F632-4850-9976-E60E7A5A2A36}"/>
              </a:ext>
            </a:extLst>
          </p:cNvPr>
          <p:cNvSpPr txBox="1"/>
          <p:nvPr/>
        </p:nvSpPr>
        <p:spPr>
          <a:xfrm>
            <a:off x="405370" y="2683301"/>
            <a:ext cx="5106817" cy="389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deg(g) = 4,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deg(h) = 2, and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deg(</a:t>
            </a:r>
            <a:r>
              <a:rPr lang="en-US" sz="2400" dirty="0" err="1"/>
              <a:t>i</a:t>
            </a:r>
            <a:r>
              <a:rPr lang="en-US" sz="2400" dirty="0"/>
              <a:t>) = 3.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Note,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that the sum of the degrees is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3 + 2 + 4 + 0 + 6 + 0 + 4 + 2 + 3 = 24, which is twice the number of edges.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E9D280-57F0-48DA-A76C-95373BED3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11374"/>
            <a:ext cx="8564538" cy="16342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Find the number of vertices, the number of edges, and the degree of each vertex in the given undirected graph. Identify all isolated and pendant vertices.</a:t>
            </a:r>
            <a:endParaRPr lang="en-IN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7CACFFE-49C9-4F63-8546-543FD59E11EF}"/>
              </a:ext>
            </a:extLst>
          </p:cNvPr>
          <p:cNvGrpSpPr/>
          <p:nvPr/>
        </p:nvGrpSpPr>
        <p:grpSpPr>
          <a:xfrm>
            <a:off x="4675559" y="2977310"/>
            <a:ext cx="3897252" cy="2538555"/>
            <a:chOff x="5000942" y="3975064"/>
            <a:chExt cx="3897252" cy="2538555"/>
          </a:xfrm>
        </p:grpSpPr>
        <p:grpSp>
          <p:nvGrpSpPr>
            <p:cNvPr id="43" name="Group 2">
              <a:extLst>
                <a:ext uri="{FF2B5EF4-FFF2-40B4-BE49-F238E27FC236}">
                  <a16:creationId xmlns:a16="http://schemas.microsoft.com/office/drawing/2014/main" id="{F4342CA5-4E13-4524-95C9-F610A403B1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8475" y="4843393"/>
              <a:ext cx="228600" cy="1219200"/>
              <a:chOff x="576" y="1248"/>
              <a:chExt cx="144" cy="768"/>
            </a:xfrm>
          </p:grpSpPr>
          <p:sp>
            <p:nvSpPr>
              <p:cNvPr id="72" name="Oval 3">
                <a:extLst>
                  <a:ext uri="{FF2B5EF4-FFF2-40B4-BE49-F238E27FC236}">
                    <a16:creationId xmlns:a16="http://schemas.microsoft.com/office/drawing/2014/main" id="{B9ED6B8E-4F0C-40D9-9D74-5E559AC94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73" name="Line 4">
                <a:extLst>
                  <a:ext uri="{FF2B5EF4-FFF2-40B4-BE49-F238E27FC236}">
                    <a16:creationId xmlns:a16="http://schemas.microsoft.com/office/drawing/2014/main" id="{C8EDB1DF-92AF-404B-B6F9-40FF41048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74" name="Oval 5">
                <a:extLst>
                  <a:ext uri="{FF2B5EF4-FFF2-40B4-BE49-F238E27FC236}">
                    <a16:creationId xmlns:a16="http://schemas.microsoft.com/office/drawing/2014/main" id="{A5D37C08-54D7-4D1C-82CD-6C65D3EDB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44" name="Group 6">
              <a:extLst>
                <a:ext uri="{FF2B5EF4-FFF2-40B4-BE49-F238E27FC236}">
                  <a16:creationId xmlns:a16="http://schemas.microsoft.com/office/drawing/2014/main" id="{7779F6CA-B8BF-4648-AFB7-B95C6A9018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62875" y="4843393"/>
              <a:ext cx="228600" cy="1219200"/>
              <a:chOff x="576" y="1248"/>
              <a:chExt cx="144" cy="768"/>
            </a:xfrm>
          </p:grpSpPr>
          <p:sp>
            <p:nvSpPr>
              <p:cNvPr id="69" name="Oval 7">
                <a:extLst>
                  <a:ext uri="{FF2B5EF4-FFF2-40B4-BE49-F238E27FC236}">
                    <a16:creationId xmlns:a16="http://schemas.microsoft.com/office/drawing/2014/main" id="{272BAA30-7889-4163-94DC-A2598A2B3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24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70" name="Line 8">
                <a:extLst>
                  <a:ext uri="{FF2B5EF4-FFF2-40B4-BE49-F238E27FC236}">
                    <a16:creationId xmlns:a16="http://schemas.microsoft.com/office/drawing/2014/main" id="{C4B5E83E-0570-407B-864A-BD301D4AEC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71" name="Oval 9">
                <a:extLst>
                  <a:ext uri="{FF2B5EF4-FFF2-40B4-BE49-F238E27FC236}">
                    <a16:creationId xmlns:a16="http://schemas.microsoft.com/office/drawing/2014/main" id="{99CC8226-6DA5-439D-95E9-67FC95A67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45" name="Oval 10">
              <a:extLst>
                <a:ext uri="{FF2B5EF4-FFF2-40B4-BE49-F238E27FC236}">
                  <a16:creationId xmlns:a16="http://schemas.microsoft.com/office/drawing/2014/main" id="{DAA7BE4F-E8C7-46EF-BD68-FF905CE5F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1319" y="484339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6" name="Line 11">
              <a:extLst>
                <a:ext uri="{FF2B5EF4-FFF2-40B4-BE49-F238E27FC236}">
                  <a16:creationId xmlns:a16="http://schemas.microsoft.com/office/drawing/2014/main" id="{7152C0E3-4EFF-44F3-AC84-36981637D2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420583" y="5487781"/>
              <a:ext cx="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7" name="Oval 12">
              <a:extLst>
                <a:ext uri="{FF2B5EF4-FFF2-40B4-BE49-F238E27FC236}">
                  <a16:creationId xmlns:a16="http://schemas.microsoft.com/office/drawing/2014/main" id="{6F7CD7AC-BA0B-4ADE-9805-3E0912DD0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2064" y="588525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76541016-EC4B-4FBC-9049-3D5A8ABC51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4299" y="4993817"/>
              <a:ext cx="1732539" cy="9733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9" name="Line 20">
              <a:extLst>
                <a:ext uri="{FF2B5EF4-FFF2-40B4-BE49-F238E27FC236}">
                  <a16:creationId xmlns:a16="http://schemas.microsoft.com/office/drawing/2014/main" id="{A66EC1AC-29ED-4651-89F8-98E518886D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15375" y="5969824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50" name="Text Box 26">
              <a:extLst>
                <a:ext uri="{FF2B5EF4-FFF2-40B4-BE49-F238E27FC236}">
                  <a16:creationId xmlns:a16="http://schemas.microsoft.com/office/drawing/2014/main" id="{CEA31AE8-60F0-4A22-9822-F20F63C66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2883" y="5967206"/>
              <a:ext cx="3706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i</a:t>
              </a:r>
              <a:endParaRPr lang="en-US" altLang="en-US" sz="2800" dirty="0"/>
            </a:p>
          </p:txBody>
        </p:sp>
        <p:sp>
          <p:nvSpPr>
            <p:cNvPr id="51" name="Text Box 27">
              <a:extLst>
                <a:ext uri="{FF2B5EF4-FFF2-40B4-BE49-F238E27FC236}">
                  <a16:creationId xmlns:a16="http://schemas.microsoft.com/office/drawing/2014/main" id="{992C275F-58D2-495A-B5AC-0E247AA5B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2996" y="5967206"/>
              <a:ext cx="4812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h</a:t>
              </a:r>
              <a:endParaRPr lang="en-US" altLang="en-US" sz="2800" dirty="0"/>
            </a:p>
          </p:txBody>
        </p:sp>
        <p:sp>
          <p:nvSpPr>
            <p:cNvPr id="52" name="Text Box 28">
              <a:extLst>
                <a:ext uri="{FF2B5EF4-FFF2-40B4-BE49-F238E27FC236}">
                  <a16:creationId xmlns:a16="http://schemas.microsoft.com/office/drawing/2014/main" id="{8C6F2CC9-80A1-4C65-B70A-A56D587D8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4996" y="5967206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g</a:t>
              </a:r>
              <a:endParaRPr lang="en-US" altLang="en-US" sz="2800" dirty="0"/>
            </a:p>
          </p:txBody>
        </p:sp>
        <p:sp>
          <p:nvSpPr>
            <p:cNvPr id="53" name="Text Box 29">
              <a:extLst>
                <a:ext uri="{FF2B5EF4-FFF2-40B4-BE49-F238E27FC236}">
                  <a16:creationId xmlns:a16="http://schemas.microsoft.com/office/drawing/2014/main" id="{7B011A95-ACB2-47C5-B016-4846FD23B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5169" y="4370318"/>
              <a:ext cx="4764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b</a:t>
              </a:r>
              <a:endParaRPr lang="en-US" altLang="en-US" sz="2800" dirty="0"/>
            </a:p>
          </p:txBody>
        </p:sp>
        <p:sp>
          <p:nvSpPr>
            <p:cNvPr id="54" name="Text Box 30">
              <a:extLst>
                <a:ext uri="{FF2B5EF4-FFF2-40B4-BE49-F238E27FC236}">
                  <a16:creationId xmlns:a16="http://schemas.microsoft.com/office/drawing/2014/main" id="{EAC99237-9A56-4620-88F8-64460E0EE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0832" y="4370318"/>
              <a:ext cx="4603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c</a:t>
              </a:r>
              <a:endParaRPr lang="en-US" altLang="en-US" sz="2800" dirty="0"/>
            </a:p>
          </p:txBody>
        </p:sp>
        <p:sp>
          <p:nvSpPr>
            <p:cNvPr id="55" name="Text Box 29">
              <a:extLst>
                <a:ext uri="{FF2B5EF4-FFF2-40B4-BE49-F238E27FC236}">
                  <a16:creationId xmlns:a16="http://schemas.microsoft.com/office/drawing/2014/main" id="{8C704410-3F9E-4757-A9E0-B724EC18A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2174" y="4394397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a</a:t>
              </a:r>
              <a:endParaRPr lang="en-US" altLang="en-US" sz="2800" dirty="0"/>
            </a:p>
          </p:txBody>
        </p:sp>
        <p:sp>
          <p:nvSpPr>
            <p:cNvPr id="56" name="Oval 12">
              <a:extLst>
                <a:ext uri="{FF2B5EF4-FFF2-40B4-BE49-F238E27FC236}">
                  <a16:creationId xmlns:a16="http://schemas.microsoft.com/office/drawing/2014/main" id="{AE400EC6-BCB6-4611-A8F9-B8B378449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1058" y="482944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7" name="Oval 12">
              <a:extLst>
                <a:ext uri="{FF2B5EF4-FFF2-40B4-BE49-F238E27FC236}">
                  <a16:creationId xmlns:a16="http://schemas.microsoft.com/office/drawing/2014/main" id="{E97CC596-A14E-44CA-80D5-6BC5F31FA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1266" y="585290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8" name="Text Box 30">
              <a:extLst>
                <a:ext uri="{FF2B5EF4-FFF2-40B4-BE49-F238E27FC236}">
                  <a16:creationId xmlns:a16="http://schemas.microsoft.com/office/drawing/2014/main" id="{787B4301-14A2-47FF-97E1-F3135F04AC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3384" y="4329051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d</a:t>
              </a:r>
              <a:endParaRPr lang="en-US" altLang="en-US" sz="2800" dirty="0"/>
            </a:p>
          </p:txBody>
        </p:sp>
        <p:sp>
          <p:nvSpPr>
            <p:cNvPr id="59" name="Text Box 30">
              <a:extLst>
                <a:ext uri="{FF2B5EF4-FFF2-40B4-BE49-F238E27FC236}">
                  <a16:creationId xmlns:a16="http://schemas.microsoft.com/office/drawing/2014/main" id="{13BF294D-594F-4263-B4C2-4ADD12471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7591" y="5934512"/>
              <a:ext cx="47320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e</a:t>
              </a:r>
              <a:endParaRPr lang="en-US" altLang="en-US" sz="2800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69165A3F-DF68-47D6-AA7B-0EC242857DD5}"/>
                </a:ext>
              </a:extLst>
            </p:cNvPr>
            <p:cNvSpPr/>
            <p:nvPr/>
          </p:nvSpPr>
          <p:spPr>
            <a:xfrm rot="16478960">
              <a:off x="5878896" y="4092381"/>
              <a:ext cx="2056014" cy="1821380"/>
            </a:xfrm>
            <a:prstGeom prst="arc">
              <a:avLst>
                <a:gd name="adj1" fmla="val 16200000"/>
                <a:gd name="adj2" fmla="val 495016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F86A4E3E-DB93-46C5-AECD-C05F64428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823038" y="4993815"/>
              <a:ext cx="884206" cy="9406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56D4A771-D07B-4211-866A-2589607EF053}"/>
                </a:ext>
              </a:extLst>
            </p:cNvPr>
            <p:cNvSpPr/>
            <p:nvPr/>
          </p:nvSpPr>
          <p:spPr>
            <a:xfrm rot="16478960">
              <a:off x="7922099" y="5601714"/>
              <a:ext cx="626033" cy="925393"/>
            </a:xfrm>
            <a:prstGeom prst="arc">
              <a:avLst>
                <a:gd name="adj1" fmla="val 16200000"/>
                <a:gd name="adj2" fmla="val 495016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1D0DE52E-DCF5-4F5B-9F14-B9AE8EACFBF7}"/>
                </a:ext>
              </a:extLst>
            </p:cNvPr>
            <p:cNvSpPr/>
            <p:nvPr/>
          </p:nvSpPr>
          <p:spPr>
            <a:xfrm rot="5248686">
              <a:off x="7934212" y="5505460"/>
              <a:ext cx="626033" cy="925393"/>
            </a:xfrm>
            <a:prstGeom prst="arc">
              <a:avLst>
                <a:gd name="adj1" fmla="val 16200000"/>
                <a:gd name="adj2" fmla="val 495016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Line 14">
              <a:extLst>
                <a:ext uri="{FF2B5EF4-FFF2-40B4-BE49-F238E27FC236}">
                  <a16:creationId xmlns:a16="http://schemas.microsoft.com/office/drawing/2014/main" id="{3C909360-AF7A-4F07-B99F-91C498FF04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83244" y="4973374"/>
              <a:ext cx="1724000" cy="9284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5" name="Line 14">
              <a:extLst>
                <a:ext uri="{FF2B5EF4-FFF2-40B4-BE49-F238E27FC236}">
                  <a16:creationId xmlns:a16="http://schemas.microsoft.com/office/drawing/2014/main" id="{8811DEF3-1823-42A9-AE2E-BE714E9DC8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24675" y="4999228"/>
              <a:ext cx="2628874" cy="9190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6" name="Oval 12">
              <a:extLst>
                <a:ext uri="{FF2B5EF4-FFF2-40B4-BE49-F238E27FC236}">
                  <a16:creationId xmlns:a16="http://schemas.microsoft.com/office/drawing/2014/main" id="{9AFC4943-6FB8-4925-B522-0190D15F5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374" y="5856486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67" name="Text Box 26">
              <a:extLst>
                <a:ext uri="{FF2B5EF4-FFF2-40B4-BE49-F238E27FC236}">
                  <a16:creationId xmlns:a16="http://schemas.microsoft.com/office/drawing/2014/main" id="{22A3C4F8-1AA2-402C-9759-ECDE0C7C1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0942" y="5990399"/>
              <a:ext cx="3946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/>
                <a:t> f</a:t>
              </a:r>
              <a:endParaRPr lang="en-US" altLang="en-US" sz="2800" dirty="0"/>
            </a:p>
          </p:txBody>
        </p:sp>
        <p:sp>
          <p:nvSpPr>
            <p:cNvPr id="68" name="Line 8">
              <a:extLst>
                <a:ext uri="{FF2B5EF4-FFF2-40B4-BE49-F238E27FC236}">
                  <a16:creationId xmlns:a16="http://schemas.microsoft.com/office/drawing/2014/main" id="{38012DF0-794F-4782-B321-C0A542A44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1022" y="5003070"/>
              <a:ext cx="20427" cy="9733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</p:spTree>
    <p:extLst>
      <p:ext uri="{BB962C8B-B14F-4D97-AF65-F5344CB8AC3E}">
        <p14:creationId xmlns:p14="http://schemas.microsoft.com/office/powerpoint/2010/main" val="4238952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Handshaking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edges are there in a graph with 10 vertices each of degree six?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Sol:-</a:t>
            </a:r>
            <a:r>
              <a:rPr lang="en-US" dirty="0"/>
              <a:t> Because the sum of the degrees of the vertices is 6 · 10 = 60, it follows that 2m = 60 where m is the number of edges. Therefore, m = 30.</a:t>
            </a:r>
          </a:p>
          <a:p>
            <a:pPr>
              <a:buFont typeface="Monotype Sorts" pitchFamily="2" charset="2"/>
              <a:buNone/>
            </a:pPr>
            <a:r>
              <a:rPr lang="en-US" altLang="en-US" sz="3600" dirty="0">
                <a:solidFill>
                  <a:srgbClr val="FF0000"/>
                </a:solidFill>
                <a:sym typeface="Symbol" panose="05050102010706020507" pitchFamily="18" charset="2"/>
              </a:rPr>
              <a:t>Hint:- </a:t>
            </a:r>
            <a:r>
              <a:rPr lang="en-US" altLang="en-US" sz="3600" dirty="0">
                <a:solidFill>
                  <a:srgbClr val="FF0000"/>
                </a:solidFill>
              </a:rPr>
              <a:t>  deg( v )  =  2 e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                          v</a:t>
            </a:r>
            <a:r>
              <a:rPr lang="en-US" altLang="en-US" sz="3600" dirty="0">
                <a:solidFill>
                  <a:srgbClr val="FF0000"/>
                </a:solidFill>
                <a:sym typeface="Symbol" panose="05050102010706020507" pitchFamily="18" charset="2"/>
              </a:rPr>
              <a:t> </a:t>
            </a:r>
            <a:r>
              <a:rPr lang="en-US" altLang="en-US" sz="36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V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740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Special Simple Graphs - </a:t>
            </a:r>
            <a:r>
              <a:rPr lang="en-US" dirty="0"/>
              <a:t>Complete Graphs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33531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complete graph on n vertices, denoted by K</a:t>
            </a:r>
            <a:r>
              <a:rPr lang="en-US" baseline="-25000" dirty="0"/>
              <a:t>n</a:t>
            </a:r>
            <a:r>
              <a:rPr lang="en-US" dirty="0"/>
              <a:t>, is a simple graph that contains exactly one edge between each pair of distinct vertices. </a:t>
            </a:r>
          </a:p>
          <a:p>
            <a:pPr marL="0" indent="0">
              <a:buNone/>
            </a:pPr>
            <a:r>
              <a:rPr lang="en-US" dirty="0"/>
              <a:t>The graphs K</a:t>
            </a:r>
            <a:r>
              <a:rPr lang="en-US" baseline="-25000" dirty="0"/>
              <a:t>n</a:t>
            </a:r>
            <a:r>
              <a:rPr lang="en-US" dirty="0"/>
              <a:t>, for n = 1, 2, 3, 4, 5, 6, are displayed in Figure below.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95017276-9B4B-4268-8029-287B8861659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9136" y="5517597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E4A0FCB0-7C26-4841-B59C-A91C2568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900" y="6057710"/>
            <a:ext cx="6014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i="1" dirty="0"/>
              <a:t> </a:t>
            </a:r>
            <a:r>
              <a:rPr lang="en-US" sz="2800" dirty="0"/>
              <a:t>K</a:t>
            </a:r>
            <a:r>
              <a:rPr lang="en-US" sz="2800" baseline="-25000" dirty="0"/>
              <a:t>2</a:t>
            </a:r>
            <a:endParaRPr lang="en-US" altLang="en-US" sz="1800" dirty="0"/>
          </a:p>
        </p:txBody>
      </p:sp>
      <p:sp>
        <p:nvSpPr>
          <p:cNvPr id="28" name="Oval 12">
            <a:extLst>
              <a:ext uri="{FF2B5EF4-FFF2-40B4-BE49-F238E27FC236}">
                <a16:creationId xmlns:a16="http://schemas.microsoft.com/office/drawing/2014/main" id="{6ECEE1D1-C1C9-49B5-8FD4-26E9EAE4E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70" y="5876363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226BC8FF-9C42-4147-A598-5E36A67B1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977" y="6040093"/>
            <a:ext cx="5341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 dirty="0"/>
              <a:t> </a:t>
            </a:r>
            <a:r>
              <a:rPr lang="en-US" sz="2400" dirty="0"/>
              <a:t>K</a:t>
            </a:r>
            <a:r>
              <a:rPr lang="en-US" sz="2400" baseline="-25000" dirty="0"/>
              <a:t>1</a:t>
            </a:r>
            <a:endParaRPr lang="en-US" altLang="en-US" sz="2400" dirty="0"/>
          </a:p>
        </p:txBody>
      </p:sp>
      <p:sp>
        <p:nvSpPr>
          <p:cNvPr id="36" name="Oval 12">
            <a:extLst>
              <a:ext uri="{FF2B5EF4-FFF2-40B4-BE49-F238E27FC236}">
                <a16:creationId xmlns:a16="http://schemas.microsoft.com/office/drawing/2014/main" id="{331D5EDF-D422-41E1-A178-0E8810ED7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158" y="580946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37" name="Oval 12">
            <a:extLst>
              <a:ext uri="{FF2B5EF4-FFF2-40B4-BE49-F238E27FC236}">
                <a16:creationId xmlns:a16="http://schemas.microsoft.com/office/drawing/2014/main" id="{106EEB2D-58D2-49E7-903F-9772241CA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156" y="5800774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grpSp>
        <p:nvGrpSpPr>
          <p:cNvPr id="38" name="Group 2">
            <a:extLst>
              <a:ext uri="{FF2B5EF4-FFF2-40B4-BE49-F238E27FC236}">
                <a16:creationId xmlns:a16="http://schemas.microsoft.com/office/drawing/2014/main" id="{A02411AB-519A-414B-A9FE-B530A29E93A8}"/>
              </a:ext>
            </a:extLst>
          </p:cNvPr>
          <p:cNvGrpSpPr>
            <a:grpSpLocks/>
          </p:cNvGrpSpPr>
          <p:nvPr/>
        </p:nvGrpSpPr>
        <p:grpSpPr bwMode="auto">
          <a:xfrm>
            <a:off x="2890538" y="5877063"/>
            <a:ext cx="985838" cy="228600"/>
            <a:chOff x="576" y="1872"/>
            <a:chExt cx="621" cy="144"/>
          </a:xfrm>
        </p:grpSpPr>
        <p:sp>
          <p:nvSpPr>
            <p:cNvPr id="40" name="Line 4">
              <a:extLst>
                <a:ext uri="{FF2B5EF4-FFF2-40B4-BE49-F238E27FC236}">
                  <a16:creationId xmlns:a16="http://schemas.microsoft.com/office/drawing/2014/main" id="{C0FD9F3F-3899-4C51-972E-00CA7EA580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1910"/>
              <a:ext cx="522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1" name="Oval 5">
              <a:extLst>
                <a:ext uri="{FF2B5EF4-FFF2-40B4-BE49-F238E27FC236}">
                  <a16:creationId xmlns:a16="http://schemas.microsoft.com/office/drawing/2014/main" id="{C753098A-D63B-451E-8FBB-42743D620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grpSp>
        <p:nvGrpSpPr>
          <p:cNvPr id="42" name="Group 6">
            <a:extLst>
              <a:ext uri="{FF2B5EF4-FFF2-40B4-BE49-F238E27FC236}">
                <a16:creationId xmlns:a16="http://schemas.microsoft.com/office/drawing/2014/main" id="{97EBB3F6-6B0A-4D39-B142-D21CB1087E63}"/>
              </a:ext>
            </a:extLst>
          </p:cNvPr>
          <p:cNvGrpSpPr>
            <a:grpSpLocks/>
          </p:cNvGrpSpPr>
          <p:nvPr/>
        </p:nvGrpSpPr>
        <p:grpSpPr bwMode="auto">
          <a:xfrm>
            <a:off x="3384251" y="4978538"/>
            <a:ext cx="649288" cy="1127125"/>
            <a:chOff x="311" y="1306"/>
            <a:chExt cx="409" cy="710"/>
          </a:xfrm>
        </p:grpSpPr>
        <p:sp>
          <p:nvSpPr>
            <p:cNvPr id="43" name="Oval 7">
              <a:extLst>
                <a:ext uri="{FF2B5EF4-FFF2-40B4-BE49-F238E27FC236}">
                  <a16:creationId xmlns:a16="http://schemas.microsoft.com/office/drawing/2014/main" id="{FDEF92E1-BA4D-4746-A143-200C63D76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" y="1306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4" name="Line 8">
              <a:extLst>
                <a:ext uri="{FF2B5EF4-FFF2-40B4-BE49-F238E27FC236}">
                  <a16:creationId xmlns:a16="http://schemas.microsoft.com/office/drawing/2014/main" id="{5AC3D255-5FBC-4E32-91E9-1B78879E5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" y="1450"/>
              <a:ext cx="242" cy="4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5" name="Oval 9">
              <a:extLst>
                <a:ext uri="{FF2B5EF4-FFF2-40B4-BE49-F238E27FC236}">
                  <a16:creationId xmlns:a16="http://schemas.microsoft.com/office/drawing/2014/main" id="{ACF1642B-CC4B-4069-A7F2-AA95D1191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sp>
        <p:nvSpPr>
          <p:cNvPr id="48" name="Line 14">
            <a:extLst>
              <a:ext uri="{FF2B5EF4-FFF2-40B4-BE49-F238E27FC236}">
                <a16:creationId xmlns:a16="http://schemas.microsoft.com/office/drawing/2014/main" id="{F9AE6401-73CD-473F-81FF-CD8391664F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56360" y="5115063"/>
            <a:ext cx="530827" cy="8952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53" name="Text Box 26">
            <a:extLst>
              <a:ext uri="{FF2B5EF4-FFF2-40B4-BE49-F238E27FC236}">
                <a16:creationId xmlns:a16="http://schemas.microsoft.com/office/drawing/2014/main" id="{23C1C80E-E904-4F94-B8A6-52A43E948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623" y="6051086"/>
            <a:ext cx="6046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i="1" dirty="0"/>
              <a:t> </a:t>
            </a:r>
            <a:r>
              <a:rPr lang="en-US" sz="2800" dirty="0"/>
              <a:t>K</a:t>
            </a:r>
            <a:r>
              <a:rPr lang="en-US" sz="2800" baseline="-25000" dirty="0"/>
              <a:t>3</a:t>
            </a:r>
            <a:endParaRPr lang="en-US" altLang="en-US" sz="1800" dirty="0"/>
          </a:p>
        </p:txBody>
      </p:sp>
      <p:grpSp>
        <p:nvGrpSpPr>
          <p:cNvPr id="54" name="Group 2">
            <a:extLst>
              <a:ext uri="{FF2B5EF4-FFF2-40B4-BE49-F238E27FC236}">
                <a16:creationId xmlns:a16="http://schemas.microsoft.com/office/drawing/2014/main" id="{8315BBB6-09F6-4C1E-A1A6-B5C884186397}"/>
              </a:ext>
            </a:extLst>
          </p:cNvPr>
          <p:cNvGrpSpPr>
            <a:grpSpLocks/>
          </p:cNvGrpSpPr>
          <p:nvPr/>
        </p:nvGrpSpPr>
        <p:grpSpPr bwMode="auto">
          <a:xfrm>
            <a:off x="4305210" y="5840622"/>
            <a:ext cx="985838" cy="228600"/>
            <a:chOff x="576" y="1872"/>
            <a:chExt cx="621" cy="144"/>
          </a:xfrm>
        </p:grpSpPr>
        <p:sp>
          <p:nvSpPr>
            <p:cNvPr id="55" name="Line 4">
              <a:extLst>
                <a:ext uri="{FF2B5EF4-FFF2-40B4-BE49-F238E27FC236}">
                  <a16:creationId xmlns:a16="http://schemas.microsoft.com/office/drawing/2014/main" id="{681600FC-F030-4CB6-BD44-4C57E113A7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1910"/>
              <a:ext cx="522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56" name="Oval 5">
              <a:extLst>
                <a:ext uri="{FF2B5EF4-FFF2-40B4-BE49-F238E27FC236}">
                  <a16:creationId xmlns:a16="http://schemas.microsoft.com/office/drawing/2014/main" id="{34954CF0-879D-41FB-BA88-350E1BB44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grpSp>
        <p:nvGrpSpPr>
          <p:cNvPr id="57" name="Group 6">
            <a:extLst>
              <a:ext uri="{FF2B5EF4-FFF2-40B4-BE49-F238E27FC236}">
                <a16:creationId xmlns:a16="http://schemas.microsoft.com/office/drawing/2014/main" id="{A70CC0FA-02FA-4247-A95B-1822F0B8DB02}"/>
              </a:ext>
            </a:extLst>
          </p:cNvPr>
          <p:cNvGrpSpPr>
            <a:grpSpLocks/>
          </p:cNvGrpSpPr>
          <p:nvPr/>
        </p:nvGrpSpPr>
        <p:grpSpPr bwMode="auto">
          <a:xfrm>
            <a:off x="4286160" y="4942097"/>
            <a:ext cx="1162051" cy="1127125"/>
            <a:chOff x="-12" y="1306"/>
            <a:chExt cx="732" cy="710"/>
          </a:xfrm>
        </p:grpSpPr>
        <p:sp>
          <p:nvSpPr>
            <p:cNvPr id="58" name="Oval 7">
              <a:extLst>
                <a:ext uri="{FF2B5EF4-FFF2-40B4-BE49-F238E27FC236}">
                  <a16:creationId xmlns:a16="http://schemas.microsoft.com/office/drawing/2014/main" id="{3718B8DC-2176-4B92-9528-6A47633D2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" y="1306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9" name="Line 8">
              <a:extLst>
                <a:ext uri="{FF2B5EF4-FFF2-40B4-BE49-F238E27FC236}">
                  <a16:creationId xmlns:a16="http://schemas.microsoft.com/office/drawing/2014/main" id="{969C8487-48D3-4E93-89E0-46250DAAF1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1415"/>
              <a:ext cx="4" cy="4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 dirty="0"/>
            </a:p>
          </p:txBody>
        </p:sp>
        <p:sp>
          <p:nvSpPr>
            <p:cNvPr id="60" name="Oval 9">
              <a:extLst>
                <a:ext uri="{FF2B5EF4-FFF2-40B4-BE49-F238E27FC236}">
                  <a16:creationId xmlns:a16="http://schemas.microsoft.com/office/drawing/2014/main" id="{7F9FE2E7-E497-435D-8850-DC09B3004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sp>
        <p:nvSpPr>
          <p:cNvPr id="61" name="Line 14">
            <a:extLst>
              <a:ext uri="{FF2B5EF4-FFF2-40B4-BE49-F238E27FC236}">
                <a16:creationId xmlns:a16="http://schemas.microsoft.com/office/drawing/2014/main" id="{1D962862-E254-4129-9CF7-0AE0ADF6EA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71032" y="5115063"/>
            <a:ext cx="10380" cy="8587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62" name="Text Box 26">
            <a:extLst>
              <a:ext uri="{FF2B5EF4-FFF2-40B4-BE49-F238E27FC236}">
                <a16:creationId xmlns:a16="http://schemas.microsoft.com/office/drawing/2014/main" id="{4153DCFC-3EAF-43C7-91DF-5C672FB03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295" y="6014645"/>
            <a:ext cx="6142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i="1" dirty="0"/>
              <a:t> </a:t>
            </a:r>
            <a:r>
              <a:rPr lang="en-US" sz="2800" dirty="0"/>
              <a:t>K</a:t>
            </a:r>
            <a:r>
              <a:rPr lang="en-US" sz="2800" baseline="-25000" dirty="0"/>
              <a:t>4</a:t>
            </a:r>
            <a:endParaRPr lang="en-US" altLang="en-US" sz="1800" dirty="0"/>
          </a:p>
        </p:txBody>
      </p:sp>
      <p:sp>
        <p:nvSpPr>
          <p:cNvPr id="63" name="Oval 7">
            <a:extLst>
              <a:ext uri="{FF2B5EF4-FFF2-40B4-BE49-F238E27FC236}">
                <a16:creationId xmlns:a16="http://schemas.microsoft.com/office/drawing/2014/main" id="{447C6C01-DFC5-40F9-B28A-841E85B9F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028" y="4930572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64" name="Line 4">
            <a:extLst>
              <a:ext uri="{FF2B5EF4-FFF2-40B4-BE49-F238E27FC236}">
                <a16:creationId xmlns:a16="http://schemas.microsoft.com/office/drawing/2014/main" id="{EEE3737F-69CE-49EE-ADFE-3021079BC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35871" y="5039552"/>
            <a:ext cx="828675" cy="15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65" name="Line 4">
            <a:extLst>
              <a:ext uri="{FF2B5EF4-FFF2-40B4-BE49-F238E27FC236}">
                <a16:creationId xmlns:a16="http://schemas.microsoft.com/office/drawing/2014/main" id="{1D858BC7-EF04-4D43-B968-E5A7FAFEDC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01585" y="5039553"/>
            <a:ext cx="892635" cy="95263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66" name="Line 4">
            <a:extLst>
              <a:ext uri="{FF2B5EF4-FFF2-40B4-BE49-F238E27FC236}">
                <a16:creationId xmlns:a16="http://schemas.microsoft.com/office/drawing/2014/main" id="{83335AA8-235A-4A4E-9686-FEE4EBE3F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5871" y="5077887"/>
            <a:ext cx="851313" cy="8389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grpSp>
        <p:nvGrpSpPr>
          <p:cNvPr id="67" name="Group 2">
            <a:extLst>
              <a:ext uri="{FF2B5EF4-FFF2-40B4-BE49-F238E27FC236}">
                <a16:creationId xmlns:a16="http://schemas.microsoft.com/office/drawing/2014/main" id="{2700EF33-FB8F-4BFF-8AD3-BB22A0133B83}"/>
              </a:ext>
            </a:extLst>
          </p:cNvPr>
          <p:cNvGrpSpPr>
            <a:grpSpLocks/>
          </p:cNvGrpSpPr>
          <p:nvPr/>
        </p:nvGrpSpPr>
        <p:grpSpPr bwMode="auto">
          <a:xfrm>
            <a:off x="6008114" y="5853872"/>
            <a:ext cx="985838" cy="228600"/>
            <a:chOff x="576" y="1872"/>
            <a:chExt cx="621" cy="144"/>
          </a:xfrm>
        </p:grpSpPr>
        <p:sp>
          <p:nvSpPr>
            <p:cNvPr id="68" name="Line 4">
              <a:extLst>
                <a:ext uri="{FF2B5EF4-FFF2-40B4-BE49-F238E27FC236}">
                  <a16:creationId xmlns:a16="http://schemas.microsoft.com/office/drawing/2014/main" id="{FD607DB4-971F-444F-A2E2-00E587B310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1910"/>
              <a:ext cx="522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9" name="Oval 5">
              <a:extLst>
                <a:ext uri="{FF2B5EF4-FFF2-40B4-BE49-F238E27FC236}">
                  <a16:creationId xmlns:a16="http://schemas.microsoft.com/office/drawing/2014/main" id="{F28E48DE-11E3-4354-882F-37719F8C5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grpSp>
        <p:nvGrpSpPr>
          <p:cNvPr id="70" name="Group 6">
            <a:extLst>
              <a:ext uri="{FF2B5EF4-FFF2-40B4-BE49-F238E27FC236}">
                <a16:creationId xmlns:a16="http://schemas.microsoft.com/office/drawing/2014/main" id="{73947F5C-EB61-42D3-904B-109B14619B5B}"/>
              </a:ext>
            </a:extLst>
          </p:cNvPr>
          <p:cNvGrpSpPr>
            <a:grpSpLocks/>
          </p:cNvGrpSpPr>
          <p:nvPr/>
        </p:nvGrpSpPr>
        <p:grpSpPr bwMode="auto">
          <a:xfrm>
            <a:off x="5811264" y="5010910"/>
            <a:ext cx="1416051" cy="1071563"/>
            <a:chOff x="-124" y="1341"/>
            <a:chExt cx="892" cy="675"/>
          </a:xfrm>
        </p:grpSpPr>
        <p:sp>
          <p:nvSpPr>
            <p:cNvPr id="71" name="Oval 7">
              <a:extLst>
                <a:ext uri="{FF2B5EF4-FFF2-40B4-BE49-F238E27FC236}">
                  <a16:creationId xmlns:a16="http://schemas.microsoft.com/office/drawing/2014/main" id="{E547AA27-B87B-482A-AA22-F2A570651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4" y="1341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2" name="Line 8">
              <a:extLst>
                <a:ext uri="{FF2B5EF4-FFF2-40B4-BE49-F238E27FC236}">
                  <a16:creationId xmlns:a16="http://schemas.microsoft.com/office/drawing/2014/main" id="{688FEDCD-0F32-43F5-BFBF-D944B7727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1442"/>
              <a:ext cx="144" cy="4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 dirty="0"/>
            </a:p>
          </p:txBody>
        </p:sp>
        <p:sp>
          <p:nvSpPr>
            <p:cNvPr id="73" name="Oval 9">
              <a:extLst>
                <a:ext uri="{FF2B5EF4-FFF2-40B4-BE49-F238E27FC236}">
                  <a16:creationId xmlns:a16="http://schemas.microsoft.com/office/drawing/2014/main" id="{7BF1BD41-0AE1-474D-9AA6-162099E2D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sp>
        <p:nvSpPr>
          <p:cNvPr id="74" name="Line 14">
            <a:extLst>
              <a:ext uri="{FF2B5EF4-FFF2-40B4-BE49-F238E27FC236}">
                <a16:creationId xmlns:a16="http://schemas.microsoft.com/office/drawing/2014/main" id="{66135508-B185-4455-97FF-A69B894BD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731" y="5128385"/>
            <a:ext cx="141205" cy="85869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8B28FB9F-AC2D-4225-A34F-C61EEF871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199" y="6027895"/>
            <a:ext cx="6078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i="1" dirty="0"/>
              <a:t> </a:t>
            </a:r>
            <a:r>
              <a:rPr lang="en-US" sz="2800" dirty="0"/>
              <a:t>K</a:t>
            </a:r>
            <a:r>
              <a:rPr lang="en-US" sz="2800" baseline="-25000" dirty="0"/>
              <a:t>5</a:t>
            </a:r>
            <a:endParaRPr lang="en-US" altLang="en-US" sz="1800" dirty="0"/>
          </a:p>
        </p:txBody>
      </p:sp>
      <p:sp>
        <p:nvSpPr>
          <p:cNvPr id="76" name="Oval 7">
            <a:extLst>
              <a:ext uri="{FF2B5EF4-FFF2-40B4-BE49-F238E27FC236}">
                <a16:creationId xmlns:a16="http://schemas.microsoft.com/office/drawing/2014/main" id="{72E074EC-CCE9-4383-B9AF-47429D21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508" y="5022436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77" name="Line 4">
            <a:extLst>
              <a:ext uri="{FF2B5EF4-FFF2-40B4-BE49-F238E27FC236}">
                <a16:creationId xmlns:a16="http://schemas.microsoft.com/office/drawing/2014/main" id="{25598999-DBDD-462E-AB09-2EBE3E6E08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2731" y="5077887"/>
            <a:ext cx="1294583" cy="3717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78" name="Line 4">
            <a:extLst>
              <a:ext uri="{FF2B5EF4-FFF2-40B4-BE49-F238E27FC236}">
                <a16:creationId xmlns:a16="http://schemas.microsoft.com/office/drawing/2014/main" id="{1B5C0A68-02C7-4435-A3E5-F4C136AFFC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4488" y="5077887"/>
            <a:ext cx="1142976" cy="92754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79" name="Line 4">
            <a:extLst>
              <a:ext uri="{FF2B5EF4-FFF2-40B4-BE49-F238E27FC236}">
                <a16:creationId xmlns:a16="http://schemas.microsoft.com/office/drawing/2014/main" id="{9C5CA2A2-0DFD-4E21-8744-712A128FC2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7963" y="5128385"/>
            <a:ext cx="1002126" cy="8016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80" name="Oval 7">
            <a:extLst>
              <a:ext uri="{FF2B5EF4-FFF2-40B4-BE49-F238E27FC236}">
                <a16:creationId xmlns:a16="http://schemas.microsoft.com/office/drawing/2014/main" id="{0B0C9833-212D-425B-BE97-7262BD660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376" y="4440194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81" name="Line 4">
            <a:extLst>
              <a:ext uri="{FF2B5EF4-FFF2-40B4-BE49-F238E27FC236}">
                <a16:creationId xmlns:a16="http://schemas.microsoft.com/office/drawing/2014/main" id="{60B02F82-1766-4DE0-931A-4BD612010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8456" y="4601816"/>
            <a:ext cx="486865" cy="13348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82" name="Line 4">
            <a:extLst>
              <a:ext uri="{FF2B5EF4-FFF2-40B4-BE49-F238E27FC236}">
                <a16:creationId xmlns:a16="http://schemas.microsoft.com/office/drawing/2014/main" id="{FF5E7AA7-C363-41A3-B0C6-573C50E6FC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0630" y="4565830"/>
            <a:ext cx="462532" cy="147223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83" name="Line 4">
            <a:extLst>
              <a:ext uri="{FF2B5EF4-FFF2-40B4-BE49-F238E27FC236}">
                <a16:creationId xmlns:a16="http://schemas.microsoft.com/office/drawing/2014/main" id="{FC784F58-7F47-440D-A282-95A2E7D67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644" y="4565830"/>
            <a:ext cx="567144" cy="54509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84" name="Line 4">
            <a:extLst>
              <a:ext uri="{FF2B5EF4-FFF2-40B4-BE49-F238E27FC236}">
                <a16:creationId xmlns:a16="http://schemas.microsoft.com/office/drawing/2014/main" id="{C43CC969-19C4-4179-A5BD-10D0A9B09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6624" y="4521423"/>
            <a:ext cx="521306" cy="6023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grpSp>
        <p:nvGrpSpPr>
          <p:cNvPr id="85" name="Group 2">
            <a:extLst>
              <a:ext uri="{FF2B5EF4-FFF2-40B4-BE49-F238E27FC236}">
                <a16:creationId xmlns:a16="http://schemas.microsoft.com/office/drawing/2014/main" id="{344F02DE-D5E8-4219-B44C-F2671C627E75}"/>
              </a:ext>
            </a:extLst>
          </p:cNvPr>
          <p:cNvGrpSpPr>
            <a:grpSpLocks/>
          </p:cNvGrpSpPr>
          <p:nvPr/>
        </p:nvGrpSpPr>
        <p:grpSpPr bwMode="auto">
          <a:xfrm>
            <a:off x="7711018" y="5380105"/>
            <a:ext cx="985838" cy="228600"/>
            <a:chOff x="576" y="1872"/>
            <a:chExt cx="621" cy="144"/>
          </a:xfrm>
        </p:grpSpPr>
        <p:sp>
          <p:nvSpPr>
            <p:cNvPr id="86" name="Line 4">
              <a:extLst>
                <a:ext uri="{FF2B5EF4-FFF2-40B4-BE49-F238E27FC236}">
                  <a16:creationId xmlns:a16="http://schemas.microsoft.com/office/drawing/2014/main" id="{5C7379A3-E182-4556-9AB2-38965DB114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1910"/>
              <a:ext cx="522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7" name="Oval 5">
              <a:extLst>
                <a:ext uri="{FF2B5EF4-FFF2-40B4-BE49-F238E27FC236}">
                  <a16:creationId xmlns:a16="http://schemas.microsoft.com/office/drawing/2014/main" id="{EC5519ED-F697-4DA2-9DFA-420591BC1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grpSp>
        <p:nvGrpSpPr>
          <p:cNvPr id="88" name="Group 6">
            <a:extLst>
              <a:ext uri="{FF2B5EF4-FFF2-40B4-BE49-F238E27FC236}">
                <a16:creationId xmlns:a16="http://schemas.microsoft.com/office/drawing/2014/main" id="{4C1CAD94-2308-4F3E-ADC3-88F616BDFA24}"/>
              </a:ext>
            </a:extLst>
          </p:cNvPr>
          <p:cNvGrpSpPr>
            <a:grpSpLocks/>
          </p:cNvGrpSpPr>
          <p:nvPr/>
        </p:nvGrpSpPr>
        <p:grpSpPr bwMode="auto">
          <a:xfrm>
            <a:off x="7647518" y="4537143"/>
            <a:ext cx="1206501" cy="1071563"/>
            <a:chOff x="-40" y="1341"/>
            <a:chExt cx="760" cy="675"/>
          </a:xfrm>
        </p:grpSpPr>
        <p:sp>
          <p:nvSpPr>
            <p:cNvPr id="89" name="Oval 7">
              <a:extLst>
                <a:ext uri="{FF2B5EF4-FFF2-40B4-BE49-F238E27FC236}">
                  <a16:creationId xmlns:a16="http://schemas.microsoft.com/office/drawing/2014/main" id="{D20703B8-2799-462D-8EE2-294A0C044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0" y="1341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90" name="Line 8">
              <a:extLst>
                <a:ext uri="{FF2B5EF4-FFF2-40B4-BE49-F238E27FC236}">
                  <a16:creationId xmlns:a16="http://schemas.microsoft.com/office/drawing/2014/main" id="{C7321876-9FD0-4ED1-8ADB-96822BA3BF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2" y="1404"/>
              <a:ext cx="0" cy="5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 dirty="0"/>
            </a:p>
          </p:txBody>
        </p:sp>
        <p:sp>
          <p:nvSpPr>
            <p:cNvPr id="91" name="Oval 9">
              <a:extLst>
                <a:ext uri="{FF2B5EF4-FFF2-40B4-BE49-F238E27FC236}">
                  <a16:creationId xmlns:a16="http://schemas.microsoft.com/office/drawing/2014/main" id="{49BAD7F8-23CE-4A89-A508-720F24427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sp>
        <p:nvSpPr>
          <p:cNvPr id="92" name="Line 14">
            <a:extLst>
              <a:ext uri="{FF2B5EF4-FFF2-40B4-BE49-F238E27FC236}">
                <a16:creationId xmlns:a16="http://schemas.microsoft.com/office/drawing/2014/main" id="{76D3614F-C50F-4886-B8F4-2ED6656F6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6714" y="4665730"/>
            <a:ext cx="30126" cy="8475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93" name="Oval 7">
            <a:extLst>
              <a:ext uri="{FF2B5EF4-FFF2-40B4-BE49-F238E27FC236}">
                <a16:creationId xmlns:a16="http://schemas.microsoft.com/office/drawing/2014/main" id="{55D89184-1F90-4093-8FBB-C4253EDF5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0570" y="4548669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94" name="Line 4">
            <a:extLst>
              <a:ext uri="{FF2B5EF4-FFF2-40B4-BE49-F238E27FC236}">
                <a16:creationId xmlns:a16="http://schemas.microsoft.com/office/drawing/2014/main" id="{60A6A9D9-EF00-4E34-A910-C6C5BD8160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35634" y="4641296"/>
            <a:ext cx="1102651" cy="1304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95" name="Line 4">
            <a:extLst>
              <a:ext uri="{FF2B5EF4-FFF2-40B4-BE49-F238E27FC236}">
                <a16:creationId xmlns:a16="http://schemas.microsoft.com/office/drawing/2014/main" id="{944C18E7-A922-4188-A32D-71779F0195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07392" y="4650046"/>
            <a:ext cx="960984" cy="88162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96" name="Line 4">
            <a:extLst>
              <a:ext uri="{FF2B5EF4-FFF2-40B4-BE49-F238E27FC236}">
                <a16:creationId xmlns:a16="http://schemas.microsoft.com/office/drawing/2014/main" id="{2AD27DB3-CDD3-4866-A34E-811FDE1BF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0867" y="4654618"/>
            <a:ext cx="1002126" cy="8016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97" name="Oval 7">
            <a:extLst>
              <a:ext uri="{FF2B5EF4-FFF2-40B4-BE49-F238E27FC236}">
                <a16:creationId xmlns:a16="http://schemas.microsoft.com/office/drawing/2014/main" id="{9CABCB18-D035-415A-8ADC-5A00AE906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087" y="3956154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98" name="Line 4">
            <a:extLst>
              <a:ext uri="{FF2B5EF4-FFF2-40B4-BE49-F238E27FC236}">
                <a16:creationId xmlns:a16="http://schemas.microsoft.com/office/drawing/2014/main" id="{157BDE3B-701B-45A2-A62A-3EDF6D085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1421" y="4128049"/>
            <a:ext cx="486865" cy="13348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99" name="Line 4">
            <a:extLst>
              <a:ext uri="{FF2B5EF4-FFF2-40B4-BE49-F238E27FC236}">
                <a16:creationId xmlns:a16="http://schemas.microsoft.com/office/drawing/2014/main" id="{5B574AF8-7B99-4731-8D35-0D14921B5D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3534" y="4092063"/>
            <a:ext cx="462532" cy="147223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00" name="Line 4">
            <a:extLst>
              <a:ext uri="{FF2B5EF4-FFF2-40B4-BE49-F238E27FC236}">
                <a16:creationId xmlns:a16="http://schemas.microsoft.com/office/drawing/2014/main" id="{50480107-E3C4-4C0A-9529-476F73572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2548" y="4092063"/>
            <a:ext cx="397547" cy="51919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01" name="Line 4">
            <a:extLst>
              <a:ext uri="{FF2B5EF4-FFF2-40B4-BE49-F238E27FC236}">
                <a16:creationId xmlns:a16="http://schemas.microsoft.com/office/drawing/2014/main" id="{BF4E235D-2D04-4BB5-BF1C-BCE2D844E2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5342" y="4085438"/>
            <a:ext cx="471895" cy="56043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02" name="Text Box 26">
            <a:extLst>
              <a:ext uri="{FF2B5EF4-FFF2-40B4-BE49-F238E27FC236}">
                <a16:creationId xmlns:a16="http://schemas.microsoft.com/office/drawing/2014/main" id="{21BDC826-1373-475F-B9BA-353BA41FE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8922" y="6050969"/>
            <a:ext cx="6014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i="1" dirty="0"/>
              <a:t> </a:t>
            </a:r>
            <a:r>
              <a:rPr lang="en-US" sz="2800" dirty="0"/>
              <a:t>K</a:t>
            </a:r>
            <a:r>
              <a:rPr lang="en-US" sz="2800" baseline="-25000" dirty="0"/>
              <a:t>6</a:t>
            </a:r>
            <a:endParaRPr lang="en-US" altLang="en-US" sz="1800" dirty="0"/>
          </a:p>
        </p:txBody>
      </p:sp>
      <p:sp>
        <p:nvSpPr>
          <p:cNvPr id="103" name="Oval 7">
            <a:extLst>
              <a:ext uri="{FF2B5EF4-FFF2-40B4-BE49-F238E27FC236}">
                <a16:creationId xmlns:a16="http://schemas.microsoft.com/office/drawing/2014/main" id="{3B381D16-0595-404F-8846-FAB91EA80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8218" y="5789588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104" name="Line 4">
            <a:extLst>
              <a:ext uri="{FF2B5EF4-FFF2-40B4-BE49-F238E27FC236}">
                <a16:creationId xmlns:a16="http://schemas.microsoft.com/office/drawing/2014/main" id="{3B077FFA-E8C4-492B-A061-A21E4EDA3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6840" y="5440429"/>
            <a:ext cx="503409" cy="47637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05" name="Line 4">
            <a:extLst>
              <a:ext uri="{FF2B5EF4-FFF2-40B4-BE49-F238E27FC236}">
                <a16:creationId xmlns:a16="http://schemas.microsoft.com/office/drawing/2014/main" id="{51C9C365-27D2-4271-B15A-1B537F4734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82398" y="5476252"/>
            <a:ext cx="486865" cy="44055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06" name="Line 4">
            <a:extLst>
              <a:ext uri="{FF2B5EF4-FFF2-40B4-BE49-F238E27FC236}">
                <a16:creationId xmlns:a16="http://schemas.microsoft.com/office/drawing/2014/main" id="{5375E7AC-C98A-43B9-B0F4-1D4EEA657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351" y="4654343"/>
            <a:ext cx="531568" cy="12494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07" name="Line 4">
            <a:extLst>
              <a:ext uri="{FF2B5EF4-FFF2-40B4-BE49-F238E27FC236}">
                <a16:creationId xmlns:a16="http://schemas.microsoft.com/office/drawing/2014/main" id="{73FB53D2-1421-467B-A2F8-C3C9D4F6F3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0918" y="4624581"/>
            <a:ext cx="412513" cy="126199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1571484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Simple Graphs - Complete Graphs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A simple graph for which there is at least one pair of distinct vertex not connected by an edge is called noncomplete.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2CBEDC28-1F91-44B5-B1C8-E4608847CC44}"/>
              </a:ext>
            </a:extLst>
          </p:cNvPr>
          <p:cNvGrpSpPr>
            <a:grpSpLocks/>
          </p:cNvGrpSpPr>
          <p:nvPr/>
        </p:nvGrpSpPr>
        <p:grpSpPr bwMode="auto">
          <a:xfrm>
            <a:off x="4305210" y="5840622"/>
            <a:ext cx="985838" cy="228600"/>
            <a:chOff x="576" y="1872"/>
            <a:chExt cx="621" cy="144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067110AE-5572-436F-B92F-5D8234EB7E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1910"/>
              <a:ext cx="522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EFE7E5C-F3D2-42DF-8CC8-FECB8059C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92B50F-9747-4B5A-8EFD-5F1DDA00F6BD}"/>
              </a:ext>
            </a:extLst>
          </p:cNvPr>
          <p:cNvGrpSpPr>
            <a:grpSpLocks/>
          </p:cNvGrpSpPr>
          <p:nvPr/>
        </p:nvGrpSpPr>
        <p:grpSpPr bwMode="auto">
          <a:xfrm>
            <a:off x="4286160" y="4942097"/>
            <a:ext cx="1162051" cy="1127125"/>
            <a:chOff x="-12" y="1306"/>
            <a:chExt cx="732" cy="71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9CEDD48-3C8A-4A4B-9193-3920F40A6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" y="1306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EA695CC5-C6B9-4690-B9DC-C744A2AFC6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1415"/>
              <a:ext cx="4" cy="4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E8A4461-1896-40FE-ADE4-D7BC56D37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72"/>
              <a:ext cx="144" cy="14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sp>
        <p:nvSpPr>
          <p:cNvPr id="11" name="Line 14">
            <a:extLst>
              <a:ext uri="{FF2B5EF4-FFF2-40B4-BE49-F238E27FC236}">
                <a16:creationId xmlns:a16="http://schemas.microsoft.com/office/drawing/2014/main" id="{A0ED7193-BBDB-4072-AFDE-DE88E21394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71032" y="5115063"/>
            <a:ext cx="10380" cy="8587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143C42EC-1876-4AB3-8D0A-C0C98C441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295" y="6014645"/>
            <a:ext cx="6142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i="1" dirty="0"/>
              <a:t> </a:t>
            </a:r>
            <a:r>
              <a:rPr lang="en-US" sz="2800" dirty="0"/>
              <a:t>K</a:t>
            </a:r>
            <a:r>
              <a:rPr lang="en-US" sz="2800" baseline="-25000" dirty="0"/>
              <a:t>4</a:t>
            </a:r>
            <a:endParaRPr lang="en-US" altLang="en-US" sz="1800" dirty="0"/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0986B7F6-DF70-4525-AEA0-43670D42E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028" y="4930572"/>
            <a:ext cx="228600" cy="2286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14" name="Line 4">
            <a:extLst>
              <a:ext uri="{FF2B5EF4-FFF2-40B4-BE49-F238E27FC236}">
                <a16:creationId xmlns:a16="http://schemas.microsoft.com/office/drawing/2014/main" id="{7DDC869F-BE39-4431-9787-9093231D05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35871" y="5039552"/>
            <a:ext cx="828675" cy="15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5" name="Line 4">
            <a:extLst>
              <a:ext uri="{FF2B5EF4-FFF2-40B4-BE49-F238E27FC236}">
                <a16:creationId xmlns:a16="http://schemas.microsoft.com/office/drawing/2014/main" id="{D8DE9D60-A927-47C7-AD9F-2D126A8FC7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01585" y="5039553"/>
            <a:ext cx="892635" cy="95263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6" name="Line 4">
            <a:extLst>
              <a:ext uri="{FF2B5EF4-FFF2-40B4-BE49-F238E27FC236}">
                <a16:creationId xmlns:a16="http://schemas.microsoft.com/office/drawing/2014/main" id="{E9010539-B115-499D-A329-3CF4A0903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5871" y="5077887"/>
            <a:ext cx="851313" cy="8389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86797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Simple Graphs - Cycles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25977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cycle C</a:t>
            </a:r>
            <a:r>
              <a:rPr lang="en-US" baseline="-25000" dirty="0"/>
              <a:t>n</a:t>
            </a:r>
            <a:r>
              <a:rPr lang="en-US" dirty="0"/>
              <a:t>, n ≥ 3, consists of n vertices v</a:t>
            </a:r>
            <a:r>
              <a:rPr lang="en-US" baseline="-25000" dirty="0"/>
              <a:t>1</a:t>
            </a:r>
            <a:r>
              <a:rPr lang="en-US" dirty="0"/>
              <a:t>, v</a:t>
            </a:r>
            <a:r>
              <a:rPr lang="en-US" baseline="-25000" dirty="0"/>
              <a:t>2</a:t>
            </a:r>
            <a:r>
              <a:rPr lang="en-US" dirty="0"/>
              <a:t>, . . . , v</a:t>
            </a:r>
            <a:r>
              <a:rPr lang="en-US" baseline="-25000" dirty="0"/>
              <a:t>n</a:t>
            </a:r>
            <a:r>
              <a:rPr lang="en-US" dirty="0"/>
              <a:t> and edges {v</a:t>
            </a:r>
            <a:r>
              <a:rPr lang="en-US" baseline="-25000" dirty="0"/>
              <a:t>1</a:t>
            </a:r>
            <a:r>
              <a:rPr lang="en-US" dirty="0"/>
              <a:t>, v</a:t>
            </a:r>
            <a:r>
              <a:rPr lang="en-US" baseline="-25000" dirty="0"/>
              <a:t>2</a:t>
            </a:r>
            <a:r>
              <a:rPr lang="en-US" dirty="0"/>
              <a:t>}, {v</a:t>
            </a:r>
            <a:r>
              <a:rPr lang="en-US" baseline="-25000" dirty="0"/>
              <a:t>2</a:t>
            </a:r>
            <a:r>
              <a:rPr lang="en-US" dirty="0"/>
              <a:t>, v</a:t>
            </a:r>
            <a:r>
              <a:rPr lang="en-US" baseline="-25000" dirty="0"/>
              <a:t>3</a:t>
            </a:r>
            <a:r>
              <a:rPr lang="en-US" dirty="0"/>
              <a:t>}, . . . , {v</a:t>
            </a:r>
            <a:r>
              <a:rPr lang="en-US" baseline="-25000" dirty="0"/>
              <a:t>n−1</a:t>
            </a:r>
            <a:r>
              <a:rPr lang="en-US" dirty="0"/>
              <a:t>, v</a:t>
            </a:r>
            <a:r>
              <a:rPr lang="en-US" baseline="-25000" dirty="0"/>
              <a:t>n</a:t>
            </a:r>
            <a:r>
              <a:rPr lang="en-US" dirty="0"/>
              <a:t>}, and {v</a:t>
            </a:r>
            <a:r>
              <a:rPr lang="en-US" baseline="-25000" dirty="0"/>
              <a:t>n</a:t>
            </a:r>
            <a:r>
              <a:rPr lang="en-US" dirty="0"/>
              <a:t>, v</a:t>
            </a:r>
            <a:r>
              <a:rPr lang="en-US" baseline="-25000" dirty="0"/>
              <a:t>1</a:t>
            </a:r>
            <a:r>
              <a:rPr lang="en-US" dirty="0"/>
              <a:t>}. The cycles C</a:t>
            </a:r>
            <a:r>
              <a:rPr lang="en-US" baseline="-25000" dirty="0"/>
              <a:t>3</a:t>
            </a:r>
            <a:r>
              <a:rPr lang="en-US" dirty="0"/>
              <a:t>, C</a:t>
            </a:r>
            <a:r>
              <a:rPr lang="en-US" baseline="-25000" dirty="0"/>
              <a:t>4</a:t>
            </a:r>
            <a:r>
              <a:rPr lang="en-US" dirty="0"/>
              <a:t>, C</a:t>
            </a:r>
            <a:r>
              <a:rPr lang="en-US" baseline="-25000" dirty="0"/>
              <a:t>5</a:t>
            </a:r>
            <a:r>
              <a:rPr lang="en-US" dirty="0"/>
              <a:t>, and C</a:t>
            </a:r>
            <a:r>
              <a:rPr lang="en-US" baseline="-25000" dirty="0"/>
              <a:t>6</a:t>
            </a:r>
            <a:r>
              <a:rPr lang="en-US" dirty="0"/>
              <a:t> are displayed in Figure below.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A46A2D-4C1E-40DA-87F7-DA4DC899D39C}"/>
              </a:ext>
            </a:extLst>
          </p:cNvPr>
          <p:cNvGrpSpPr/>
          <p:nvPr/>
        </p:nvGrpSpPr>
        <p:grpSpPr>
          <a:xfrm>
            <a:off x="884490" y="4417651"/>
            <a:ext cx="1645002" cy="1691477"/>
            <a:chOff x="258323" y="4928843"/>
            <a:chExt cx="1645002" cy="1691477"/>
          </a:xfrm>
        </p:grpSpPr>
        <p:grpSp>
          <p:nvGrpSpPr>
            <p:cNvPr id="10" name="Group 2">
              <a:extLst>
                <a:ext uri="{FF2B5EF4-FFF2-40B4-BE49-F238E27FC236}">
                  <a16:creationId xmlns:a16="http://schemas.microsoft.com/office/drawing/2014/main" id="{EBD24536-F91B-4E38-BE7C-4D85FD043E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330" y="5827368"/>
              <a:ext cx="985838" cy="228600"/>
              <a:chOff x="576" y="1872"/>
              <a:chExt cx="621" cy="144"/>
            </a:xfrm>
          </p:grpSpPr>
          <p:sp>
            <p:nvSpPr>
              <p:cNvPr id="11" name="Line 4">
                <a:extLst>
                  <a:ext uri="{FF2B5EF4-FFF2-40B4-BE49-F238E27FC236}">
                    <a16:creationId xmlns:a16="http://schemas.microsoft.com/office/drawing/2014/main" id="{5259FB7E-81E0-47D5-B7C4-7ADA82962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5" y="1910"/>
                <a:ext cx="522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2" name="Oval 5">
                <a:extLst>
                  <a:ext uri="{FF2B5EF4-FFF2-40B4-BE49-F238E27FC236}">
                    <a16:creationId xmlns:a16="http://schemas.microsoft.com/office/drawing/2014/main" id="{777B6F52-FDF6-4F76-B7F8-510F20923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13" name="Group 6">
              <a:extLst>
                <a:ext uri="{FF2B5EF4-FFF2-40B4-BE49-F238E27FC236}">
                  <a16:creationId xmlns:a16="http://schemas.microsoft.com/office/drawing/2014/main" id="{28E1E4E5-9EED-476C-9601-731C04F8FF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9043" y="4928843"/>
              <a:ext cx="649288" cy="1127125"/>
              <a:chOff x="311" y="1306"/>
              <a:chExt cx="409" cy="710"/>
            </a:xfrm>
          </p:grpSpPr>
          <p:sp>
            <p:nvSpPr>
              <p:cNvPr id="14" name="Oval 7">
                <a:extLst>
                  <a:ext uri="{FF2B5EF4-FFF2-40B4-BE49-F238E27FC236}">
                    <a16:creationId xmlns:a16="http://schemas.microsoft.com/office/drawing/2014/main" id="{556B183E-451D-49A7-A3D2-A619FB1EAD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" y="130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15" name="Line 8">
                <a:extLst>
                  <a:ext uri="{FF2B5EF4-FFF2-40B4-BE49-F238E27FC236}">
                    <a16:creationId xmlns:a16="http://schemas.microsoft.com/office/drawing/2014/main" id="{72C9F8DC-6C54-4180-BD33-ACA57093D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" y="1450"/>
                <a:ext cx="242" cy="4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6" name="Oval 9">
                <a:extLst>
                  <a:ext uri="{FF2B5EF4-FFF2-40B4-BE49-F238E27FC236}">
                    <a16:creationId xmlns:a16="http://schemas.microsoft.com/office/drawing/2014/main" id="{E3F74E2D-7548-45A4-AB13-5C4F66EBC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FB3C450D-DE63-4263-AC11-2DD2017E47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1152" y="5065368"/>
              <a:ext cx="530827" cy="8952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8" name="Text Box 26">
              <a:extLst>
                <a:ext uri="{FF2B5EF4-FFF2-40B4-BE49-F238E27FC236}">
                  <a16:creationId xmlns:a16="http://schemas.microsoft.com/office/drawing/2014/main" id="{C5D883EF-413F-45B8-82C1-FB96A184C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323" y="6097100"/>
              <a:ext cx="16450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K</a:t>
              </a:r>
              <a:r>
                <a:rPr lang="en-US" sz="2800" baseline="-25000" dirty="0"/>
                <a:t>3  </a:t>
              </a:r>
              <a:r>
                <a:rPr lang="en-US" sz="2800" dirty="0"/>
                <a:t>OR C</a:t>
              </a:r>
              <a:r>
                <a:rPr lang="en-US" sz="2800" baseline="-25000" dirty="0"/>
                <a:t>3</a:t>
              </a:r>
              <a:endParaRPr lang="en-US" altLang="en-US" sz="18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3BEFB94-ECDF-4517-8330-3DC70CB033A9}"/>
              </a:ext>
            </a:extLst>
          </p:cNvPr>
          <p:cNvGrpSpPr/>
          <p:nvPr/>
        </p:nvGrpSpPr>
        <p:grpSpPr>
          <a:xfrm>
            <a:off x="3081827" y="4459743"/>
            <a:ext cx="1162051" cy="1607293"/>
            <a:chOff x="2864866" y="4880877"/>
            <a:chExt cx="1162051" cy="1607293"/>
          </a:xfrm>
        </p:grpSpPr>
        <p:grpSp>
          <p:nvGrpSpPr>
            <p:cNvPr id="19" name="Group 2">
              <a:extLst>
                <a:ext uri="{FF2B5EF4-FFF2-40B4-BE49-F238E27FC236}">
                  <a16:creationId xmlns:a16="http://schemas.microsoft.com/office/drawing/2014/main" id="{6908D340-CAF3-47C1-BA97-F0085F29B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3916" y="5790927"/>
              <a:ext cx="985838" cy="228600"/>
              <a:chOff x="576" y="1872"/>
              <a:chExt cx="621" cy="144"/>
            </a:xfrm>
          </p:grpSpPr>
          <p:sp>
            <p:nvSpPr>
              <p:cNvPr id="20" name="Line 4">
                <a:extLst>
                  <a:ext uri="{FF2B5EF4-FFF2-40B4-BE49-F238E27FC236}">
                    <a16:creationId xmlns:a16="http://schemas.microsoft.com/office/drawing/2014/main" id="{F2F0A791-FE2F-4706-8B0F-883996CF6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5" y="1910"/>
                <a:ext cx="522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21" name="Oval 5">
                <a:extLst>
                  <a:ext uri="{FF2B5EF4-FFF2-40B4-BE49-F238E27FC236}">
                    <a16:creationId xmlns:a16="http://schemas.microsoft.com/office/drawing/2014/main" id="{FFF3B7D5-7CCE-40BA-91B9-7A7601A52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22" name="Group 6">
              <a:extLst>
                <a:ext uri="{FF2B5EF4-FFF2-40B4-BE49-F238E27FC236}">
                  <a16:creationId xmlns:a16="http://schemas.microsoft.com/office/drawing/2014/main" id="{7DA6C83C-37A3-4DE9-9721-F802DFEBA5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4866" y="4892402"/>
              <a:ext cx="1162051" cy="1127125"/>
              <a:chOff x="-12" y="1306"/>
              <a:chExt cx="732" cy="710"/>
            </a:xfrm>
          </p:grpSpPr>
          <p:sp>
            <p:nvSpPr>
              <p:cNvPr id="23" name="Oval 7">
                <a:extLst>
                  <a:ext uri="{FF2B5EF4-FFF2-40B4-BE49-F238E27FC236}">
                    <a16:creationId xmlns:a16="http://schemas.microsoft.com/office/drawing/2014/main" id="{F3F0F62E-0574-45DB-89AC-E2A71F9CC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2" y="130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24" name="Line 8">
                <a:extLst>
                  <a:ext uri="{FF2B5EF4-FFF2-40B4-BE49-F238E27FC236}">
                    <a16:creationId xmlns:a16="http://schemas.microsoft.com/office/drawing/2014/main" id="{DDD7F9B2-A755-4C68-8E01-1FBC70A758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24" y="1415"/>
                <a:ext cx="4" cy="45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 dirty="0"/>
              </a:p>
            </p:txBody>
          </p:sp>
          <p:sp>
            <p:nvSpPr>
              <p:cNvPr id="25" name="Oval 9">
                <a:extLst>
                  <a:ext uri="{FF2B5EF4-FFF2-40B4-BE49-F238E27FC236}">
                    <a16:creationId xmlns:a16="http://schemas.microsoft.com/office/drawing/2014/main" id="{D8A4A980-F0EE-4A91-8C2F-B1B4B2506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26" name="Line 14">
              <a:extLst>
                <a:ext uri="{FF2B5EF4-FFF2-40B4-BE49-F238E27FC236}">
                  <a16:creationId xmlns:a16="http://schemas.microsoft.com/office/drawing/2014/main" id="{CD6B3EAE-0B5F-407F-B16B-2F56B8AFF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49738" y="5065368"/>
              <a:ext cx="10380" cy="858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97FC7CC2-DCC4-4ED8-9F3C-B45526C9C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6001" y="5964950"/>
              <a:ext cx="6062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C</a:t>
              </a:r>
              <a:r>
                <a:rPr lang="en-US" sz="2800" baseline="-25000" dirty="0"/>
                <a:t>4</a:t>
              </a:r>
              <a:endParaRPr lang="en-US" altLang="en-US" sz="1800" dirty="0"/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B513B6A2-D911-4C7D-B429-0F7F78965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734" y="4880877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9" name="Line 4">
              <a:extLst>
                <a:ext uri="{FF2B5EF4-FFF2-40B4-BE49-F238E27FC236}">
                  <a16:creationId xmlns:a16="http://schemas.microsoft.com/office/drawing/2014/main" id="{AF44A3FD-9E60-4F3C-AB72-2D6173C22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4577" y="4989857"/>
              <a:ext cx="828675" cy="158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1FBB401-DD4A-4FFB-8B0A-4AEE1AFC58B7}"/>
              </a:ext>
            </a:extLst>
          </p:cNvPr>
          <p:cNvGrpSpPr/>
          <p:nvPr/>
        </p:nvGrpSpPr>
        <p:grpSpPr>
          <a:xfrm>
            <a:off x="4796213" y="4207929"/>
            <a:ext cx="1503844" cy="2110921"/>
            <a:chOff x="4389970" y="4390499"/>
            <a:chExt cx="1503844" cy="2110921"/>
          </a:xfrm>
        </p:grpSpPr>
        <p:grpSp>
          <p:nvGrpSpPr>
            <p:cNvPr id="32" name="Group 2">
              <a:extLst>
                <a:ext uri="{FF2B5EF4-FFF2-40B4-BE49-F238E27FC236}">
                  <a16:creationId xmlns:a16="http://schemas.microsoft.com/office/drawing/2014/main" id="{3E9D24D8-4935-405A-8F80-0BEAC43B1E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6820" y="5804177"/>
              <a:ext cx="985838" cy="228600"/>
              <a:chOff x="576" y="1872"/>
              <a:chExt cx="621" cy="144"/>
            </a:xfrm>
          </p:grpSpPr>
          <p:sp>
            <p:nvSpPr>
              <p:cNvPr id="33" name="Line 4">
                <a:extLst>
                  <a:ext uri="{FF2B5EF4-FFF2-40B4-BE49-F238E27FC236}">
                    <a16:creationId xmlns:a16="http://schemas.microsoft.com/office/drawing/2014/main" id="{4A7F1B5F-4657-4380-81C5-E26AC3647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5" y="1910"/>
                <a:ext cx="522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34" name="Oval 5">
                <a:extLst>
                  <a:ext uri="{FF2B5EF4-FFF2-40B4-BE49-F238E27FC236}">
                    <a16:creationId xmlns:a16="http://schemas.microsoft.com/office/drawing/2014/main" id="{0ADBA6E7-DA69-4005-B59A-68F9BB68C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35" name="Group 6">
              <a:extLst>
                <a:ext uri="{FF2B5EF4-FFF2-40B4-BE49-F238E27FC236}">
                  <a16:creationId xmlns:a16="http://schemas.microsoft.com/office/drawing/2014/main" id="{7D531B22-F747-493D-AC46-84C1568689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9970" y="4961215"/>
              <a:ext cx="1416051" cy="1071563"/>
              <a:chOff x="-124" y="1341"/>
              <a:chExt cx="892" cy="675"/>
            </a:xfrm>
          </p:grpSpPr>
          <p:sp>
            <p:nvSpPr>
              <p:cNvPr id="36" name="Oval 7">
                <a:extLst>
                  <a:ext uri="{FF2B5EF4-FFF2-40B4-BE49-F238E27FC236}">
                    <a16:creationId xmlns:a16="http://schemas.microsoft.com/office/drawing/2014/main" id="{DFFE3D28-4F0B-4BE0-9511-DFFD5E62E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24" y="1341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37" name="Line 8">
                <a:extLst>
                  <a:ext uri="{FF2B5EF4-FFF2-40B4-BE49-F238E27FC236}">
                    <a16:creationId xmlns:a16="http://schemas.microsoft.com/office/drawing/2014/main" id="{6802D5D0-5A6D-4DA5-8F74-27614DE961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24" y="1442"/>
                <a:ext cx="144" cy="43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 dirty="0"/>
              </a:p>
            </p:txBody>
          </p:sp>
          <p:sp>
            <p:nvSpPr>
              <p:cNvPr id="38" name="Oval 9">
                <a:extLst>
                  <a:ext uri="{FF2B5EF4-FFF2-40B4-BE49-F238E27FC236}">
                    <a16:creationId xmlns:a16="http://schemas.microsoft.com/office/drawing/2014/main" id="{ECC53611-02AC-4F4F-A72B-118E5CF03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39" name="Line 14">
              <a:extLst>
                <a:ext uri="{FF2B5EF4-FFF2-40B4-BE49-F238E27FC236}">
                  <a16:creationId xmlns:a16="http://schemas.microsoft.com/office/drawing/2014/main" id="{9319B6F0-C4CA-494B-8F68-3C70311E3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1437" y="5078690"/>
              <a:ext cx="141205" cy="8586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0" name="Text Box 26">
              <a:extLst>
                <a:ext uri="{FF2B5EF4-FFF2-40B4-BE49-F238E27FC236}">
                  <a16:creationId xmlns:a16="http://schemas.microsoft.com/office/drawing/2014/main" id="{0CF73AAB-DF50-43E6-A39E-CF42BE16C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905" y="5978200"/>
              <a:ext cx="59984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C</a:t>
              </a:r>
              <a:r>
                <a:rPr lang="en-US" sz="2800" baseline="-25000" dirty="0"/>
                <a:t>5</a:t>
              </a:r>
              <a:endParaRPr lang="en-US" altLang="en-US" sz="1800" dirty="0"/>
            </a:p>
          </p:txBody>
        </p:sp>
        <p:sp>
          <p:nvSpPr>
            <p:cNvPr id="41" name="Oval 7">
              <a:extLst>
                <a:ext uri="{FF2B5EF4-FFF2-40B4-BE49-F238E27FC236}">
                  <a16:creationId xmlns:a16="http://schemas.microsoft.com/office/drawing/2014/main" id="{AD6EEF73-70F2-4CB5-B34C-867C20F0F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214" y="4972741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5" name="Oval 7">
              <a:extLst>
                <a:ext uri="{FF2B5EF4-FFF2-40B4-BE49-F238E27FC236}">
                  <a16:creationId xmlns:a16="http://schemas.microsoft.com/office/drawing/2014/main" id="{23742708-9AEC-46C4-AABC-33AF3C3F3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6082" y="4390499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48" name="Line 4">
              <a:extLst>
                <a:ext uri="{FF2B5EF4-FFF2-40B4-BE49-F238E27FC236}">
                  <a16:creationId xmlns:a16="http://schemas.microsoft.com/office/drawing/2014/main" id="{573CF41D-67B9-4FC2-8999-3B2D35674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8350" y="4516135"/>
              <a:ext cx="567144" cy="5450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49" name="Line 4">
              <a:extLst>
                <a:ext uri="{FF2B5EF4-FFF2-40B4-BE49-F238E27FC236}">
                  <a16:creationId xmlns:a16="http://schemas.microsoft.com/office/drawing/2014/main" id="{B95A4C6B-07EE-4732-B6D5-9779D16DA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5330" y="4471728"/>
              <a:ext cx="521306" cy="6023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368DFB4-C86A-43E8-BBA5-0123942345D7}"/>
              </a:ext>
            </a:extLst>
          </p:cNvPr>
          <p:cNvGrpSpPr/>
          <p:nvPr/>
        </p:nvGrpSpPr>
        <p:grpSpPr>
          <a:xfrm>
            <a:off x="6852391" y="3954372"/>
            <a:ext cx="1206501" cy="2618035"/>
            <a:chOff x="6226224" y="3906459"/>
            <a:chExt cx="1206501" cy="2618035"/>
          </a:xfrm>
        </p:grpSpPr>
        <p:grpSp>
          <p:nvGrpSpPr>
            <p:cNvPr id="53" name="Group 6">
              <a:extLst>
                <a:ext uri="{FF2B5EF4-FFF2-40B4-BE49-F238E27FC236}">
                  <a16:creationId xmlns:a16="http://schemas.microsoft.com/office/drawing/2014/main" id="{897E9C5E-7246-4A6B-B3E0-8CE4D87123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6224" y="4487448"/>
              <a:ext cx="1206501" cy="1071563"/>
              <a:chOff x="-40" y="1341"/>
              <a:chExt cx="760" cy="675"/>
            </a:xfrm>
          </p:grpSpPr>
          <p:sp>
            <p:nvSpPr>
              <p:cNvPr id="54" name="Oval 7">
                <a:extLst>
                  <a:ext uri="{FF2B5EF4-FFF2-40B4-BE49-F238E27FC236}">
                    <a16:creationId xmlns:a16="http://schemas.microsoft.com/office/drawing/2014/main" id="{49899906-6B23-4FFC-B49C-006F6423E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" y="1341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55" name="Line 8">
                <a:extLst>
                  <a:ext uri="{FF2B5EF4-FFF2-40B4-BE49-F238E27FC236}">
                    <a16:creationId xmlns:a16="http://schemas.microsoft.com/office/drawing/2014/main" id="{079BFE0B-4B71-4157-88EA-1100117A9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2" y="1404"/>
                <a:ext cx="0" cy="5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 dirty="0"/>
              </a:p>
            </p:txBody>
          </p:sp>
          <p:sp>
            <p:nvSpPr>
              <p:cNvPr id="56" name="Oval 9">
                <a:extLst>
                  <a:ext uri="{FF2B5EF4-FFF2-40B4-BE49-F238E27FC236}">
                    <a16:creationId xmlns:a16="http://schemas.microsoft.com/office/drawing/2014/main" id="{FD24F084-85BA-4D96-BA7B-9C4119BE9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57" name="Line 14">
              <a:extLst>
                <a:ext uri="{FF2B5EF4-FFF2-40B4-BE49-F238E27FC236}">
                  <a16:creationId xmlns:a16="http://schemas.microsoft.com/office/drawing/2014/main" id="{63AFA5C9-8AE9-4578-ABBB-B76318AA4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5420" y="4616035"/>
              <a:ext cx="30126" cy="8475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58" name="Oval 7">
              <a:extLst>
                <a:ext uri="{FF2B5EF4-FFF2-40B4-BE49-F238E27FC236}">
                  <a16:creationId xmlns:a16="http://schemas.microsoft.com/office/drawing/2014/main" id="{01FE70EB-7AA4-40F1-BBE4-86F029878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9276" y="4498974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62" name="Oval 7">
              <a:extLst>
                <a:ext uri="{FF2B5EF4-FFF2-40B4-BE49-F238E27FC236}">
                  <a16:creationId xmlns:a16="http://schemas.microsoft.com/office/drawing/2014/main" id="{4620A464-E70C-4FCC-AF3C-27A109C63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793" y="3906459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65" name="Line 4">
              <a:extLst>
                <a:ext uri="{FF2B5EF4-FFF2-40B4-BE49-F238E27FC236}">
                  <a16:creationId xmlns:a16="http://schemas.microsoft.com/office/drawing/2014/main" id="{C2EBE314-F854-4324-8571-8BDCF527E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254" y="4042368"/>
              <a:ext cx="397547" cy="519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6" name="Line 4">
              <a:extLst>
                <a:ext uri="{FF2B5EF4-FFF2-40B4-BE49-F238E27FC236}">
                  <a16:creationId xmlns:a16="http://schemas.microsoft.com/office/drawing/2014/main" id="{F4E70C6C-B37E-4543-AE4C-EE2D5E84EC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4048" y="4035743"/>
              <a:ext cx="471895" cy="5604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67" name="Text Box 26">
              <a:extLst>
                <a:ext uri="{FF2B5EF4-FFF2-40B4-BE49-F238E27FC236}">
                  <a16:creationId xmlns:a16="http://schemas.microsoft.com/office/drawing/2014/main" id="{D9ADF14F-B41F-4E63-B47F-0646B00CB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7628" y="6001274"/>
              <a:ext cx="5934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sz="2800" dirty="0"/>
                <a:t>C</a:t>
              </a:r>
              <a:r>
                <a:rPr lang="en-US" sz="2800" baseline="-25000" dirty="0"/>
                <a:t>6</a:t>
              </a:r>
              <a:endParaRPr lang="en-US" altLang="en-US" sz="1800" dirty="0"/>
            </a:p>
          </p:txBody>
        </p:sp>
        <p:sp>
          <p:nvSpPr>
            <p:cNvPr id="68" name="Oval 7">
              <a:extLst>
                <a:ext uri="{FF2B5EF4-FFF2-40B4-BE49-F238E27FC236}">
                  <a16:creationId xmlns:a16="http://schemas.microsoft.com/office/drawing/2014/main" id="{46A65A45-DEBA-40D7-9847-9E22AFBEC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6924" y="5739893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69" name="Line 4">
              <a:extLst>
                <a:ext uri="{FF2B5EF4-FFF2-40B4-BE49-F238E27FC236}">
                  <a16:creationId xmlns:a16="http://schemas.microsoft.com/office/drawing/2014/main" id="{35B05B73-9FC7-4BFB-9E0C-540ECCAF4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5546" y="5390734"/>
              <a:ext cx="503409" cy="476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0" name="Line 4">
              <a:extLst>
                <a:ext uri="{FF2B5EF4-FFF2-40B4-BE49-F238E27FC236}">
                  <a16:creationId xmlns:a16="http://schemas.microsoft.com/office/drawing/2014/main" id="{F0E34167-FA78-4EB0-8C07-A87E05A98C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61104" y="5426557"/>
              <a:ext cx="486865" cy="440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3" name="Oval 7">
              <a:extLst>
                <a:ext uri="{FF2B5EF4-FFF2-40B4-BE49-F238E27FC236}">
                  <a16:creationId xmlns:a16="http://schemas.microsoft.com/office/drawing/2014/main" id="{943E117A-A2AD-4D01-BE80-DA63A2A2B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906" y="5321129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646455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Simple Graphs - Cycles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772B01-6E16-4034-BD26-82DDC7E5DD3A}"/>
              </a:ext>
            </a:extLst>
          </p:cNvPr>
          <p:cNvGrpSpPr/>
          <p:nvPr/>
        </p:nvGrpSpPr>
        <p:grpSpPr>
          <a:xfrm>
            <a:off x="1231900" y="3747742"/>
            <a:ext cx="6680200" cy="1731635"/>
            <a:chOff x="1146175" y="3717925"/>
            <a:chExt cx="6680200" cy="1731635"/>
          </a:xfrm>
        </p:grpSpPr>
        <p:sp>
          <p:nvSpPr>
            <p:cNvPr id="59" name="Line 4">
              <a:extLst>
                <a:ext uri="{FF2B5EF4-FFF2-40B4-BE49-F238E27FC236}">
                  <a16:creationId xmlns:a16="http://schemas.microsoft.com/office/drawing/2014/main" id="{5F445B23-EC91-4E0E-ACEF-77E7EA2D5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2375" y="3848100"/>
              <a:ext cx="528638" cy="231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60" name="Line 5">
              <a:extLst>
                <a:ext uri="{FF2B5EF4-FFF2-40B4-BE49-F238E27FC236}">
                  <a16:creationId xmlns:a16="http://schemas.microsoft.com/office/drawing/2014/main" id="{EDB89B17-0E86-4F81-9992-07D0FC4A1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7463" y="4092575"/>
              <a:ext cx="463550" cy="3476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61" name="Line 6">
              <a:extLst>
                <a:ext uri="{FF2B5EF4-FFF2-40B4-BE49-F238E27FC236}">
                  <a16:creationId xmlns:a16="http://schemas.microsoft.com/office/drawing/2014/main" id="{63981924-5587-41AC-8403-3E270FF72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9363" y="3822700"/>
              <a:ext cx="25400" cy="630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63" name="Line 7">
              <a:extLst>
                <a:ext uri="{FF2B5EF4-FFF2-40B4-BE49-F238E27FC236}">
                  <a16:creationId xmlns:a16="http://schemas.microsoft.com/office/drawing/2014/main" id="{8139B000-B429-4A98-8E49-38E44569C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9838" y="3900488"/>
              <a:ext cx="566737" cy="2174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64" name="Line 8">
              <a:extLst>
                <a:ext uri="{FF2B5EF4-FFF2-40B4-BE49-F238E27FC236}">
                  <a16:creationId xmlns:a16="http://schemas.microsoft.com/office/drawing/2014/main" id="{E6143B35-9B91-4FBC-8935-246F3D5DD8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0200" y="4117975"/>
              <a:ext cx="193675" cy="528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1" name="Line 9">
              <a:extLst>
                <a:ext uri="{FF2B5EF4-FFF2-40B4-BE49-F238E27FC236}">
                  <a16:creationId xmlns:a16="http://schemas.microsoft.com/office/drawing/2014/main" id="{BCF7328F-B646-4681-A249-FADBF52D18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78063" y="4427538"/>
              <a:ext cx="579437" cy="206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2" name="Line 10">
              <a:extLst>
                <a:ext uri="{FF2B5EF4-FFF2-40B4-BE49-F238E27FC236}">
                  <a16:creationId xmlns:a16="http://schemas.microsoft.com/office/drawing/2014/main" id="{2879A6E1-C885-4BF4-AD23-535B39AC6C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8063" y="3886200"/>
              <a:ext cx="257175" cy="528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4" name="Line 11">
              <a:extLst>
                <a:ext uri="{FF2B5EF4-FFF2-40B4-BE49-F238E27FC236}">
                  <a16:creationId xmlns:a16="http://schemas.microsoft.com/office/drawing/2014/main" id="{0D826B2A-DD64-4E1D-B672-09C8910598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825" y="3797300"/>
              <a:ext cx="219075" cy="527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5" name="Line 12">
              <a:extLst>
                <a:ext uri="{FF2B5EF4-FFF2-40B4-BE49-F238E27FC236}">
                  <a16:creationId xmlns:a16="http://schemas.microsoft.com/office/drawing/2014/main" id="{AAE7A692-FA52-4DC2-B7BC-00ACFCA77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200" y="3797300"/>
              <a:ext cx="463550" cy="889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6" name="Line 13">
              <a:extLst>
                <a:ext uri="{FF2B5EF4-FFF2-40B4-BE49-F238E27FC236}">
                  <a16:creationId xmlns:a16="http://schemas.microsoft.com/office/drawing/2014/main" id="{F081FEFC-7863-4772-B0E6-78BD3A4174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2750" y="3886200"/>
              <a:ext cx="103188" cy="463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7" name="Line 14">
              <a:extLst>
                <a:ext uri="{FF2B5EF4-FFF2-40B4-BE49-F238E27FC236}">
                  <a16:creationId xmlns:a16="http://schemas.microsoft.com/office/drawing/2014/main" id="{3C4EE94C-0CBB-4F6E-863C-21F7A5758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425" y="4324350"/>
              <a:ext cx="334963" cy="3476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8" name="Line 15">
              <a:extLst>
                <a:ext uri="{FF2B5EF4-FFF2-40B4-BE49-F238E27FC236}">
                  <a16:creationId xmlns:a16="http://schemas.microsoft.com/office/drawing/2014/main" id="{1726389E-AB4C-481F-BA71-06AA02207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9688" y="4349750"/>
              <a:ext cx="449262" cy="3222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9" name="Line 16">
              <a:extLst>
                <a:ext uri="{FF2B5EF4-FFF2-40B4-BE49-F238E27FC236}">
                  <a16:creationId xmlns:a16="http://schemas.microsoft.com/office/drawing/2014/main" id="{50AFBAB3-5447-4052-90DC-774AC92AC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7900" y="3810000"/>
              <a:ext cx="361950" cy="307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0" name="Line 17">
              <a:extLst>
                <a:ext uri="{FF2B5EF4-FFF2-40B4-BE49-F238E27FC236}">
                  <a16:creationId xmlns:a16="http://schemas.microsoft.com/office/drawing/2014/main" id="{B885B75B-2496-4198-9003-5937AB0A8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9850" y="3810000"/>
              <a:ext cx="320675" cy="2952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1" name="Line 18">
              <a:extLst>
                <a:ext uri="{FF2B5EF4-FFF2-40B4-BE49-F238E27FC236}">
                  <a16:creationId xmlns:a16="http://schemas.microsoft.com/office/drawing/2014/main" id="{AE15290C-35E0-4582-971B-FD6D56333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3225" y="4105275"/>
              <a:ext cx="0" cy="4127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2" name="Line 19">
              <a:extLst>
                <a:ext uri="{FF2B5EF4-FFF2-40B4-BE49-F238E27FC236}">
                  <a16:creationId xmlns:a16="http://schemas.microsoft.com/office/drawing/2014/main" id="{F49789B4-96FD-4B0D-8569-0A5892E13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7950" y="4543425"/>
              <a:ext cx="282575" cy="231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3" name="Line 20">
              <a:extLst>
                <a:ext uri="{FF2B5EF4-FFF2-40B4-BE49-F238E27FC236}">
                  <a16:creationId xmlns:a16="http://schemas.microsoft.com/office/drawing/2014/main" id="{2DCD32C4-8961-48FD-A498-F658A9368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5200" y="4105275"/>
              <a:ext cx="90488" cy="450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4" name="Line 21">
              <a:extLst>
                <a:ext uri="{FF2B5EF4-FFF2-40B4-BE49-F238E27FC236}">
                  <a16:creationId xmlns:a16="http://schemas.microsoft.com/office/drawing/2014/main" id="{8FB622BF-8430-4E4F-9126-1BB7732E0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2988" y="4543425"/>
              <a:ext cx="334962" cy="231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5" name="Line 22">
              <a:extLst>
                <a:ext uri="{FF2B5EF4-FFF2-40B4-BE49-F238E27FC236}">
                  <a16:creationId xmlns:a16="http://schemas.microsoft.com/office/drawing/2014/main" id="{210E9546-352F-4CBC-82D7-418B64937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34075" y="4157663"/>
              <a:ext cx="65088" cy="411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6" name="Line 23">
              <a:extLst>
                <a:ext uri="{FF2B5EF4-FFF2-40B4-BE49-F238E27FC236}">
                  <a16:creationId xmlns:a16="http://schemas.microsoft.com/office/drawing/2014/main" id="{E24B4561-280D-4D22-A7B6-736FC87DB1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21375" y="3873500"/>
              <a:ext cx="309563" cy="296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87" name="Line 24">
              <a:extLst>
                <a:ext uri="{FF2B5EF4-FFF2-40B4-BE49-F238E27FC236}">
                  <a16:creationId xmlns:a16="http://schemas.microsoft.com/office/drawing/2014/main" id="{588AE024-E7D8-4BD1-A1AC-E8B7530B7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950" y="3835400"/>
              <a:ext cx="271463" cy="206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8" name="Line 25">
              <a:extLst>
                <a:ext uri="{FF2B5EF4-FFF2-40B4-BE49-F238E27FC236}">
                  <a16:creationId xmlns:a16="http://schemas.microsoft.com/office/drawing/2014/main" id="{6A78CCF9-0658-43E9-A403-40AE2620B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0813" y="4016375"/>
              <a:ext cx="38100" cy="3857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9" name="Line 26">
              <a:extLst>
                <a:ext uri="{FF2B5EF4-FFF2-40B4-BE49-F238E27FC236}">
                  <a16:creationId xmlns:a16="http://schemas.microsoft.com/office/drawing/2014/main" id="{90B74844-C667-4E8B-AF15-87732C32FC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5725" y="4402138"/>
              <a:ext cx="115888" cy="334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D8EA5681-3E67-4E24-8F4D-E63CBCE60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3" y="4556125"/>
              <a:ext cx="166687" cy="296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1" name="Line 28">
              <a:extLst>
                <a:ext uri="{FF2B5EF4-FFF2-40B4-BE49-F238E27FC236}">
                  <a16:creationId xmlns:a16="http://schemas.microsoft.com/office/drawing/2014/main" id="{CF6F86C4-A3F2-4F38-B2AA-B84E3A752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91250" y="4737100"/>
              <a:ext cx="244475" cy="141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2" name="Text Box 29">
              <a:extLst>
                <a:ext uri="{FF2B5EF4-FFF2-40B4-BE49-F238E27FC236}">
                  <a16:creationId xmlns:a16="http://schemas.microsoft.com/office/drawing/2014/main" id="{51DA52C9-2B9E-4951-AAAE-ADBDC9B64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6175" y="4488190"/>
              <a:ext cx="53412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C</a:t>
              </a:r>
              <a:r>
                <a:rPr lang="en-US" altLang="en-US" sz="2800" baseline="-25000" dirty="0"/>
                <a:t>3</a:t>
              </a:r>
              <a:endParaRPr lang="en-US" altLang="en-US" sz="2800" i="1" dirty="0"/>
            </a:p>
          </p:txBody>
        </p:sp>
        <p:sp>
          <p:nvSpPr>
            <p:cNvPr id="93" name="Text Box 30">
              <a:extLst>
                <a:ext uri="{FF2B5EF4-FFF2-40B4-BE49-F238E27FC236}">
                  <a16:creationId xmlns:a16="http://schemas.microsoft.com/office/drawing/2014/main" id="{CEC672C0-5D31-4312-A5D1-72EADFE0B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213" y="4597728"/>
              <a:ext cx="543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C</a:t>
              </a:r>
              <a:r>
                <a:rPr lang="en-US" altLang="en-US" sz="2800" baseline="-25000" dirty="0"/>
                <a:t>4</a:t>
              </a:r>
              <a:endParaRPr lang="en-US" altLang="en-US" sz="2800" i="1" dirty="0"/>
            </a:p>
          </p:txBody>
        </p:sp>
        <p:sp>
          <p:nvSpPr>
            <p:cNvPr id="94" name="Text Box 31">
              <a:extLst>
                <a:ext uri="{FF2B5EF4-FFF2-40B4-BE49-F238E27FC236}">
                  <a16:creationId xmlns:a16="http://schemas.microsoft.com/office/drawing/2014/main" id="{5E5280B4-1B1C-4A06-99C3-88964C43C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375" y="4710440"/>
              <a:ext cx="53732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C</a:t>
              </a:r>
              <a:r>
                <a:rPr lang="en-US" altLang="en-US" sz="2800" baseline="-25000" dirty="0"/>
                <a:t>5</a:t>
              </a:r>
              <a:endParaRPr lang="en-US" altLang="en-US" sz="2800" i="1" dirty="0"/>
            </a:p>
          </p:txBody>
        </p:sp>
        <p:sp>
          <p:nvSpPr>
            <p:cNvPr id="95" name="Text Box 32">
              <a:extLst>
                <a:ext uri="{FF2B5EF4-FFF2-40B4-BE49-F238E27FC236}">
                  <a16:creationId xmlns:a16="http://schemas.microsoft.com/office/drawing/2014/main" id="{49E2D47E-B693-4006-A247-39D63D0A3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8550" y="4799340"/>
              <a:ext cx="53091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C</a:t>
              </a:r>
              <a:r>
                <a:rPr lang="en-US" altLang="en-US" sz="2800" baseline="-25000" dirty="0"/>
                <a:t>6</a:t>
              </a:r>
              <a:endParaRPr lang="en-US" altLang="en-US" sz="2800" i="1" dirty="0"/>
            </a:p>
          </p:txBody>
        </p:sp>
        <p:sp>
          <p:nvSpPr>
            <p:cNvPr id="96" name="Text Box 33">
              <a:extLst>
                <a:ext uri="{FF2B5EF4-FFF2-40B4-BE49-F238E27FC236}">
                  <a16:creationId xmlns:a16="http://schemas.microsoft.com/office/drawing/2014/main" id="{3F221955-D14F-4BDB-BB23-53F228AE1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8050" y="4926340"/>
              <a:ext cx="52770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C</a:t>
              </a:r>
              <a:r>
                <a:rPr lang="en-US" altLang="en-US" sz="2800" baseline="-25000" dirty="0"/>
                <a:t>7</a:t>
              </a:r>
              <a:endParaRPr lang="en-US" altLang="en-US" sz="2800" i="1" dirty="0"/>
            </a:p>
          </p:txBody>
        </p:sp>
        <p:sp>
          <p:nvSpPr>
            <p:cNvPr id="97" name="Line 34">
              <a:extLst>
                <a:ext uri="{FF2B5EF4-FFF2-40B4-BE49-F238E27FC236}">
                  <a16:creationId xmlns:a16="http://schemas.microsoft.com/office/drawing/2014/main" id="{87D8AFF6-96F8-4D39-B424-4DCA88CC60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4988" y="4143375"/>
              <a:ext cx="65087" cy="411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8" name="Line 35">
              <a:extLst>
                <a:ext uri="{FF2B5EF4-FFF2-40B4-BE49-F238E27FC236}">
                  <a16:creationId xmlns:a16="http://schemas.microsoft.com/office/drawing/2014/main" id="{CDBAA410-7349-47A6-858E-CB7055FD24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72288" y="3859213"/>
              <a:ext cx="309562" cy="296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99" name="Line 36">
              <a:extLst>
                <a:ext uri="{FF2B5EF4-FFF2-40B4-BE49-F238E27FC236}">
                  <a16:creationId xmlns:a16="http://schemas.microsoft.com/office/drawing/2014/main" id="{187527E4-1D2F-4A02-AE72-1FFD34319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4863" y="3821113"/>
              <a:ext cx="425450" cy="1158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0" name="Line 37">
              <a:extLst>
                <a:ext uri="{FF2B5EF4-FFF2-40B4-BE49-F238E27FC236}">
                  <a16:creationId xmlns:a16="http://schemas.microsoft.com/office/drawing/2014/main" id="{5D85E401-ABFE-47DF-B1B5-A82E5011F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2213" y="3900488"/>
              <a:ext cx="192087" cy="2952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1" name="Line 38">
              <a:extLst>
                <a:ext uri="{FF2B5EF4-FFF2-40B4-BE49-F238E27FC236}">
                  <a16:creationId xmlns:a16="http://schemas.microsoft.com/office/drawing/2014/main" id="{DB908FE3-817C-4ECE-B3A8-A61A604C38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32713" y="4154488"/>
              <a:ext cx="26987" cy="3984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2" name="Line 39">
              <a:extLst>
                <a:ext uri="{FF2B5EF4-FFF2-40B4-BE49-F238E27FC236}">
                  <a16:creationId xmlns:a16="http://schemas.microsoft.com/office/drawing/2014/main" id="{11BBEDD8-0823-4F35-A3B1-B762253D7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2775" y="4541838"/>
              <a:ext cx="166688" cy="296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3" name="Line 40">
              <a:extLst>
                <a:ext uri="{FF2B5EF4-FFF2-40B4-BE49-F238E27FC236}">
                  <a16:creationId xmlns:a16="http://schemas.microsoft.com/office/drawing/2014/main" id="{EF287403-8E33-4081-AEB2-2DBA876483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9825" y="4606925"/>
              <a:ext cx="231775" cy="2428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4" name="Line 41">
              <a:extLst>
                <a:ext uri="{FF2B5EF4-FFF2-40B4-BE49-F238E27FC236}">
                  <a16:creationId xmlns:a16="http://schemas.microsoft.com/office/drawing/2014/main" id="{52D897D1-2EC7-455C-992F-B4A114CF8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13588" y="4837113"/>
              <a:ext cx="398462" cy="1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5" name="Text Box 42">
              <a:extLst>
                <a:ext uri="{FF2B5EF4-FFF2-40B4-BE49-F238E27FC236}">
                  <a16:creationId xmlns:a16="http://schemas.microsoft.com/office/drawing/2014/main" id="{89DBA306-65AA-4647-A7F4-73770B19E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5163" y="4846965"/>
              <a:ext cx="54213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C</a:t>
              </a:r>
              <a:r>
                <a:rPr lang="en-US" altLang="en-US" sz="2800" baseline="-25000" dirty="0"/>
                <a:t>8</a:t>
              </a:r>
              <a:endParaRPr lang="en-US" altLang="en-US" sz="2800" i="1" dirty="0"/>
            </a:p>
          </p:txBody>
        </p:sp>
        <p:sp>
          <p:nvSpPr>
            <p:cNvPr id="106" name="Oval 43">
              <a:extLst>
                <a:ext uri="{FF2B5EF4-FFF2-40B4-BE49-F238E27FC236}">
                  <a16:creationId xmlns:a16="http://schemas.microsoft.com/office/drawing/2014/main" id="{BBA1EBEC-6F81-4C9F-AE53-C42B7CE20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813" y="375920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7" name="Oval 44">
              <a:extLst>
                <a:ext uri="{FF2B5EF4-FFF2-40B4-BE49-F238E27FC236}">
                  <a16:creationId xmlns:a16="http://schemas.microsoft.com/office/drawing/2014/main" id="{D9D48D6F-5654-41C7-9323-6CC108979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988" y="401320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8" name="Oval 45">
              <a:extLst>
                <a:ext uri="{FF2B5EF4-FFF2-40B4-BE49-F238E27FC236}">
                  <a16:creationId xmlns:a16="http://schemas.microsoft.com/office/drawing/2014/main" id="{00218461-948D-43E7-83C8-956D9662E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1263" y="43703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9" name="Oval 46">
              <a:extLst>
                <a:ext uri="{FF2B5EF4-FFF2-40B4-BE49-F238E27FC236}">
                  <a16:creationId xmlns:a16="http://schemas.microsoft.com/office/drawing/2014/main" id="{C1591D3F-DC5C-4C8A-9A46-B19171BA4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7450" y="38163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0" name="Oval 47">
              <a:extLst>
                <a:ext uri="{FF2B5EF4-FFF2-40B4-BE49-F238E27FC236}">
                  <a16:creationId xmlns:a16="http://schemas.microsoft.com/office/drawing/2014/main" id="{94B12395-D07C-4F4C-9DBC-C652D70C2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500" y="40449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1" name="Oval 48">
              <a:extLst>
                <a:ext uri="{FF2B5EF4-FFF2-40B4-BE49-F238E27FC236}">
                  <a16:creationId xmlns:a16="http://schemas.microsoft.com/office/drawing/2014/main" id="{089BC71E-8D15-498F-823C-408FCF77E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43529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2" name="Oval 49">
              <a:extLst>
                <a:ext uri="{FF2B5EF4-FFF2-40B4-BE49-F238E27FC236}">
                  <a16:creationId xmlns:a16="http://schemas.microsoft.com/office/drawing/2014/main" id="{E5E7BA54-DB59-442C-9106-CBFE13011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063" y="45561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3" name="Oval 50">
              <a:extLst>
                <a:ext uri="{FF2B5EF4-FFF2-40B4-BE49-F238E27FC236}">
                  <a16:creationId xmlns:a16="http://schemas.microsoft.com/office/drawing/2014/main" id="{13880F62-7AFF-4AB4-AC43-3005399FC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875" y="37179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4" name="Oval 51">
              <a:extLst>
                <a:ext uri="{FF2B5EF4-FFF2-40B4-BE49-F238E27FC236}">
                  <a16:creationId xmlns:a16="http://schemas.microsoft.com/office/drawing/2014/main" id="{27F17105-C305-4F71-9C0E-EDE748E8C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625" y="42433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5" name="Oval 52">
              <a:extLst>
                <a:ext uri="{FF2B5EF4-FFF2-40B4-BE49-F238E27FC236}">
                  <a16:creationId xmlns:a16="http://schemas.microsoft.com/office/drawing/2014/main" id="{FE78A818-51B5-4C1B-97E5-478180528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013" y="458946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6" name="Oval 53">
              <a:extLst>
                <a:ext uri="{FF2B5EF4-FFF2-40B4-BE49-F238E27FC236}">
                  <a16:creationId xmlns:a16="http://schemas.microsoft.com/office/drawing/2014/main" id="{7A60BB37-DA3A-4658-83FF-C45CB65CB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975" y="427831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7" name="Oval 54">
              <a:extLst>
                <a:ext uri="{FF2B5EF4-FFF2-40B4-BE49-F238E27FC236}">
                  <a16:creationId xmlns:a16="http://schemas.microsoft.com/office/drawing/2014/main" id="{3035D220-E0D1-4496-8FEA-AFC91F2F1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900" y="38115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8" name="Oval 55">
              <a:extLst>
                <a:ext uri="{FF2B5EF4-FFF2-40B4-BE49-F238E27FC236}">
                  <a16:creationId xmlns:a16="http://schemas.microsoft.com/office/drawing/2014/main" id="{6BC073D3-B2EE-457B-9125-B61E6A4D3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838" y="448151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9" name="Oval 56">
              <a:extLst>
                <a:ext uri="{FF2B5EF4-FFF2-40B4-BE49-F238E27FC236}">
                  <a16:creationId xmlns:a16="http://schemas.microsoft.com/office/drawing/2014/main" id="{57350379-0967-453F-8AAC-045671208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8050" y="404177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0" name="Oval 57">
              <a:extLst>
                <a:ext uri="{FF2B5EF4-FFF2-40B4-BE49-F238E27FC236}">
                  <a16:creationId xmlns:a16="http://schemas.microsoft.com/office/drawing/2014/main" id="{AD51AB1D-51ED-4D07-9869-1EF5EF9B7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825" y="373380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1" name="Oval 58">
              <a:extLst>
                <a:ext uri="{FF2B5EF4-FFF2-40B4-BE49-F238E27FC236}">
                  <a16:creationId xmlns:a16="http://schemas.microsoft.com/office/drawing/2014/main" id="{3A9C18A7-265F-401E-AB5F-1798BCFCF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40274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2" name="Oval 59">
              <a:extLst>
                <a:ext uri="{FF2B5EF4-FFF2-40B4-BE49-F238E27FC236}">
                  <a16:creationId xmlns:a16="http://schemas.microsoft.com/office/drawing/2014/main" id="{FBD70D93-1983-45E7-B9D7-5A1ECD726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5" y="444976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3" name="Oval 60">
              <a:extLst>
                <a:ext uri="{FF2B5EF4-FFF2-40B4-BE49-F238E27FC236}">
                  <a16:creationId xmlns:a16="http://schemas.microsoft.com/office/drawing/2014/main" id="{0EEF2E2B-140B-4B12-9CDE-3830E3FF7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0163" y="46926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4" name="Oval 61">
              <a:extLst>
                <a:ext uri="{FF2B5EF4-FFF2-40B4-BE49-F238E27FC236}">
                  <a16:creationId xmlns:a16="http://schemas.microsoft.com/office/drawing/2014/main" id="{2815D63D-D263-49DC-9E88-A995310CD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113" y="408463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5" name="Oval 62">
              <a:extLst>
                <a:ext uri="{FF2B5EF4-FFF2-40B4-BE49-F238E27FC236}">
                  <a16:creationId xmlns:a16="http://schemas.microsoft.com/office/drawing/2014/main" id="{2B640318-9970-4448-B318-A73BEF41D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6800" y="37734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6" name="Oval 63">
              <a:extLst>
                <a:ext uri="{FF2B5EF4-FFF2-40B4-BE49-F238E27FC236}">
                  <a16:creationId xmlns:a16="http://schemas.microsoft.com/office/drawing/2014/main" id="{9325D9A8-CB00-4E82-84C2-A96926330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675" y="395287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7" name="Oval 64">
              <a:extLst>
                <a:ext uri="{FF2B5EF4-FFF2-40B4-BE49-F238E27FC236}">
                  <a16:creationId xmlns:a16="http://schemas.microsoft.com/office/drawing/2014/main" id="{8EA0A0FA-839F-4A36-A906-7AE96310C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4300" y="43243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8" name="Oval 65">
              <a:extLst>
                <a:ext uri="{FF2B5EF4-FFF2-40B4-BE49-F238E27FC236}">
                  <a16:creationId xmlns:a16="http://schemas.microsoft.com/office/drawing/2014/main" id="{0ADEED88-D480-42CB-8B79-CA80005AD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1113" y="465613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29" name="Oval 66">
              <a:extLst>
                <a:ext uri="{FF2B5EF4-FFF2-40B4-BE49-F238E27FC236}">
                  <a16:creationId xmlns:a16="http://schemas.microsoft.com/office/drawing/2014/main" id="{71CCEDD5-4497-4A6A-A617-085516989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6775" y="448786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0" name="Oval 67">
              <a:extLst>
                <a:ext uri="{FF2B5EF4-FFF2-40B4-BE49-F238E27FC236}">
                  <a16:creationId xmlns:a16="http://schemas.microsoft.com/office/drawing/2014/main" id="{7FF158F0-2AF3-45AB-83AD-AC3C0A6E1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875" y="47942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1" name="Oval 68">
              <a:extLst>
                <a:ext uri="{FF2B5EF4-FFF2-40B4-BE49-F238E27FC236}">
                  <a16:creationId xmlns:a16="http://schemas.microsoft.com/office/drawing/2014/main" id="{88D1C3DA-D7E5-4360-8A44-1F449BE11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25" y="40703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2" name="Oval 69">
              <a:extLst>
                <a:ext uri="{FF2B5EF4-FFF2-40B4-BE49-F238E27FC236}">
                  <a16:creationId xmlns:a16="http://schemas.microsoft.com/office/drawing/2014/main" id="{35453B43-7A62-4490-8B29-BAE52119A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7713" y="375920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3" name="Oval 70">
              <a:extLst>
                <a:ext uri="{FF2B5EF4-FFF2-40B4-BE49-F238E27FC236}">
                  <a16:creationId xmlns:a16="http://schemas.microsoft.com/office/drawing/2014/main" id="{68F372A9-A62A-4FB4-AFD7-8C6B2D5BA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0775" y="38369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4" name="Oval 71">
              <a:extLst>
                <a:ext uri="{FF2B5EF4-FFF2-40B4-BE49-F238E27FC236}">
                  <a16:creationId xmlns:a16="http://schemas.microsoft.com/office/drawing/2014/main" id="{83C436CB-7020-44F3-A290-C6D3F75C3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3975" y="41163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5" name="Oval 72">
              <a:extLst>
                <a:ext uri="{FF2B5EF4-FFF2-40B4-BE49-F238E27FC236}">
                  <a16:creationId xmlns:a16="http://schemas.microsoft.com/office/drawing/2014/main" id="{7B90CF83-4E33-4CAE-BCB0-0B49B05C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0613" y="478313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6" name="Oval 73">
              <a:extLst>
                <a:ext uri="{FF2B5EF4-FFF2-40B4-BE49-F238E27FC236}">
                  <a16:creationId xmlns:a16="http://schemas.microsoft.com/office/drawing/2014/main" id="{3FAA33A4-2050-46EB-9C93-E5C12516D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7688" y="447357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7" name="Oval 74">
              <a:extLst>
                <a:ext uri="{FF2B5EF4-FFF2-40B4-BE49-F238E27FC236}">
                  <a16:creationId xmlns:a16="http://schemas.microsoft.com/office/drawing/2014/main" id="{E38C9A9D-335D-4F36-8AA9-9383A925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2788" y="477996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8" name="Oval 75">
              <a:extLst>
                <a:ext uri="{FF2B5EF4-FFF2-40B4-BE49-F238E27FC236}">
                  <a16:creationId xmlns:a16="http://schemas.microsoft.com/office/drawing/2014/main" id="{96243571-C4EC-45A1-B284-E087CD81C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450056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sp>
        <p:nvSpPr>
          <p:cNvPr id="139" name="Text Box 76">
            <a:extLst>
              <a:ext uri="{FF2B5EF4-FFF2-40B4-BE49-F238E27FC236}">
                <a16:creationId xmlns:a16="http://schemas.microsoft.com/office/drawing/2014/main" id="{8266B45C-5C8F-4E65-BEE5-148DC125D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244" y="1611315"/>
            <a:ext cx="67633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800" b="1" dirty="0"/>
              <a:t>Ques:- </a:t>
            </a:r>
            <a:r>
              <a:rPr lang="en-US" altLang="en-US" sz="2800" dirty="0"/>
              <a:t>How many edges are there in </a:t>
            </a:r>
            <a:r>
              <a:rPr lang="en-US" altLang="en-US" sz="2800" dirty="0">
                <a:solidFill>
                  <a:srgbClr val="FF0000"/>
                </a:solidFill>
              </a:rPr>
              <a:t>C</a:t>
            </a:r>
            <a:r>
              <a:rPr lang="en-US" altLang="en-US" sz="2800" i="1" baseline="-25000" dirty="0">
                <a:solidFill>
                  <a:srgbClr val="FF0000"/>
                </a:solidFill>
              </a:rPr>
              <a:t>n</a:t>
            </a:r>
            <a:r>
              <a:rPr lang="en-US" altLang="en-US" sz="2800" dirty="0"/>
              <a:t>?</a:t>
            </a:r>
            <a:r>
              <a:rPr lang="en-US" altLang="en-US" sz="2800" i="1" dirty="0"/>
              <a:t> </a:t>
            </a:r>
          </a:p>
        </p:txBody>
      </p:sp>
      <p:sp>
        <p:nvSpPr>
          <p:cNvPr id="141" name="Text Box 76">
            <a:extLst>
              <a:ext uri="{FF2B5EF4-FFF2-40B4-BE49-F238E27FC236}">
                <a16:creationId xmlns:a16="http://schemas.microsoft.com/office/drawing/2014/main" id="{373ACB9C-1064-4254-B9C8-18211BB26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37" y="2340185"/>
            <a:ext cx="13532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800" dirty="0"/>
              <a:t>Ans:- n</a:t>
            </a:r>
            <a:endParaRPr lang="en-US" alt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344256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  <p:bldP spid="1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7C4-1ACB-434F-BF1D-06054071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Simple Graphs - </a:t>
            </a:r>
            <a:r>
              <a:rPr lang="en-US" dirty="0"/>
              <a:t>Wheels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D909-4165-4459-95B6-9075D98B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259774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We obtain a wheel W</a:t>
            </a:r>
            <a:r>
              <a:rPr lang="en-US" baseline="-25000" dirty="0"/>
              <a:t>n</a:t>
            </a:r>
            <a:r>
              <a:rPr lang="en-US" dirty="0"/>
              <a:t> when we add an additional vertex to a cycle C</a:t>
            </a:r>
            <a:r>
              <a:rPr lang="en-US" baseline="-25000" dirty="0"/>
              <a:t>n</a:t>
            </a:r>
            <a:r>
              <a:rPr lang="en-US" dirty="0"/>
              <a:t>, for n ≥ 3, and connect this new vertex to each of the n vertices in C</a:t>
            </a:r>
            <a:r>
              <a:rPr lang="en-US" baseline="-25000" dirty="0"/>
              <a:t>n</a:t>
            </a:r>
            <a:r>
              <a:rPr lang="en-US" dirty="0"/>
              <a:t>, by new edges. The wheels W</a:t>
            </a:r>
            <a:r>
              <a:rPr lang="en-US" baseline="-25000" dirty="0"/>
              <a:t>3</a:t>
            </a:r>
            <a:r>
              <a:rPr lang="en-US" dirty="0"/>
              <a:t>, W</a:t>
            </a:r>
            <a:r>
              <a:rPr lang="en-US" baseline="-25000" dirty="0"/>
              <a:t>4</a:t>
            </a:r>
            <a:r>
              <a:rPr lang="en-US" dirty="0"/>
              <a:t>, W</a:t>
            </a:r>
            <a:r>
              <a:rPr lang="en-US" baseline="-25000" dirty="0"/>
              <a:t>5</a:t>
            </a:r>
            <a:r>
              <a:rPr lang="en-US" dirty="0"/>
              <a:t>, and W</a:t>
            </a:r>
            <a:r>
              <a:rPr lang="en-US" baseline="-25000" dirty="0"/>
              <a:t>6</a:t>
            </a:r>
            <a:r>
              <a:rPr lang="en-US" dirty="0"/>
              <a:t> are displayed in Figure below.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0BE3AD1-9882-4477-9168-331D2FA1C921}"/>
              </a:ext>
            </a:extLst>
          </p:cNvPr>
          <p:cNvGrpSpPr/>
          <p:nvPr/>
        </p:nvGrpSpPr>
        <p:grpSpPr>
          <a:xfrm>
            <a:off x="2797686" y="4307696"/>
            <a:ext cx="1162051" cy="1607293"/>
            <a:chOff x="1900772" y="4870938"/>
            <a:chExt cx="1162051" cy="1607293"/>
          </a:xfrm>
        </p:grpSpPr>
        <p:grpSp>
          <p:nvGrpSpPr>
            <p:cNvPr id="74" name="Group 2">
              <a:extLst>
                <a:ext uri="{FF2B5EF4-FFF2-40B4-BE49-F238E27FC236}">
                  <a16:creationId xmlns:a16="http://schemas.microsoft.com/office/drawing/2014/main" id="{C57E5415-31EF-4C76-B509-213F614A0C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9822" y="5780988"/>
              <a:ext cx="985838" cy="228600"/>
              <a:chOff x="576" y="1872"/>
              <a:chExt cx="621" cy="144"/>
            </a:xfrm>
          </p:grpSpPr>
          <p:sp>
            <p:nvSpPr>
              <p:cNvPr id="75" name="Line 4">
                <a:extLst>
                  <a:ext uri="{FF2B5EF4-FFF2-40B4-BE49-F238E27FC236}">
                    <a16:creationId xmlns:a16="http://schemas.microsoft.com/office/drawing/2014/main" id="{F2D4BD73-BF5D-4C34-8B31-29CF045ECD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5" y="1910"/>
                <a:ext cx="522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76" name="Oval 5">
                <a:extLst>
                  <a:ext uri="{FF2B5EF4-FFF2-40B4-BE49-F238E27FC236}">
                    <a16:creationId xmlns:a16="http://schemas.microsoft.com/office/drawing/2014/main" id="{8C8C8B08-621C-4413-B2C2-589DDBB47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77" name="Group 6">
              <a:extLst>
                <a:ext uri="{FF2B5EF4-FFF2-40B4-BE49-F238E27FC236}">
                  <a16:creationId xmlns:a16="http://schemas.microsoft.com/office/drawing/2014/main" id="{22D0510C-2026-47BB-BB56-CC53F3D22D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0772" y="4882463"/>
              <a:ext cx="1162051" cy="1127125"/>
              <a:chOff x="-12" y="1306"/>
              <a:chExt cx="732" cy="710"/>
            </a:xfrm>
          </p:grpSpPr>
          <p:sp>
            <p:nvSpPr>
              <p:cNvPr id="78" name="Oval 7">
                <a:extLst>
                  <a:ext uri="{FF2B5EF4-FFF2-40B4-BE49-F238E27FC236}">
                    <a16:creationId xmlns:a16="http://schemas.microsoft.com/office/drawing/2014/main" id="{0FA944D3-5BDB-45D1-B25E-90166B5A3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2" y="130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79" name="Line 8">
                <a:extLst>
                  <a:ext uri="{FF2B5EF4-FFF2-40B4-BE49-F238E27FC236}">
                    <a16:creationId xmlns:a16="http://schemas.microsoft.com/office/drawing/2014/main" id="{CDAB5141-0C52-4068-8C6B-40FAF4DBF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24" y="1415"/>
                <a:ext cx="4" cy="45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 dirty="0"/>
              </a:p>
            </p:txBody>
          </p:sp>
          <p:sp>
            <p:nvSpPr>
              <p:cNvPr id="80" name="Oval 9">
                <a:extLst>
                  <a:ext uri="{FF2B5EF4-FFF2-40B4-BE49-F238E27FC236}">
                    <a16:creationId xmlns:a16="http://schemas.microsoft.com/office/drawing/2014/main" id="{B6CD3C36-7292-4620-814D-927E35E02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81" name="Line 14">
              <a:extLst>
                <a:ext uri="{FF2B5EF4-FFF2-40B4-BE49-F238E27FC236}">
                  <a16:creationId xmlns:a16="http://schemas.microsoft.com/office/drawing/2014/main" id="{16A6E11E-5FF1-4192-A44F-92455AB26F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5644" y="5055429"/>
              <a:ext cx="10380" cy="858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96A0BD41-8A32-4349-B4D7-402548F99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1907" y="5955011"/>
              <a:ext cx="68800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altLang="en-US" sz="2800" i="1" dirty="0"/>
                <a:t>W</a:t>
              </a:r>
              <a:r>
                <a:rPr lang="en-US" altLang="en-US" sz="2800" i="1" baseline="-25000" dirty="0"/>
                <a:t>4</a:t>
              </a:r>
              <a:endParaRPr lang="en-US" altLang="en-US" sz="1800" dirty="0"/>
            </a:p>
          </p:txBody>
        </p:sp>
        <p:sp>
          <p:nvSpPr>
            <p:cNvPr id="83" name="Oval 7">
              <a:extLst>
                <a:ext uri="{FF2B5EF4-FFF2-40B4-BE49-F238E27FC236}">
                  <a16:creationId xmlns:a16="http://schemas.microsoft.com/office/drawing/2014/main" id="{1BA37F64-E0CA-44B3-9D28-D8BAD5BEA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640" y="4870938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4" name="Line 4">
              <a:extLst>
                <a:ext uri="{FF2B5EF4-FFF2-40B4-BE49-F238E27FC236}">
                  <a16:creationId xmlns:a16="http://schemas.microsoft.com/office/drawing/2014/main" id="{83DA02FF-61E2-46D6-968B-D4E7ED976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0483" y="4979918"/>
              <a:ext cx="828675" cy="158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5" name="Line 4">
              <a:extLst>
                <a:ext uri="{FF2B5EF4-FFF2-40B4-BE49-F238E27FC236}">
                  <a16:creationId xmlns:a16="http://schemas.microsoft.com/office/drawing/2014/main" id="{792EF529-2A4B-47A5-84FE-276FFAFC49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197" y="4979919"/>
              <a:ext cx="892635" cy="9526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6" name="Line 4">
              <a:extLst>
                <a:ext uri="{FF2B5EF4-FFF2-40B4-BE49-F238E27FC236}">
                  <a16:creationId xmlns:a16="http://schemas.microsoft.com/office/drawing/2014/main" id="{CF8CC6F4-6770-4826-8852-8C7F6CAD8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0483" y="5018253"/>
              <a:ext cx="851313" cy="8389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8" name="Oval 7">
              <a:extLst>
                <a:ext uri="{FF2B5EF4-FFF2-40B4-BE49-F238E27FC236}">
                  <a16:creationId xmlns:a16="http://schemas.microsoft.com/office/drawing/2014/main" id="{EBA6BB99-6E6B-4234-B5DB-9D81E432F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898" y="5355294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E2F7F1-E04D-417A-93E8-3216B81C2FC3}"/>
              </a:ext>
            </a:extLst>
          </p:cNvPr>
          <p:cNvGrpSpPr/>
          <p:nvPr/>
        </p:nvGrpSpPr>
        <p:grpSpPr>
          <a:xfrm>
            <a:off x="4334019" y="4055882"/>
            <a:ext cx="1503844" cy="2110921"/>
            <a:chOff x="3425876" y="4380560"/>
            <a:chExt cx="1503844" cy="2110921"/>
          </a:xfrm>
        </p:grpSpPr>
        <p:grpSp>
          <p:nvGrpSpPr>
            <p:cNvPr id="87" name="Group 2">
              <a:extLst>
                <a:ext uri="{FF2B5EF4-FFF2-40B4-BE49-F238E27FC236}">
                  <a16:creationId xmlns:a16="http://schemas.microsoft.com/office/drawing/2014/main" id="{A361BF23-2018-4C0A-AB95-DFF2BAC3C3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2726" y="5794238"/>
              <a:ext cx="985838" cy="228600"/>
              <a:chOff x="576" y="1872"/>
              <a:chExt cx="621" cy="144"/>
            </a:xfrm>
          </p:grpSpPr>
          <p:sp>
            <p:nvSpPr>
              <p:cNvPr id="88" name="Line 4">
                <a:extLst>
                  <a:ext uri="{FF2B5EF4-FFF2-40B4-BE49-F238E27FC236}">
                    <a16:creationId xmlns:a16="http://schemas.microsoft.com/office/drawing/2014/main" id="{C4517398-B164-40A2-9CD5-136C247ED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5" y="1910"/>
                <a:ext cx="522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89" name="Oval 5">
                <a:extLst>
                  <a:ext uri="{FF2B5EF4-FFF2-40B4-BE49-F238E27FC236}">
                    <a16:creationId xmlns:a16="http://schemas.microsoft.com/office/drawing/2014/main" id="{6E21C26B-1358-4DE7-A36E-079F45ACA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90" name="Group 6">
              <a:extLst>
                <a:ext uri="{FF2B5EF4-FFF2-40B4-BE49-F238E27FC236}">
                  <a16:creationId xmlns:a16="http://schemas.microsoft.com/office/drawing/2014/main" id="{085EC175-EFE5-4C3A-B6FE-F5B045007B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5876" y="4951276"/>
              <a:ext cx="1416051" cy="1071563"/>
              <a:chOff x="-124" y="1341"/>
              <a:chExt cx="892" cy="675"/>
            </a:xfrm>
          </p:grpSpPr>
          <p:sp>
            <p:nvSpPr>
              <p:cNvPr id="91" name="Oval 7">
                <a:extLst>
                  <a:ext uri="{FF2B5EF4-FFF2-40B4-BE49-F238E27FC236}">
                    <a16:creationId xmlns:a16="http://schemas.microsoft.com/office/drawing/2014/main" id="{7284BD2D-48FC-43EF-AC16-41E86D09C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24" y="1341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92" name="Line 8">
                <a:extLst>
                  <a:ext uri="{FF2B5EF4-FFF2-40B4-BE49-F238E27FC236}">
                    <a16:creationId xmlns:a16="http://schemas.microsoft.com/office/drawing/2014/main" id="{8AD01BD4-AE40-49D9-A0A5-9C8FEE1F63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24" y="1442"/>
                <a:ext cx="144" cy="43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 dirty="0"/>
              </a:p>
            </p:txBody>
          </p:sp>
          <p:sp>
            <p:nvSpPr>
              <p:cNvPr id="93" name="Oval 9">
                <a:extLst>
                  <a:ext uri="{FF2B5EF4-FFF2-40B4-BE49-F238E27FC236}">
                    <a16:creationId xmlns:a16="http://schemas.microsoft.com/office/drawing/2014/main" id="{50745A4F-8A43-4C75-81E3-27AA7B200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94" name="Line 14">
              <a:extLst>
                <a:ext uri="{FF2B5EF4-FFF2-40B4-BE49-F238E27FC236}">
                  <a16:creationId xmlns:a16="http://schemas.microsoft.com/office/drawing/2014/main" id="{CDF8ED9E-869E-4A99-AA06-9D8293CBA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7343" y="5068751"/>
              <a:ext cx="141205" cy="8586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5" name="Text Box 26">
              <a:extLst>
                <a:ext uri="{FF2B5EF4-FFF2-40B4-BE49-F238E27FC236}">
                  <a16:creationId xmlns:a16="http://schemas.microsoft.com/office/drawing/2014/main" id="{E06E0069-AB26-4F7C-85FD-619AE744A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4811" y="5968261"/>
              <a:ext cx="68159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altLang="en-US" sz="2800" i="1" dirty="0"/>
                <a:t>W</a:t>
              </a:r>
              <a:r>
                <a:rPr lang="en-US" sz="2800" baseline="-25000" dirty="0"/>
                <a:t>5</a:t>
              </a:r>
              <a:endParaRPr lang="en-US" altLang="en-US" sz="1800" dirty="0"/>
            </a:p>
          </p:txBody>
        </p:sp>
        <p:sp>
          <p:nvSpPr>
            <p:cNvPr id="96" name="Oval 7">
              <a:extLst>
                <a:ext uri="{FF2B5EF4-FFF2-40B4-BE49-F238E27FC236}">
                  <a16:creationId xmlns:a16="http://schemas.microsoft.com/office/drawing/2014/main" id="{71FE5F93-22B9-47BA-AD9B-BD926829B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120" y="4962802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97" name="Line 4">
              <a:extLst>
                <a:ext uri="{FF2B5EF4-FFF2-40B4-BE49-F238E27FC236}">
                  <a16:creationId xmlns:a16="http://schemas.microsoft.com/office/drawing/2014/main" id="{F21FE1DA-D359-492A-82F8-CEDDD748D5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47342" y="5055428"/>
              <a:ext cx="628069" cy="2375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8" name="Line 4">
              <a:extLst>
                <a:ext uri="{FF2B5EF4-FFF2-40B4-BE49-F238E27FC236}">
                  <a16:creationId xmlns:a16="http://schemas.microsoft.com/office/drawing/2014/main" id="{5291A1AF-2BA3-46F3-9374-C248780735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9100" y="5278163"/>
              <a:ext cx="504074" cy="667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9" name="Line 4">
              <a:extLst>
                <a:ext uri="{FF2B5EF4-FFF2-40B4-BE49-F238E27FC236}">
                  <a16:creationId xmlns:a16="http://schemas.microsoft.com/office/drawing/2014/main" id="{F2C3FC82-3649-4607-8961-23C5D2589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5323" y="5284788"/>
              <a:ext cx="379377" cy="585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0" name="Oval 7">
              <a:extLst>
                <a:ext uri="{FF2B5EF4-FFF2-40B4-BE49-F238E27FC236}">
                  <a16:creationId xmlns:a16="http://schemas.microsoft.com/office/drawing/2014/main" id="{BAD42A72-C350-4D7E-AB71-B49DEBCA8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1988" y="4380560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1" name="Line 4">
              <a:extLst>
                <a:ext uri="{FF2B5EF4-FFF2-40B4-BE49-F238E27FC236}">
                  <a16:creationId xmlns:a16="http://schemas.microsoft.com/office/drawing/2014/main" id="{70FF01EA-B037-4EE5-993A-FC128FEA5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069" y="4542182"/>
              <a:ext cx="24494" cy="7782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2" name="Line 4">
              <a:extLst>
                <a:ext uri="{FF2B5EF4-FFF2-40B4-BE49-F238E27FC236}">
                  <a16:creationId xmlns:a16="http://schemas.microsoft.com/office/drawing/2014/main" id="{00831E16-4F81-4EF1-BA18-16484518EE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3256" y="5057915"/>
              <a:ext cx="678153" cy="2941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3" name="Line 4">
              <a:extLst>
                <a:ext uri="{FF2B5EF4-FFF2-40B4-BE49-F238E27FC236}">
                  <a16:creationId xmlns:a16="http://schemas.microsoft.com/office/drawing/2014/main" id="{ECB73F46-079B-47C1-BFC0-021C32D69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4256" y="4506196"/>
              <a:ext cx="567144" cy="5450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4" name="Line 4">
              <a:extLst>
                <a:ext uri="{FF2B5EF4-FFF2-40B4-BE49-F238E27FC236}">
                  <a16:creationId xmlns:a16="http://schemas.microsoft.com/office/drawing/2014/main" id="{A8201CF3-35DA-4559-A7FB-DD5AC1E44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91236" y="4461789"/>
              <a:ext cx="521306" cy="6023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9" name="Oval 7">
              <a:extLst>
                <a:ext uri="{FF2B5EF4-FFF2-40B4-BE49-F238E27FC236}">
                  <a16:creationId xmlns:a16="http://schemas.microsoft.com/office/drawing/2014/main" id="{6D333680-C4CD-491E-B1CE-2283DEB1D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137" y="5180301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C4F2276-6D38-4258-8350-2838D8B71C00}"/>
              </a:ext>
            </a:extLst>
          </p:cNvPr>
          <p:cNvGrpSpPr/>
          <p:nvPr/>
        </p:nvGrpSpPr>
        <p:grpSpPr>
          <a:xfrm>
            <a:off x="1280403" y="4313458"/>
            <a:ext cx="1143001" cy="1595768"/>
            <a:chOff x="505150" y="4918904"/>
            <a:chExt cx="1143001" cy="1595768"/>
          </a:xfrm>
        </p:grpSpPr>
        <p:grpSp>
          <p:nvGrpSpPr>
            <p:cNvPr id="51" name="Group 2">
              <a:extLst>
                <a:ext uri="{FF2B5EF4-FFF2-40B4-BE49-F238E27FC236}">
                  <a16:creationId xmlns:a16="http://schemas.microsoft.com/office/drawing/2014/main" id="{3B31F103-D4CF-41F0-B51B-F6FA905863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150" y="5817429"/>
              <a:ext cx="985838" cy="228600"/>
              <a:chOff x="576" y="1872"/>
              <a:chExt cx="621" cy="144"/>
            </a:xfrm>
          </p:grpSpPr>
          <p:sp>
            <p:nvSpPr>
              <p:cNvPr id="52" name="Line 4">
                <a:extLst>
                  <a:ext uri="{FF2B5EF4-FFF2-40B4-BE49-F238E27FC236}">
                    <a16:creationId xmlns:a16="http://schemas.microsoft.com/office/drawing/2014/main" id="{EEE5DAE1-B2F3-4949-BE86-275E3683C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5" y="1910"/>
                <a:ext cx="522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59" name="Oval 5">
                <a:extLst>
                  <a:ext uri="{FF2B5EF4-FFF2-40B4-BE49-F238E27FC236}">
                    <a16:creationId xmlns:a16="http://schemas.microsoft.com/office/drawing/2014/main" id="{108FF069-FC34-4F4C-A8EF-23F222D5B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60" name="Group 6">
              <a:extLst>
                <a:ext uri="{FF2B5EF4-FFF2-40B4-BE49-F238E27FC236}">
                  <a16:creationId xmlns:a16="http://schemas.microsoft.com/office/drawing/2014/main" id="{10D4D2F6-53C7-446B-9473-DD5F4D5B03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863" y="4918904"/>
              <a:ext cx="649288" cy="1127125"/>
              <a:chOff x="311" y="1306"/>
              <a:chExt cx="409" cy="710"/>
            </a:xfrm>
          </p:grpSpPr>
          <p:sp>
            <p:nvSpPr>
              <p:cNvPr id="61" name="Oval 7">
                <a:extLst>
                  <a:ext uri="{FF2B5EF4-FFF2-40B4-BE49-F238E27FC236}">
                    <a16:creationId xmlns:a16="http://schemas.microsoft.com/office/drawing/2014/main" id="{2659A94B-EBC9-46CD-8CE2-DFBC086B2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" y="130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63" name="Line 8">
                <a:extLst>
                  <a:ext uri="{FF2B5EF4-FFF2-40B4-BE49-F238E27FC236}">
                    <a16:creationId xmlns:a16="http://schemas.microsoft.com/office/drawing/2014/main" id="{1516F463-2323-46CB-B1D1-89173D8E3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" y="1450"/>
                <a:ext cx="242" cy="4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64" name="Oval 9">
                <a:extLst>
                  <a:ext uri="{FF2B5EF4-FFF2-40B4-BE49-F238E27FC236}">
                    <a16:creationId xmlns:a16="http://schemas.microsoft.com/office/drawing/2014/main" id="{9F804C73-D137-4B37-86CF-3E85C87B1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71" name="Line 14">
              <a:extLst>
                <a:ext uri="{FF2B5EF4-FFF2-40B4-BE49-F238E27FC236}">
                  <a16:creationId xmlns:a16="http://schemas.microsoft.com/office/drawing/2014/main" id="{F34DF136-5E33-43FC-9898-B36172B14C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0972" y="5055429"/>
              <a:ext cx="530827" cy="8952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2" name="Text Box 26">
              <a:extLst>
                <a:ext uri="{FF2B5EF4-FFF2-40B4-BE49-F238E27FC236}">
                  <a16:creationId xmlns:a16="http://schemas.microsoft.com/office/drawing/2014/main" id="{22005D09-D386-43C4-8806-B16B20942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235" y="5991452"/>
              <a:ext cx="67839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altLang="en-US" sz="2800" i="1" dirty="0"/>
                <a:t>W</a:t>
              </a:r>
              <a:r>
                <a:rPr lang="en-US" sz="2800" baseline="-25000" dirty="0"/>
                <a:t>3</a:t>
              </a:r>
              <a:endParaRPr lang="en-US" altLang="en-US" sz="1800" dirty="0"/>
            </a:p>
          </p:txBody>
        </p:sp>
        <p:sp>
          <p:nvSpPr>
            <p:cNvPr id="130" name="Oval 7">
              <a:extLst>
                <a:ext uri="{FF2B5EF4-FFF2-40B4-BE49-F238E27FC236}">
                  <a16:creationId xmlns:a16="http://schemas.microsoft.com/office/drawing/2014/main" id="{62E99313-2EF1-41D5-8FB0-A9CA939FF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421" y="5435455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31" name="Line 4">
              <a:extLst>
                <a:ext uri="{FF2B5EF4-FFF2-40B4-BE49-F238E27FC236}">
                  <a16:creationId xmlns:a16="http://schemas.microsoft.com/office/drawing/2014/main" id="{A7D6E4B8-2870-4361-AC14-37568F11FB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524" y="5549071"/>
              <a:ext cx="493527" cy="431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32" name="Line 4">
              <a:extLst>
                <a:ext uri="{FF2B5EF4-FFF2-40B4-BE49-F238E27FC236}">
                  <a16:creationId xmlns:a16="http://schemas.microsoft.com/office/drawing/2014/main" id="{DD02DE70-4F95-46D5-9D61-042F0DF290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983" y="5051289"/>
              <a:ext cx="16981" cy="539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33" name="Line 4">
              <a:extLst>
                <a:ext uri="{FF2B5EF4-FFF2-40B4-BE49-F238E27FC236}">
                  <a16:creationId xmlns:a16="http://schemas.microsoft.com/office/drawing/2014/main" id="{0EAA4D53-EE68-4A62-873C-B34EC0C0C2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77140" y="5601541"/>
              <a:ext cx="464240" cy="312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55DFC6C-1B34-4707-9EFF-3923CB915EA9}"/>
              </a:ext>
            </a:extLst>
          </p:cNvPr>
          <p:cNvGrpSpPr/>
          <p:nvPr/>
        </p:nvGrpSpPr>
        <p:grpSpPr>
          <a:xfrm>
            <a:off x="6212146" y="3772616"/>
            <a:ext cx="1503844" cy="2677452"/>
            <a:chOff x="5436893" y="3708013"/>
            <a:chExt cx="1503844" cy="2677452"/>
          </a:xfrm>
        </p:grpSpPr>
        <p:grpSp>
          <p:nvGrpSpPr>
            <p:cNvPr id="134" name="Group 2">
              <a:extLst>
                <a:ext uri="{FF2B5EF4-FFF2-40B4-BE49-F238E27FC236}">
                  <a16:creationId xmlns:a16="http://schemas.microsoft.com/office/drawing/2014/main" id="{F26A7315-2EC1-48C8-9993-085FAF144E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3743" y="5121694"/>
              <a:ext cx="538163" cy="541338"/>
              <a:chOff x="576" y="1872"/>
              <a:chExt cx="339" cy="341"/>
            </a:xfrm>
          </p:grpSpPr>
          <p:sp>
            <p:nvSpPr>
              <p:cNvPr id="135" name="Line 4">
                <a:extLst>
                  <a:ext uri="{FF2B5EF4-FFF2-40B4-BE49-F238E27FC236}">
                    <a16:creationId xmlns:a16="http://schemas.microsoft.com/office/drawing/2014/main" id="{A523AFE7-E0CA-4BDB-B605-661D6BB66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5" y="1920"/>
                <a:ext cx="240" cy="29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136" name="Oval 5">
                <a:extLst>
                  <a:ext uri="{FF2B5EF4-FFF2-40B4-BE49-F238E27FC236}">
                    <a16:creationId xmlns:a16="http://schemas.microsoft.com/office/drawing/2014/main" id="{F71B3495-D6D2-4F16-B5F2-A1D72868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137" name="Group 6">
              <a:extLst>
                <a:ext uri="{FF2B5EF4-FFF2-40B4-BE49-F238E27FC236}">
                  <a16:creationId xmlns:a16="http://schemas.microsoft.com/office/drawing/2014/main" id="{34A087D1-ECE9-412D-925F-438F3C7207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6893" y="4278729"/>
              <a:ext cx="1416051" cy="1071563"/>
              <a:chOff x="-124" y="1341"/>
              <a:chExt cx="892" cy="675"/>
            </a:xfrm>
          </p:grpSpPr>
          <p:sp>
            <p:nvSpPr>
              <p:cNvPr id="138" name="Oval 7">
                <a:extLst>
                  <a:ext uri="{FF2B5EF4-FFF2-40B4-BE49-F238E27FC236}">
                    <a16:creationId xmlns:a16="http://schemas.microsoft.com/office/drawing/2014/main" id="{9B3D9495-F8A6-4C2A-B127-1AB9444B5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24" y="1341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139" name="Line 8">
                <a:extLst>
                  <a:ext uri="{FF2B5EF4-FFF2-40B4-BE49-F238E27FC236}">
                    <a16:creationId xmlns:a16="http://schemas.microsoft.com/office/drawing/2014/main" id="{266A7C97-6EAA-4BFF-ABDC-E89D388246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24" y="1442"/>
                <a:ext cx="144" cy="43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 dirty="0"/>
              </a:p>
            </p:txBody>
          </p:sp>
          <p:sp>
            <p:nvSpPr>
              <p:cNvPr id="140" name="Oval 9">
                <a:extLst>
                  <a:ext uri="{FF2B5EF4-FFF2-40B4-BE49-F238E27FC236}">
                    <a16:creationId xmlns:a16="http://schemas.microsoft.com/office/drawing/2014/main" id="{E7D342FC-2017-46D0-91AC-538A69212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141" name="Line 14">
              <a:extLst>
                <a:ext uri="{FF2B5EF4-FFF2-40B4-BE49-F238E27FC236}">
                  <a16:creationId xmlns:a16="http://schemas.microsoft.com/office/drawing/2014/main" id="{D36B623F-0C00-47AF-AB3C-1472AA5CF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8360" y="4396204"/>
              <a:ext cx="141205" cy="8586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2" name="Text Box 26">
              <a:extLst>
                <a:ext uri="{FF2B5EF4-FFF2-40B4-BE49-F238E27FC236}">
                  <a16:creationId xmlns:a16="http://schemas.microsoft.com/office/drawing/2014/main" id="{6B96AAE9-0C5B-4211-9F85-1431C8E03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5828" y="5862245"/>
              <a:ext cx="67518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 i="1" dirty="0"/>
                <a:t> </a:t>
              </a:r>
              <a:r>
                <a:rPr lang="en-US" altLang="en-US" sz="2800" i="1" dirty="0"/>
                <a:t>W</a:t>
              </a:r>
              <a:r>
                <a:rPr lang="en-US" altLang="en-US" sz="2800" i="1" baseline="-25000" dirty="0"/>
                <a:t>6</a:t>
              </a:r>
              <a:endParaRPr lang="en-US" altLang="en-US" sz="1800" dirty="0"/>
            </a:p>
          </p:txBody>
        </p:sp>
        <p:sp>
          <p:nvSpPr>
            <p:cNvPr id="143" name="Oval 7">
              <a:extLst>
                <a:ext uri="{FF2B5EF4-FFF2-40B4-BE49-F238E27FC236}">
                  <a16:creationId xmlns:a16="http://schemas.microsoft.com/office/drawing/2014/main" id="{7E018C03-B725-4E90-89BB-B462FF41C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2137" y="4290255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44" name="Line 4">
              <a:extLst>
                <a:ext uri="{FF2B5EF4-FFF2-40B4-BE49-F238E27FC236}">
                  <a16:creationId xmlns:a16="http://schemas.microsoft.com/office/drawing/2014/main" id="{053F1E42-87ED-4D06-99BB-C87467E601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58359" y="4382881"/>
              <a:ext cx="628069" cy="2375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5" name="Line 4">
              <a:extLst>
                <a:ext uri="{FF2B5EF4-FFF2-40B4-BE49-F238E27FC236}">
                  <a16:creationId xmlns:a16="http://schemas.microsoft.com/office/drawing/2014/main" id="{56782FFD-033C-4CC4-8712-DB0441251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30117" y="4605616"/>
              <a:ext cx="504074" cy="667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6" name="Line 4">
              <a:extLst>
                <a:ext uri="{FF2B5EF4-FFF2-40B4-BE49-F238E27FC236}">
                  <a16:creationId xmlns:a16="http://schemas.microsoft.com/office/drawing/2014/main" id="{07B5A6FB-822B-4D2C-A4F5-A9E3AC826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6340" y="4612241"/>
              <a:ext cx="379377" cy="585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7" name="Oval 7">
              <a:extLst>
                <a:ext uri="{FF2B5EF4-FFF2-40B4-BE49-F238E27FC236}">
                  <a16:creationId xmlns:a16="http://schemas.microsoft.com/office/drawing/2014/main" id="{E03B6B83-3C12-4E2C-8C01-062DD1A79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3005" y="3708013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48" name="Line 4">
              <a:extLst>
                <a:ext uri="{FF2B5EF4-FFF2-40B4-BE49-F238E27FC236}">
                  <a16:creationId xmlns:a16="http://schemas.microsoft.com/office/drawing/2014/main" id="{803F2C51-74A6-4182-8CF2-F3D2923FB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4086" y="3869635"/>
              <a:ext cx="24494" cy="7782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9" name="Line 4">
              <a:extLst>
                <a:ext uri="{FF2B5EF4-FFF2-40B4-BE49-F238E27FC236}">
                  <a16:creationId xmlns:a16="http://schemas.microsoft.com/office/drawing/2014/main" id="{13083D20-A141-4CE3-B8C6-9046D3963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4273" y="4385368"/>
              <a:ext cx="678153" cy="2941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0" name="Line 4">
              <a:extLst>
                <a:ext uri="{FF2B5EF4-FFF2-40B4-BE49-F238E27FC236}">
                  <a16:creationId xmlns:a16="http://schemas.microsoft.com/office/drawing/2014/main" id="{C5A432B0-EF0F-4B20-BCA9-99618511E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5273" y="3833649"/>
              <a:ext cx="567144" cy="5450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1" name="Line 4">
              <a:extLst>
                <a:ext uri="{FF2B5EF4-FFF2-40B4-BE49-F238E27FC236}">
                  <a16:creationId xmlns:a16="http://schemas.microsoft.com/office/drawing/2014/main" id="{BB3F08EC-AA45-4CDF-A302-F80C531DE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02253" y="3833648"/>
              <a:ext cx="581832" cy="5579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2" name="Oval 7">
              <a:extLst>
                <a:ext uri="{FF2B5EF4-FFF2-40B4-BE49-F238E27FC236}">
                  <a16:creationId xmlns:a16="http://schemas.microsoft.com/office/drawing/2014/main" id="{97611582-92B6-42F9-A1A2-6C4376F90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2154" y="4507754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53" name="Oval 7">
              <a:extLst>
                <a:ext uri="{FF2B5EF4-FFF2-40B4-BE49-F238E27FC236}">
                  <a16:creationId xmlns:a16="http://schemas.microsoft.com/office/drawing/2014/main" id="{E56640E6-CCF4-4FFD-864B-A6876B653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395" y="5551030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54" name="Line 4">
              <a:extLst>
                <a:ext uri="{FF2B5EF4-FFF2-40B4-BE49-F238E27FC236}">
                  <a16:creationId xmlns:a16="http://schemas.microsoft.com/office/drawing/2014/main" id="{752020F3-138C-4731-ADB6-AAAB4AC7C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34191" y="5179585"/>
              <a:ext cx="401746" cy="4673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5" name="Line 4">
              <a:extLst>
                <a:ext uri="{FF2B5EF4-FFF2-40B4-BE49-F238E27FC236}">
                  <a16:creationId xmlns:a16="http://schemas.microsoft.com/office/drawing/2014/main" id="{4A9D3554-6FB3-4A5B-8B19-81ACB1A97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2457" y="4612242"/>
              <a:ext cx="22815" cy="10507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</p:spTree>
    <p:extLst>
      <p:ext uri="{BB962C8B-B14F-4D97-AF65-F5344CB8AC3E}">
        <p14:creationId xmlns:p14="http://schemas.microsoft.com/office/powerpoint/2010/main" val="1253571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B0AF-CF5F-4C9B-AC8D-B2E5898E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Simple Graphs - Wheels </a:t>
            </a:r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id="{F045D2B5-CB65-40E3-B14B-CEF8B56F5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380116"/>
            <a:ext cx="68451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800" b="1" dirty="0"/>
              <a:t>Ques:- </a:t>
            </a:r>
            <a:r>
              <a:rPr lang="en-US" altLang="en-US" sz="2800" dirty="0"/>
              <a:t>How many edges are there in W</a:t>
            </a:r>
            <a:r>
              <a:rPr lang="en-US" altLang="en-US" sz="2800" i="1" baseline="-25000" dirty="0"/>
              <a:t>n</a:t>
            </a:r>
            <a:r>
              <a:rPr lang="en-US" altLang="en-US" sz="2800" dirty="0"/>
              <a:t>?</a:t>
            </a:r>
            <a:r>
              <a:rPr lang="en-US" altLang="en-US" sz="2800" i="1" dirty="0"/>
              <a:t> 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91C9E43-8A8A-42F1-87C5-BB34A10EF53C}"/>
              </a:ext>
            </a:extLst>
          </p:cNvPr>
          <p:cNvGrpSpPr/>
          <p:nvPr/>
        </p:nvGrpSpPr>
        <p:grpSpPr>
          <a:xfrm>
            <a:off x="1356255" y="4195233"/>
            <a:ext cx="725487" cy="1252210"/>
            <a:chOff x="1347788" y="4157663"/>
            <a:chExt cx="725487" cy="1252210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70C9DC8C-C751-480F-BBA6-4592B5DBF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263" y="4246563"/>
              <a:ext cx="528637" cy="231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D7F97B71-21C7-44FD-A63F-CBBA622833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0350" y="4491038"/>
              <a:ext cx="463550" cy="3476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D673F657-6AF0-41DE-813A-1CE16EE97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2250" y="4221163"/>
              <a:ext cx="25400" cy="6302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501A8D4B-D7D8-445B-9B9F-5FB775218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7788" y="4886653"/>
              <a:ext cx="61587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W</a:t>
              </a:r>
              <a:r>
                <a:rPr lang="en-US" altLang="en-US" sz="2800" baseline="-25000" dirty="0"/>
                <a:t>3</a:t>
              </a:r>
              <a:endParaRPr lang="en-US" altLang="en-US" sz="2800" i="1" dirty="0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46BBD556-67A9-4206-B213-716F90ADA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1138" y="4208463"/>
              <a:ext cx="192087" cy="3095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B4C564AE-A1E8-4F6C-984C-F1A78A9005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3225" y="4478338"/>
              <a:ext cx="309563" cy="523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DD35F396-AB0F-42E7-9F8F-60DE3808E6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238" y="4530725"/>
              <a:ext cx="153987" cy="3222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5" name="Oval 75">
              <a:extLst>
                <a:ext uri="{FF2B5EF4-FFF2-40B4-BE49-F238E27FC236}">
                  <a16:creationId xmlns:a16="http://schemas.microsoft.com/office/drawing/2014/main" id="{01054C81-6A3B-42A7-8486-31ACD7CA3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700" y="415766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6" name="Oval 76">
              <a:extLst>
                <a:ext uri="{FF2B5EF4-FFF2-40B4-BE49-F238E27FC236}">
                  <a16:creationId xmlns:a16="http://schemas.microsoft.com/office/drawing/2014/main" id="{37CB90F3-19B1-4A93-8528-85CBCE887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875" y="441166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7" name="Oval 77">
              <a:extLst>
                <a:ext uri="{FF2B5EF4-FFF2-40B4-BE49-F238E27FC236}">
                  <a16:creationId xmlns:a16="http://schemas.microsoft.com/office/drawing/2014/main" id="{77E9D456-1EB3-4BF7-9EE3-5B6483777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150" y="47688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78" name="Oval 78">
              <a:extLst>
                <a:ext uri="{FF2B5EF4-FFF2-40B4-BE49-F238E27FC236}">
                  <a16:creationId xmlns:a16="http://schemas.microsoft.com/office/drawing/2014/main" id="{FCDE1C59-5011-46E2-98BD-D77C56F15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7025" y="446087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F896297-8B1D-4275-843F-A0BE85026DCD}"/>
              </a:ext>
            </a:extLst>
          </p:cNvPr>
          <p:cNvGrpSpPr/>
          <p:nvPr/>
        </p:nvGrpSpPr>
        <p:grpSpPr>
          <a:xfrm>
            <a:off x="3641619" y="4063471"/>
            <a:ext cx="920750" cy="1515735"/>
            <a:chOff x="3719513" y="4116388"/>
            <a:chExt cx="920750" cy="1515735"/>
          </a:xfrm>
        </p:grpSpPr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BD8D2EA0-3D6F-4EE6-A146-0CF5C930F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5713" y="4195763"/>
              <a:ext cx="219075" cy="527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3589079B-5EF2-43CA-A0E0-01C884242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2088" y="4195763"/>
              <a:ext cx="463550" cy="889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4C739C08-ADC6-4717-BF83-66F0C6842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5638" y="4284663"/>
              <a:ext cx="103187" cy="463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1B84F361-CBE0-40BF-8E75-F3CBB7925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0313" y="4722813"/>
              <a:ext cx="334962" cy="3476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345862ED-5211-456E-B0D9-3230B36C70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2575" y="4748213"/>
              <a:ext cx="449263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F742C94A-3919-4F36-A43A-218D9F777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988" y="5108903"/>
              <a:ext cx="61908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W</a:t>
              </a:r>
              <a:r>
                <a:rPr lang="en-US" altLang="en-US" sz="2800" baseline="-25000" dirty="0"/>
                <a:t>5</a:t>
              </a:r>
              <a:endParaRPr lang="en-US" altLang="en-US" sz="2800" i="1" dirty="0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BB7F8265-95AB-4334-BE35-79319972F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463" y="4581525"/>
              <a:ext cx="88900" cy="488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CAEB9C8F-A1B4-4ECD-AB34-A0EB60F0C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03675" y="4183063"/>
              <a:ext cx="153988" cy="3984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D66DF4ED-083A-4E74-B766-DAEDBA2CF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7663" y="4273550"/>
              <a:ext cx="296862" cy="320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82" name="Oval 82">
              <a:extLst>
                <a:ext uri="{FF2B5EF4-FFF2-40B4-BE49-F238E27FC236}">
                  <a16:creationId xmlns:a16="http://schemas.microsoft.com/office/drawing/2014/main" id="{DF4E64AF-B7A1-4B90-B9EC-575EA0021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763" y="41163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3" name="Oval 83">
              <a:extLst>
                <a:ext uri="{FF2B5EF4-FFF2-40B4-BE49-F238E27FC236}">
                  <a16:creationId xmlns:a16="http://schemas.microsoft.com/office/drawing/2014/main" id="{317F4A9E-610F-4A2D-A632-DE1FD999C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900" y="49879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4" name="Oval 84">
              <a:extLst>
                <a:ext uri="{FF2B5EF4-FFF2-40B4-BE49-F238E27FC236}">
                  <a16:creationId xmlns:a16="http://schemas.microsoft.com/office/drawing/2014/main" id="{FD601B34-F7BE-4EB7-B630-8A3A9C804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788" y="42100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5" name="Line 85">
              <a:extLst>
                <a:ext uri="{FF2B5EF4-FFF2-40B4-BE49-F238E27FC236}">
                  <a16:creationId xmlns:a16="http://schemas.microsoft.com/office/drawing/2014/main" id="{F0DB3CAD-221B-4494-ABCF-45D61A8E23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1900" y="4594225"/>
              <a:ext cx="385763" cy="1158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86" name="Line 86">
              <a:extLst>
                <a:ext uri="{FF2B5EF4-FFF2-40B4-BE49-F238E27FC236}">
                  <a16:creationId xmlns:a16="http://schemas.microsoft.com/office/drawing/2014/main" id="{4C289498-5469-44CA-BF64-D9E84F36D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363" y="4581525"/>
              <a:ext cx="400050" cy="180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87" name="Oval 87">
              <a:extLst>
                <a:ext uri="{FF2B5EF4-FFF2-40B4-BE49-F238E27FC236}">
                  <a16:creationId xmlns:a16="http://schemas.microsoft.com/office/drawing/2014/main" id="{6AA2A20C-7269-46F7-A45D-BC87322E2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513" y="46418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8" name="Oval 88">
              <a:extLst>
                <a:ext uri="{FF2B5EF4-FFF2-40B4-BE49-F238E27FC236}">
                  <a16:creationId xmlns:a16="http://schemas.microsoft.com/office/drawing/2014/main" id="{FE3718E0-E6ED-405A-8A83-BD4267386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52120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89" name="Oval 89">
              <a:extLst>
                <a:ext uri="{FF2B5EF4-FFF2-40B4-BE49-F238E27FC236}">
                  <a16:creationId xmlns:a16="http://schemas.microsoft.com/office/drawing/2014/main" id="{A2D86410-1A8B-4FC5-A0E5-8D02A459F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863" y="467677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D9F508F-3765-48DF-90BA-5BCEF723CC3E}"/>
              </a:ext>
            </a:extLst>
          </p:cNvPr>
          <p:cNvGrpSpPr/>
          <p:nvPr/>
        </p:nvGrpSpPr>
        <p:grpSpPr>
          <a:xfrm>
            <a:off x="4857326" y="4026958"/>
            <a:ext cx="844550" cy="1588760"/>
            <a:chOff x="4960938" y="4132263"/>
            <a:chExt cx="844550" cy="1588760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A94705E2-FEF2-406E-8F87-98EC05D8D3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0788" y="4208463"/>
              <a:ext cx="361950" cy="307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6860EBC8-54A8-4CA0-B28F-5FD6E79E2F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2738" y="4208463"/>
              <a:ext cx="320675" cy="2952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BC65C0AC-0AA7-4325-94AA-C7AA12B7A7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6113" y="4503738"/>
              <a:ext cx="0" cy="4127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C7BC5A40-9C39-498A-A76C-0D87489223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0838" y="4941888"/>
              <a:ext cx="282575" cy="231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74C66AEF-F224-4140-B591-4CC0ED71D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088" y="4503738"/>
              <a:ext cx="90487" cy="450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962CDC96-D329-4791-97D9-4277EEF6C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5875" y="4941888"/>
              <a:ext cx="334963" cy="231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1B144873-8F86-4F36-A15F-BBAF01652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0163" y="5197803"/>
              <a:ext cx="61266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W</a:t>
              </a:r>
              <a:r>
                <a:rPr lang="en-US" altLang="en-US" sz="2800" baseline="-25000" dirty="0"/>
                <a:t>6</a:t>
              </a:r>
              <a:endParaRPr lang="en-US" altLang="en-US" sz="2800" i="1" dirty="0"/>
            </a:p>
          </p:txBody>
        </p:sp>
        <p:sp>
          <p:nvSpPr>
            <p:cNvPr id="54" name="Line 54">
              <a:extLst>
                <a:ext uri="{FF2B5EF4-FFF2-40B4-BE49-F238E27FC236}">
                  <a16:creationId xmlns:a16="http://schemas.microsoft.com/office/drawing/2014/main" id="{A4F19B3E-8B82-4F24-B5E0-17983C008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94325" y="4737100"/>
              <a:ext cx="12700" cy="423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55" name="Line 55">
              <a:extLst>
                <a:ext uri="{FF2B5EF4-FFF2-40B4-BE49-F238E27FC236}">
                  <a16:creationId xmlns:a16="http://schemas.microsoft.com/office/drawing/2014/main" id="{D2C529F4-5452-401F-8E7D-988AF6417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4763" y="4710113"/>
              <a:ext cx="233362" cy="2587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073E7699-AE52-4575-AE42-A7755D1EC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3963" y="4505325"/>
              <a:ext cx="282575" cy="1539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A68E625C-B4A0-4686-A430-E50D2E6F5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1625" y="4183063"/>
              <a:ext cx="12700" cy="425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DF92B19B-75D3-4A5F-8DB6-DBC1D70823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07025" y="4505325"/>
              <a:ext cx="307975" cy="1539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E8B20728-AB11-40A5-A989-D169F9551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9725" y="4697413"/>
              <a:ext cx="307975" cy="2190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90" name="Oval 90">
              <a:extLst>
                <a:ext uri="{FF2B5EF4-FFF2-40B4-BE49-F238E27FC236}">
                  <a16:creationId xmlns:a16="http://schemas.microsoft.com/office/drawing/2014/main" id="{DB8794D3-0967-4A42-AFE2-9608EA70C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8725" y="487997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1" name="Oval 91">
              <a:extLst>
                <a:ext uri="{FF2B5EF4-FFF2-40B4-BE49-F238E27FC236}">
                  <a16:creationId xmlns:a16="http://schemas.microsoft.com/office/drawing/2014/main" id="{5ADE59EF-BF83-4882-9136-78860FE3D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0938" y="444023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2" name="Oval 92">
              <a:extLst>
                <a:ext uri="{FF2B5EF4-FFF2-40B4-BE49-F238E27FC236}">
                  <a16:creationId xmlns:a16="http://schemas.microsoft.com/office/drawing/2014/main" id="{742AA543-8F87-4BF8-9C2D-2DBC7156D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413226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3" name="Oval 93">
              <a:extLst>
                <a:ext uri="{FF2B5EF4-FFF2-40B4-BE49-F238E27FC236}">
                  <a16:creationId xmlns:a16="http://schemas.microsoft.com/office/drawing/2014/main" id="{E4D1B792-BDD7-4A02-8625-D7B170649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3088" y="44259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4" name="Oval 94">
              <a:extLst>
                <a:ext uri="{FF2B5EF4-FFF2-40B4-BE49-F238E27FC236}">
                  <a16:creationId xmlns:a16="http://schemas.microsoft.com/office/drawing/2014/main" id="{015AF183-0FA2-435E-89BC-85927233B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9913" y="48482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5" name="Oval 95">
              <a:extLst>
                <a:ext uri="{FF2B5EF4-FFF2-40B4-BE49-F238E27FC236}">
                  <a16:creationId xmlns:a16="http://schemas.microsoft.com/office/drawing/2014/main" id="{C160B697-D725-48A0-ADA1-636E6C861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0" y="509111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6" name="Oval 96">
              <a:extLst>
                <a:ext uri="{FF2B5EF4-FFF2-40B4-BE49-F238E27FC236}">
                  <a16:creationId xmlns:a16="http://schemas.microsoft.com/office/drawing/2014/main" id="{5675D2D5-879F-43F5-AB35-8691457F1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7488" y="460851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AD9CD66-13BF-4046-B226-50CEABD15DE1}"/>
              </a:ext>
            </a:extLst>
          </p:cNvPr>
          <p:cNvGrpSpPr/>
          <p:nvPr/>
        </p:nvGrpSpPr>
        <p:grpSpPr>
          <a:xfrm>
            <a:off x="5996833" y="3983302"/>
            <a:ext cx="763588" cy="1676073"/>
            <a:chOff x="6096000" y="4171950"/>
            <a:chExt cx="763588" cy="1676073"/>
          </a:xfrm>
        </p:grpSpPr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B75BBEF9-C397-44C7-A304-182DE3AEF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76963" y="4556125"/>
              <a:ext cx="65087" cy="411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8EC7FE20-B796-41B5-9ACE-B974EE5224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64263" y="4271963"/>
              <a:ext cx="309562" cy="296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3719082E-00F1-4F6D-8772-DE4C8BF34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6838" y="4233863"/>
              <a:ext cx="271462" cy="206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06651FEE-CBEC-4B88-9930-F55FA0455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4414838"/>
              <a:ext cx="38100" cy="3857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0EBCA08B-D0C8-41FC-A8E8-806FE2DECA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78613" y="4800600"/>
              <a:ext cx="115887" cy="334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A0FC58AD-A84B-4669-BCDC-27291C1F8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4750" y="4954588"/>
              <a:ext cx="166688" cy="296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6AA8E26D-3B77-4555-8851-C16ED0DC3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4138" y="5135563"/>
              <a:ext cx="244475" cy="1412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E2E655B5-BE4B-4768-9197-D3B0444FB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9663" y="5324803"/>
              <a:ext cx="60946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W</a:t>
              </a:r>
              <a:r>
                <a:rPr lang="en-US" altLang="en-US" sz="2800" baseline="-25000" dirty="0"/>
                <a:t>7</a:t>
              </a:r>
              <a:endParaRPr lang="en-US" altLang="en-US" sz="2800" i="1" dirty="0"/>
            </a:p>
          </p:txBody>
        </p:sp>
        <p:sp>
          <p:nvSpPr>
            <p:cNvPr id="60" name="Line 60">
              <a:extLst>
                <a:ext uri="{FF2B5EF4-FFF2-40B4-BE49-F238E27FC236}">
                  <a16:creationId xmlns:a16="http://schemas.microsoft.com/office/drawing/2014/main" id="{AD6E324D-7B81-45A0-B81B-7470F0616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23025" y="4710113"/>
              <a:ext cx="90488" cy="5921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5880AD06-490C-431B-B2F2-38BF11C65C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69038" y="4711700"/>
              <a:ext cx="193675" cy="257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62" name="Line 62">
              <a:extLst>
                <a:ext uri="{FF2B5EF4-FFF2-40B4-BE49-F238E27FC236}">
                  <a16:creationId xmlns:a16="http://schemas.microsoft.com/office/drawing/2014/main" id="{352442BA-98FD-4272-965B-11E6BCB78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3150" y="4568825"/>
              <a:ext cx="282575" cy="777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130C0D4E-53A0-41F7-A4F5-BCCC09240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4233863"/>
              <a:ext cx="25400" cy="374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B9C1A4F2-D70D-4FB2-808C-C36BB6B30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64313" y="4414838"/>
              <a:ext cx="168275" cy="206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65" name="Line 65">
              <a:extLst>
                <a:ext uri="{FF2B5EF4-FFF2-40B4-BE49-F238E27FC236}">
                  <a16:creationId xmlns:a16="http://schemas.microsoft.com/office/drawing/2014/main" id="{5F7CC27E-A007-4B00-BE10-DBE6E37CD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7013" y="4684713"/>
              <a:ext cx="206375" cy="1158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6B197802-1590-4055-8E15-47396C19A5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51613" y="4710113"/>
              <a:ext cx="130175" cy="425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97" name="Oval 97">
              <a:extLst>
                <a:ext uri="{FF2B5EF4-FFF2-40B4-BE49-F238E27FC236}">
                  <a16:creationId xmlns:a16="http://schemas.microsoft.com/office/drawing/2014/main" id="{CA456168-E6EF-4B53-930E-7ABAE677A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448310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8" name="Oval 98">
              <a:extLst>
                <a:ext uri="{FF2B5EF4-FFF2-40B4-BE49-F238E27FC236}">
                  <a16:creationId xmlns:a16="http://schemas.microsoft.com/office/drawing/2014/main" id="{EEA493E8-7498-431B-80D5-5F69EE5C3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9688" y="41719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9" name="Oval 99">
              <a:extLst>
                <a:ext uri="{FF2B5EF4-FFF2-40B4-BE49-F238E27FC236}">
                  <a16:creationId xmlns:a16="http://schemas.microsoft.com/office/drawing/2014/main" id="{81157698-6A11-484E-B5A0-1420BEC4F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9563" y="435133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0" name="Oval 100">
              <a:extLst>
                <a:ext uri="{FF2B5EF4-FFF2-40B4-BE49-F238E27FC236}">
                  <a16:creationId xmlns:a16="http://schemas.microsoft.com/office/drawing/2014/main" id="{57BDA714-EFE7-4E92-8821-57E413F0D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7188" y="472281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1" name="Oval 101">
              <a:extLst>
                <a:ext uri="{FF2B5EF4-FFF2-40B4-BE49-F238E27FC236}">
                  <a16:creationId xmlns:a16="http://schemas.microsoft.com/office/drawing/2014/main" id="{EC1EB057-36C2-4624-81D5-FB2BB3B5F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4000" y="505460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2" name="Oval 102">
              <a:extLst>
                <a:ext uri="{FF2B5EF4-FFF2-40B4-BE49-F238E27FC236}">
                  <a16:creationId xmlns:a16="http://schemas.microsoft.com/office/drawing/2014/main" id="{23B72F20-8B9A-4038-B355-CD6AD217E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9663" y="48863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3" name="Oval 103">
              <a:extLst>
                <a:ext uri="{FF2B5EF4-FFF2-40B4-BE49-F238E27FC236}">
                  <a16:creationId xmlns:a16="http://schemas.microsoft.com/office/drawing/2014/main" id="{C5583BC8-55E2-468A-B0A1-239C58CA9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4763" y="519271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4" name="Oval 104">
              <a:extLst>
                <a:ext uri="{FF2B5EF4-FFF2-40B4-BE49-F238E27FC236}">
                  <a16:creationId xmlns:a16="http://schemas.microsoft.com/office/drawing/2014/main" id="{073E8A93-C1F9-45AC-A8FD-B3275721B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9375" y="45942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6B50279-EEF5-4443-BD65-12EE3B43D7B2}"/>
              </a:ext>
            </a:extLst>
          </p:cNvPr>
          <p:cNvGrpSpPr/>
          <p:nvPr/>
        </p:nvGrpSpPr>
        <p:grpSpPr>
          <a:xfrm>
            <a:off x="7055380" y="4015846"/>
            <a:ext cx="1022350" cy="1610985"/>
            <a:chOff x="7046913" y="4157663"/>
            <a:chExt cx="1022350" cy="1610985"/>
          </a:xfrm>
        </p:grpSpPr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8B2E208A-7659-41B6-B4AC-40FD9969D1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27875" y="4541838"/>
              <a:ext cx="65088" cy="411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7CAB2FDC-A283-4DE1-80EB-0435CF130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15175" y="4257675"/>
              <a:ext cx="309563" cy="296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C83D3BA8-6108-44E4-A4A5-79826E608E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7750" y="4219575"/>
              <a:ext cx="425450" cy="1158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BEF0DF79-E25C-41C5-B406-29F083818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5100" y="4298950"/>
              <a:ext cx="192088" cy="2952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24E169FE-9A3D-429E-987D-F9FAE8B37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75600" y="4552950"/>
              <a:ext cx="26988" cy="398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C4305BC6-C333-40E6-9801-9EA7ED239D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5663" y="4940300"/>
              <a:ext cx="166687" cy="296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C90CECFF-39A4-4598-AE11-C3AE8DC436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32713" y="5005388"/>
              <a:ext cx="231775" cy="2428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18640313-949C-43C3-8EFB-CA395F7077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56475" y="5235575"/>
              <a:ext cx="398463" cy="11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43" name="Text Box 43">
              <a:extLst>
                <a:ext uri="{FF2B5EF4-FFF2-40B4-BE49-F238E27FC236}">
                  <a16:creationId xmlns:a16="http://schemas.microsoft.com/office/drawing/2014/main" id="{CD44F286-7345-4F44-9566-897B5AFA1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6775" y="5245428"/>
              <a:ext cx="62388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W</a:t>
              </a:r>
              <a:r>
                <a:rPr lang="en-US" altLang="en-US" sz="2800" baseline="-25000" dirty="0"/>
                <a:t>8</a:t>
              </a:r>
              <a:endParaRPr lang="en-US" altLang="en-US" sz="2800" i="1" dirty="0"/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829841C1-BACC-44C1-A6BC-5842F6090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50125" y="4786313"/>
              <a:ext cx="180975" cy="5032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68" name="Line 68">
              <a:extLst>
                <a:ext uri="{FF2B5EF4-FFF2-40B4-BE49-F238E27FC236}">
                  <a16:creationId xmlns:a16="http://schemas.microsoft.com/office/drawing/2014/main" id="{350E56F6-0EAF-442F-98A2-FCD7996903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8838" y="4760913"/>
              <a:ext cx="269875" cy="180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69" name="Line 69">
              <a:extLst>
                <a:ext uri="{FF2B5EF4-FFF2-40B4-BE49-F238E27FC236}">
                  <a16:creationId xmlns:a16="http://schemas.microsoft.com/office/drawing/2014/main" id="{B77AA817-85F8-45C6-9403-D765BEFCC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5650" y="4543425"/>
              <a:ext cx="412750" cy="1666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70" name="Line 70">
              <a:extLst>
                <a:ext uri="{FF2B5EF4-FFF2-40B4-BE49-F238E27FC236}">
                  <a16:creationId xmlns:a16="http://schemas.microsoft.com/office/drawing/2014/main" id="{DE55A2B7-627C-4D4E-BAE4-3DE260C29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5213" y="4233863"/>
              <a:ext cx="103187" cy="438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71" name="Line 71">
              <a:extLst>
                <a:ext uri="{FF2B5EF4-FFF2-40B4-BE49-F238E27FC236}">
                  <a16:creationId xmlns:a16="http://schemas.microsoft.com/office/drawing/2014/main" id="{5A285EE1-1B40-496E-A0A0-FE5D1B8E9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81900" y="4298950"/>
              <a:ext cx="193675" cy="3857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54BBC1C4-F098-4616-A9F8-BF8570D59F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32700" y="4594225"/>
              <a:ext cx="361950" cy="1031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8CC14841-D6F8-43D0-9F42-6A6979233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607300" y="4735513"/>
              <a:ext cx="400050" cy="233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74" name="Line 74">
              <a:extLst>
                <a:ext uri="{FF2B5EF4-FFF2-40B4-BE49-F238E27FC236}">
                  <a16:creationId xmlns:a16="http://schemas.microsoft.com/office/drawing/2014/main" id="{FEA2378F-BF4C-4A86-8CA4-EA1CE7D016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81900" y="4799013"/>
              <a:ext cx="180975" cy="4524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5" name="Oval 105">
              <a:extLst>
                <a:ext uri="{FF2B5EF4-FFF2-40B4-BE49-F238E27FC236}">
                  <a16:creationId xmlns:a16="http://schemas.microsoft.com/office/drawing/2014/main" id="{EF860892-087C-4ED5-9774-EE41FDBCB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6913" y="446881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6" name="Oval 106">
              <a:extLst>
                <a:ext uri="{FF2B5EF4-FFF2-40B4-BE49-F238E27FC236}">
                  <a16:creationId xmlns:a16="http://schemas.microsoft.com/office/drawing/2014/main" id="{7B3CF1EE-A646-40B8-BAB9-CD4DB6A70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0600" y="415766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7" name="Oval 107">
              <a:extLst>
                <a:ext uri="{FF2B5EF4-FFF2-40B4-BE49-F238E27FC236}">
                  <a16:creationId xmlns:a16="http://schemas.microsoft.com/office/drawing/2014/main" id="{68F3EB5A-0ED4-4CFA-993D-A98BEE3C0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3663" y="42354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8" name="Oval 108">
              <a:extLst>
                <a:ext uri="{FF2B5EF4-FFF2-40B4-BE49-F238E27FC236}">
                  <a16:creationId xmlns:a16="http://schemas.microsoft.com/office/drawing/2014/main" id="{B12E28A6-5363-4BCE-9C4B-0042054B1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6863" y="451485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9" name="Oval 109">
              <a:extLst>
                <a:ext uri="{FF2B5EF4-FFF2-40B4-BE49-F238E27FC236}">
                  <a16:creationId xmlns:a16="http://schemas.microsoft.com/office/drawing/2014/main" id="{E1A92202-0DEB-4A51-921F-E5335C5A8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3500" y="5181600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10" name="Oval 110">
              <a:extLst>
                <a:ext uri="{FF2B5EF4-FFF2-40B4-BE49-F238E27FC236}">
                  <a16:creationId xmlns:a16="http://schemas.microsoft.com/office/drawing/2014/main" id="{3B339772-E340-4341-B638-24024A35C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0575" y="487203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1" name="Oval 111">
              <a:extLst>
                <a:ext uri="{FF2B5EF4-FFF2-40B4-BE49-F238E27FC236}">
                  <a16:creationId xmlns:a16="http://schemas.microsoft.com/office/drawing/2014/main" id="{EB3AB7C3-506A-43BE-AD6C-12C632F62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5675" y="51784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2" name="Oval 112">
              <a:extLst>
                <a:ext uri="{FF2B5EF4-FFF2-40B4-BE49-F238E27FC236}">
                  <a16:creationId xmlns:a16="http://schemas.microsoft.com/office/drawing/2014/main" id="{6B409BDF-246E-4938-A987-9417F1309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3688" y="48990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13" name="Oval 113">
              <a:extLst>
                <a:ext uri="{FF2B5EF4-FFF2-40B4-BE49-F238E27FC236}">
                  <a16:creationId xmlns:a16="http://schemas.microsoft.com/office/drawing/2014/main" id="{1983D334-9834-4FA8-BD27-B764EB68C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0775" y="465772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C1D45F2-73D4-4BD2-B359-FA51262E7102}"/>
              </a:ext>
            </a:extLst>
          </p:cNvPr>
          <p:cNvGrpSpPr/>
          <p:nvPr/>
        </p:nvGrpSpPr>
        <p:grpSpPr>
          <a:xfrm>
            <a:off x="2376699" y="4169040"/>
            <a:ext cx="969963" cy="1304597"/>
            <a:chOff x="2409825" y="4214813"/>
            <a:chExt cx="969963" cy="1304597"/>
          </a:xfrm>
        </p:grpSpPr>
        <p:sp>
          <p:nvSpPr>
            <p:cNvPr id="4" name="Line 2">
              <a:extLst>
                <a:ext uri="{FF2B5EF4-FFF2-40B4-BE49-F238E27FC236}">
                  <a16:creationId xmlns:a16="http://schemas.microsoft.com/office/drawing/2014/main" id="{BD254CE8-C2D4-4A51-ADBC-3729EE9C0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09888" y="4659313"/>
              <a:ext cx="192087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5957F13D-7B0D-4A0C-888F-5F4AE04FD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725" y="4298950"/>
              <a:ext cx="566738" cy="217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2C3BD522-64AF-40FB-9221-16BFC42AD6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3088" y="4516438"/>
              <a:ext cx="193675" cy="528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46F63649-EB6E-40BB-B78B-3379A0F93D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20950" y="4826000"/>
              <a:ext cx="579438" cy="206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9A2722E2-E91B-4E65-BA6D-A46949C9F3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950" y="4284663"/>
              <a:ext cx="257175" cy="528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55406DB2-9BDC-42AA-A450-22778BD33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9825" y="4996190"/>
              <a:ext cx="62549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 sz="2800" dirty="0"/>
                <a:t>W</a:t>
              </a:r>
              <a:r>
                <a:rPr lang="en-US" altLang="en-US" sz="2800" baseline="-25000" dirty="0"/>
                <a:t>4</a:t>
              </a:r>
              <a:endParaRPr lang="en-US" altLang="en-US" sz="2800" i="1" dirty="0"/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5F4BEFB5-AFFA-4A43-98A6-726028EA5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4313" y="4260850"/>
              <a:ext cx="141287" cy="398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C94EC440-BF4C-4F04-9A3A-9891176EA4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2538" y="4646613"/>
              <a:ext cx="373062" cy="1793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8ED8ABAE-2389-4613-BC88-F83B2F60F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5600" y="4518025"/>
              <a:ext cx="412750" cy="128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79" name="Oval 79">
              <a:extLst>
                <a:ext uri="{FF2B5EF4-FFF2-40B4-BE49-F238E27FC236}">
                  <a16:creationId xmlns:a16="http://schemas.microsoft.com/office/drawing/2014/main" id="{A91B5E93-2941-4323-AA98-9DE03EB60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421481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80" name="Oval 80">
              <a:extLst>
                <a:ext uri="{FF2B5EF4-FFF2-40B4-BE49-F238E27FC236}">
                  <a16:creationId xmlns:a16="http://schemas.microsoft.com/office/drawing/2014/main" id="{2522F32C-242B-415C-8045-575B2A44B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7388" y="4443413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81" name="Oval 81">
              <a:extLst>
                <a:ext uri="{FF2B5EF4-FFF2-40B4-BE49-F238E27FC236}">
                  <a16:creationId xmlns:a16="http://schemas.microsoft.com/office/drawing/2014/main" id="{84F4E497-05F4-4F20-8C9B-469F3EE58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688" y="47513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4" name="Line 114">
              <a:extLst>
                <a:ext uri="{FF2B5EF4-FFF2-40B4-BE49-F238E27FC236}">
                  <a16:creationId xmlns:a16="http://schemas.microsoft.com/office/drawing/2014/main" id="{D9DF4C42-E902-4147-9939-F09014284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113" y="4657725"/>
              <a:ext cx="141287" cy="398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15" name="Oval 115">
              <a:extLst>
                <a:ext uri="{FF2B5EF4-FFF2-40B4-BE49-F238E27FC236}">
                  <a16:creationId xmlns:a16="http://schemas.microsoft.com/office/drawing/2014/main" id="{FCAF7E2D-A8D6-408A-8023-130B09892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8950" y="4954588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16" name="Oval 116">
              <a:extLst>
                <a:ext uri="{FF2B5EF4-FFF2-40B4-BE49-F238E27FC236}">
                  <a16:creationId xmlns:a16="http://schemas.microsoft.com/office/drawing/2014/main" id="{CC2DB44E-8FE3-41F7-961C-8983193BD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0513" y="4587875"/>
              <a:ext cx="152400" cy="1524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sp>
        <p:nvSpPr>
          <p:cNvPr id="118" name="Text Box 44">
            <a:extLst>
              <a:ext uri="{FF2B5EF4-FFF2-40B4-BE49-F238E27FC236}">
                <a16:creationId xmlns:a16="http://schemas.microsoft.com/office/drawing/2014/main" id="{1457B8FA-B0F2-4D8A-AFE3-9A4644A52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698" y="1989710"/>
            <a:ext cx="15392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800" b="1" dirty="0"/>
              <a:t>Ans:-</a:t>
            </a:r>
            <a:r>
              <a:rPr lang="en-US" altLang="en-US" sz="2800" dirty="0"/>
              <a:t> 2n</a:t>
            </a:r>
            <a:endParaRPr lang="en-US" alt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3378900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B0AF-CF5F-4C9B-AC8D-B2E5898E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Special Simple Graphs - </a:t>
            </a:r>
            <a:r>
              <a:rPr lang="en-US" altLang="en-US" i="1" dirty="0"/>
              <a:t>n</a:t>
            </a:r>
            <a:r>
              <a:rPr lang="en-US" altLang="en-US" dirty="0"/>
              <a:t>-cubes (hypercubes)</a:t>
            </a:r>
            <a:endParaRPr lang="en-IN" dirty="0"/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id="{F045D2B5-CB65-40E3-B14B-CEF8B56F5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092" y="1082651"/>
            <a:ext cx="8353144" cy="259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800" dirty="0"/>
              <a:t>For any </a:t>
            </a:r>
            <a:r>
              <a:rPr lang="en-US" altLang="en-US" sz="2800" i="1" dirty="0">
                <a:solidFill>
                  <a:srgbClr val="FF0000"/>
                </a:solidFill>
              </a:rPr>
              <a:t>n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dirty="0"/>
              <a:t>, the hypercube Q</a:t>
            </a:r>
            <a:r>
              <a:rPr lang="en-US" altLang="en-US" sz="2800" i="1" baseline="-25000" dirty="0"/>
              <a:t>n</a:t>
            </a:r>
            <a:r>
              <a:rPr lang="en-US" altLang="en-US" sz="2800" dirty="0"/>
              <a:t> is a simple graph consisting of two copies of Q</a:t>
            </a:r>
            <a:r>
              <a:rPr lang="en-US" altLang="en-US" sz="2800" i="1" baseline="-25000" dirty="0"/>
              <a:t>n</a:t>
            </a:r>
            <a:r>
              <a:rPr lang="en-US" altLang="en-US" sz="2800" baseline="-25000" dirty="0"/>
              <a:t>-1</a:t>
            </a:r>
            <a:r>
              <a:rPr lang="en-US" altLang="en-US" sz="2800" dirty="0"/>
              <a:t> connected together at corresponding nodes. 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/>
              <a:t>Q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 has 1 node.</a:t>
            </a:r>
          </a:p>
        </p:txBody>
      </p:sp>
      <p:sp>
        <p:nvSpPr>
          <p:cNvPr id="121" name="Oval 4">
            <a:extLst>
              <a:ext uri="{FF2B5EF4-FFF2-40B4-BE49-F238E27FC236}">
                <a16:creationId xmlns:a16="http://schemas.microsoft.com/office/drawing/2014/main" id="{3CB78B12-D1DA-4FAA-BACF-C1F6E1BD7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2" y="4610861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22" name="Oval 5">
            <a:extLst>
              <a:ext uri="{FF2B5EF4-FFF2-40B4-BE49-F238E27FC236}">
                <a16:creationId xmlns:a16="http://schemas.microsoft.com/office/drawing/2014/main" id="{549CAB62-F151-41F6-8DE7-8ECA2E9E8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838" y="4131712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23" name="Oval 6">
            <a:extLst>
              <a:ext uri="{FF2B5EF4-FFF2-40B4-BE49-F238E27FC236}">
                <a16:creationId xmlns:a16="http://schemas.microsoft.com/office/drawing/2014/main" id="{56A34F25-0EB7-4A15-8B74-C3C1E651B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950" y="4604787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24" name="Oval 7">
            <a:extLst>
              <a:ext uri="{FF2B5EF4-FFF2-40B4-BE49-F238E27FC236}">
                <a16:creationId xmlns:a16="http://schemas.microsoft.com/office/drawing/2014/main" id="{F43506A8-87CA-4701-81A0-9CAE46B75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836" y="4119771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25" name="Oval 8">
            <a:extLst>
              <a:ext uri="{FF2B5EF4-FFF2-40B4-BE49-F238E27FC236}">
                <a16:creationId xmlns:a16="http://schemas.microsoft.com/office/drawing/2014/main" id="{8F5654EB-5F51-45A7-BC28-7DC7E23D9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661" y="4594434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26" name="Oval 9">
            <a:extLst>
              <a:ext uri="{FF2B5EF4-FFF2-40B4-BE49-F238E27FC236}">
                <a16:creationId xmlns:a16="http://schemas.microsoft.com/office/drawing/2014/main" id="{FF3C7168-1BF5-4A4D-975F-BDCA50AE0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1923" y="4127709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27" name="Oval 10">
            <a:extLst>
              <a:ext uri="{FF2B5EF4-FFF2-40B4-BE49-F238E27FC236}">
                <a16:creationId xmlns:a16="http://schemas.microsoft.com/office/drawing/2014/main" id="{CE5B8F3B-B44D-4069-9057-957CA302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036" y="4575384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28" name="Oval 11">
            <a:extLst>
              <a:ext uri="{FF2B5EF4-FFF2-40B4-BE49-F238E27FC236}">
                <a16:creationId xmlns:a16="http://schemas.microsoft.com/office/drawing/2014/main" id="{0693BD80-918E-40A0-90B5-563D27DB1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7039" y="3987044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29" name="Oval 12">
            <a:extLst>
              <a:ext uri="{FF2B5EF4-FFF2-40B4-BE49-F238E27FC236}">
                <a16:creationId xmlns:a16="http://schemas.microsoft.com/office/drawing/2014/main" id="{497B5E47-BDB7-43B7-9CDC-026C84B5D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264" y="4485519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0" name="Oval 13">
            <a:extLst>
              <a:ext uri="{FF2B5EF4-FFF2-40B4-BE49-F238E27FC236}">
                <a16:creationId xmlns:a16="http://schemas.microsoft.com/office/drawing/2014/main" id="{233A08C9-4525-4C7C-A3DF-5EE9FB5FD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527" y="4007681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1" name="Oval 14">
            <a:extLst>
              <a:ext uri="{FF2B5EF4-FFF2-40B4-BE49-F238E27FC236}">
                <a16:creationId xmlns:a16="http://schemas.microsoft.com/office/drawing/2014/main" id="{872A799C-6DD0-4946-9796-C3467C2A7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527" y="4495044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2" name="Oval 15">
            <a:extLst>
              <a:ext uri="{FF2B5EF4-FFF2-40B4-BE49-F238E27FC236}">
                <a16:creationId xmlns:a16="http://schemas.microsoft.com/office/drawing/2014/main" id="{C900282C-E279-42A2-8FD8-E443C8F9C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677" y="4171194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3" name="Oval 16">
            <a:extLst>
              <a:ext uri="{FF2B5EF4-FFF2-40B4-BE49-F238E27FC236}">
                <a16:creationId xmlns:a16="http://schemas.microsoft.com/office/drawing/2014/main" id="{2DDE75F6-23B8-443C-832F-F1A9CC1D2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9039" y="4155319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4" name="Oval 17">
            <a:extLst>
              <a:ext uri="{FF2B5EF4-FFF2-40B4-BE49-F238E27FC236}">
                <a16:creationId xmlns:a16="http://schemas.microsoft.com/office/drawing/2014/main" id="{AF93FBE2-E311-4CED-AF67-5D8650E53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602" y="4680781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5" name="Oval 18">
            <a:extLst>
              <a:ext uri="{FF2B5EF4-FFF2-40B4-BE49-F238E27FC236}">
                <a16:creationId xmlns:a16="http://schemas.microsoft.com/office/drawing/2014/main" id="{35A9B0A5-718A-4F85-A905-B5BF0E744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577" y="4641094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6" name="Oval 19">
            <a:extLst>
              <a:ext uri="{FF2B5EF4-FFF2-40B4-BE49-F238E27FC236}">
                <a16:creationId xmlns:a16="http://schemas.microsoft.com/office/drawing/2014/main" id="{728B6769-F3FF-4759-B707-F5D117476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189" y="3855213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7" name="Oval 20">
            <a:extLst>
              <a:ext uri="{FF2B5EF4-FFF2-40B4-BE49-F238E27FC236}">
                <a16:creationId xmlns:a16="http://schemas.microsoft.com/office/drawing/2014/main" id="{24E03F9F-516C-4AA9-B770-8C3A00DFC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414" y="4353688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8" name="Oval 21">
            <a:extLst>
              <a:ext uri="{FF2B5EF4-FFF2-40B4-BE49-F238E27FC236}">
                <a16:creationId xmlns:a16="http://schemas.microsoft.com/office/drawing/2014/main" id="{186D9988-244B-429F-9F02-C2C792980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676" y="3875850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39" name="Oval 22">
            <a:extLst>
              <a:ext uri="{FF2B5EF4-FFF2-40B4-BE49-F238E27FC236}">
                <a16:creationId xmlns:a16="http://schemas.microsoft.com/office/drawing/2014/main" id="{3D8A78D4-BFF6-4153-AB48-B7C6ADAEB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676" y="4363213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0" name="Oval 23">
            <a:extLst>
              <a:ext uri="{FF2B5EF4-FFF2-40B4-BE49-F238E27FC236}">
                <a16:creationId xmlns:a16="http://schemas.microsoft.com/office/drawing/2014/main" id="{52C3805E-9CD3-45A6-B471-1E32FEAA0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4826" y="4039363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1" name="Oval 24">
            <a:extLst>
              <a:ext uri="{FF2B5EF4-FFF2-40B4-BE49-F238E27FC236}">
                <a16:creationId xmlns:a16="http://schemas.microsoft.com/office/drawing/2014/main" id="{0BA5A112-CF4D-4FEC-A2DA-64C997C84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189" y="4023488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2" name="Oval 25">
            <a:extLst>
              <a:ext uri="{FF2B5EF4-FFF2-40B4-BE49-F238E27FC236}">
                <a16:creationId xmlns:a16="http://schemas.microsoft.com/office/drawing/2014/main" id="{533741C4-C0D1-429A-94D7-EC945E1FD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9751" y="4548950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3" name="Oval 26">
            <a:extLst>
              <a:ext uri="{FF2B5EF4-FFF2-40B4-BE49-F238E27FC236}">
                <a16:creationId xmlns:a16="http://schemas.microsoft.com/office/drawing/2014/main" id="{800D1DDA-2E14-4038-9E82-6370DDAE7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4726" y="4509263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4" name="Oval 27">
            <a:extLst>
              <a:ext uri="{FF2B5EF4-FFF2-40B4-BE49-F238E27FC236}">
                <a16:creationId xmlns:a16="http://schemas.microsoft.com/office/drawing/2014/main" id="{6389C4DE-734B-4C14-BA05-B4D6653E9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389" y="3623438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5" name="Oval 28">
            <a:extLst>
              <a:ext uri="{FF2B5EF4-FFF2-40B4-BE49-F238E27FC236}">
                <a16:creationId xmlns:a16="http://schemas.microsoft.com/office/drawing/2014/main" id="{8365DDB3-D122-4369-B863-A47C0DD85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614" y="4121913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6" name="Oval 29">
            <a:extLst>
              <a:ext uri="{FF2B5EF4-FFF2-40B4-BE49-F238E27FC236}">
                <a16:creationId xmlns:a16="http://schemas.microsoft.com/office/drawing/2014/main" id="{5478989C-DC35-4EC2-B38B-C1AF0228D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6876" y="3644075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7" name="Oval 30">
            <a:extLst>
              <a:ext uri="{FF2B5EF4-FFF2-40B4-BE49-F238E27FC236}">
                <a16:creationId xmlns:a16="http://schemas.microsoft.com/office/drawing/2014/main" id="{3748BD76-20C7-4A88-95DD-C1461F99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6876" y="4131438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8" name="Oval 31">
            <a:extLst>
              <a:ext uri="{FF2B5EF4-FFF2-40B4-BE49-F238E27FC236}">
                <a16:creationId xmlns:a16="http://schemas.microsoft.com/office/drawing/2014/main" id="{71668FF9-D7BA-4D9C-B627-152DEA080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0026" y="3807588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49" name="Oval 32">
            <a:extLst>
              <a:ext uri="{FF2B5EF4-FFF2-40B4-BE49-F238E27FC236}">
                <a16:creationId xmlns:a16="http://schemas.microsoft.com/office/drawing/2014/main" id="{671E9FCA-88C2-474B-9F69-C5BDCF265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389" y="3791713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0" name="Oval 33">
            <a:extLst>
              <a:ext uri="{FF2B5EF4-FFF2-40B4-BE49-F238E27FC236}">
                <a16:creationId xmlns:a16="http://schemas.microsoft.com/office/drawing/2014/main" id="{DD36CDC9-244F-46AD-8D78-3206C1EFE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4951" y="4317175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1" name="Oval 34">
            <a:extLst>
              <a:ext uri="{FF2B5EF4-FFF2-40B4-BE49-F238E27FC236}">
                <a16:creationId xmlns:a16="http://schemas.microsoft.com/office/drawing/2014/main" id="{EE5AD47A-819E-44C0-80D5-76FADB920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9926" y="4277488"/>
            <a:ext cx="152400" cy="15240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2" name="Line 35">
            <a:extLst>
              <a:ext uri="{FF2B5EF4-FFF2-40B4-BE49-F238E27FC236}">
                <a16:creationId xmlns:a16="http://schemas.microsoft.com/office/drawing/2014/main" id="{D66ED25C-4E03-4C13-ABE9-6AFE809F84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9563" y="4209499"/>
            <a:ext cx="0" cy="47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3" name="Line 36">
            <a:extLst>
              <a:ext uri="{FF2B5EF4-FFF2-40B4-BE49-F238E27FC236}">
                <a16:creationId xmlns:a16="http://schemas.microsoft.com/office/drawing/2014/main" id="{4F00404C-E3CF-45CA-97FD-5E4A0056B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036" y="4189621"/>
            <a:ext cx="0" cy="47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4" name="Line 37">
            <a:extLst>
              <a:ext uri="{FF2B5EF4-FFF2-40B4-BE49-F238E27FC236}">
                <a16:creationId xmlns:a16="http://schemas.microsoft.com/office/drawing/2014/main" id="{D24E80CA-488F-4EA2-B2D4-EB9BFAE69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336" y="4189621"/>
            <a:ext cx="463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5" name="Line 38">
            <a:extLst>
              <a:ext uri="{FF2B5EF4-FFF2-40B4-BE49-F238E27FC236}">
                <a16:creationId xmlns:a16="http://schemas.microsoft.com/office/drawing/2014/main" id="{D7D54C40-838A-40BD-A2AC-DB8DDDEE6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036" y="4653171"/>
            <a:ext cx="463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6" name="Line 39">
            <a:extLst>
              <a:ext uri="{FF2B5EF4-FFF2-40B4-BE49-F238E27FC236}">
                <a16:creationId xmlns:a16="http://schemas.microsoft.com/office/drawing/2014/main" id="{F56B2347-1C7A-42B1-BC1C-7A43F49B6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2886" y="4189621"/>
            <a:ext cx="0" cy="463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7" name="Line 40">
            <a:extLst>
              <a:ext uri="{FF2B5EF4-FFF2-40B4-BE49-F238E27FC236}">
                <a16:creationId xmlns:a16="http://schemas.microsoft.com/office/drawing/2014/main" id="{F0394FE2-07F0-4E57-8C72-C4E0FFA44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064" y="4064831"/>
            <a:ext cx="12700" cy="488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8" name="Line 41">
            <a:extLst>
              <a:ext uri="{FF2B5EF4-FFF2-40B4-BE49-F238E27FC236}">
                <a16:creationId xmlns:a16="http://schemas.microsoft.com/office/drawing/2014/main" id="{A2A3622B-FE80-43B0-A3F2-1963DF01F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5777" y="4064831"/>
            <a:ext cx="503237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59" name="Line 42">
            <a:extLst>
              <a:ext uri="{FF2B5EF4-FFF2-40B4-BE49-F238E27FC236}">
                <a16:creationId xmlns:a16="http://schemas.microsoft.com/office/drawing/2014/main" id="{EC3D8C8C-ECFE-4005-B77D-1ADB592162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6314" y="4077531"/>
            <a:ext cx="12700" cy="501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0" name="Line 43">
            <a:extLst>
              <a:ext uri="{FF2B5EF4-FFF2-40B4-BE49-F238E27FC236}">
                <a16:creationId xmlns:a16="http://schemas.microsoft.com/office/drawing/2014/main" id="{CA6EEBFD-F259-4BDA-BA72-A2ABC78CE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164" y="4553781"/>
            <a:ext cx="43815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1" name="Line 44">
            <a:extLst>
              <a:ext uri="{FF2B5EF4-FFF2-40B4-BE49-F238E27FC236}">
                <a16:creationId xmlns:a16="http://schemas.microsoft.com/office/drawing/2014/main" id="{A42F8C51-3499-4B40-94C5-D3876C290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939" y="4231519"/>
            <a:ext cx="50165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2" name="Line 45">
            <a:extLst>
              <a:ext uri="{FF2B5EF4-FFF2-40B4-BE49-F238E27FC236}">
                <a16:creationId xmlns:a16="http://schemas.microsoft.com/office/drawing/2014/main" id="{DBC8788F-F5C3-44E9-B4DD-33A9C5A71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639" y="4244219"/>
            <a:ext cx="25400" cy="501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3" name="Line 46">
            <a:extLst>
              <a:ext uri="{FF2B5EF4-FFF2-40B4-BE49-F238E27FC236}">
                <a16:creationId xmlns:a16="http://schemas.microsoft.com/office/drawing/2014/main" id="{3FEBAA6F-09D1-4775-A483-EFAD978AE9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75339" y="4707769"/>
            <a:ext cx="450850" cy="52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4" name="Line 47">
            <a:extLst>
              <a:ext uri="{FF2B5EF4-FFF2-40B4-BE49-F238E27FC236}">
                <a16:creationId xmlns:a16="http://schemas.microsoft.com/office/drawing/2014/main" id="{076B61E7-41F4-4F68-8BEF-72EE6BD6B8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26189" y="4231519"/>
            <a:ext cx="12700" cy="488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5" name="Line 48">
            <a:extLst>
              <a:ext uri="{FF2B5EF4-FFF2-40B4-BE49-F238E27FC236}">
                <a16:creationId xmlns:a16="http://schemas.microsoft.com/office/drawing/2014/main" id="{41718875-10DD-4EB1-913E-C40C347B0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2764" y="4553781"/>
            <a:ext cx="295275" cy="219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6" name="Line 49">
            <a:extLst>
              <a:ext uri="{FF2B5EF4-FFF2-40B4-BE49-F238E27FC236}">
                <a16:creationId xmlns:a16="http://schemas.microsoft.com/office/drawing/2014/main" id="{233B8EA6-3725-425C-945B-C33B45168B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314" y="4553781"/>
            <a:ext cx="282575" cy="1666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7" name="Line 50">
            <a:extLst>
              <a:ext uri="{FF2B5EF4-FFF2-40B4-BE49-F238E27FC236}">
                <a16:creationId xmlns:a16="http://schemas.microsoft.com/office/drawing/2014/main" id="{595D032F-2E03-445B-9959-5CDE0124E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5777" y="4039431"/>
            <a:ext cx="284162" cy="2047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8" name="Line 51">
            <a:extLst>
              <a:ext uri="{FF2B5EF4-FFF2-40B4-BE49-F238E27FC236}">
                <a16:creationId xmlns:a16="http://schemas.microsoft.com/office/drawing/2014/main" id="{09ADC290-4EBD-43F4-B038-3A8C90395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314" y="4077531"/>
            <a:ext cx="307975" cy="141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69" name="Line 52">
            <a:extLst>
              <a:ext uri="{FF2B5EF4-FFF2-40B4-BE49-F238E27FC236}">
                <a16:creationId xmlns:a16="http://schemas.microsoft.com/office/drawing/2014/main" id="{ADC91C05-A122-425A-A9F5-42A7D36194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13214" y="3934588"/>
            <a:ext cx="26987" cy="47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0" name="Line 53">
            <a:extLst>
              <a:ext uri="{FF2B5EF4-FFF2-40B4-BE49-F238E27FC236}">
                <a16:creationId xmlns:a16="http://schemas.microsoft.com/office/drawing/2014/main" id="{3DDDEA28-0C44-481D-8EB3-F8FE11740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514" y="3934588"/>
            <a:ext cx="50165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1" name="Line 54">
            <a:extLst>
              <a:ext uri="{FF2B5EF4-FFF2-40B4-BE49-F238E27FC236}">
                <a16:creationId xmlns:a16="http://schemas.microsoft.com/office/drawing/2014/main" id="{220F1903-034E-4C9D-9499-ECCFF2771D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451" y="3947288"/>
            <a:ext cx="269875" cy="153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2" name="Line 55">
            <a:extLst>
              <a:ext uri="{FF2B5EF4-FFF2-40B4-BE49-F238E27FC236}">
                <a16:creationId xmlns:a16="http://schemas.microsoft.com/office/drawing/2014/main" id="{E6504658-EFA6-46FC-8C56-55C73FCF1B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60926" y="4101275"/>
            <a:ext cx="12700" cy="47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3" name="Line 56">
            <a:extLst>
              <a:ext uri="{FF2B5EF4-FFF2-40B4-BE49-F238E27FC236}">
                <a16:creationId xmlns:a16="http://schemas.microsoft.com/office/drawing/2014/main" id="{137F7814-DB6A-4185-B266-D09764A45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5914" y="4423538"/>
            <a:ext cx="309562" cy="219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4" name="Line 57">
            <a:extLst>
              <a:ext uri="{FF2B5EF4-FFF2-40B4-BE49-F238E27FC236}">
                <a16:creationId xmlns:a16="http://schemas.microsoft.com/office/drawing/2014/main" id="{55C482C7-7AB9-4593-AFDF-705475194F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0076" y="4590225"/>
            <a:ext cx="450850" cy="396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5" name="Line 58">
            <a:extLst>
              <a:ext uri="{FF2B5EF4-FFF2-40B4-BE49-F238E27FC236}">
                <a16:creationId xmlns:a16="http://schemas.microsoft.com/office/drawing/2014/main" id="{88BAE2E9-AF5E-4FC4-9A45-AD7CE00F5F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4676" y="4101275"/>
            <a:ext cx="25400" cy="515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6" name="Line 59">
            <a:extLst>
              <a:ext uri="{FF2B5EF4-FFF2-40B4-BE49-F238E27FC236}">
                <a16:creationId xmlns:a16="http://schemas.microsoft.com/office/drawing/2014/main" id="{F6612512-0300-4B90-844C-EC53529E6D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13214" y="3921888"/>
            <a:ext cx="284162" cy="179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7" name="Line 60">
            <a:extLst>
              <a:ext uri="{FF2B5EF4-FFF2-40B4-BE49-F238E27FC236}">
                <a16:creationId xmlns:a16="http://schemas.microsoft.com/office/drawing/2014/main" id="{2805C246-8065-4D48-9C21-32E43BD8B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5914" y="4423538"/>
            <a:ext cx="47625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8" name="Line 61">
            <a:extLst>
              <a:ext uri="{FF2B5EF4-FFF2-40B4-BE49-F238E27FC236}">
                <a16:creationId xmlns:a16="http://schemas.microsoft.com/office/drawing/2014/main" id="{8330FC66-E159-495F-9870-45AD95632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6764" y="3934588"/>
            <a:ext cx="12700" cy="488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79" name="Line 62">
            <a:extLst>
              <a:ext uri="{FF2B5EF4-FFF2-40B4-BE49-F238E27FC236}">
                <a16:creationId xmlns:a16="http://schemas.microsoft.com/office/drawing/2014/main" id="{D6E4A957-D329-4211-8EE7-9EC4136CE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6764" y="4436238"/>
            <a:ext cx="296862" cy="153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0" name="Line 63">
            <a:extLst>
              <a:ext uri="{FF2B5EF4-FFF2-40B4-BE49-F238E27FC236}">
                <a16:creationId xmlns:a16="http://schemas.microsoft.com/office/drawing/2014/main" id="{E9C3B241-4B76-48D1-9E73-4D1EC11430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1976" y="4088575"/>
            <a:ext cx="51435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1" name="Line 64">
            <a:extLst>
              <a:ext uri="{FF2B5EF4-FFF2-40B4-BE49-F238E27FC236}">
                <a16:creationId xmlns:a16="http://schemas.microsoft.com/office/drawing/2014/main" id="{EBCEC253-D0FC-4A2E-86F6-86E0FD469F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0001" y="3690113"/>
            <a:ext cx="25400" cy="501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2" name="Line 65">
            <a:extLst>
              <a:ext uri="{FF2B5EF4-FFF2-40B4-BE49-F238E27FC236}">
                <a16:creationId xmlns:a16="http://schemas.microsoft.com/office/drawing/2014/main" id="{EC73047F-ED99-495A-871D-714D586E3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5714" y="3690113"/>
            <a:ext cx="490537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3" name="Line 66">
            <a:extLst>
              <a:ext uri="{FF2B5EF4-FFF2-40B4-BE49-F238E27FC236}">
                <a16:creationId xmlns:a16="http://schemas.microsoft.com/office/drawing/2014/main" id="{2B7A6872-E269-4AB8-989D-F063D6D16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0001" y="3690113"/>
            <a:ext cx="269875" cy="193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4" name="Line 67">
            <a:extLst>
              <a:ext uri="{FF2B5EF4-FFF2-40B4-BE49-F238E27FC236}">
                <a16:creationId xmlns:a16="http://schemas.microsoft.com/office/drawing/2014/main" id="{6D0BE317-DCA1-418A-B184-3C16A879F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251" y="3690113"/>
            <a:ext cx="282575" cy="179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5" name="Line 68">
            <a:extLst>
              <a:ext uri="{FF2B5EF4-FFF2-40B4-BE49-F238E27FC236}">
                <a16:creationId xmlns:a16="http://schemas.microsoft.com/office/drawing/2014/main" id="{2DCD05EA-AF06-4B58-9C77-10A0FD1AF3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9876" y="3883788"/>
            <a:ext cx="46355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6" name="Line 69">
            <a:extLst>
              <a:ext uri="{FF2B5EF4-FFF2-40B4-BE49-F238E27FC236}">
                <a16:creationId xmlns:a16="http://schemas.microsoft.com/office/drawing/2014/main" id="{8B695281-89C4-4C3D-B638-E926F5CB80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1964" y="3690113"/>
            <a:ext cx="14287" cy="514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7" name="Line 70">
            <a:extLst>
              <a:ext uri="{FF2B5EF4-FFF2-40B4-BE49-F238E27FC236}">
                <a16:creationId xmlns:a16="http://schemas.microsoft.com/office/drawing/2014/main" id="{B243E20B-5707-438E-9D3F-C1908D063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2701" y="4191763"/>
            <a:ext cx="449263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8" name="Line 71">
            <a:extLst>
              <a:ext uri="{FF2B5EF4-FFF2-40B4-BE49-F238E27FC236}">
                <a16:creationId xmlns:a16="http://schemas.microsoft.com/office/drawing/2014/main" id="{D9DE13DA-E7FA-4CED-9811-07912938BF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6126" y="3869500"/>
            <a:ext cx="12700" cy="47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89" name="Line 72">
            <a:extLst>
              <a:ext uri="{FF2B5EF4-FFF2-40B4-BE49-F238E27FC236}">
                <a16:creationId xmlns:a16="http://schemas.microsoft.com/office/drawing/2014/main" id="{15FC0EF5-604E-4080-850D-E0304C4B87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41964" y="4191763"/>
            <a:ext cx="284162" cy="168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0" name="Line 73">
            <a:extLst>
              <a:ext uri="{FF2B5EF4-FFF2-40B4-BE49-F238E27FC236}">
                <a16:creationId xmlns:a16="http://schemas.microsoft.com/office/drawing/2014/main" id="{41BF4CC5-1DE1-404A-9796-04ADC7C6652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0001" y="4191763"/>
            <a:ext cx="295275" cy="206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1" name="Line 74">
            <a:extLst>
              <a:ext uri="{FF2B5EF4-FFF2-40B4-BE49-F238E27FC236}">
                <a16:creationId xmlns:a16="http://schemas.microsoft.com/office/drawing/2014/main" id="{522D31F4-8421-437C-B765-F8D5A0748C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7976" y="4360038"/>
            <a:ext cx="438150" cy="38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2" name="Line 75">
            <a:extLst>
              <a:ext uri="{FF2B5EF4-FFF2-40B4-BE49-F238E27FC236}">
                <a16:creationId xmlns:a16="http://schemas.microsoft.com/office/drawing/2014/main" id="{B78E8B7F-F26E-40CB-B005-226573FF9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9876" y="3883788"/>
            <a:ext cx="38100" cy="514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3" name="Line 76">
            <a:extLst>
              <a:ext uri="{FF2B5EF4-FFF2-40B4-BE49-F238E27FC236}">
                <a16:creationId xmlns:a16="http://schemas.microsoft.com/office/drawing/2014/main" id="{30B202BC-252F-4F5C-80A8-47FFB8A20B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7814" y="3664713"/>
            <a:ext cx="992187" cy="244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4" name="Line 77">
            <a:extLst>
              <a:ext uri="{FF2B5EF4-FFF2-40B4-BE49-F238E27FC236}">
                <a16:creationId xmlns:a16="http://schemas.microsoft.com/office/drawing/2014/main" id="{B0D81770-C857-4CAB-8E9F-BC35F3AF76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9464" y="3702813"/>
            <a:ext cx="979487" cy="244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5" name="Line 78">
            <a:extLst>
              <a:ext uri="{FF2B5EF4-FFF2-40B4-BE49-F238E27FC236}">
                <a16:creationId xmlns:a16="http://schemas.microsoft.com/office/drawing/2014/main" id="{E14991A8-EA1C-4683-8ACA-1C466D5224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4676" y="3869500"/>
            <a:ext cx="990600" cy="231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6" name="Line 79">
            <a:extLst>
              <a:ext uri="{FF2B5EF4-FFF2-40B4-BE49-F238E27FC236}">
                <a16:creationId xmlns:a16="http://schemas.microsoft.com/office/drawing/2014/main" id="{9F93D69E-EA82-4D26-9CEB-3BBD1139E7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60926" y="3869500"/>
            <a:ext cx="977900" cy="231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7" name="Line 80">
            <a:extLst>
              <a:ext uri="{FF2B5EF4-FFF2-40B4-BE49-F238E27FC236}">
                <a16:creationId xmlns:a16="http://schemas.microsoft.com/office/drawing/2014/main" id="{7EAEBDCD-70C4-46B8-90F6-D6A204EE1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5914" y="4191763"/>
            <a:ext cx="966787" cy="231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8" name="Line 81">
            <a:extLst>
              <a:ext uri="{FF2B5EF4-FFF2-40B4-BE49-F238E27FC236}">
                <a16:creationId xmlns:a16="http://schemas.microsoft.com/office/drawing/2014/main" id="{0A2465F5-9A57-4D53-8FB9-7F2A9A3C8E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9464" y="4204463"/>
            <a:ext cx="966787" cy="219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99" name="Line 82">
            <a:extLst>
              <a:ext uri="{FF2B5EF4-FFF2-40B4-BE49-F238E27FC236}">
                <a16:creationId xmlns:a16="http://schemas.microsoft.com/office/drawing/2014/main" id="{765B2865-D885-45DD-BD73-163D4F1145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7376" y="4385438"/>
            <a:ext cx="977900" cy="244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200" name="Line 83">
            <a:extLst>
              <a:ext uri="{FF2B5EF4-FFF2-40B4-BE49-F238E27FC236}">
                <a16:creationId xmlns:a16="http://schemas.microsoft.com/office/drawing/2014/main" id="{9DC893C1-76B3-4715-B92B-AA5CFA1E3F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60926" y="4360038"/>
            <a:ext cx="977900" cy="2301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201" name="Text Box 84">
            <a:extLst>
              <a:ext uri="{FF2B5EF4-FFF2-40B4-BE49-F238E27FC236}">
                <a16:creationId xmlns:a16="http://schemas.microsoft.com/office/drawing/2014/main" id="{D17B1EC7-17DD-4F28-9D46-2EF5E4CC6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40" y="4669926"/>
            <a:ext cx="5517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800" dirty="0"/>
              <a:t>Q</a:t>
            </a:r>
            <a:r>
              <a:rPr lang="en-US" altLang="en-US" sz="2800" baseline="-25000" dirty="0"/>
              <a:t>0</a:t>
            </a:r>
            <a:endParaRPr lang="en-US" altLang="en-US" sz="2800" i="1" dirty="0"/>
          </a:p>
        </p:txBody>
      </p:sp>
      <p:sp>
        <p:nvSpPr>
          <p:cNvPr id="202" name="Text Box 85">
            <a:extLst>
              <a:ext uri="{FF2B5EF4-FFF2-40B4-BE49-F238E27FC236}">
                <a16:creationId xmlns:a16="http://schemas.microsoft.com/office/drawing/2014/main" id="{4A1E4DEE-2CB2-4687-98EA-470B11995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263" y="4665439"/>
            <a:ext cx="5004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800" dirty="0"/>
              <a:t>Q</a:t>
            </a:r>
            <a:r>
              <a:rPr lang="en-US" altLang="en-US" sz="2800" baseline="-25000" dirty="0"/>
              <a:t>1</a:t>
            </a:r>
            <a:endParaRPr lang="en-US" altLang="en-US" sz="2800" i="1" dirty="0"/>
          </a:p>
        </p:txBody>
      </p:sp>
      <p:sp>
        <p:nvSpPr>
          <p:cNvPr id="203" name="Text Box 86">
            <a:extLst>
              <a:ext uri="{FF2B5EF4-FFF2-40B4-BE49-F238E27FC236}">
                <a16:creationId xmlns:a16="http://schemas.microsoft.com/office/drawing/2014/main" id="{F154B519-BADD-46E4-908E-5E00E187C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223" y="4669374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800" dirty="0"/>
              <a:t>Q</a:t>
            </a:r>
            <a:r>
              <a:rPr lang="en-US" altLang="en-US" sz="2800" baseline="-25000" dirty="0"/>
              <a:t>2</a:t>
            </a:r>
            <a:endParaRPr lang="en-US" altLang="en-US" sz="2800" i="1" dirty="0"/>
          </a:p>
        </p:txBody>
      </p:sp>
      <p:sp>
        <p:nvSpPr>
          <p:cNvPr id="204" name="Text Box 87">
            <a:extLst>
              <a:ext uri="{FF2B5EF4-FFF2-40B4-BE49-F238E27FC236}">
                <a16:creationId xmlns:a16="http://schemas.microsoft.com/office/drawing/2014/main" id="{F35F5E95-894D-4157-B62A-DBC54DB44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652" y="4735084"/>
            <a:ext cx="5469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800" dirty="0"/>
              <a:t>Q</a:t>
            </a:r>
            <a:r>
              <a:rPr lang="en-US" altLang="en-US" sz="2800" baseline="-25000" dirty="0"/>
              <a:t>3</a:t>
            </a:r>
            <a:endParaRPr lang="en-US" altLang="en-US" sz="2800" i="1" dirty="0"/>
          </a:p>
        </p:txBody>
      </p:sp>
      <p:sp>
        <p:nvSpPr>
          <p:cNvPr id="205" name="Text Box 88">
            <a:extLst>
              <a:ext uri="{FF2B5EF4-FFF2-40B4-BE49-F238E27FC236}">
                <a16:creationId xmlns:a16="http://schemas.microsoft.com/office/drawing/2014/main" id="{235EBCCB-BB40-4BB4-8A0C-7FD4FC7C3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863" y="4726750"/>
            <a:ext cx="5565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800" dirty="0"/>
              <a:t>Q</a:t>
            </a:r>
            <a:r>
              <a:rPr lang="en-US" altLang="en-US" sz="2800" baseline="-25000" dirty="0"/>
              <a:t>4</a:t>
            </a:r>
            <a:endParaRPr lang="en-US" altLang="en-US" sz="2800" i="1" dirty="0"/>
          </a:p>
        </p:txBody>
      </p:sp>
      <p:sp>
        <p:nvSpPr>
          <p:cNvPr id="206" name="Text Box 89">
            <a:extLst>
              <a:ext uri="{FF2B5EF4-FFF2-40B4-BE49-F238E27FC236}">
                <a16:creationId xmlns:a16="http://schemas.microsoft.com/office/drawing/2014/main" id="{0A1A84A4-3AE1-4C00-A582-E6E310358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3224" y="5160872"/>
            <a:ext cx="29915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400" dirty="0"/>
              <a:t>Number of vertices: </a:t>
            </a:r>
          </a:p>
          <a:p>
            <a:r>
              <a:rPr lang="en-US" altLang="en-US" sz="2400" dirty="0"/>
              <a:t>2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.  </a:t>
            </a:r>
          </a:p>
          <a:p>
            <a:r>
              <a:rPr lang="en-US" altLang="en-US" sz="2400" dirty="0"/>
              <a:t>Number of edges:</a:t>
            </a:r>
          </a:p>
          <a:p>
            <a:r>
              <a:rPr lang="en-US" altLang="en-US" sz="2400" dirty="0"/>
              <a:t>2n</a:t>
            </a:r>
          </a:p>
        </p:txBody>
      </p:sp>
    </p:spTree>
    <p:extLst>
      <p:ext uri="{BB962C8B-B14F-4D97-AF65-F5344CB8AC3E}">
        <p14:creationId xmlns:p14="http://schemas.microsoft.com/office/powerpoint/2010/main" val="1674644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9057</TotalTime>
  <Words>1302</Words>
  <Application>Microsoft Office PowerPoint</Application>
  <PresentationFormat>On-screen Show (4:3)</PresentationFormat>
  <Paragraphs>205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</vt:lpstr>
      <vt:lpstr>Bahnschrift</vt:lpstr>
      <vt:lpstr>Bahnschrift SemiBold</vt:lpstr>
      <vt:lpstr>Calibri</vt:lpstr>
      <vt:lpstr>Monotype Sorts</vt:lpstr>
      <vt:lpstr>Office Theme</vt:lpstr>
      <vt:lpstr>EMTH403</vt:lpstr>
      <vt:lpstr>Lecture Outcomes</vt:lpstr>
      <vt:lpstr>Degree of a vertex - Definition</vt:lpstr>
      <vt:lpstr>Degree of a vertex - Example</vt:lpstr>
      <vt:lpstr>Degree of a vertex - Example</vt:lpstr>
      <vt:lpstr>Handshaking Theorem</vt:lpstr>
      <vt:lpstr>Handshaking Theorem</vt:lpstr>
      <vt:lpstr>Handshaking Theorem</vt:lpstr>
      <vt:lpstr>Handshaking Theorem</vt:lpstr>
      <vt:lpstr>Handshaking Theorem</vt:lpstr>
      <vt:lpstr>Handshaking Theorem</vt:lpstr>
      <vt:lpstr>Handshaking Theorem</vt:lpstr>
      <vt:lpstr>Handshaking Theorem</vt:lpstr>
      <vt:lpstr>Special Simple Graphs - Complete Graphs </vt:lpstr>
      <vt:lpstr>Special Simple Graphs - Complete Graphs </vt:lpstr>
      <vt:lpstr>Special Simple Graphs - Cycles </vt:lpstr>
      <vt:lpstr>Special Simple Graphs - Cycles </vt:lpstr>
      <vt:lpstr>Special Simple Graphs - Wheels </vt:lpstr>
      <vt:lpstr>Special Simple Graphs - Wheels </vt:lpstr>
      <vt:lpstr>Special Simple Graphs - n-cubes (hypercubes)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1323</cp:revision>
  <dcterms:created xsi:type="dcterms:W3CDTF">2020-12-04T05:20:56Z</dcterms:created>
  <dcterms:modified xsi:type="dcterms:W3CDTF">2021-01-13T04:24:07Z</dcterms:modified>
</cp:coreProperties>
</file>